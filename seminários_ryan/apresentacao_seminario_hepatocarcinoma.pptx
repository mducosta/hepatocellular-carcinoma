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7620000" cx="12192000"/>
  <p:notesSz cx="6858000" cy="9144000"/>
  <p:embeddedFontLst>
    <p:embeddedFont>
      <p:font typeface="Quattrocento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1" roundtripDataSignature="AMtx7mgfShDLay8U8V9FVUWRGdNjqDTJ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QuattrocentoSans-bold.fntdata"/><Relationship Id="rId47" Type="http://schemas.openxmlformats.org/officeDocument/2006/relationships/font" Target="fonts/QuattrocentoSans-regular.fntdata"/><Relationship Id="rId49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54" name="Google Shape;2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63" name="Google Shape;3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618" name="Google Shape;6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673" name="Google Shape;6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787" name="Google Shape;78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45" name="Google Shape;9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93" name="Google Shape;9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24" name="Google Shape;102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060" name="Google Shape;106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06" name="Google Shape;110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45" name="Google Shape;114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84" name="Google Shape;118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271" name="Google Shape;127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416" name="Google Shape;141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25" name="Google Shape;152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51" name="Google Shape;155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92" name="Google Shape;159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21" name="Google Shape;162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661" name="Google Shape;1661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32" name="Google Shape;173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877" name="Google Shape;187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21" name="Google Shape;1921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85" name="Google Shape;1985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218" name="Google Shape;2218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373" name="Google Shape;237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387" name="Google Shape;238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588" name="Google Shape;2588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8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640" name="Google Shape;2640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1" name="Shape 2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2" name="Google Shape;277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773" name="Google Shape;2773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916" name="Google Shape;2916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8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060" name="Google Shape;3060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304" name="Google Shape;3304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4" name="Shape 3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5" name="Google Shape;3535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536" name="Google Shape;3536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1" name="Shape 3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2" name="Google Shape;379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793" name="Google Shape;3793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3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855" name="Google Shape;3855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2" name="Shape 3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3" name="Google Shape;391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3914" name="Google Shape;3914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oi.org/10.1093/biostatistics/kxj037?utm_source=chatgpt.com" TargetMode="External"/><Relationship Id="rId4" Type="http://schemas.openxmlformats.org/officeDocument/2006/relationships/hyperlink" Target="https://doi.org/10.1093/bioinformatics/bts034?utm_source=chatgpt.com" TargetMode="External"/><Relationship Id="rId11" Type="http://schemas.openxmlformats.org/officeDocument/2006/relationships/hyperlink" Target="https://doi.org/10.1038/s41587-020-0546-8?utm_source=chatgpt.com" TargetMode="External"/><Relationship Id="rId10" Type="http://schemas.openxmlformats.org/officeDocument/2006/relationships/hyperlink" Target="https://doi.org/10.1016/j.cell.2017.05.046?utm_source=chatgpt.com" TargetMode="External"/><Relationship Id="rId9" Type="http://schemas.openxmlformats.org/officeDocument/2006/relationships/hyperlink" Target="https://doi.org/10.1038/s41587-019-0114-2?utm_source=chatgpt.com" TargetMode="External"/><Relationship Id="rId5" Type="http://schemas.openxmlformats.org/officeDocument/2006/relationships/hyperlink" Target="https://doi.org/10.1093/nar/gkv007?utm_source=chatgpt.com" TargetMode="External"/><Relationship Id="rId6" Type="http://schemas.openxmlformats.org/officeDocument/2006/relationships/hyperlink" Target="https://doi.org/10.1093/nargab/lqaa078?utm_source=chatgpt.com" TargetMode="External"/><Relationship Id="rId7" Type="http://schemas.openxmlformats.org/officeDocument/2006/relationships/hyperlink" Target="https://doi.org/10.1038/nrm3722?utm_source=chatgpt.com" TargetMode="External"/><Relationship Id="rId8" Type="http://schemas.openxmlformats.org/officeDocument/2006/relationships/hyperlink" Target="https://doi.org/10.1126/science.aaz1776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>
            <a:off x="0" y="38100"/>
            <a:ext cx="12192000" cy="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"/>
          <p:cNvSpPr/>
          <p:nvPr/>
        </p:nvSpPr>
        <p:spPr>
          <a:xfrm>
            <a:off x="762000" y="1681311"/>
            <a:ext cx="10668000" cy="254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1"/>
          <p:cNvCxnSpPr/>
          <p:nvPr/>
        </p:nvCxnSpPr>
        <p:spPr>
          <a:xfrm>
            <a:off x="762000" y="192181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"/>
          <p:cNvSpPr txBox="1"/>
          <p:nvPr/>
        </p:nvSpPr>
        <p:spPr>
          <a:xfrm>
            <a:off x="762000" y="581025"/>
            <a:ext cx="8499723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1"/>
              <a:buFont typeface="Arial"/>
              <a:buNone/>
            </a:pPr>
            <a:r>
              <a:rPr b="1" i="0" lang="en-US" sz="4031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Hepatocarcinoma: LIHC × GTEx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62000" y="1273671"/>
            <a:ext cx="77927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rPr b="0" i="0" lang="en-US" sz="1912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Análise exploratória, expressão diferencial, fenótipos clínicos e sobrevida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2000" y="1662261"/>
            <a:ext cx="166255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Ryan Santos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2"/>
          <p:cNvSpPr txBox="1"/>
          <p:nvPr/>
        </p:nvSpPr>
        <p:spPr>
          <a:xfrm>
            <a:off x="400050" y="161925"/>
            <a:ext cx="111829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1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Roteiro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00050" y="974080"/>
            <a:ext cx="25266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Pergunta e desenho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00050" y="1483668"/>
            <a:ext cx="29631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Dados e processamento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00050" y="1993255"/>
            <a:ext cx="25524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00050" y="2502843"/>
            <a:ext cx="44188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Expressão diferencial e volcano plots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400050" y="3012430"/>
            <a:ext cx="42037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ComBat: demonstração e limitação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262688" y="1069330"/>
            <a:ext cx="45417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Fenótipos avançados, sobrevida e Cox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262688" y="1578918"/>
            <a:ext cx="51312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 Outros grupos: recidivas, histologia, vírus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262688" y="1898005"/>
            <a:ext cx="4446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7705130" y="2153394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7705130" y="2172444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7705130" y="3221385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7705130" y="3240435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3"/>
          <p:cNvSpPr/>
          <p:nvPr/>
        </p:nvSpPr>
        <p:spPr>
          <a:xfrm>
            <a:off x="7705130" y="4289375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7705130" y="4308425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3"/>
          <p:cNvSpPr txBox="1"/>
          <p:nvPr/>
        </p:nvSpPr>
        <p:spPr>
          <a:xfrm>
            <a:off x="400050" y="161925"/>
            <a:ext cx="300231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Pergunta e desenho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00050" y="974080"/>
            <a:ext cx="18924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Pergunta central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00075" y="1355450"/>
            <a:ext cx="61713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1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o transcriptoma do hepatocarcinoma difere do GTEx e do tecido adjacente, e como fatores clínicos se associam a esses padrões?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400050" y="3426768"/>
            <a:ext cx="15402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661988" y="3936355"/>
            <a:ext cx="60858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 adjacente (Não pareado e pareado);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61988" y="4307830"/>
            <a:ext cx="292968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GTEx;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661988" y="4679305"/>
            <a:ext cx="33016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 × GTEx;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61988" y="5050780"/>
            <a:ext cx="46568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Dentro do TCGA: estágio, grau, sexo e idade;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61988" y="5422255"/>
            <a:ext cx="31198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Dentro do GTEx: sexo e idade;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661988" y="5793730"/>
            <a:ext cx="10154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KEGG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1704529" y="5793730"/>
            <a:ext cx="10992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hsa05417;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61988" y="6165205"/>
            <a:ext cx="14733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Sensibilidade: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2162624" y="6165200"/>
            <a:ext cx="2599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 </a:t>
            </a:r>
            <a:r>
              <a:rPr b="0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r>
              <a:rPr b="0" i="1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batch effects</a:t>
            </a:r>
            <a:r>
              <a:rPr b="0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430048" y="2265313"/>
            <a:ext cx="675084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916888" y="2733229"/>
            <a:ext cx="170125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amostras na análise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9167664" y="3333304"/>
            <a:ext cx="1199704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267230" y="3801219"/>
            <a:ext cx="10007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genes após filtro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536162" y="4401294"/>
            <a:ext cx="462707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969127" y="4869210"/>
            <a:ext cx="159677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comparações de expressão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31006" y="406256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31006" y="443403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431006" y="480551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31006" y="517698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31006" y="554846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31006" y="591993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31006" y="629141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00050" y="6508175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TCGA Research Network, Cell 2017; GTEx Consortium, Science 2020.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4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4"/>
          <p:cNvSpPr/>
          <p:nvPr/>
        </p:nvSpPr>
        <p:spPr>
          <a:xfrm>
            <a:off x="3474025" y="795664"/>
            <a:ext cx="5529300" cy="10029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478787" y="800427"/>
            <a:ext cx="4569000" cy="26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3478787" y="805189"/>
            <a:ext cx="45690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4"/>
          <p:cNvSpPr/>
          <p:nvPr/>
        </p:nvSpPr>
        <p:spPr>
          <a:xfrm>
            <a:off x="8047662" y="800427"/>
            <a:ext cx="951000" cy="26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4"/>
          <p:cNvCxnSpPr/>
          <p:nvPr/>
        </p:nvCxnSpPr>
        <p:spPr>
          <a:xfrm>
            <a:off x="8047662" y="805189"/>
            <a:ext cx="9510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4"/>
          <p:cNvCxnSpPr/>
          <p:nvPr/>
        </p:nvCxnSpPr>
        <p:spPr>
          <a:xfrm>
            <a:off x="8052425" y="800427"/>
            <a:ext cx="0" cy="26070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4"/>
          <p:cNvSpPr/>
          <p:nvPr/>
        </p:nvSpPr>
        <p:spPr>
          <a:xfrm>
            <a:off x="3478787" y="1061025"/>
            <a:ext cx="4569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3478787" y="1065787"/>
            <a:ext cx="4569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4"/>
          <p:cNvSpPr/>
          <p:nvPr/>
        </p:nvSpPr>
        <p:spPr>
          <a:xfrm>
            <a:off x="8047662" y="1061025"/>
            <a:ext cx="951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8047662" y="1065787"/>
            <a:ext cx="95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4"/>
          <p:cNvCxnSpPr/>
          <p:nvPr/>
        </p:nvCxnSpPr>
        <p:spPr>
          <a:xfrm>
            <a:off x="8052425" y="1061025"/>
            <a:ext cx="0" cy="24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4"/>
          <p:cNvSpPr/>
          <p:nvPr/>
        </p:nvSpPr>
        <p:spPr>
          <a:xfrm>
            <a:off x="3478787" y="1305252"/>
            <a:ext cx="4569000" cy="244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4"/>
          <p:cNvCxnSpPr/>
          <p:nvPr/>
        </p:nvCxnSpPr>
        <p:spPr>
          <a:xfrm>
            <a:off x="3478787" y="1310014"/>
            <a:ext cx="4569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4"/>
          <p:cNvSpPr/>
          <p:nvPr/>
        </p:nvSpPr>
        <p:spPr>
          <a:xfrm>
            <a:off x="8047662" y="1305252"/>
            <a:ext cx="951000" cy="244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4"/>
          <p:cNvCxnSpPr/>
          <p:nvPr/>
        </p:nvCxnSpPr>
        <p:spPr>
          <a:xfrm>
            <a:off x="8047662" y="1310014"/>
            <a:ext cx="95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4"/>
          <p:cNvCxnSpPr/>
          <p:nvPr/>
        </p:nvCxnSpPr>
        <p:spPr>
          <a:xfrm>
            <a:off x="8052425" y="1305252"/>
            <a:ext cx="0" cy="24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4"/>
          <p:cNvSpPr/>
          <p:nvPr/>
        </p:nvSpPr>
        <p:spPr>
          <a:xfrm>
            <a:off x="3478787" y="1549479"/>
            <a:ext cx="4569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4"/>
          <p:cNvCxnSpPr/>
          <p:nvPr/>
        </p:nvCxnSpPr>
        <p:spPr>
          <a:xfrm>
            <a:off x="3478787" y="1554241"/>
            <a:ext cx="4569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4"/>
          <p:cNvSpPr/>
          <p:nvPr/>
        </p:nvSpPr>
        <p:spPr>
          <a:xfrm>
            <a:off x="8047662" y="1549479"/>
            <a:ext cx="951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4"/>
          <p:cNvCxnSpPr/>
          <p:nvPr/>
        </p:nvCxnSpPr>
        <p:spPr>
          <a:xfrm>
            <a:off x="8047662" y="1554241"/>
            <a:ext cx="951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4"/>
          <p:cNvCxnSpPr/>
          <p:nvPr/>
        </p:nvCxnSpPr>
        <p:spPr>
          <a:xfrm>
            <a:off x="8052425" y="1549479"/>
            <a:ext cx="0" cy="24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6f3c3c0c21ff9b5e2ad9580bb389232.png" id="171" name="Google Shape;1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2249" y="1862562"/>
            <a:ext cx="8507519" cy="546918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 txBox="1"/>
          <p:nvPr/>
        </p:nvSpPr>
        <p:spPr>
          <a:xfrm>
            <a:off x="400050" y="161925"/>
            <a:ext cx="252799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Coorte analisada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3512125" y="830193"/>
            <a:ext cx="449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8086030" y="830193"/>
            <a:ext cx="8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3512125" y="1082605"/>
            <a:ext cx="449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— tumor primário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8086030" y="1082605"/>
            <a:ext cx="8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3512125" y="1326832"/>
            <a:ext cx="449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— tecido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086030" y="1326832"/>
            <a:ext cx="8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3512125" y="1571059"/>
            <a:ext cx="4497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— fígado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8086030" y="1571059"/>
            <a:ext cx="8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4484855" y="7352418"/>
            <a:ext cx="3222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1. Distribuição das amostras hepáticas por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762750" y="133350"/>
            <a:ext cx="50292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TCGA Research Network, 2017; GTEx Consortium, 2020; Goldman et al., 2020.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5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5"/>
          <p:cNvSpPr/>
          <p:nvPr/>
        </p:nvSpPr>
        <p:spPr>
          <a:xfrm>
            <a:off x="6242596" y="1908721"/>
            <a:ext cx="5568404" cy="1640532"/>
          </a:xfrm>
          <a:prstGeom prst="roundRect">
            <a:avLst>
              <a:gd fmla="val 2903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242596" y="3739753"/>
            <a:ext cx="5549354" cy="1568648"/>
          </a:xfrm>
          <a:prstGeom prst="roundRect">
            <a:avLst>
              <a:gd fmla="val 3036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5"/>
          <p:cNvCxnSpPr/>
          <p:nvPr/>
        </p:nvCxnSpPr>
        <p:spPr>
          <a:xfrm>
            <a:off x="6266408" y="3739753"/>
            <a:ext cx="0" cy="1568649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5"/>
          <p:cNvSpPr/>
          <p:nvPr/>
        </p:nvSpPr>
        <p:spPr>
          <a:xfrm>
            <a:off x="400050" y="5933926"/>
            <a:ext cx="11391900" cy="903684"/>
          </a:xfrm>
          <a:prstGeom prst="roundRect">
            <a:avLst>
              <a:gd fmla="val 527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400050" y="161925"/>
            <a:ext cx="3173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e processamento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400050" y="887016"/>
            <a:ext cx="59605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Fonte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630436" y="1339453"/>
            <a:ext cx="10733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1722983" y="1339453"/>
            <a:ext cx="16243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UCSC Xena / Toil,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630424" y="1639500"/>
            <a:ext cx="3749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TcgaTargetGtex_</a:t>
            </a:r>
            <a:r>
              <a:rPr lang="en-US" sz="165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phenotype_txt.gz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630436" y="1918841"/>
            <a:ext cx="6843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1333946" y="1918841"/>
            <a:ext cx="17453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log2(TPM + 0,001)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630436" y="2226766"/>
            <a:ext cx="14052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Mapeamento: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2054870" y="2226766"/>
            <a:ext cx="25029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Ensembl → símbolo HUGO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637117" y="2526800"/>
            <a:ext cx="167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1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(org.Hs.eg.db)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30436" y="2806154"/>
            <a:ext cx="10678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Isoformas: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717477" y="2806154"/>
            <a:ext cx="207540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agregadas pela média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30436" y="3114080"/>
            <a:ext cx="6152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264900" y="3114075"/>
            <a:ext cx="48459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expressão ≥ 1 em ≥ 20% das amostras e variância &gt;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630436" y="3436540"/>
            <a:ext cx="1230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Matriz final: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1880295" y="3436540"/>
            <a:ext cx="2748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12.401 genes × 529 amostras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400050" y="3934965"/>
            <a:ext cx="70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Clínico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603222" y="4224117"/>
            <a:ext cx="586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1209250" y="4262217"/>
            <a:ext cx="2370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LIHC_clinicalMatrix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3599430" y="4224117"/>
            <a:ext cx="625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GDC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603222" y="4541568"/>
            <a:ext cx="534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1156863" y="4579668"/>
            <a:ext cx="1757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GTEX_phenotype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2933126" y="4541568"/>
            <a:ext cx="926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GTEx v8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603211" y="4859012"/>
            <a:ext cx="55683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Variáveis: sexo, idade, estágio, grau, AFP (alfa fetoproteína, biomarcador de HCC), fibrose, sorologia viral, </a:t>
            </a:r>
            <a:r>
              <a:rPr b="0" i="1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Child-Pugh </a:t>
            </a:r>
            <a:r>
              <a:rPr b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(Classificação de HCC)</a:t>
            </a: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histologia, TSS (</a:t>
            </a:r>
            <a:r>
              <a:rPr lang="en-US" sz="1650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Centro de coleta</a:t>
            </a: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6242596" y="1437233"/>
            <a:ext cx="18238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Estrutura da pasta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6325344" y="1991469"/>
            <a:ext cx="1020366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seminários_ryan/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6325344" y="2125563"/>
            <a:ext cx="218688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├── scripts/ # pipeline em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6325344" y="2259657"/>
            <a:ext cx="652016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├── dados/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6325344" y="2393752"/>
            <a:ext cx="2555230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├── raw/ # clínico e fenótipos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6325344" y="2527846"/>
            <a:ext cx="2432447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└── processed/ # matrizes log2 TPM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6325344" y="2661940"/>
            <a:ext cx="959048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├── resultados/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6325344" y="2796034"/>
            <a:ext cx="2370981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├── tabelas/ # 35 tabelas + DE/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6325344" y="2930128"/>
            <a:ext cx="2862114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├── figuras/ # 35 figuras + 12 volcanos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6325344" y="3064222"/>
            <a:ext cx="2248198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│ └── qc/ # logs e resumos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6325344" y="3198316"/>
            <a:ext cx="3905845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├── auditorias/ # dados, volcano 12, benchmarks, compliance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6325344" y="3332411"/>
            <a:ext cx="2800796" cy="12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└── docs/ # 11 documentos didáticos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6440984" y="4024312"/>
            <a:ext cx="522714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transcriptoma bruto (~1,3 GB) não está versionado. A matriz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6440984" y="4259907"/>
            <a:ext cx="237351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processada (17 MB) está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6440984" y="4524077"/>
            <a:ext cx="52292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dados/processed/expressao_log2tpm_filtrada.tsv.gz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507504" y="6187678"/>
            <a:ext cx="3635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874216" y="6187678"/>
            <a:ext cx="1415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1018877" y="6187678"/>
            <a:ext cx="1454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transcripts per million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2434977" y="6187678"/>
            <a:ext cx="207927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medida relativa de expressão.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4517529" y="6187678"/>
            <a:ext cx="136832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log2(TPM + 0,001)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5888980" y="6187678"/>
            <a:ext cx="5400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comprime a escala e estabiliza a variância; soma-se 0,001 para evitar log de zero.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507504" y="6376243"/>
            <a:ext cx="129212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Ensembl → HUGO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1802755" y="6376243"/>
            <a:ext cx="417582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conversão de identificadores de gene para símbolos oficiais.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5981849" y="6376243"/>
            <a:ext cx="4128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6397823" y="6376243"/>
            <a:ext cx="50946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remove genes com expressão baixa/constante, que só adicionariam ruído.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427172" y="14562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427172" y="2035618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27172" y="2343543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427172" y="2922931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27172" y="3230856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427172" y="3553316"/>
            <a:ext cx="71100" cy="711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399958" y="4340894"/>
            <a:ext cx="71100" cy="711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99958" y="4658344"/>
            <a:ext cx="71100" cy="711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399958" y="4975795"/>
            <a:ext cx="71100" cy="711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400050" y="6866185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Goldman et al., Nat Biotechnol 2020; TCGA, 2017; GTEx, 2020.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6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6"/>
          <p:cNvSpPr/>
          <p:nvPr/>
        </p:nvSpPr>
        <p:spPr>
          <a:xfrm>
            <a:off x="400050" y="783580"/>
            <a:ext cx="11391900" cy="2712393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04812" y="788343"/>
            <a:ext cx="2598390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6"/>
          <p:cNvCxnSpPr/>
          <p:nvPr/>
        </p:nvCxnSpPr>
        <p:spPr>
          <a:xfrm>
            <a:off x="404812" y="793105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6"/>
          <p:cNvCxnSpPr/>
          <p:nvPr/>
        </p:nvCxnSpPr>
        <p:spPr>
          <a:xfrm>
            <a:off x="409575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6"/>
          <p:cNvSpPr/>
          <p:nvPr/>
        </p:nvSpPr>
        <p:spPr>
          <a:xfrm>
            <a:off x="3003203" y="788343"/>
            <a:ext cx="8783985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6"/>
          <p:cNvCxnSpPr/>
          <p:nvPr/>
        </p:nvCxnSpPr>
        <p:spPr>
          <a:xfrm>
            <a:off x="3003203" y="793105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6"/>
          <p:cNvCxnSpPr/>
          <p:nvPr/>
        </p:nvCxnSpPr>
        <p:spPr>
          <a:xfrm>
            <a:off x="3007965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6"/>
          <p:cNvSpPr/>
          <p:nvPr/>
        </p:nvSpPr>
        <p:spPr>
          <a:xfrm>
            <a:off x="404812" y="1048941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6"/>
          <p:cNvCxnSpPr/>
          <p:nvPr/>
        </p:nvCxnSpPr>
        <p:spPr>
          <a:xfrm>
            <a:off x="404812" y="1053703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6"/>
          <p:cNvCxnSpPr/>
          <p:nvPr/>
        </p:nvCxnSpPr>
        <p:spPr>
          <a:xfrm>
            <a:off x="409575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6"/>
          <p:cNvSpPr/>
          <p:nvPr/>
        </p:nvSpPr>
        <p:spPr>
          <a:xfrm>
            <a:off x="3003203" y="1048941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6"/>
          <p:cNvCxnSpPr/>
          <p:nvPr/>
        </p:nvCxnSpPr>
        <p:spPr>
          <a:xfrm>
            <a:off x="3003203" y="1053703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6"/>
          <p:cNvCxnSpPr/>
          <p:nvPr/>
        </p:nvCxnSpPr>
        <p:spPr>
          <a:xfrm>
            <a:off x="3007965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6"/>
          <p:cNvSpPr/>
          <p:nvPr/>
        </p:nvSpPr>
        <p:spPr>
          <a:xfrm>
            <a:off x="404812" y="1293168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6"/>
          <p:cNvCxnSpPr/>
          <p:nvPr/>
        </p:nvCxnSpPr>
        <p:spPr>
          <a:xfrm>
            <a:off x="404812" y="1297930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6"/>
          <p:cNvCxnSpPr/>
          <p:nvPr/>
        </p:nvCxnSpPr>
        <p:spPr>
          <a:xfrm>
            <a:off x="409575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6"/>
          <p:cNvSpPr/>
          <p:nvPr/>
        </p:nvSpPr>
        <p:spPr>
          <a:xfrm>
            <a:off x="3003203" y="1293168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6"/>
          <p:cNvCxnSpPr/>
          <p:nvPr/>
        </p:nvCxnSpPr>
        <p:spPr>
          <a:xfrm>
            <a:off x="3003203" y="1297930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6"/>
          <p:cNvCxnSpPr/>
          <p:nvPr/>
        </p:nvCxnSpPr>
        <p:spPr>
          <a:xfrm>
            <a:off x="3007965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6"/>
          <p:cNvSpPr/>
          <p:nvPr/>
        </p:nvSpPr>
        <p:spPr>
          <a:xfrm>
            <a:off x="404812" y="1537395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6"/>
          <p:cNvCxnSpPr/>
          <p:nvPr/>
        </p:nvCxnSpPr>
        <p:spPr>
          <a:xfrm>
            <a:off x="404812" y="1542157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6"/>
          <p:cNvCxnSpPr/>
          <p:nvPr/>
        </p:nvCxnSpPr>
        <p:spPr>
          <a:xfrm>
            <a:off x="409575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6"/>
          <p:cNvSpPr/>
          <p:nvPr/>
        </p:nvSpPr>
        <p:spPr>
          <a:xfrm>
            <a:off x="3003203" y="1537395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6"/>
          <p:cNvCxnSpPr/>
          <p:nvPr/>
        </p:nvCxnSpPr>
        <p:spPr>
          <a:xfrm>
            <a:off x="3003203" y="1542157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6"/>
          <p:cNvCxnSpPr/>
          <p:nvPr/>
        </p:nvCxnSpPr>
        <p:spPr>
          <a:xfrm>
            <a:off x="3007965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6"/>
          <p:cNvSpPr/>
          <p:nvPr/>
        </p:nvSpPr>
        <p:spPr>
          <a:xfrm>
            <a:off x="404812" y="1781621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6"/>
          <p:cNvCxnSpPr/>
          <p:nvPr/>
        </p:nvCxnSpPr>
        <p:spPr>
          <a:xfrm>
            <a:off x="404812" y="1786384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6"/>
          <p:cNvCxnSpPr/>
          <p:nvPr/>
        </p:nvCxnSpPr>
        <p:spPr>
          <a:xfrm>
            <a:off x="409575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6"/>
          <p:cNvSpPr/>
          <p:nvPr/>
        </p:nvSpPr>
        <p:spPr>
          <a:xfrm>
            <a:off x="3003203" y="1781621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6"/>
          <p:cNvCxnSpPr/>
          <p:nvPr/>
        </p:nvCxnSpPr>
        <p:spPr>
          <a:xfrm>
            <a:off x="3003203" y="1786384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6"/>
          <p:cNvCxnSpPr/>
          <p:nvPr/>
        </p:nvCxnSpPr>
        <p:spPr>
          <a:xfrm>
            <a:off x="3007965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6"/>
          <p:cNvSpPr/>
          <p:nvPr/>
        </p:nvSpPr>
        <p:spPr>
          <a:xfrm>
            <a:off x="404812" y="2025848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6"/>
          <p:cNvCxnSpPr/>
          <p:nvPr/>
        </p:nvCxnSpPr>
        <p:spPr>
          <a:xfrm>
            <a:off x="404812" y="2030611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6"/>
          <p:cNvCxnSpPr/>
          <p:nvPr/>
        </p:nvCxnSpPr>
        <p:spPr>
          <a:xfrm>
            <a:off x="409575" y="202584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6"/>
          <p:cNvSpPr/>
          <p:nvPr/>
        </p:nvSpPr>
        <p:spPr>
          <a:xfrm>
            <a:off x="3003203" y="2025848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6"/>
          <p:cNvCxnSpPr/>
          <p:nvPr/>
        </p:nvCxnSpPr>
        <p:spPr>
          <a:xfrm>
            <a:off x="3003203" y="2030611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6"/>
          <p:cNvCxnSpPr/>
          <p:nvPr/>
        </p:nvCxnSpPr>
        <p:spPr>
          <a:xfrm>
            <a:off x="3007965" y="202584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6"/>
          <p:cNvSpPr/>
          <p:nvPr/>
        </p:nvSpPr>
        <p:spPr>
          <a:xfrm>
            <a:off x="404812" y="2270075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6"/>
          <p:cNvCxnSpPr/>
          <p:nvPr/>
        </p:nvCxnSpPr>
        <p:spPr>
          <a:xfrm>
            <a:off x="404812" y="2274838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6"/>
          <p:cNvCxnSpPr/>
          <p:nvPr/>
        </p:nvCxnSpPr>
        <p:spPr>
          <a:xfrm>
            <a:off x="409575" y="2270075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6"/>
          <p:cNvSpPr/>
          <p:nvPr/>
        </p:nvSpPr>
        <p:spPr>
          <a:xfrm>
            <a:off x="3003203" y="2270075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6"/>
          <p:cNvCxnSpPr/>
          <p:nvPr/>
        </p:nvCxnSpPr>
        <p:spPr>
          <a:xfrm>
            <a:off x="3003203" y="2274838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6"/>
          <p:cNvCxnSpPr/>
          <p:nvPr/>
        </p:nvCxnSpPr>
        <p:spPr>
          <a:xfrm>
            <a:off x="3007965" y="2270075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6"/>
          <p:cNvSpPr/>
          <p:nvPr/>
        </p:nvSpPr>
        <p:spPr>
          <a:xfrm>
            <a:off x="404812" y="2514302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6"/>
          <p:cNvCxnSpPr/>
          <p:nvPr/>
        </p:nvCxnSpPr>
        <p:spPr>
          <a:xfrm>
            <a:off x="404812" y="2519065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6"/>
          <p:cNvCxnSpPr/>
          <p:nvPr/>
        </p:nvCxnSpPr>
        <p:spPr>
          <a:xfrm>
            <a:off x="409575" y="2514302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6"/>
          <p:cNvSpPr/>
          <p:nvPr/>
        </p:nvSpPr>
        <p:spPr>
          <a:xfrm>
            <a:off x="3003203" y="2514302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6"/>
          <p:cNvCxnSpPr/>
          <p:nvPr/>
        </p:nvCxnSpPr>
        <p:spPr>
          <a:xfrm>
            <a:off x="3003203" y="2519065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6"/>
          <p:cNvCxnSpPr/>
          <p:nvPr/>
        </p:nvCxnSpPr>
        <p:spPr>
          <a:xfrm>
            <a:off x="3007965" y="2514302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6"/>
          <p:cNvSpPr/>
          <p:nvPr/>
        </p:nvSpPr>
        <p:spPr>
          <a:xfrm>
            <a:off x="404812" y="2758529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6"/>
          <p:cNvCxnSpPr/>
          <p:nvPr/>
        </p:nvCxnSpPr>
        <p:spPr>
          <a:xfrm>
            <a:off x="404812" y="2763292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6"/>
          <p:cNvCxnSpPr/>
          <p:nvPr/>
        </p:nvCxnSpPr>
        <p:spPr>
          <a:xfrm>
            <a:off x="409575" y="2758529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6"/>
          <p:cNvSpPr/>
          <p:nvPr/>
        </p:nvSpPr>
        <p:spPr>
          <a:xfrm>
            <a:off x="3003203" y="2758529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6"/>
          <p:cNvCxnSpPr/>
          <p:nvPr/>
        </p:nvCxnSpPr>
        <p:spPr>
          <a:xfrm>
            <a:off x="3003203" y="2763292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6"/>
          <p:cNvCxnSpPr/>
          <p:nvPr/>
        </p:nvCxnSpPr>
        <p:spPr>
          <a:xfrm>
            <a:off x="3007965" y="2758529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6"/>
          <p:cNvSpPr/>
          <p:nvPr/>
        </p:nvSpPr>
        <p:spPr>
          <a:xfrm>
            <a:off x="404812" y="3002756"/>
            <a:ext cx="259839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6"/>
          <p:cNvCxnSpPr/>
          <p:nvPr/>
        </p:nvCxnSpPr>
        <p:spPr>
          <a:xfrm>
            <a:off x="404812" y="3007519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6"/>
          <p:cNvCxnSpPr/>
          <p:nvPr/>
        </p:nvCxnSpPr>
        <p:spPr>
          <a:xfrm>
            <a:off x="409575" y="300275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6"/>
          <p:cNvSpPr/>
          <p:nvPr/>
        </p:nvSpPr>
        <p:spPr>
          <a:xfrm>
            <a:off x="3003203" y="3002756"/>
            <a:ext cx="878398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6"/>
          <p:cNvCxnSpPr/>
          <p:nvPr/>
        </p:nvCxnSpPr>
        <p:spPr>
          <a:xfrm>
            <a:off x="3003203" y="3007519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6"/>
          <p:cNvCxnSpPr/>
          <p:nvPr/>
        </p:nvCxnSpPr>
        <p:spPr>
          <a:xfrm>
            <a:off x="3007965" y="300275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6"/>
          <p:cNvSpPr/>
          <p:nvPr/>
        </p:nvSpPr>
        <p:spPr>
          <a:xfrm>
            <a:off x="404812" y="3246983"/>
            <a:ext cx="259839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6"/>
          <p:cNvCxnSpPr/>
          <p:nvPr/>
        </p:nvCxnSpPr>
        <p:spPr>
          <a:xfrm>
            <a:off x="404812" y="3251746"/>
            <a:ext cx="259839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6"/>
          <p:cNvCxnSpPr/>
          <p:nvPr/>
        </p:nvCxnSpPr>
        <p:spPr>
          <a:xfrm>
            <a:off x="409575" y="324698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6"/>
          <p:cNvSpPr/>
          <p:nvPr/>
        </p:nvSpPr>
        <p:spPr>
          <a:xfrm>
            <a:off x="3003203" y="3246983"/>
            <a:ext cx="878398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6"/>
          <p:cNvCxnSpPr/>
          <p:nvPr/>
        </p:nvCxnSpPr>
        <p:spPr>
          <a:xfrm>
            <a:off x="3003203" y="3251746"/>
            <a:ext cx="878398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6"/>
          <p:cNvCxnSpPr/>
          <p:nvPr/>
        </p:nvCxnSpPr>
        <p:spPr>
          <a:xfrm>
            <a:off x="3007965" y="324698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6"/>
          <p:cNvSpPr/>
          <p:nvPr/>
        </p:nvSpPr>
        <p:spPr>
          <a:xfrm>
            <a:off x="400050" y="3635276"/>
            <a:ext cx="11391900" cy="1190923"/>
          </a:xfrm>
          <a:prstGeom prst="roundRect">
            <a:avLst>
              <a:gd fmla="val 399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6"/>
          <p:cNvCxnSpPr/>
          <p:nvPr/>
        </p:nvCxnSpPr>
        <p:spPr>
          <a:xfrm>
            <a:off x="423862" y="3635276"/>
            <a:ext cx="0" cy="1190922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6"/>
          <p:cNvSpPr/>
          <p:nvPr/>
        </p:nvSpPr>
        <p:spPr>
          <a:xfrm>
            <a:off x="400050" y="4911923"/>
            <a:ext cx="11391900" cy="1003102"/>
          </a:xfrm>
          <a:prstGeom prst="roundRect">
            <a:avLst>
              <a:gd fmla="val 474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 txBox="1"/>
          <p:nvPr/>
        </p:nvSpPr>
        <p:spPr>
          <a:xfrm>
            <a:off x="400050" y="161925"/>
            <a:ext cx="360982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Comparações realizadas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6"/>
          <p:cNvSpPr txBox="1"/>
          <p:nvPr/>
        </p:nvSpPr>
        <p:spPr>
          <a:xfrm>
            <a:off x="461962" y="818108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"/>
          <p:cNvSpPr txBox="1"/>
          <p:nvPr/>
        </p:nvSpPr>
        <p:spPr>
          <a:xfrm>
            <a:off x="3065859" y="818108"/>
            <a:ext cx="82510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 txBox="1"/>
          <p:nvPr/>
        </p:nvSpPr>
        <p:spPr>
          <a:xfrm>
            <a:off x="461962" y="1070521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3065859" y="1070521"/>
            <a:ext cx="2223939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primário vs. tecido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 txBox="1"/>
          <p:nvPr/>
        </p:nvSpPr>
        <p:spPr>
          <a:xfrm>
            <a:off x="461962" y="1314748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3065859" y="1314748"/>
            <a:ext cx="243304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primário vs. adjacente (pareado)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 txBox="1"/>
          <p:nvPr/>
        </p:nvSpPr>
        <p:spPr>
          <a:xfrm>
            <a:off x="461962" y="1558975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3065859" y="1558975"/>
            <a:ext cx="1228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vs. I–II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 txBox="1"/>
          <p:nvPr/>
        </p:nvSpPr>
        <p:spPr>
          <a:xfrm>
            <a:off x="461962" y="1803202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"/>
          <p:cNvSpPr txBox="1"/>
          <p:nvPr/>
        </p:nvSpPr>
        <p:spPr>
          <a:xfrm>
            <a:off x="3065859" y="1803202"/>
            <a:ext cx="141252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vs. G1–G2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461962" y="2047429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×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 txBox="1"/>
          <p:nvPr/>
        </p:nvSpPr>
        <p:spPr>
          <a:xfrm>
            <a:off x="3065859" y="2047429"/>
            <a:ext cx="142785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Masculino vs. 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461962" y="2291655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×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 txBox="1"/>
          <p:nvPr/>
        </p:nvSpPr>
        <p:spPr>
          <a:xfrm>
            <a:off x="3065859" y="2291655"/>
            <a:ext cx="11351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≥60 vs. &lt;60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 txBox="1"/>
          <p:nvPr/>
        </p:nvSpPr>
        <p:spPr>
          <a:xfrm>
            <a:off x="461962" y="2535882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 txBox="1"/>
          <p:nvPr/>
        </p:nvSpPr>
        <p:spPr>
          <a:xfrm>
            <a:off x="3065859" y="2535882"/>
            <a:ext cx="207719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primário vs. fígado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 txBox="1"/>
          <p:nvPr/>
        </p:nvSpPr>
        <p:spPr>
          <a:xfrm>
            <a:off x="461962" y="2780109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×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3065859" y="2780109"/>
            <a:ext cx="173399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Adjacente vs. fígado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 txBox="1"/>
          <p:nvPr/>
        </p:nvSpPr>
        <p:spPr>
          <a:xfrm>
            <a:off x="461962" y="3024336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KEGG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"/>
          <p:cNvSpPr txBox="1"/>
          <p:nvPr/>
        </p:nvSpPr>
        <p:spPr>
          <a:xfrm>
            <a:off x="3065859" y="3024336"/>
            <a:ext cx="31538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LA (hsa05417): tumor vs. normal e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 txBox="1"/>
          <p:nvPr/>
        </p:nvSpPr>
        <p:spPr>
          <a:xfrm>
            <a:off x="461962" y="3268563"/>
            <a:ext cx="250317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"/>
          <p:cNvSpPr txBox="1"/>
          <p:nvPr/>
        </p:nvSpPr>
        <p:spPr>
          <a:xfrm>
            <a:off x="3065859" y="3268563"/>
            <a:ext cx="155168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ComBat: antes vs. depois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/>
          <p:cNvSpPr txBox="1"/>
          <p:nvPr/>
        </p:nvSpPr>
        <p:spPr>
          <a:xfrm>
            <a:off x="520900" y="3878046"/>
            <a:ext cx="10967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Também foram comparados, dentro do TCGA: </a:t>
            </a:r>
            <a:r>
              <a:rPr b="1"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</a:t>
            </a:r>
            <a:r>
              <a:rPr lang="en-US">
                <a:solidFill>
                  <a:schemeClr val="dk1"/>
                </a:solidFill>
              </a:rPr>
              <a:t> e </a:t>
            </a:r>
            <a:r>
              <a:rPr b="1"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≥ 65 vs. &lt;65 </a:t>
            </a:r>
            <a:r>
              <a:rPr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(Os doadores com tumor no TCGA eram significativamente mais velhos [média de 59,4 anos] do que os doadores de fígado normal do GTEx [média de 53,7 anos] p = 3,96e-6). </a:t>
            </a: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comparação pareada usa o paciente como fator de bloqueio.</a:t>
            </a:r>
            <a:endParaRPr sz="1687">
              <a:solidFill>
                <a:srgbClr val="12355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2" name="Google Shape;352;p6"/>
          <p:cNvSpPr txBox="1"/>
          <p:nvPr/>
        </p:nvSpPr>
        <p:spPr>
          <a:xfrm>
            <a:off x="520898" y="5183832"/>
            <a:ext cx="69502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Pareado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"/>
          <p:cNvSpPr txBox="1"/>
          <p:nvPr/>
        </p:nvSpPr>
        <p:spPr>
          <a:xfrm>
            <a:off x="1224707" y="5183832"/>
            <a:ext cx="18279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tumor e adjacente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"/>
          <p:cNvSpPr txBox="1"/>
          <p:nvPr/>
        </p:nvSpPr>
        <p:spPr>
          <a:xfrm>
            <a:off x="3061543" y="5183832"/>
            <a:ext cx="5752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mesmo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"/>
          <p:cNvSpPr txBox="1"/>
          <p:nvPr/>
        </p:nvSpPr>
        <p:spPr>
          <a:xfrm>
            <a:off x="3645545" y="5183832"/>
            <a:ext cx="3628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paciente, o que controla genética, idade e sexo.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"/>
          <p:cNvSpPr txBox="1"/>
          <p:nvPr/>
        </p:nvSpPr>
        <p:spPr>
          <a:xfrm>
            <a:off x="7282755" y="5183832"/>
            <a:ext cx="8434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 txBox="1"/>
          <p:nvPr/>
        </p:nvSpPr>
        <p:spPr>
          <a:xfrm>
            <a:off x="8134945" y="5183832"/>
            <a:ext cx="30718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fígado “normal” perfeito: pode 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 txBox="1"/>
          <p:nvPr/>
        </p:nvSpPr>
        <p:spPr>
          <a:xfrm>
            <a:off x="520898" y="5413474"/>
            <a:ext cx="28466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inflamação e campo de cancerização.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"/>
          <p:cNvSpPr txBox="1"/>
          <p:nvPr/>
        </p:nvSpPr>
        <p:spPr>
          <a:xfrm>
            <a:off x="3376464" y="5413474"/>
            <a:ext cx="67597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 txBox="1"/>
          <p:nvPr/>
        </p:nvSpPr>
        <p:spPr>
          <a:xfrm>
            <a:off x="4061222" y="5413474"/>
            <a:ext cx="61888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correção de lote; aqui é uma análise de sensibilidade, não o resultado principal.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8"/>
          <p:cNvCxnSpPr/>
          <p:nvPr/>
        </p:nvCxnSpPr>
        <p:spPr>
          <a:xfrm>
            <a:off x="400050" y="561826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8"/>
          <p:cNvSpPr/>
          <p:nvPr/>
        </p:nvSpPr>
        <p:spPr>
          <a:xfrm>
            <a:off x="400050" y="661095"/>
            <a:ext cx="5562600" cy="45591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404812" y="665857"/>
            <a:ext cx="185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8"/>
          <p:cNvCxnSpPr/>
          <p:nvPr/>
        </p:nvCxnSpPr>
        <p:spPr>
          <a:xfrm>
            <a:off x="404812" y="67062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9" name="Google Shape;369;p8"/>
          <p:cNvCxnSpPr/>
          <p:nvPr/>
        </p:nvCxnSpPr>
        <p:spPr>
          <a:xfrm>
            <a:off x="409575" y="665857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70" name="Google Shape;370;p8"/>
          <p:cNvSpPr/>
          <p:nvPr/>
        </p:nvSpPr>
        <p:spPr>
          <a:xfrm>
            <a:off x="2255788" y="665857"/>
            <a:ext cx="185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8"/>
          <p:cNvCxnSpPr/>
          <p:nvPr/>
        </p:nvCxnSpPr>
        <p:spPr>
          <a:xfrm>
            <a:off x="2255788" y="67062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72" name="Google Shape;372;p8"/>
          <p:cNvCxnSpPr/>
          <p:nvPr/>
        </p:nvCxnSpPr>
        <p:spPr>
          <a:xfrm>
            <a:off x="2260550" y="665857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73" name="Google Shape;373;p8"/>
          <p:cNvSpPr/>
          <p:nvPr/>
        </p:nvSpPr>
        <p:spPr>
          <a:xfrm>
            <a:off x="4106763" y="665857"/>
            <a:ext cx="18510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8"/>
          <p:cNvCxnSpPr/>
          <p:nvPr/>
        </p:nvCxnSpPr>
        <p:spPr>
          <a:xfrm>
            <a:off x="4106763" y="67062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75" name="Google Shape;375;p8"/>
          <p:cNvCxnSpPr/>
          <p:nvPr/>
        </p:nvCxnSpPr>
        <p:spPr>
          <a:xfrm>
            <a:off x="4111526" y="665857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76" name="Google Shape;376;p8"/>
          <p:cNvSpPr/>
          <p:nvPr/>
        </p:nvSpPr>
        <p:spPr>
          <a:xfrm>
            <a:off x="404812" y="901899"/>
            <a:ext cx="1851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8"/>
          <p:cNvCxnSpPr/>
          <p:nvPr/>
        </p:nvCxnSpPr>
        <p:spPr>
          <a:xfrm>
            <a:off x="404812" y="90666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78" name="Google Shape;378;p8"/>
          <p:cNvCxnSpPr/>
          <p:nvPr/>
        </p:nvCxnSpPr>
        <p:spPr>
          <a:xfrm>
            <a:off x="409575" y="901899"/>
            <a:ext cx="0" cy="7557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79" name="Google Shape;379;p8"/>
          <p:cNvSpPr/>
          <p:nvPr/>
        </p:nvSpPr>
        <p:spPr>
          <a:xfrm>
            <a:off x="2255788" y="901899"/>
            <a:ext cx="1851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8"/>
          <p:cNvCxnSpPr/>
          <p:nvPr/>
        </p:nvCxnSpPr>
        <p:spPr>
          <a:xfrm>
            <a:off x="2255788" y="90666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1" name="Google Shape;381;p8"/>
          <p:cNvCxnSpPr/>
          <p:nvPr/>
        </p:nvCxnSpPr>
        <p:spPr>
          <a:xfrm>
            <a:off x="2260550" y="901899"/>
            <a:ext cx="0" cy="7557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82" name="Google Shape;382;p8"/>
          <p:cNvSpPr/>
          <p:nvPr/>
        </p:nvSpPr>
        <p:spPr>
          <a:xfrm>
            <a:off x="4106763" y="901899"/>
            <a:ext cx="1851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8"/>
          <p:cNvCxnSpPr/>
          <p:nvPr/>
        </p:nvCxnSpPr>
        <p:spPr>
          <a:xfrm>
            <a:off x="4106763" y="90666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4" name="Google Shape;384;p8"/>
          <p:cNvCxnSpPr/>
          <p:nvPr/>
        </p:nvCxnSpPr>
        <p:spPr>
          <a:xfrm>
            <a:off x="4111526" y="901899"/>
            <a:ext cx="0" cy="7557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85" name="Google Shape;385;p8"/>
          <p:cNvSpPr/>
          <p:nvPr/>
        </p:nvSpPr>
        <p:spPr>
          <a:xfrm>
            <a:off x="404812" y="1657648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8"/>
          <p:cNvCxnSpPr/>
          <p:nvPr/>
        </p:nvCxnSpPr>
        <p:spPr>
          <a:xfrm>
            <a:off x="404812" y="166241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7" name="Google Shape;387;p8"/>
          <p:cNvCxnSpPr/>
          <p:nvPr/>
        </p:nvCxnSpPr>
        <p:spPr>
          <a:xfrm>
            <a:off x="409575" y="1657648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88" name="Google Shape;388;p8"/>
          <p:cNvSpPr/>
          <p:nvPr/>
        </p:nvSpPr>
        <p:spPr>
          <a:xfrm>
            <a:off x="2255788" y="1657648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8"/>
          <p:cNvCxnSpPr/>
          <p:nvPr/>
        </p:nvCxnSpPr>
        <p:spPr>
          <a:xfrm>
            <a:off x="2255788" y="166241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0" name="Google Shape;390;p8"/>
          <p:cNvCxnSpPr/>
          <p:nvPr/>
        </p:nvCxnSpPr>
        <p:spPr>
          <a:xfrm>
            <a:off x="2260550" y="1657648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91" name="Google Shape;391;p8"/>
          <p:cNvSpPr/>
          <p:nvPr/>
        </p:nvSpPr>
        <p:spPr>
          <a:xfrm>
            <a:off x="4106763" y="1657648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8"/>
          <p:cNvCxnSpPr/>
          <p:nvPr/>
        </p:nvCxnSpPr>
        <p:spPr>
          <a:xfrm>
            <a:off x="4106763" y="1662410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3" name="Google Shape;393;p8"/>
          <p:cNvCxnSpPr/>
          <p:nvPr/>
        </p:nvCxnSpPr>
        <p:spPr>
          <a:xfrm>
            <a:off x="4111526" y="1657648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94" name="Google Shape;394;p8"/>
          <p:cNvSpPr/>
          <p:nvPr/>
        </p:nvSpPr>
        <p:spPr>
          <a:xfrm>
            <a:off x="404812" y="2240161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8"/>
          <p:cNvCxnSpPr/>
          <p:nvPr/>
        </p:nvCxnSpPr>
        <p:spPr>
          <a:xfrm>
            <a:off x="404812" y="2244924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8"/>
          <p:cNvCxnSpPr/>
          <p:nvPr/>
        </p:nvCxnSpPr>
        <p:spPr>
          <a:xfrm>
            <a:off x="409575" y="2240161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97" name="Google Shape;397;p8"/>
          <p:cNvSpPr/>
          <p:nvPr/>
        </p:nvSpPr>
        <p:spPr>
          <a:xfrm>
            <a:off x="2255788" y="2240161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8"/>
          <p:cNvCxnSpPr/>
          <p:nvPr/>
        </p:nvCxnSpPr>
        <p:spPr>
          <a:xfrm>
            <a:off x="2255788" y="2244924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8"/>
          <p:cNvCxnSpPr/>
          <p:nvPr/>
        </p:nvCxnSpPr>
        <p:spPr>
          <a:xfrm>
            <a:off x="2260550" y="2240161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00" name="Google Shape;400;p8"/>
          <p:cNvSpPr/>
          <p:nvPr/>
        </p:nvSpPr>
        <p:spPr>
          <a:xfrm>
            <a:off x="4106763" y="2240161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8"/>
          <p:cNvCxnSpPr/>
          <p:nvPr/>
        </p:nvCxnSpPr>
        <p:spPr>
          <a:xfrm>
            <a:off x="4106763" y="2244924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8"/>
          <p:cNvCxnSpPr/>
          <p:nvPr/>
        </p:nvCxnSpPr>
        <p:spPr>
          <a:xfrm>
            <a:off x="4111526" y="2240161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03" name="Google Shape;403;p8"/>
          <p:cNvSpPr/>
          <p:nvPr/>
        </p:nvSpPr>
        <p:spPr>
          <a:xfrm>
            <a:off x="404812" y="2649438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8"/>
          <p:cNvCxnSpPr/>
          <p:nvPr/>
        </p:nvCxnSpPr>
        <p:spPr>
          <a:xfrm>
            <a:off x="404812" y="265420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8"/>
          <p:cNvCxnSpPr/>
          <p:nvPr/>
        </p:nvCxnSpPr>
        <p:spPr>
          <a:xfrm>
            <a:off x="409575" y="2649438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06" name="Google Shape;406;p8"/>
          <p:cNvSpPr/>
          <p:nvPr/>
        </p:nvSpPr>
        <p:spPr>
          <a:xfrm>
            <a:off x="2255788" y="2649438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8"/>
          <p:cNvCxnSpPr/>
          <p:nvPr/>
        </p:nvCxnSpPr>
        <p:spPr>
          <a:xfrm>
            <a:off x="2255788" y="265420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8" name="Google Shape;408;p8"/>
          <p:cNvCxnSpPr/>
          <p:nvPr/>
        </p:nvCxnSpPr>
        <p:spPr>
          <a:xfrm>
            <a:off x="2260550" y="2649438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09" name="Google Shape;409;p8"/>
          <p:cNvSpPr/>
          <p:nvPr/>
        </p:nvSpPr>
        <p:spPr>
          <a:xfrm>
            <a:off x="4106763" y="2649438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8"/>
          <p:cNvCxnSpPr/>
          <p:nvPr/>
        </p:nvCxnSpPr>
        <p:spPr>
          <a:xfrm>
            <a:off x="4106763" y="2654201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11" name="Google Shape;411;p8"/>
          <p:cNvCxnSpPr/>
          <p:nvPr/>
        </p:nvCxnSpPr>
        <p:spPr>
          <a:xfrm>
            <a:off x="4111526" y="2649438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12" name="Google Shape;412;p8"/>
          <p:cNvSpPr/>
          <p:nvPr/>
        </p:nvSpPr>
        <p:spPr>
          <a:xfrm>
            <a:off x="404812" y="305871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8"/>
          <p:cNvCxnSpPr/>
          <p:nvPr/>
        </p:nvCxnSpPr>
        <p:spPr>
          <a:xfrm>
            <a:off x="404812" y="3063478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14" name="Google Shape;414;p8"/>
          <p:cNvCxnSpPr/>
          <p:nvPr/>
        </p:nvCxnSpPr>
        <p:spPr>
          <a:xfrm>
            <a:off x="409575" y="305871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15" name="Google Shape;415;p8"/>
          <p:cNvSpPr/>
          <p:nvPr/>
        </p:nvSpPr>
        <p:spPr>
          <a:xfrm>
            <a:off x="2255788" y="305871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8"/>
          <p:cNvCxnSpPr/>
          <p:nvPr/>
        </p:nvCxnSpPr>
        <p:spPr>
          <a:xfrm>
            <a:off x="2255788" y="3063478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17" name="Google Shape;417;p8"/>
          <p:cNvCxnSpPr/>
          <p:nvPr/>
        </p:nvCxnSpPr>
        <p:spPr>
          <a:xfrm>
            <a:off x="2260550" y="305871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18" name="Google Shape;418;p8"/>
          <p:cNvSpPr/>
          <p:nvPr/>
        </p:nvSpPr>
        <p:spPr>
          <a:xfrm>
            <a:off x="4106763" y="305871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8"/>
          <p:cNvCxnSpPr/>
          <p:nvPr/>
        </p:nvCxnSpPr>
        <p:spPr>
          <a:xfrm>
            <a:off x="4106763" y="3063478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20" name="Google Shape;420;p8"/>
          <p:cNvCxnSpPr/>
          <p:nvPr/>
        </p:nvCxnSpPr>
        <p:spPr>
          <a:xfrm>
            <a:off x="4111526" y="305871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21" name="Google Shape;421;p8"/>
          <p:cNvSpPr/>
          <p:nvPr/>
        </p:nvSpPr>
        <p:spPr>
          <a:xfrm>
            <a:off x="404812" y="3641229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8"/>
          <p:cNvCxnSpPr/>
          <p:nvPr/>
        </p:nvCxnSpPr>
        <p:spPr>
          <a:xfrm>
            <a:off x="404812" y="364599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23" name="Google Shape;423;p8"/>
          <p:cNvCxnSpPr/>
          <p:nvPr/>
        </p:nvCxnSpPr>
        <p:spPr>
          <a:xfrm>
            <a:off x="409575" y="3641229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24" name="Google Shape;424;p8"/>
          <p:cNvSpPr/>
          <p:nvPr/>
        </p:nvSpPr>
        <p:spPr>
          <a:xfrm>
            <a:off x="2255788" y="3641229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8"/>
          <p:cNvCxnSpPr/>
          <p:nvPr/>
        </p:nvCxnSpPr>
        <p:spPr>
          <a:xfrm>
            <a:off x="2255788" y="364599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26" name="Google Shape;426;p8"/>
          <p:cNvCxnSpPr/>
          <p:nvPr/>
        </p:nvCxnSpPr>
        <p:spPr>
          <a:xfrm>
            <a:off x="2260550" y="3641229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27" name="Google Shape;427;p8"/>
          <p:cNvSpPr/>
          <p:nvPr/>
        </p:nvSpPr>
        <p:spPr>
          <a:xfrm>
            <a:off x="4106763" y="3641229"/>
            <a:ext cx="1851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8"/>
          <p:cNvCxnSpPr/>
          <p:nvPr/>
        </p:nvCxnSpPr>
        <p:spPr>
          <a:xfrm>
            <a:off x="4106763" y="364599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29" name="Google Shape;429;p8"/>
          <p:cNvCxnSpPr/>
          <p:nvPr/>
        </p:nvCxnSpPr>
        <p:spPr>
          <a:xfrm>
            <a:off x="4111526" y="3641229"/>
            <a:ext cx="0" cy="4092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0" name="Google Shape;430;p8"/>
          <p:cNvSpPr/>
          <p:nvPr/>
        </p:nvSpPr>
        <p:spPr>
          <a:xfrm>
            <a:off x="404812" y="405050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" name="Google Shape;431;p8"/>
          <p:cNvCxnSpPr/>
          <p:nvPr/>
        </p:nvCxnSpPr>
        <p:spPr>
          <a:xfrm>
            <a:off x="404812" y="4055269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32" name="Google Shape;432;p8"/>
          <p:cNvCxnSpPr/>
          <p:nvPr/>
        </p:nvCxnSpPr>
        <p:spPr>
          <a:xfrm>
            <a:off x="409575" y="405050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3" name="Google Shape;433;p8"/>
          <p:cNvSpPr/>
          <p:nvPr/>
        </p:nvSpPr>
        <p:spPr>
          <a:xfrm>
            <a:off x="2255788" y="405050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8"/>
          <p:cNvCxnSpPr/>
          <p:nvPr/>
        </p:nvCxnSpPr>
        <p:spPr>
          <a:xfrm>
            <a:off x="2255788" y="4055269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35" name="Google Shape;435;p8"/>
          <p:cNvCxnSpPr/>
          <p:nvPr/>
        </p:nvCxnSpPr>
        <p:spPr>
          <a:xfrm>
            <a:off x="2260550" y="405050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6" name="Google Shape;436;p8"/>
          <p:cNvSpPr/>
          <p:nvPr/>
        </p:nvSpPr>
        <p:spPr>
          <a:xfrm>
            <a:off x="4106763" y="4050506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8"/>
          <p:cNvCxnSpPr/>
          <p:nvPr/>
        </p:nvCxnSpPr>
        <p:spPr>
          <a:xfrm>
            <a:off x="4106763" y="4055269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38" name="Google Shape;438;p8"/>
          <p:cNvCxnSpPr/>
          <p:nvPr/>
        </p:nvCxnSpPr>
        <p:spPr>
          <a:xfrm>
            <a:off x="4111526" y="4050506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39" name="Google Shape;439;p8"/>
          <p:cNvSpPr/>
          <p:nvPr/>
        </p:nvSpPr>
        <p:spPr>
          <a:xfrm>
            <a:off x="404812" y="4633020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8"/>
          <p:cNvCxnSpPr/>
          <p:nvPr/>
        </p:nvCxnSpPr>
        <p:spPr>
          <a:xfrm>
            <a:off x="404812" y="463778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41" name="Google Shape;441;p8"/>
          <p:cNvCxnSpPr/>
          <p:nvPr/>
        </p:nvCxnSpPr>
        <p:spPr>
          <a:xfrm>
            <a:off x="409575" y="4633020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42" name="Google Shape;442;p8"/>
          <p:cNvSpPr/>
          <p:nvPr/>
        </p:nvSpPr>
        <p:spPr>
          <a:xfrm>
            <a:off x="2255788" y="4633020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8"/>
          <p:cNvCxnSpPr/>
          <p:nvPr/>
        </p:nvCxnSpPr>
        <p:spPr>
          <a:xfrm>
            <a:off x="2255788" y="463778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44" name="Google Shape;444;p8"/>
          <p:cNvCxnSpPr/>
          <p:nvPr/>
        </p:nvCxnSpPr>
        <p:spPr>
          <a:xfrm>
            <a:off x="2260550" y="4633020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45" name="Google Shape;445;p8"/>
          <p:cNvSpPr/>
          <p:nvPr/>
        </p:nvSpPr>
        <p:spPr>
          <a:xfrm>
            <a:off x="4106763" y="4633020"/>
            <a:ext cx="18510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" name="Google Shape;446;p8"/>
          <p:cNvCxnSpPr/>
          <p:nvPr/>
        </p:nvCxnSpPr>
        <p:spPr>
          <a:xfrm>
            <a:off x="4106763" y="4637782"/>
            <a:ext cx="185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47" name="Google Shape;447;p8"/>
          <p:cNvCxnSpPr/>
          <p:nvPr/>
        </p:nvCxnSpPr>
        <p:spPr>
          <a:xfrm>
            <a:off x="4111526" y="4633020"/>
            <a:ext cx="0" cy="5826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48" name="Google Shape;448;p8"/>
          <p:cNvSpPr/>
          <p:nvPr/>
        </p:nvSpPr>
        <p:spPr>
          <a:xfrm>
            <a:off x="6229350" y="670768"/>
            <a:ext cx="5562600" cy="4385965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6234112" y="675531"/>
            <a:ext cx="1850975" cy="236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8"/>
          <p:cNvCxnSpPr/>
          <p:nvPr/>
        </p:nvCxnSpPr>
        <p:spPr>
          <a:xfrm>
            <a:off x="6234112" y="680293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1" name="Google Shape;451;p8"/>
          <p:cNvCxnSpPr/>
          <p:nvPr/>
        </p:nvCxnSpPr>
        <p:spPr>
          <a:xfrm>
            <a:off x="6238875" y="675531"/>
            <a:ext cx="0" cy="236041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2" name="Google Shape;452;p8"/>
          <p:cNvSpPr/>
          <p:nvPr/>
        </p:nvSpPr>
        <p:spPr>
          <a:xfrm>
            <a:off x="8085088" y="675531"/>
            <a:ext cx="1850975" cy="236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" name="Google Shape;453;p8"/>
          <p:cNvCxnSpPr/>
          <p:nvPr/>
        </p:nvCxnSpPr>
        <p:spPr>
          <a:xfrm>
            <a:off x="8085088" y="680293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4" name="Google Shape;454;p8"/>
          <p:cNvCxnSpPr/>
          <p:nvPr/>
        </p:nvCxnSpPr>
        <p:spPr>
          <a:xfrm>
            <a:off x="8089850" y="675531"/>
            <a:ext cx="0" cy="236041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5" name="Google Shape;455;p8"/>
          <p:cNvSpPr/>
          <p:nvPr/>
        </p:nvSpPr>
        <p:spPr>
          <a:xfrm>
            <a:off x="9936063" y="675531"/>
            <a:ext cx="1851124" cy="236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8"/>
          <p:cNvCxnSpPr/>
          <p:nvPr/>
        </p:nvCxnSpPr>
        <p:spPr>
          <a:xfrm>
            <a:off x="9936063" y="680293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57" name="Google Shape;457;p8"/>
          <p:cNvCxnSpPr/>
          <p:nvPr/>
        </p:nvCxnSpPr>
        <p:spPr>
          <a:xfrm>
            <a:off x="9940826" y="675531"/>
            <a:ext cx="0" cy="236041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58" name="Google Shape;458;p8"/>
          <p:cNvSpPr/>
          <p:nvPr/>
        </p:nvSpPr>
        <p:spPr>
          <a:xfrm>
            <a:off x="6234112" y="911572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8"/>
          <p:cNvCxnSpPr/>
          <p:nvPr/>
        </p:nvCxnSpPr>
        <p:spPr>
          <a:xfrm>
            <a:off x="6234112" y="916335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60" name="Google Shape;460;p8"/>
          <p:cNvCxnSpPr/>
          <p:nvPr/>
        </p:nvCxnSpPr>
        <p:spPr>
          <a:xfrm>
            <a:off x="6238875" y="911572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61" name="Google Shape;461;p8"/>
          <p:cNvSpPr/>
          <p:nvPr/>
        </p:nvSpPr>
        <p:spPr>
          <a:xfrm>
            <a:off x="8085088" y="911572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p8"/>
          <p:cNvCxnSpPr/>
          <p:nvPr/>
        </p:nvCxnSpPr>
        <p:spPr>
          <a:xfrm>
            <a:off x="8085088" y="916335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63" name="Google Shape;463;p8"/>
          <p:cNvCxnSpPr/>
          <p:nvPr/>
        </p:nvCxnSpPr>
        <p:spPr>
          <a:xfrm>
            <a:off x="8089850" y="911572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64" name="Google Shape;464;p8"/>
          <p:cNvSpPr/>
          <p:nvPr/>
        </p:nvSpPr>
        <p:spPr>
          <a:xfrm>
            <a:off x="9936063" y="911572"/>
            <a:ext cx="1851124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p8"/>
          <p:cNvCxnSpPr/>
          <p:nvPr/>
        </p:nvCxnSpPr>
        <p:spPr>
          <a:xfrm>
            <a:off x="9936063" y="916335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66" name="Google Shape;466;p8"/>
          <p:cNvCxnSpPr/>
          <p:nvPr/>
        </p:nvCxnSpPr>
        <p:spPr>
          <a:xfrm>
            <a:off x="9940826" y="911572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67" name="Google Shape;467;p8"/>
          <p:cNvSpPr/>
          <p:nvPr/>
        </p:nvSpPr>
        <p:spPr>
          <a:xfrm>
            <a:off x="6234112" y="1320850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8" name="Google Shape;468;p8"/>
          <p:cNvCxnSpPr/>
          <p:nvPr/>
        </p:nvCxnSpPr>
        <p:spPr>
          <a:xfrm>
            <a:off x="6234112" y="1325612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69" name="Google Shape;469;p8"/>
          <p:cNvCxnSpPr/>
          <p:nvPr/>
        </p:nvCxnSpPr>
        <p:spPr>
          <a:xfrm>
            <a:off x="6238875" y="1320850"/>
            <a:ext cx="0" cy="409277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0" name="Google Shape;470;p8"/>
          <p:cNvSpPr/>
          <p:nvPr/>
        </p:nvSpPr>
        <p:spPr>
          <a:xfrm>
            <a:off x="8085088" y="1320850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1" name="Google Shape;471;p8"/>
          <p:cNvCxnSpPr/>
          <p:nvPr/>
        </p:nvCxnSpPr>
        <p:spPr>
          <a:xfrm>
            <a:off x="8085088" y="1325612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72" name="Google Shape;472;p8"/>
          <p:cNvCxnSpPr/>
          <p:nvPr/>
        </p:nvCxnSpPr>
        <p:spPr>
          <a:xfrm>
            <a:off x="8089850" y="1320850"/>
            <a:ext cx="0" cy="409277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3" name="Google Shape;473;p8"/>
          <p:cNvSpPr/>
          <p:nvPr/>
        </p:nvSpPr>
        <p:spPr>
          <a:xfrm>
            <a:off x="9936063" y="1320850"/>
            <a:ext cx="1851124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8"/>
          <p:cNvCxnSpPr/>
          <p:nvPr/>
        </p:nvCxnSpPr>
        <p:spPr>
          <a:xfrm>
            <a:off x="9936063" y="1325612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75" name="Google Shape;475;p8"/>
          <p:cNvCxnSpPr/>
          <p:nvPr/>
        </p:nvCxnSpPr>
        <p:spPr>
          <a:xfrm>
            <a:off x="9940826" y="1320850"/>
            <a:ext cx="0" cy="409277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6" name="Google Shape;476;p8"/>
          <p:cNvSpPr/>
          <p:nvPr/>
        </p:nvSpPr>
        <p:spPr>
          <a:xfrm>
            <a:off x="6234112" y="1730127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8"/>
          <p:cNvCxnSpPr/>
          <p:nvPr/>
        </p:nvCxnSpPr>
        <p:spPr>
          <a:xfrm>
            <a:off x="6234112" y="1734889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78" name="Google Shape;478;p8"/>
          <p:cNvCxnSpPr/>
          <p:nvPr/>
        </p:nvCxnSpPr>
        <p:spPr>
          <a:xfrm>
            <a:off x="6238875" y="1730127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79" name="Google Shape;479;p8"/>
          <p:cNvSpPr/>
          <p:nvPr/>
        </p:nvSpPr>
        <p:spPr>
          <a:xfrm>
            <a:off x="8085088" y="1730127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8"/>
          <p:cNvCxnSpPr/>
          <p:nvPr/>
        </p:nvCxnSpPr>
        <p:spPr>
          <a:xfrm>
            <a:off x="8085088" y="1734889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81" name="Google Shape;481;p8"/>
          <p:cNvCxnSpPr/>
          <p:nvPr/>
        </p:nvCxnSpPr>
        <p:spPr>
          <a:xfrm>
            <a:off x="8089850" y="1730127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82" name="Google Shape;482;p8"/>
          <p:cNvSpPr/>
          <p:nvPr/>
        </p:nvSpPr>
        <p:spPr>
          <a:xfrm>
            <a:off x="9936063" y="1730127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8"/>
          <p:cNvCxnSpPr/>
          <p:nvPr/>
        </p:nvCxnSpPr>
        <p:spPr>
          <a:xfrm>
            <a:off x="9936063" y="1734889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84" name="Google Shape;484;p8"/>
          <p:cNvCxnSpPr/>
          <p:nvPr/>
        </p:nvCxnSpPr>
        <p:spPr>
          <a:xfrm>
            <a:off x="9940826" y="1730127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85" name="Google Shape;485;p8"/>
          <p:cNvSpPr/>
          <p:nvPr/>
        </p:nvSpPr>
        <p:spPr>
          <a:xfrm>
            <a:off x="6234112" y="2312640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8"/>
          <p:cNvCxnSpPr/>
          <p:nvPr/>
        </p:nvCxnSpPr>
        <p:spPr>
          <a:xfrm>
            <a:off x="6234112" y="2317403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87" name="Google Shape;487;p8"/>
          <p:cNvCxnSpPr/>
          <p:nvPr/>
        </p:nvCxnSpPr>
        <p:spPr>
          <a:xfrm>
            <a:off x="6238875" y="2312640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88" name="Google Shape;488;p8"/>
          <p:cNvSpPr/>
          <p:nvPr/>
        </p:nvSpPr>
        <p:spPr>
          <a:xfrm>
            <a:off x="8085088" y="2312640"/>
            <a:ext cx="1850975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8"/>
          <p:cNvCxnSpPr/>
          <p:nvPr/>
        </p:nvCxnSpPr>
        <p:spPr>
          <a:xfrm>
            <a:off x="8085088" y="2317403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90" name="Google Shape;490;p8"/>
          <p:cNvCxnSpPr/>
          <p:nvPr/>
        </p:nvCxnSpPr>
        <p:spPr>
          <a:xfrm>
            <a:off x="8089850" y="2312640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91" name="Google Shape;491;p8"/>
          <p:cNvSpPr/>
          <p:nvPr/>
        </p:nvSpPr>
        <p:spPr>
          <a:xfrm>
            <a:off x="9936063" y="2312640"/>
            <a:ext cx="1851124" cy="409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8"/>
          <p:cNvCxnSpPr/>
          <p:nvPr/>
        </p:nvCxnSpPr>
        <p:spPr>
          <a:xfrm>
            <a:off x="9936063" y="2317403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93" name="Google Shape;493;p8"/>
          <p:cNvCxnSpPr/>
          <p:nvPr/>
        </p:nvCxnSpPr>
        <p:spPr>
          <a:xfrm>
            <a:off x="9940826" y="2312640"/>
            <a:ext cx="0" cy="409278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94" name="Google Shape;494;p8"/>
          <p:cNvSpPr/>
          <p:nvPr/>
        </p:nvSpPr>
        <p:spPr>
          <a:xfrm>
            <a:off x="6234112" y="2721918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p8"/>
          <p:cNvCxnSpPr/>
          <p:nvPr/>
        </p:nvCxnSpPr>
        <p:spPr>
          <a:xfrm>
            <a:off x="6234112" y="2726680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96" name="Google Shape;496;p8"/>
          <p:cNvCxnSpPr/>
          <p:nvPr/>
        </p:nvCxnSpPr>
        <p:spPr>
          <a:xfrm>
            <a:off x="6238875" y="2721918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97" name="Google Shape;497;p8"/>
          <p:cNvSpPr/>
          <p:nvPr/>
        </p:nvSpPr>
        <p:spPr>
          <a:xfrm>
            <a:off x="8085088" y="2721918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8"/>
          <p:cNvCxnSpPr/>
          <p:nvPr/>
        </p:nvCxnSpPr>
        <p:spPr>
          <a:xfrm>
            <a:off x="8085088" y="2726680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99" name="Google Shape;499;p8"/>
          <p:cNvCxnSpPr/>
          <p:nvPr/>
        </p:nvCxnSpPr>
        <p:spPr>
          <a:xfrm>
            <a:off x="8089850" y="2721918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0" name="Google Shape;500;p8"/>
          <p:cNvSpPr/>
          <p:nvPr/>
        </p:nvSpPr>
        <p:spPr>
          <a:xfrm>
            <a:off x="9936063" y="2721918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8"/>
          <p:cNvCxnSpPr/>
          <p:nvPr/>
        </p:nvCxnSpPr>
        <p:spPr>
          <a:xfrm>
            <a:off x="9936063" y="2726680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02" name="Google Shape;502;p8"/>
          <p:cNvCxnSpPr/>
          <p:nvPr/>
        </p:nvCxnSpPr>
        <p:spPr>
          <a:xfrm>
            <a:off x="9940826" y="2721918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3" name="Google Shape;503;p8"/>
          <p:cNvSpPr/>
          <p:nvPr/>
        </p:nvSpPr>
        <p:spPr>
          <a:xfrm>
            <a:off x="6234112" y="3304431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8"/>
          <p:cNvCxnSpPr/>
          <p:nvPr/>
        </p:nvCxnSpPr>
        <p:spPr>
          <a:xfrm>
            <a:off x="6234112" y="3309193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05" name="Google Shape;505;p8"/>
          <p:cNvCxnSpPr/>
          <p:nvPr/>
        </p:nvCxnSpPr>
        <p:spPr>
          <a:xfrm>
            <a:off x="6238875" y="3304431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6" name="Google Shape;506;p8"/>
          <p:cNvSpPr/>
          <p:nvPr/>
        </p:nvSpPr>
        <p:spPr>
          <a:xfrm>
            <a:off x="8085088" y="3304431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8"/>
          <p:cNvCxnSpPr/>
          <p:nvPr/>
        </p:nvCxnSpPr>
        <p:spPr>
          <a:xfrm>
            <a:off x="8085088" y="3309193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08" name="Google Shape;508;p8"/>
          <p:cNvCxnSpPr/>
          <p:nvPr/>
        </p:nvCxnSpPr>
        <p:spPr>
          <a:xfrm>
            <a:off x="8089850" y="3304431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9" name="Google Shape;509;p8"/>
          <p:cNvSpPr/>
          <p:nvPr/>
        </p:nvSpPr>
        <p:spPr>
          <a:xfrm>
            <a:off x="9936063" y="3304431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8"/>
          <p:cNvCxnSpPr/>
          <p:nvPr/>
        </p:nvCxnSpPr>
        <p:spPr>
          <a:xfrm>
            <a:off x="9936063" y="3309193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11" name="Google Shape;511;p8"/>
          <p:cNvCxnSpPr/>
          <p:nvPr/>
        </p:nvCxnSpPr>
        <p:spPr>
          <a:xfrm>
            <a:off x="9940826" y="3304431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12" name="Google Shape;512;p8"/>
          <p:cNvSpPr/>
          <p:nvPr/>
        </p:nvSpPr>
        <p:spPr>
          <a:xfrm>
            <a:off x="6234112" y="3886944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8"/>
          <p:cNvCxnSpPr/>
          <p:nvPr/>
        </p:nvCxnSpPr>
        <p:spPr>
          <a:xfrm>
            <a:off x="6234112" y="3891707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14" name="Google Shape;514;p8"/>
          <p:cNvCxnSpPr/>
          <p:nvPr/>
        </p:nvCxnSpPr>
        <p:spPr>
          <a:xfrm>
            <a:off x="6238875" y="3886944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15" name="Google Shape;515;p8"/>
          <p:cNvSpPr/>
          <p:nvPr/>
        </p:nvSpPr>
        <p:spPr>
          <a:xfrm>
            <a:off x="8085088" y="3886944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6" name="Google Shape;516;p8"/>
          <p:cNvCxnSpPr/>
          <p:nvPr/>
        </p:nvCxnSpPr>
        <p:spPr>
          <a:xfrm>
            <a:off x="8085088" y="3891707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17" name="Google Shape;517;p8"/>
          <p:cNvCxnSpPr/>
          <p:nvPr/>
        </p:nvCxnSpPr>
        <p:spPr>
          <a:xfrm>
            <a:off x="8089850" y="3886944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18" name="Google Shape;518;p8"/>
          <p:cNvSpPr/>
          <p:nvPr/>
        </p:nvSpPr>
        <p:spPr>
          <a:xfrm>
            <a:off x="9936063" y="3886944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p8"/>
          <p:cNvCxnSpPr/>
          <p:nvPr/>
        </p:nvCxnSpPr>
        <p:spPr>
          <a:xfrm>
            <a:off x="9936063" y="3891707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20" name="Google Shape;520;p8"/>
          <p:cNvCxnSpPr/>
          <p:nvPr/>
        </p:nvCxnSpPr>
        <p:spPr>
          <a:xfrm>
            <a:off x="9940826" y="3886944"/>
            <a:ext cx="0" cy="58251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21" name="Google Shape;521;p8"/>
          <p:cNvSpPr/>
          <p:nvPr/>
        </p:nvSpPr>
        <p:spPr>
          <a:xfrm>
            <a:off x="6234112" y="4469457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8"/>
          <p:cNvCxnSpPr/>
          <p:nvPr/>
        </p:nvCxnSpPr>
        <p:spPr>
          <a:xfrm>
            <a:off x="6234112" y="4474220"/>
            <a:ext cx="18509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23" name="Google Shape;523;p8"/>
          <p:cNvCxnSpPr/>
          <p:nvPr/>
        </p:nvCxnSpPr>
        <p:spPr>
          <a:xfrm>
            <a:off x="6238875" y="4469457"/>
            <a:ext cx="0" cy="58251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24" name="Google Shape;524;p8"/>
          <p:cNvSpPr/>
          <p:nvPr/>
        </p:nvSpPr>
        <p:spPr>
          <a:xfrm>
            <a:off x="8085088" y="4469457"/>
            <a:ext cx="1850975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8"/>
          <p:cNvCxnSpPr/>
          <p:nvPr/>
        </p:nvCxnSpPr>
        <p:spPr>
          <a:xfrm>
            <a:off x="8085088" y="4474220"/>
            <a:ext cx="18509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26" name="Google Shape;526;p8"/>
          <p:cNvCxnSpPr/>
          <p:nvPr/>
        </p:nvCxnSpPr>
        <p:spPr>
          <a:xfrm>
            <a:off x="8089850" y="4469457"/>
            <a:ext cx="0" cy="58251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27" name="Google Shape;527;p8"/>
          <p:cNvSpPr/>
          <p:nvPr/>
        </p:nvSpPr>
        <p:spPr>
          <a:xfrm>
            <a:off x="9936063" y="4469457"/>
            <a:ext cx="1851124" cy="582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8"/>
          <p:cNvCxnSpPr/>
          <p:nvPr/>
        </p:nvCxnSpPr>
        <p:spPr>
          <a:xfrm>
            <a:off x="9936063" y="4474220"/>
            <a:ext cx="185112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29" name="Google Shape;529;p8"/>
          <p:cNvCxnSpPr/>
          <p:nvPr/>
        </p:nvCxnSpPr>
        <p:spPr>
          <a:xfrm>
            <a:off x="9940826" y="4469457"/>
            <a:ext cx="0" cy="58251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30" name="Google Shape;530;p8"/>
          <p:cNvSpPr txBox="1"/>
          <p:nvPr/>
        </p:nvSpPr>
        <p:spPr>
          <a:xfrm>
            <a:off x="400050" y="171450"/>
            <a:ext cx="2317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9"/>
              <a:buFont typeface="Arial"/>
              <a:buNone/>
            </a:pPr>
            <a:r>
              <a:rPr b="1" i="0" lang="en-US" sz="2129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e pacotes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8"/>
          <p:cNvSpPr txBox="1"/>
          <p:nvPr/>
        </p:nvSpPr>
        <p:spPr>
          <a:xfrm>
            <a:off x="438150" y="687735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8"/>
          <p:cNvSpPr txBox="1"/>
          <p:nvPr/>
        </p:nvSpPr>
        <p:spPr>
          <a:xfrm>
            <a:off x="2293620" y="687735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significa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8"/>
          <p:cNvSpPr txBox="1"/>
          <p:nvPr/>
        </p:nvSpPr>
        <p:spPr>
          <a:xfrm>
            <a:off x="4145280" y="687735"/>
            <a:ext cx="1774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Pacote / função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"/>
          <p:cNvSpPr txBox="1"/>
          <p:nvPr/>
        </p:nvSpPr>
        <p:spPr>
          <a:xfrm>
            <a:off x="438150" y="923776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8"/>
          <p:cNvSpPr txBox="1"/>
          <p:nvPr/>
        </p:nvSpPr>
        <p:spPr>
          <a:xfrm>
            <a:off x="2355800" y="923776"/>
            <a:ext cx="1284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 linear gene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8"/>
          <p:cNvSpPr txBox="1"/>
          <p:nvPr/>
        </p:nvSpPr>
        <p:spPr>
          <a:xfrm>
            <a:off x="2355800" y="1097012"/>
            <a:ext cx="1197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gene; t moderado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8"/>
          <p:cNvSpPr txBox="1"/>
          <p:nvPr/>
        </p:nvSpPr>
        <p:spPr>
          <a:xfrm>
            <a:off x="2355800" y="1270248"/>
            <a:ext cx="1161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variância encolhida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8"/>
          <p:cNvSpPr txBox="1"/>
          <p:nvPr/>
        </p:nvSpPr>
        <p:spPr>
          <a:xfrm>
            <a:off x="2355800" y="1443484"/>
            <a:ext cx="1026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(empirical Bayes)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8"/>
          <p:cNvSpPr txBox="1"/>
          <p:nvPr/>
        </p:nvSpPr>
        <p:spPr>
          <a:xfrm>
            <a:off x="4206776" y="942826"/>
            <a:ext cx="975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limma::lmFit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8"/>
          <p:cNvSpPr txBox="1"/>
          <p:nvPr/>
        </p:nvSpPr>
        <p:spPr>
          <a:xfrm>
            <a:off x="5144393" y="923776"/>
            <a:ext cx="67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8"/>
          <p:cNvSpPr txBox="1"/>
          <p:nvPr/>
        </p:nvSpPr>
        <p:spPr>
          <a:xfrm>
            <a:off x="5209877" y="942826"/>
            <a:ext cx="507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eBayes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8"/>
          <p:cNvSpPr txBox="1"/>
          <p:nvPr/>
        </p:nvSpPr>
        <p:spPr>
          <a:xfrm>
            <a:off x="5678686" y="923776"/>
            <a:ext cx="67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8"/>
          <p:cNvSpPr txBox="1"/>
          <p:nvPr/>
        </p:nvSpPr>
        <p:spPr>
          <a:xfrm>
            <a:off x="4206776" y="1116062"/>
            <a:ext cx="663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topTable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8"/>
          <p:cNvSpPr txBox="1"/>
          <p:nvPr/>
        </p:nvSpPr>
        <p:spPr>
          <a:xfrm>
            <a:off x="438150" y="1679522"/>
            <a:ext cx="1779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 </a:t>
            </a:r>
            <a:r>
              <a:rPr b="0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(Benjamini-Hochberg)</a:t>
            </a: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FDR </a:t>
            </a:r>
            <a:r>
              <a:rPr b="0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(False Discovery Rate)</a:t>
            </a:r>
            <a:endParaRPr b="0" i="0" sz="1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45" name="Google Shape;545;p8"/>
          <p:cNvSpPr txBox="1"/>
          <p:nvPr/>
        </p:nvSpPr>
        <p:spPr>
          <a:xfrm>
            <a:off x="2293620" y="1679526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corrige o excesso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8"/>
          <p:cNvSpPr txBox="1"/>
          <p:nvPr/>
        </p:nvSpPr>
        <p:spPr>
          <a:xfrm>
            <a:off x="2355800" y="1852761"/>
            <a:ext cx="1150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falsos positivos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"/>
          <p:cNvSpPr txBox="1"/>
          <p:nvPr/>
        </p:nvSpPr>
        <p:spPr>
          <a:xfrm>
            <a:off x="2355800" y="2025997"/>
            <a:ext cx="1098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milhares de testes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8"/>
          <p:cNvSpPr txBox="1"/>
          <p:nvPr/>
        </p:nvSpPr>
        <p:spPr>
          <a:xfrm>
            <a:off x="4145280" y="1711522"/>
            <a:ext cx="17745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stats::p.adjust(method = "BH")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8"/>
          <p:cNvSpPr txBox="1"/>
          <p:nvPr/>
        </p:nvSpPr>
        <p:spPr>
          <a:xfrm>
            <a:off x="438150" y="2262039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8"/>
          <p:cNvSpPr txBox="1"/>
          <p:nvPr/>
        </p:nvSpPr>
        <p:spPr>
          <a:xfrm>
            <a:off x="2355800" y="2262039"/>
            <a:ext cx="1395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 efeito aditivo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8"/>
          <p:cNvSpPr txBox="1"/>
          <p:nvPr/>
        </p:nvSpPr>
        <p:spPr>
          <a:xfrm>
            <a:off x="2355800" y="2435275"/>
            <a:ext cx="12768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multiplicativo de lote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8"/>
          <p:cNvSpPr txBox="1"/>
          <p:nvPr/>
        </p:nvSpPr>
        <p:spPr>
          <a:xfrm>
            <a:off x="4145280" y="2281089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sva::ComBat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8"/>
          <p:cNvSpPr txBox="1"/>
          <p:nvPr/>
        </p:nvSpPr>
        <p:spPr>
          <a:xfrm>
            <a:off x="438150" y="2671316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8"/>
          <p:cNvSpPr txBox="1"/>
          <p:nvPr/>
        </p:nvSpPr>
        <p:spPr>
          <a:xfrm>
            <a:off x="2293620" y="2671316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associação entre duas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8"/>
          <p:cNvSpPr txBox="1"/>
          <p:nvPr/>
        </p:nvSpPr>
        <p:spPr>
          <a:xfrm>
            <a:off x="2293620" y="2844552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variáveis categóricas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8"/>
          <p:cNvSpPr txBox="1"/>
          <p:nvPr/>
        </p:nvSpPr>
        <p:spPr>
          <a:xfrm>
            <a:off x="4145280" y="2690366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8"/>
          <p:cNvSpPr txBox="1"/>
          <p:nvPr/>
        </p:nvSpPr>
        <p:spPr>
          <a:xfrm>
            <a:off x="438150" y="3080593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Fisher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8"/>
          <p:cNvSpPr txBox="1"/>
          <p:nvPr/>
        </p:nvSpPr>
        <p:spPr>
          <a:xfrm>
            <a:off x="2355800" y="3080593"/>
            <a:ext cx="1113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idem, para tabelas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8"/>
          <p:cNvSpPr txBox="1"/>
          <p:nvPr/>
        </p:nvSpPr>
        <p:spPr>
          <a:xfrm>
            <a:off x="2355800" y="3253829"/>
            <a:ext cx="1523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pequenas ou células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8"/>
          <p:cNvSpPr txBox="1"/>
          <p:nvPr/>
        </p:nvSpPr>
        <p:spPr>
          <a:xfrm>
            <a:off x="2293620" y="3427065"/>
            <a:ext cx="1775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poucos casos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8"/>
          <p:cNvSpPr txBox="1"/>
          <p:nvPr/>
        </p:nvSpPr>
        <p:spPr>
          <a:xfrm>
            <a:off x="4145280" y="3099643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stats::fisher.test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8"/>
          <p:cNvSpPr txBox="1"/>
          <p:nvPr/>
        </p:nvSpPr>
        <p:spPr>
          <a:xfrm>
            <a:off x="438150" y="3663107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8"/>
          <p:cNvSpPr txBox="1"/>
          <p:nvPr/>
        </p:nvSpPr>
        <p:spPr>
          <a:xfrm>
            <a:off x="2355800" y="3663107"/>
            <a:ext cx="1285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 dois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8"/>
          <p:cNvSpPr txBox="1"/>
          <p:nvPr/>
        </p:nvSpPr>
        <p:spPr>
          <a:xfrm>
            <a:off x="2355800" y="3836343"/>
            <a:ext cx="1544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assumir normalidade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8"/>
          <p:cNvSpPr txBox="1"/>
          <p:nvPr/>
        </p:nvSpPr>
        <p:spPr>
          <a:xfrm>
            <a:off x="4145280" y="3682157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stats::wilcox.test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8"/>
          <p:cNvSpPr txBox="1"/>
          <p:nvPr/>
        </p:nvSpPr>
        <p:spPr>
          <a:xfrm>
            <a:off x="438150" y="4072384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8"/>
          <p:cNvSpPr txBox="1"/>
          <p:nvPr/>
        </p:nvSpPr>
        <p:spPr>
          <a:xfrm>
            <a:off x="2355800" y="4072384"/>
            <a:ext cx="1305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 três ou mais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8"/>
          <p:cNvSpPr txBox="1"/>
          <p:nvPr/>
        </p:nvSpPr>
        <p:spPr>
          <a:xfrm>
            <a:off x="2355800" y="4245620"/>
            <a:ext cx="1215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grupos sem assumir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8"/>
          <p:cNvSpPr txBox="1"/>
          <p:nvPr/>
        </p:nvSpPr>
        <p:spPr>
          <a:xfrm>
            <a:off x="2355800" y="4418856"/>
            <a:ext cx="780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normalidade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8"/>
          <p:cNvSpPr txBox="1"/>
          <p:nvPr/>
        </p:nvSpPr>
        <p:spPr>
          <a:xfrm>
            <a:off x="4145280" y="4091434"/>
            <a:ext cx="177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8"/>
          <p:cNvSpPr txBox="1"/>
          <p:nvPr/>
        </p:nvSpPr>
        <p:spPr>
          <a:xfrm>
            <a:off x="438150" y="4654897"/>
            <a:ext cx="1779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8"/>
          <p:cNvSpPr txBox="1"/>
          <p:nvPr/>
        </p:nvSpPr>
        <p:spPr>
          <a:xfrm>
            <a:off x="2355800" y="4654897"/>
            <a:ext cx="126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correlação de postos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8"/>
          <p:cNvSpPr txBox="1"/>
          <p:nvPr/>
        </p:nvSpPr>
        <p:spPr>
          <a:xfrm>
            <a:off x="2355800" y="4828133"/>
            <a:ext cx="1403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(monotônica, robusta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8"/>
          <p:cNvSpPr txBox="1"/>
          <p:nvPr/>
        </p:nvSpPr>
        <p:spPr>
          <a:xfrm>
            <a:off x="2355800" y="5001369"/>
            <a:ext cx="514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outliers)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8"/>
          <p:cNvSpPr txBox="1"/>
          <p:nvPr/>
        </p:nvSpPr>
        <p:spPr>
          <a:xfrm>
            <a:off x="4145280" y="4737707"/>
            <a:ext cx="1774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stats::cor.test(method = "spearman")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8"/>
          <p:cNvSpPr txBox="1"/>
          <p:nvPr/>
        </p:nvSpPr>
        <p:spPr>
          <a:xfrm>
            <a:off x="6272212" y="697409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8"/>
          <p:cNvSpPr txBox="1"/>
          <p:nvPr/>
        </p:nvSpPr>
        <p:spPr>
          <a:xfrm>
            <a:off x="8122920" y="697409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significa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8"/>
          <p:cNvSpPr txBox="1"/>
          <p:nvPr/>
        </p:nvSpPr>
        <p:spPr>
          <a:xfrm>
            <a:off x="9974580" y="697409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Pacote / função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8"/>
          <p:cNvSpPr txBox="1"/>
          <p:nvPr/>
        </p:nvSpPr>
        <p:spPr>
          <a:xfrm>
            <a:off x="6272212" y="933450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Kaplan-Meier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8"/>
          <p:cNvSpPr txBox="1"/>
          <p:nvPr/>
        </p:nvSpPr>
        <p:spPr>
          <a:xfrm>
            <a:off x="8122920" y="933450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 a curva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8"/>
          <p:cNvSpPr txBox="1"/>
          <p:nvPr/>
        </p:nvSpPr>
        <p:spPr>
          <a:xfrm>
            <a:off x="8122920" y="1106686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sobrevida com censura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8"/>
          <p:cNvSpPr txBox="1"/>
          <p:nvPr/>
        </p:nvSpPr>
        <p:spPr>
          <a:xfrm>
            <a:off x="9974580" y="952500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8"/>
          <p:cNvSpPr txBox="1"/>
          <p:nvPr/>
        </p:nvSpPr>
        <p:spPr>
          <a:xfrm>
            <a:off x="6272212" y="1342727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log-rank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8"/>
          <p:cNvSpPr txBox="1"/>
          <p:nvPr/>
        </p:nvSpPr>
        <p:spPr>
          <a:xfrm>
            <a:off x="8185100" y="1342727"/>
            <a:ext cx="1366391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 duas ou mais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8"/>
          <p:cNvSpPr txBox="1"/>
          <p:nvPr/>
        </p:nvSpPr>
        <p:spPr>
          <a:xfrm>
            <a:off x="8185100" y="1515963"/>
            <a:ext cx="12029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curvas de sobrevida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8"/>
          <p:cNvSpPr txBox="1"/>
          <p:nvPr/>
        </p:nvSpPr>
        <p:spPr>
          <a:xfrm>
            <a:off x="9974580" y="1361777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survival::survdiff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8"/>
          <p:cNvSpPr txBox="1"/>
          <p:nvPr/>
        </p:nvSpPr>
        <p:spPr>
          <a:xfrm>
            <a:off x="6272212" y="1752005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8"/>
          <p:cNvSpPr txBox="1"/>
          <p:nvPr/>
        </p:nvSpPr>
        <p:spPr>
          <a:xfrm>
            <a:off x="8185100" y="1752005"/>
            <a:ext cx="1160859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regressão de riscos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8"/>
          <p:cNvSpPr txBox="1"/>
          <p:nvPr/>
        </p:nvSpPr>
        <p:spPr>
          <a:xfrm>
            <a:off x="8185100" y="1925241"/>
            <a:ext cx="1511052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proporcionais; estima HR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8"/>
          <p:cNvSpPr txBox="1"/>
          <p:nvPr/>
        </p:nvSpPr>
        <p:spPr>
          <a:xfrm>
            <a:off x="8122920" y="2098477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ajustado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8"/>
          <p:cNvSpPr txBox="1"/>
          <p:nvPr/>
        </p:nvSpPr>
        <p:spPr>
          <a:xfrm>
            <a:off x="9974580" y="1771055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survival::coxph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8"/>
          <p:cNvSpPr txBox="1"/>
          <p:nvPr/>
        </p:nvSpPr>
        <p:spPr>
          <a:xfrm>
            <a:off x="6272212" y="2334518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cox.zph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8"/>
          <p:cNvSpPr txBox="1"/>
          <p:nvPr/>
        </p:nvSpPr>
        <p:spPr>
          <a:xfrm>
            <a:off x="8185100" y="2334518"/>
            <a:ext cx="123348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testa a suposição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8"/>
          <p:cNvSpPr txBox="1"/>
          <p:nvPr/>
        </p:nvSpPr>
        <p:spPr>
          <a:xfrm>
            <a:off x="8185100" y="2507754"/>
            <a:ext cx="1216223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riscos proporcionais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8"/>
          <p:cNvSpPr txBox="1"/>
          <p:nvPr/>
        </p:nvSpPr>
        <p:spPr>
          <a:xfrm>
            <a:off x="9974580" y="2353568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survival::cox.zph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8"/>
          <p:cNvSpPr txBox="1"/>
          <p:nvPr/>
        </p:nvSpPr>
        <p:spPr>
          <a:xfrm>
            <a:off x="6272212" y="2743800"/>
            <a:ext cx="1774507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 </a:t>
            </a:r>
            <a:r>
              <a:rPr b="0" i="1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(Uniform Manifold Approximation and Projection)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8"/>
          <p:cNvSpPr txBox="1"/>
          <p:nvPr/>
        </p:nvSpPr>
        <p:spPr>
          <a:xfrm>
            <a:off x="8185100" y="2743795"/>
            <a:ext cx="131058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redução de dimensão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8"/>
          <p:cNvSpPr txBox="1"/>
          <p:nvPr/>
        </p:nvSpPr>
        <p:spPr>
          <a:xfrm>
            <a:off x="8185100" y="2917031"/>
            <a:ext cx="917079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linear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8"/>
          <p:cNvSpPr txBox="1"/>
          <p:nvPr/>
        </p:nvSpPr>
        <p:spPr>
          <a:xfrm>
            <a:off x="8122920" y="3090267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8"/>
          <p:cNvSpPr txBox="1"/>
          <p:nvPr/>
        </p:nvSpPr>
        <p:spPr>
          <a:xfrm>
            <a:off x="9974580" y="2762845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uwot::umap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8"/>
          <p:cNvSpPr txBox="1"/>
          <p:nvPr/>
        </p:nvSpPr>
        <p:spPr>
          <a:xfrm>
            <a:off x="6272212" y="3326309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8"/>
          <p:cNvSpPr txBox="1"/>
          <p:nvPr/>
        </p:nvSpPr>
        <p:spPr>
          <a:xfrm>
            <a:off x="8122920" y="3326309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matriz de cores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8"/>
          <p:cNvSpPr txBox="1"/>
          <p:nvPr/>
        </p:nvSpPr>
        <p:spPr>
          <a:xfrm>
            <a:off x="8185100" y="3499545"/>
            <a:ext cx="1445121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expressão (aqui, z-score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8"/>
          <p:cNvSpPr txBox="1"/>
          <p:nvPr/>
        </p:nvSpPr>
        <p:spPr>
          <a:xfrm>
            <a:off x="8185100" y="3672780"/>
            <a:ext cx="6112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gene)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"/>
          <p:cNvSpPr txBox="1"/>
          <p:nvPr/>
        </p:nvSpPr>
        <p:spPr>
          <a:xfrm>
            <a:off x="9974580" y="3345359"/>
            <a:ext cx="177450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pheatmap::pheatmap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8"/>
          <p:cNvSpPr txBox="1"/>
          <p:nvPr/>
        </p:nvSpPr>
        <p:spPr>
          <a:xfrm>
            <a:off x="6272212" y="3908822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Jaccard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8"/>
          <p:cNvSpPr txBox="1"/>
          <p:nvPr/>
        </p:nvSpPr>
        <p:spPr>
          <a:xfrm>
            <a:off x="8122920" y="3908822"/>
            <a:ext cx="17754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sobreposição entre dois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"/>
          <p:cNvSpPr txBox="1"/>
          <p:nvPr/>
        </p:nvSpPr>
        <p:spPr>
          <a:xfrm>
            <a:off x="8185100" y="4082058"/>
            <a:ext cx="6454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conjuntos: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8"/>
          <p:cNvSpPr txBox="1"/>
          <p:nvPr/>
        </p:nvSpPr>
        <p:spPr>
          <a:xfrm>
            <a:off x="8185100" y="4255294"/>
            <a:ext cx="1022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interseção/união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8"/>
          <p:cNvSpPr txBox="1"/>
          <p:nvPr/>
        </p:nvSpPr>
        <p:spPr>
          <a:xfrm>
            <a:off x="9974580" y="3908822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"/>
          <p:cNvSpPr txBox="1"/>
          <p:nvPr/>
        </p:nvSpPr>
        <p:spPr>
          <a:xfrm>
            <a:off x="6272212" y="4491335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Cramér’s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8"/>
          <p:cNvSpPr txBox="1"/>
          <p:nvPr/>
        </p:nvSpPr>
        <p:spPr>
          <a:xfrm>
            <a:off x="8122920" y="4491300"/>
            <a:ext cx="177546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tamanho de efeito de associação categórica (0–1)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1E293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13" name="Google Shape;613;p8"/>
          <p:cNvSpPr txBox="1"/>
          <p:nvPr/>
        </p:nvSpPr>
        <p:spPr>
          <a:xfrm>
            <a:off x="9974580" y="4491335"/>
            <a:ext cx="177450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8"/>
          <p:cNvSpPr/>
          <p:nvPr/>
        </p:nvSpPr>
        <p:spPr>
          <a:xfrm>
            <a:off x="400050" y="6013103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2015; Johnson et al., 2007; McInnes et al., 2018.</a:t>
            </a:r>
            <a:endParaRPr/>
          </a:p>
        </p:txBody>
      </p:sp>
      <p:sp>
        <p:nvSpPr>
          <p:cNvPr id="615" name="Google Shape;615;p8"/>
          <p:cNvSpPr txBox="1"/>
          <p:nvPr/>
        </p:nvSpPr>
        <p:spPr>
          <a:xfrm>
            <a:off x="438150" y="5420700"/>
            <a:ext cx="294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sng">
                <a:solidFill>
                  <a:srgbClr val="1F1F1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set.seed(2026)</a:t>
            </a:r>
            <a:r>
              <a:rPr b="1" lang="en-US" sz="1600" u="sng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-&gt; semente fixa</a:t>
            </a:r>
            <a:endParaRPr b="1" sz="16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9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2" name="Google Shape;622;p9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3" name="Google Shape;623;p9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4" name="Google Shape;624;p9"/>
          <p:cNvSpPr/>
          <p:nvPr/>
        </p:nvSpPr>
        <p:spPr>
          <a:xfrm>
            <a:off x="800100" y="2411164"/>
            <a:ext cx="10668000" cy="1699022"/>
          </a:xfrm>
          <a:prstGeom prst="roundRect">
            <a:avLst>
              <a:gd fmla="val 2803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5" name="Google Shape;625;p9"/>
          <p:cNvCxnSpPr/>
          <p:nvPr/>
        </p:nvCxnSpPr>
        <p:spPr>
          <a:xfrm>
            <a:off x="823912" y="2411164"/>
            <a:ext cx="0" cy="1699022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p9"/>
          <p:cNvSpPr/>
          <p:nvPr/>
        </p:nvSpPr>
        <p:spPr>
          <a:xfrm>
            <a:off x="994172" y="2730996"/>
            <a:ext cx="1813620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9"/>
          <p:cNvSpPr/>
          <p:nvPr/>
        </p:nvSpPr>
        <p:spPr>
          <a:xfrm>
            <a:off x="800100" y="4249489"/>
            <a:ext cx="10668000" cy="1190923"/>
          </a:xfrm>
          <a:prstGeom prst="roundRect">
            <a:avLst>
              <a:gd fmla="val 399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9"/>
          <p:cNvCxnSpPr/>
          <p:nvPr/>
        </p:nvCxnSpPr>
        <p:spPr>
          <a:xfrm>
            <a:off x="823912" y="4249489"/>
            <a:ext cx="0" cy="1190923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p9"/>
          <p:cNvSpPr txBox="1"/>
          <p:nvPr/>
        </p:nvSpPr>
        <p:spPr>
          <a:xfrm>
            <a:off x="800100" y="852488"/>
            <a:ext cx="5995988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1 — 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9"/>
          <p:cNvSpPr txBox="1"/>
          <p:nvPr/>
        </p:nvSpPr>
        <p:spPr>
          <a:xfrm>
            <a:off x="800100" y="1655564"/>
            <a:ext cx="43646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FENÓTIPOS, ESTRUTURA GLOBAL E MARCADORES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9"/>
          <p:cNvSpPr txBox="1"/>
          <p:nvPr/>
        </p:nvSpPr>
        <p:spPr>
          <a:xfrm>
            <a:off x="800100" y="1993999"/>
            <a:ext cx="36069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01_analise_exploratoria.R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9"/>
          <p:cNvSpPr txBox="1"/>
          <p:nvPr/>
        </p:nvSpPr>
        <p:spPr>
          <a:xfrm>
            <a:off x="4433888" y="1955899"/>
            <a:ext cx="3408759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tabelas 01–12 e figuras 01–12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9"/>
          <p:cNvSpPr txBox="1"/>
          <p:nvPr/>
        </p:nvSpPr>
        <p:spPr>
          <a:xfrm>
            <a:off x="1074093" y="2737396"/>
            <a:ext cx="1691878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9"/>
          <p:cNvSpPr txBox="1"/>
          <p:nvPr/>
        </p:nvSpPr>
        <p:spPr>
          <a:xfrm>
            <a:off x="2917329" y="2699296"/>
            <a:ext cx="132680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9"/>
          <p:cNvSpPr txBox="1"/>
          <p:nvPr/>
        </p:nvSpPr>
        <p:spPr>
          <a:xfrm>
            <a:off x="4259461" y="2699296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9"/>
          <p:cNvSpPr txBox="1"/>
          <p:nvPr/>
        </p:nvSpPr>
        <p:spPr>
          <a:xfrm>
            <a:off x="4318546" y="2727871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9"/>
          <p:cNvSpPr txBox="1"/>
          <p:nvPr/>
        </p:nvSpPr>
        <p:spPr>
          <a:xfrm>
            <a:off x="6263580" y="2699296"/>
            <a:ext cx="101679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sexo;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9"/>
          <p:cNvSpPr txBox="1"/>
          <p:nvPr/>
        </p:nvSpPr>
        <p:spPr>
          <a:xfrm>
            <a:off x="7295704" y="2699296"/>
            <a:ext cx="8965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9"/>
          <p:cNvSpPr txBox="1"/>
          <p:nvPr/>
        </p:nvSpPr>
        <p:spPr>
          <a:xfrm>
            <a:off x="8207573" y="2699296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9"/>
          <p:cNvSpPr txBox="1"/>
          <p:nvPr/>
        </p:nvSpPr>
        <p:spPr>
          <a:xfrm>
            <a:off x="8266658" y="2727871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stats::wilcox.test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9"/>
          <p:cNvSpPr txBox="1"/>
          <p:nvPr/>
        </p:nvSpPr>
        <p:spPr>
          <a:xfrm>
            <a:off x="10326142" y="2699296"/>
            <a:ext cx="2527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9"/>
          <p:cNvSpPr txBox="1"/>
          <p:nvPr/>
        </p:nvSpPr>
        <p:spPr>
          <a:xfrm>
            <a:off x="994172" y="2979986"/>
            <a:ext cx="13416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9"/>
          <p:cNvSpPr txBox="1"/>
          <p:nvPr/>
        </p:nvSpPr>
        <p:spPr>
          <a:xfrm>
            <a:off x="2351187" y="2979986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9"/>
          <p:cNvSpPr txBox="1"/>
          <p:nvPr/>
        </p:nvSpPr>
        <p:spPr>
          <a:xfrm>
            <a:off x="2410271" y="3008561"/>
            <a:ext cx="221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9"/>
          <p:cNvSpPr txBox="1"/>
          <p:nvPr/>
        </p:nvSpPr>
        <p:spPr>
          <a:xfrm>
            <a:off x="4584204" y="2979986"/>
            <a:ext cx="11065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idade;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9"/>
          <p:cNvSpPr txBox="1"/>
          <p:nvPr/>
        </p:nvSpPr>
        <p:spPr>
          <a:xfrm>
            <a:off x="5706070" y="2979986"/>
            <a:ext cx="3129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9"/>
          <p:cNvSpPr txBox="1"/>
          <p:nvPr/>
        </p:nvSpPr>
        <p:spPr>
          <a:xfrm>
            <a:off x="6034385" y="2979986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9"/>
          <p:cNvSpPr txBox="1"/>
          <p:nvPr/>
        </p:nvSpPr>
        <p:spPr>
          <a:xfrm>
            <a:off x="6093470" y="3008561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9"/>
          <p:cNvSpPr txBox="1"/>
          <p:nvPr/>
        </p:nvSpPr>
        <p:spPr>
          <a:xfrm>
            <a:off x="7809756" y="2979986"/>
            <a:ext cx="19822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múltiplos testes;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9"/>
          <p:cNvSpPr txBox="1"/>
          <p:nvPr/>
        </p:nvSpPr>
        <p:spPr>
          <a:xfrm>
            <a:off x="9807476" y="2979986"/>
            <a:ext cx="9597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9"/>
          <p:cNvSpPr txBox="1"/>
          <p:nvPr/>
        </p:nvSpPr>
        <p:spPr>
          <a:xfrm>
            <a:off x="994172" y="3260675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9"/>
          <p:cNvSpPr txBox="1"/>
          <p:nvPr/>
        </p:nvSpPr>
        <p:spPr>
          <a:xfrm>
            <a:off x="1053108" y="3289250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9"/>
          <p:cNvSpPr txBox="1"/>
          <p:nvPr/>
        </p:nvSpPr>
        <p:spPr>
          <a:xfrm>
            <a:off x="2769394" y="3260675"/>
            <a:ext cx="265821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associações com UMAP;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9"/>
          <p:cNvSpPr txBox="1"/>
          <p:nvPr/>
        </p:nvSpPr>
        <p:spPr>
          <a:xfrm>
            <a:off x="5442942" y="3260675"/>
            <a:ext cx="6234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9"/>
          <p:cNvSpPr txBox="1"/>
          <p:nvPr/>
        </p:nvSpPr>
        <p:spPr>
          <a:xfrm>
            <a:off x="6081712" y="3260675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9"/>
          <p:cNvSpPr txBox="1"/>
          <p:nvPr/>
        </p:nvSpPr>
        <p:spPr>
          <a:xfrm>
            <a:off x="6140797" y="3289250"/>
            <a:ext cx="11822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uwot::umap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9"/>
          <p:cNvSpPr txBox="1"/>
          <p:nvPr/>
        </p:nvSpPr>
        <p:spPr>
          <a:xfrm>
            <a:off x="7284988" y="3260675"/>
            <a:ext cx="1394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9"/>
          <p:cNvSpPr txBox="1"/>
          <p:nvPr/>
        </p:nvSpPr>
        <p:spPr>
          <a:xfrm>
            <a:off x="7439769" y="3260675"/>
            <a:ext cx="692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9"/>
          <p:cNvSpPr txBox="1"/>
          <p:nvPr/>
        </p:nvSpPr>
        <p:spPr>
          <a:xfrm>
            <a:off x="8147298" y="3260675"/>
            <a:ext cx="1403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9"/>
          <p:cNvSpPr txBox="1"/>
          <p:nvPr/>
        </p:nvSpPr>
        <p:spPr>
          <a:xfrm>
            <a:off x="8302972" y="3260675"/>
            <a:ext cx="84742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9"/>
          <p:cNvSpPr txBox="1"/>
          <p:nvPr/>
        </p:nvSpPr>
        <p:spPr>
          <a:xfrm>
            <a:off x="994172" y="3541365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9"/>
          <p:cNvSpPr txBox="1"/>
          <p:nvPr/>
        </p:nvSpPr>
        <p:spPr>
          <a:xfrm>
            <a:off x="1053108" y="3569940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pheatmap::pheatmap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9"/>
          <p:cNvSpPr txBox="1"/>
          <p:nvPr/>
        </p:nvSpPr>
        <p:spPr>
          <a:xfrm>
            <a:off x="3112591" y="3541365"/>
            <a:ext cx="11349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 Figuras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9"/>
          <p:cNvSpPr txBox="1"/>
          <p:nvPr/>
        </p:nvSpPr>
        <p:spPr>
          <a:xfrm>
            <a:off x="4262884" y="3569940"/>
            <a:ext cx="8390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ggplot2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9"/>
          <p:cNvSpPr txBox="1"/>
          <p:nvPr/>
        </p:nvSpPr>
        <p:spPr>
          <a:xfrm>
            <a:off x="5063877" y="3541365"/>
            <a:ext cx="114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9"/>
          <p:cNvSpPr txBox="1"/>
          <p:nvPr/>
        </p:nvSpPr>
        <p:spPr>
          <a:xfrm>
            <a:off x="5140077" y="3569940"/>
            <a:ext cx="8390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ggrepel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9"/>
          <p:cNvSpPr txBox="1"/>
          <p:nvPr/>
        </p:nvSpPr>
        <p:spPr>
          <a:xfrm>
            <a:off x="5941070" y="3541365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9"/>
          <p:cNvSpPr txBox="1"/>
          <p:nvPr/>
        </p:nvSpPr>
        <p:spPr>
          <a:xfrm>
            <a:off x="1019175" y="4557861"/>
            <a:ext cx="101220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Objetivo: descrever a coorte, verificar qualidade e explorar a estrutura global da expressão antes dos testes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9"/>
          <p:cNvSpPr txBox="1"/>
          <p:nvPr/>
        </p:nvSpPr>
        <p:spPr>
          <a:xfrm>
            <a:off x="1019175" y="4844951"/>
            <a:ext cx="11940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hipótese.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9"/>
          <p:cNvSpPr/>
          <p:nvPr/>
        </p:nvSpPr>
        <p:spPr>
          <a:xfrm>
            <a:off x="400050" y="723900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McInnes et al., 2018; Ritchie et al., 2015.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0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10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7" name="Google Shape;677;p10"/>
          <p:cNvSpPr/>
          <p:nvPr/>
        </p:nvSpPr>
        <p:spPr>
          <a:xfrm>
            <a:off x="314763" y="3175653"/>
            <a:ext cx="5549100" cy="8886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0"/>
          <p:cNvSpPr/>
          <p:nvPr/>
        </p:nvSpPr>
        <p:spPr>
          <a:xfrm>
            <a:off x="319524" y="3180415"/>
            <a:ext cx="1883700" cy="23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0"/>
          <p:cNvSpPr/>
          <p:nvPr/>
        </p:nvSpPr>
        <p:spPr>
          <a:xfrm>
            <a:off x="2203242" y="3180415"/>
            <a:ext cx="1454400" cy="23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10"/>
          <p:cNvCxnSpPr/>
          <p:nvPr/>
        </p:nvCxnSpPr>
        <p:spPr>
          <a:xfrm>
            <a:off x="2208006" y="3180415"/>
            <a:ext cx="0" cy="23070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1" name="Google Shape;681;p10"/>
          <p:cNvSpPr/>
          <p:nvPr/>
        </p:nvSpPr>
        <p:spPr>
          <a:xfrm>
            <a:off x="3657739" y="3180415"/>
            <a:ext cx="1454400" cy="23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2" name="Google Shape;682;p10"/>
          <p:cNvCxnSpPr/>
          <p:nvPr/>
        </p:nvCxnSpPr>
        <p:spPr>
          <a:xfrm>
            <a:off x="3662503" y="3180415"/>
            <a:ext cx="0" cy="23070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3" name="Google Shape;683;p10"/>
          <p:cNvSpPr/>
          <p:nvPr/>
        </p:nvSpPr>
        <p:spPr>
          <a:xfrm>
            <a:off x="5112238" y="3180415"/>
            <a:ext cx="747000" cy="2307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10"/>
          <p:cNvCxnSpPr/>
          <p:nvPr/>
        </p:nvCxnSpPr>
        <p:spPr>
          <a:xfrm>
            <a:off x="5117000" y="3180415"/>
            <a:ext cx="0" cy="23070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p10"/>
          <p:cNvSpPr/>
          <p:nvPr/>
        </p:nvSpPr>
        <p:spPr>
          <a:xfrm>
            <a:off x="319524" y="3411099"/>
            <a:ext cx="1883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6" name="Google Shape;686;p10"/>
          <p:cNvCxnSpPr/>
          <p:nvPr/>
        </p:nvCxnSpPr>
        <p:spPr>
          <a:xfrm>
            <a:off x="319524" y="3415861"/>
            <a:ext cx="1883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7" name="Google Shape;687;p10"/>
          <p:cNvSpPr/>
          <p:nvPr/>
        </p:nvSpPr>
        <p:spPr>
          <a:xfrm>
            <a:off x="2203242" y="3411099"/>
            <a:ext cx="1454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8" name="Google Shape;688;p10"/>
          <p:cNvCxnSpPr/>
          <p:nvPr/>
        </p:nvCxnSpPr>
        <p:spPr>
          <a:xfrm>
            <a:off x="2203242" y="3415861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9" name="Google Shape;689;p10"/>
          <p:cNvCxnSpPr/>
          <p:nvPr/>
        </p:nvCxnSpPr>
        <p:spPr>
          <a:xfrm>
            <a:off x="2208006" y="3411099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p10"/>
          <p:cNvSpPr/>
          <p:nvPr/>
        </p:nvSpPr>
        <p:spPr>
          <a:xfrm>
            <a:off x="3657739" y="3411099"/>
            <a:ext cx="1454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1" name="Google Shape;691;p10"/>
          <p:cNvCxnSpPr/>
          <p:nvPr/>
        </p:nvCxnSpPr>
        <p:spPr>
          <a:xfrm>
            <a:off x="3657739" y="3415861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10"/>
          <p:cNvCxnSpPr/>
          <p:nvPr/>
        </p:nvCxnSpPr>
        <p:spPr>
          <a:xfrm>
            <a:off x="3662503" y="3411099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3" name="Google Shape;693;p10"/>
          <p:cNvSpPr/>
          <p:nvPr/>
        </p:nvSpPr>
        <p:spPr>
          <a:xfrm>
            <a:off x="5112238" y="3411099"/>
            <a:ext cx="747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4" name="Google Shape;694;p10"/>
          <p:cNvCxnSpPr/>
          <p:nvPr/>
        </p:nvCxnSpPr>
        <p:spPr>
          <a:xfrm>
            <a:off x="5112238" y="3415861"/>
            <a:ext cx="747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5" name="Google Shape;695;p10"/>
          <p:cNvCxnSpPr/>
          <p:nvPr/>
        </p:nvCxnSpPr>
        <p:spPr>
          <a:xfrm>
            <a:off x="5117000" y="3411099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6" name="Google Shape;696;p10"/>
          <p:cNvSpPr/>
          <p:nvPr/>
        </p:nvSpPr>
        <p:spPr>
          <a:xfrm>
            <a:off x="319524" y="3627197"/>
            <a:ext cx="1883700" cy="21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7" name="Google Shape;697;p10"/>
          <p:cNvCxnSpPr/>
          <p:nvPr/>
        </p:nvCxnSpPr>
        <p:spPr>
          <a:xfrm>
            <a:off x="319524" y="3631960"/>
            <a:ext cx="1883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8" name="Google Shape;698;p10"/>
          <p:cNvSpPr/>
          <p:nvPr/>
        </p:nvSpPr>
        <p:spPr>
          <a:xfrm>
            <a:off x="2203242" y="3627197"/>
            <a:ext cx="1454400" cy="21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9" name="Google Shape;699;p10"/>
          <p:cNvCxnSpPr/>
          <p:nvPr/>
        </p:nvCxnSpPr>
        <p:spPr>
          <a:xfrm>
            <a:off x="2203242" y="3631960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10"/>
          <p:cNvCxnSpPr/>
          <p:nvPr/>
        </p:nvCxnSpPr>
        <p:spPr>
          <a:xfrm>
            <a:off x="2208006" y="3627197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10"/>
          <p:cNvSpPr/>
          <p:nvPr/>
        </p:nvSpPr>
        <p:spPr>
          <a:xfrm>
            <a:off x="3657739" y="3627197"/>
            <a:ext cx="1454400" cy="21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2" name="Google Shape;702;p10"/>
          <p:cNvCxnSpPr/>
          <p:nvPr/>
        </p:nvCxnSpPr>
        <p:spPr>
          <a:xfrm>
            <a:off x="3657739" y="3631960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3" name="Google Shape;703;p10"/>
          <p:cNvCxnSpPr/>
          <p:nvPr/>
        </p:nvCxnSpPr>
        <p:spPr>
          <a:xfrm>
            <a:off x="3662503" y="3627197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10"/>
          <p:cNvSpPr/>
          <p:nvPr/>
        </p:nvSpPr>
        <p:spPr>
          <a:xfrm>
            <a:off x="5112238" y="3627197"/>
            <a:ext cx="747000" cy="216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5" name="Google Shape;705;p10"/>
          <p:cNvCxnSpPr/>
          <p:nvPr/>
        </p:nvCxnSpPr>
        <p:spPr>
          <a:xfrm>
            <a:off x="5112238" y="3631960"/>
            <a:ext cx="747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10"/>
          <p:cNvCxnSpPr/>
          <p:nvPr/>
        </p:nvCxnSpPr>
        <p:spPr>
          <a:xfrm>
            <a:off x="5117000" y="3627197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10"/>
          <p:cNvSpPr/>
          <p:nvPr/>
        </p:nvSpPr>
        <p:spPr>
          <a:xfrm>
            <a:off x="319524" y="3843296"/>
            <a:ext cx="1883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p10"/>
          <p:cNvCxnSpPr/>
          <p:nvPr/>
        </p:nvCxnSpPr>
        <p:spPr>
          <a:xfrm>
            <a:off x="319524" y="3848058"/>
            <a:ext cx="1883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9" name="Google Shape;709;p10"/>
          <p:cNvSpPr/>
          <p:nvPr/>
        </p:nvSpPr>
        <p:spPr>
          <a:xfrm>
            <a:off x="2203242" y="3843296"/>
            <a:ext cx="1454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0" name="Google Shape;710;p10"/>
          <p:cNvCxnSpPr/>
          <p:nvPr/>
        </p:nvCxnSpPr>
        <p:spPr>
          <a:xfrm>
            <a:off x="2203242" y="3848058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10"/>
          <p:cNvCxnSpPr/>
          <p:nvPr/>
        </p:nvCxnSpPr>
        <p:spPr>
          <a:xfrm>
            <a:off x="2208006" y="3843296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p10"/>
          <p:cNvSpPr/>
          <p:nvPr/>
        </p:nvSpPr>
        <p:spPr>
          <a:xfrm>
            <a:off x="3657739" y="3843296"/>
            <a:ext cx="14544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10"/>
          <p:cNvCxnSpPr/>
          <p:nvPr/>
        </p:nvCxnSpPr>
        <p:spPr>
          <a:xfrm>
            <a:off x="3657739" y="3848058"/>
            <a:ext cx="14544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10"/>
          <p:cNvCxnSpPr/>
          <p:nvPr/>
        </p:nvCxnSpPr>
        <p:spPr>
          <a:xfrm>
            <a:off x="3662503" y="3843296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5" name="Google Shape;715;p10"/>
          <p:cNvSpPr/>
          <p:nvPr/>
        </p:nvSpPr>
        <p:spPr>
          <a:xfrm>
            <a:off x="5112238" y="3843296"/>
            <a:ext cx="7470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10"/>
          <p:cNvCxnSpPr/>
          <p:nvPr/>
        </p:nvCxnSpPr>
        <p:spPr>
          <a:xfrm>
            <a:off x="5112238" y="3848058"/>
            <a:ext cx="7470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7" name="Google Shape;717;p10"/>
          <p:cNvCxnSpPr/>
          <p:nvPr/>
        </p:nvCxnSpPr>
        <p:spPr>
          <a:xfrm>
            <a:off x="5117000" y="3843296"/>
            <a:ext cx="0" cy="216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8" name="Google Shape;718;p10"/>
          <p:cNvSpPr/>
          <p:nvPr/>
        </p:nvSpPr>
        <p:spPr>
          <a:xfrm>
            <a:off x="319514" y="4557944"/>
            <a:ext cx="2701500" cy="10449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"/>
          <p:cNvSpPr/>
          <p:nvPr/>
        </p:nvSpPr>
        <p:spPr>
          <a:xfrm>
            <a:off x="324276" y="4562707"/>
            <a:ext cx="200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0" name="Google Shape;720;p10"/>
          <p:cNvCxnSpPr/>
          <p:nvPr/>
        </p:nvCxnSpPr>
        <p:spPr>
          <a:xfrm>
            <a:off x="324276" y="4567469"/>
            <a:ext cx="200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1" name="Google Shape;721;p10"/>
          <p:cNvCxnSpPr/>
          <p:nvPr/>
        </p:nvCxnSpPr>
        <p:spPr>
          <a:xfrm>
            <a:off x="329039" y="4562707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22" name="Google Shape;722;p10"/>
          <p:cNvSpPr/>
          <p:nvPr/>
        </p:nvSpPr>
        <p:spPr>
          <a:xfrm>
            <a:off x="2325270" y="4562707"/>
            <a:ext cx="690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3" name="Google Shape;723;p10"/>
          <p:cNvCxnSpPr/>
          <p:nvPr/>
        </p:nvCxnSpPr>
        <p:spPr>
          <a:xfrm>
            <a:off x="2325270" y="4567469"/>
            <a:ext cx="6909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4" name="Google Shape;724;p10"/>
          <p:cNvCxnSpPr/>
          <p:nvPr/>
        </p:nvCxnSpPr>
        <p:spPr>
          <a:xfrm>
            <a:off x="2330033" y="4562707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25" name="Google Shape;725;p10"/>
          <p:cNvSpPr/>
          <p:nvPr/>
        </p:nvSpPr>
        <p:spPr>
          <a:xfrm>
            <a:off x="324276" y="4821519"/>
            <a:ext cx="200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6" name="Google Shape;726;p10"/>
          <p:cNvCxnSpPr/>
          <p:nvPr/>
        </p:nvCxnSpPr>
        <p:spPr>
          <a:xfrm>
            <a:off x="324276" y="4826281"/>
            <a:ext cx="200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27" name="Google Shape;727;p10"/>
          <p:cNvCxnSpPr/>
          <p:nvPr/>
        </p:nvCxnSpPr>
        <p:spPr>
          <a:xfrm>
            <a:off x="329039" y="4821519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28" name="Google Shape;728;p10"/>
          <p:cNvSpPr/>
          <p:nvPr/>
        </p:nvSpPr>
        <p:spPr>
          <a:xfrm>
            <a:off x="2325270" y="4821519"/>
            <a:ext cx="690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9" name="Google Shape;729;p10"/>
          <p:cNvCxnSpPr/>
          <p:nvPr/>
        </p:nvCxnSpPr>
        <p:spPr>
          <a:xfrm>
            <a:off x="2325270" y="4826281"/>
            <a:ext cx="6909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30" name="Google Shape;730;p10"/>
          <p:cNvCxnSpPr/>
          <p:nvPr/>
        </p:nvCxnSpPr>
        <p:spPr>
          <a:xfrm>
            <a:off x="2330033" y="4821519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31" name="Google Shape;731;p10"/>
          <p:cNvSpPr/>
          <p:nvPr/>
        </p:nvSpPr>
        <p:spPr>
          <a:xfrm>
            <a:off x="324276" y="5080331"/>
            <a:ext cx="200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2" name="Google Shape;732;p10"/>
          <p:cNvCxnSpPr/>
          <p:nvPr/>
        </p:nvCxnSpPr>
        <p:spPr>
          <a:xfrm>
            <a:off x="324276" y="5085093"/>
            <a:ext cx="200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33" name="Google Shape;733;p10"/>
          <p:cNvCxnSpPr/>
          <p:nvPr/>
        </p:nvCxnSpPr>
        <p:spPr>
          <a:xfrm>
            <a:off x="329039" y="5080331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34" name="Google Shape;734;p10"/>
          <p:cNvSpPr/>
          <p:nvPr/>
        </p:nvSpPr>
        <p:spPr>
          <a:xfrm>
            <a:off x="2325270" y="5080331"/>
            <a:ext cx="690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5" name="Google Shape;735;p10"/>
          <p:cNvCxnSpPr/>
          <p:nvPr/>
        </p:nvCxnSpPr>
        <p:spPr>
          <a:xfrm>
            <a:off x="2325270" y="5085093"/>
            <a:ext cx="6909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36" name="Google Shape;736;p10"/>
          <p:cNvCxnSpPr/>
          <p:nvPr/>
        </p:nvCxnSpPr>
        <p:spPr>
          <a:xfrm>
            <a:off x="2330033" y="5080331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37" name="Google Shape;737;p10"/>
          <p:cNvSpPr/>
          <p:nvPr/>
        </p:nvSpPr>
        <p:spPr>
          <a:xfrm>
            <a:off x="324276" y="5339143"/>
            <a:ext cx="2001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8" name="Google Shape;738;p10"/>
          <p:cNvCxnSpPr/>
          <p:nvPr/>
        </p:nvCxnSpPr>
        <p:spPr>
          <a:xfrm>
            <a:off x="324276" y="5343905"/>
            <a:ext cx="20010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39" name="Google Shape;739;p10"/>
          <p:cNvCxnSpPr/>
          <p:nvPr/>
        </p:nvCxnSpPr>
        <p:spPr>
          <a:xfrm>
            <a:off x="329039" y="5339143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40" name="Google Shape;740;p10"/>
          <p:cNvSpPr/>
          <p:nvPr/>
        </p:nvSpPr>
        <p:spPr>
          <a:xfrm>
            <a:off x="2325270" y="5339143"/>
            <a:ext cx="6909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10"/>
          <p:cNvCxnSpPr/>
          <p:nvPr/>
        </p:nvCxnSpPr>
        <p:spPr>
          <a:xfrm>
            <a:off x="2325270" y="5343905"/>
            <a:ext cx="690900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42" name="Google Shape;742;p10"/>
          <p:cNvCxnSpPr/>
          <p:nvPr/>
        </p:nvCxnSpPr>
        <p:spPr>
          <a:xfrm>
            <a:off x="2330033" y="5339143"/>
            <a:ext cx="0" cy="2589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743" name="Google Shape;743;p10"/>
          <p:cNvSpPr/>
          <p:nvPr/>
        </p:nvSpPr>
        <p:spPr>
          <a:xfrm>
            <a:off x="6242675" y="4586425"/>
            <a:ext cx="5549400" cy="1295100"/>
          </a:xfrm>
          <a:prstGeom prst="roundRect">
            <a:avLst>
              <a:gd fmla="val 367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10"/>
          <p:cNvCxnSpPr/>
          <p:nvPr/>
        </p:nvCxnSpPr>
        <p:spPr>
          <a:xfrm>
            <a:off x="6266487" y="4586425"/>
            <a:ext cx="0" cy="1295100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5" name="Google Shape;745;p10"/>
          <p:cNvSpPr/>
          <p:nvPr/>
        </p:nvSpPr>
        <p:spPr>
          <a:xfrm>
            <a:off x="6242596" y="5984379"/>
            <a:ext cx="5549354" cy="1421309"/>
          </a:xfrm>
          <a:prstGeom prst="roundRect">
            <a:avLst>
              <a:gd fmla="val 3350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6" name="Google Shape;746;p10"/>
          <p:cNvCxnSpPr/>
          <p:nvPr/>
        </p:nvCxnSpPr>
        <p:spPr>
          <a:xfrm>
            <a:off x="6266408" y="5984379"/>
            <a:ext cx="0" cy="1421309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7" name="Google Shape;747;p10"/>
          <p:cNvSpPr/>
          <p:nvPr/>
        </p:nvSpPr>
        <p:spPr>
          <a:xfrm>
            <a:off x="6418957" y="6283821"/>
            <a:ext cx="556022" cy="187077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b01f1ea5c2149e86f3184b8958d4b58.png" id="748" name="Google Shape;7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2596" y="715566"/>
            <a:ext cx="5549205" cy="356741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10"/>
          <p:cNvSpPr txBox="1"/>
          <p:nvPr/>
        </p:nvSpPr>
        <p:spPr>
          <a:xfrm>
            <a:off x="400050" y="161925"/>
            <a:ext cx="2069604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 por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0"/>
          <p:cNvSpPr txBox="1"/>
          <p:nvPr/>
        </p:nvSpPr>
        <p:spPr>
          <a:xfrm>
            <a:off x="352863" y="3214497"/>
            <a:ext cx="1352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0"/>
          <p:cNvSpPr txBox="1"/>
          <p:nvPr/>
        </p:nvSpPr>
        <p:spPr>
          <a:xfrm>
            <a:off x="2241670" y="3214497"/>
            <a:ext cx="137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0"/>
          <p:cNvSpPr txBox="1"/>
          <p:nvPr/>
        </p:nvSpPr>
        <p:spPr>
          <a:xfrm>
            <a:off x="3782815" y="3214497"/>
            <a:ext cx="614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Masculino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0"/>
          <p:cNvSpPr txBox="1"/>
          <p:nvPr/>
        </p:nvSpPr>
        <p:spPr>
          <a:xfrm>
            <a:off x="5150605" y="3214497"/>
            <a:ext cx="670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0"/>
          <p:cNvSpPr txBox="1"/>
          <p:nvPr/>
        </p:nvSpPr>
        <p:spPr>
          <a:xfrm>
            <a:off x="352863" y="3437888"/>
            <a:ext cx="1352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0"/>
          <p:cNvSpPr txBox="1"/>
          <p:nvPr/>
        </p:nvSpPr>
        <p:spPr>
          <a:xfrm>
            <a:off x="2241670" y="3437888"/>
            <a:ext cx="137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120 (32.5%)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0"/>
          <p:cNvSpPr txBox="1"/>
          <p:nvPr/>
        </p:nvSpPr>
        <p:spPr>
          <a:xfrm>
            <a:off x="3782815" y="3437888"/>
            <a:ext cx="614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249 (67.5%)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0"/>
          <p:cNvSpPr txBox="1"/>
          <p:nvPr/>
        </p:nvSpPr>
        <p:spPr>
          <a:xfrm>
            <a:off x="5150605" y="3437888"/>
            <a:ext cx="670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0"/>
          <p:cNvSpPr txBox="1"/>
          <p:nvPr/>
        </p:nvSpPr>
        <p:spPr>
          <a:xfrm>
            <a:off x="352863" y="3653986"/>
            <a:ext cx="1352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0"/>
          <p:cNvSpPr txBox="1"/>
          <p:nvPr/>
        </p:nvSpPr>
        <p:spPr>
          <a:xfrm>
            <a:off x="2241670" y="3653986"/>
            <a:ext cx="137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 (44.0%)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0"/>
          <p:cNvSpPr txBox="1"/>
          <p:nvPr/>
        </p:nvSpPr>
        <p:spPr>
          <a:xfrm>
            <a:off x="3782815" y="3653986"/>
            <a:ext cx="614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28 (56.0%)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0"/>
          <p:cNvSpPr txBox="1"/>
          <p:nvPr/>
        </p:nvSpPr>
        <p:spPr>
          <a:xfrm>
            <a:off x="5150605" y="3653986"/>
            <a:ext cx="670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0"/>
          <p:cNvSpPr txBox="1"/>
          <p:nvPr/>
        </p:nvSpPr>
        <p:spPr>
          <a:xfrm>
            <a:off x="352863" y="3870085"/>
            <a:ext cx="1352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0"/>
          <p:cNvSpPr txBox="1"/>
          <p:nvPr/>
        </p:nvSpPr>
        <p:spPr>
          <a:xfrm>
            <a:off x="2241670" y="3870085"/>
            <a:ext cx="137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 (30.0%)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0"/>
          <p:cNvSpPr txBox="1"/>
          <p:nvPr/>
        </p:nvSpPr>
        <p:spPr>
          <a:xfrm>
            <a:off x="3782815" y="3870085"/>
            <a:ext cx="614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77 (70.0%)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0"/>
          <p:cNvSpPr txBox="1"/>
          <p:nvPr/>
        </p:nvSpPr>
        <p:spPr>
          <a:xfrm>
            <a:off x="5150605" y="3870085"/>
            <a:ext cx="670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0"/>
          <p:cNvSpPr txBox="1"/>
          <p:nvPr/>
        </p:nvSpPr>
        <p:spPr>
          <a:xfrm>
            <a:off x="319525" y="4168300"/>
            <a:ext cx="18837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 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0"/>
          <p:cNvSpPr txBox="1"/>
          <p:nvPr/>
        </p:nvSpPr>
        <p:spPr>
          <a:xfrm>
            <a:off x="822582" y="4587263"/>
            <a:ext cx="1378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0"/>
          <p:cNvSpPr txBox="1"/>
          <p:nvPr/>
        </p:nvSpPr>
        <p:spPr>
          <a:xfrm>
            <a:off x="2363727" y="4587263"/>
            <a:ext cx="61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0"/>
          <p:cNvSpPr txBox="1"/>
          <p:nvPr/>
        </p:nvSpPr>
        <p:spPr>
          <a:xfrm>
            <a:off x="397932" y="4855638"/>
            <a:ext cx="1378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0"/>
          <p:cNvSpPr txBox="1"/>
          <p:nvPr/>
        </p:nvSpPr>
        <p:spPr>
          <a:xfrm>
            <a:off x="2363727" y="4846075"/>
            <a:ext cx="61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0,703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0"/>
          <p:cNvSpPr txBox="1"/>
          <p:nvPr/>
        </p:nvSpPr>
        <p:spPr>
          <a:xfrm>
            <a:off x="379048" y="5104900"/>
            <a:ext cx="182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0"/>
          <p:cNvSpPr txBox="1"/>
          <p:nvPr/>
        </p:nvSpPr>
        <p:spPr>
          <a:xfrm>
            <a:off x="2363727" y="5104888"/>
            <a:ext cx="61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0,147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0"/>
          <p:cNvSpPr txBox="1"/>
          <p:nvPr/>
        </p:nvSpPr>
        <p:spPr>
          <a:xfrm>
            <a:off x="379173" y="5363700"/>
            <a:ext cx="182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0"/>
          <p:cNvSpPr txBox="1"/>
          <p:nvPr/>
        </p:nvSpPr>
        <p:spPr>
          <a:xfrm>
            <a:off x="2363727" y="5363700"/>
            <a:ext cx="61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0,121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0"/>
          <p:cNvSpPr txBox="1"/>
          <p:nvPr/>
        </p:nvSpPr>
        <p:spPr>
          <a:xfrm>
            <a:off x="6304597" y="4313039"/>
            <a:ext cx="54492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2. Composição por sexo em cada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0"/>
          <p:cNvSpPr txBox="1"/>
          <p:nvPr/>
        </p:nvSpPr>
        <p:spPr>
          <a:xfrm>
            <a:off x="6434223" y="4845175"/>
            <a:ext cx="5208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Predominância masculina em todos os grupos (~67% no </a:t>
            </a:r>
            <a:r>
              <a:rPr lang="en-US" sz="148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tumor; ~70% no GTEx),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 sz="1485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diferença significativa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7" name="Google Shape;777;p10"/>
          <p:cNvSpPr txBox="1"/>
          <p:nvPr/>
        </p:nvSpPr>
        <p:spPr>
          <a:xfrm>
            <a:off x="6489353" y="6279803"/>
            <a:ext cx="45333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b="1" i="0" lang="en-US" sz="110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0"/>
          <p:cNvSpPr txBox="1"/>
          <p:nvPr/>
        </p:nvSpPr>
        <p:spPr>
          <a:xfrm>
            <a:off x="7071420" y="6251228"/>
            <a:ext cx="11721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0"/>
          <p:cNvSpPr txBox="1"/>
          <p:nvPr/>
        </p:nvSpPr>
        <p:spPr>
          <a:xfrm>
            <a:off x="8252520" y="6251228"/>
            <a:ext cx="900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0"/>
          <p:cNvSpPr txBox="1"/>
          <p:nvPr/>
        </p:nvSpPr>
        <p:spPr>
          <a:xfrm>
            <a:off x="8304461" y="6270278"/>
            <a:ext cx="17497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0"/>
          <p:cNvSpPr txBox="1"/>
          <p:nvPr/>
        </p:nvSpPr>
        <p:spPr>
          <a:xfrm>
            <a:off x="10016133" y="6251228"/>
            <a:ext cx="9724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): compara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10"/>
          <p:cNvSpPr txBox="1"/>
          <p:nvPr/>
        </p:nvSpPr>
        <p:spPr>
          <a:xfrm>
            <a:off x="6418957" y="6475512"/>
            <a:ext cx="49963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frequência observada de homens/mulheres com a esperada se 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0"/>
          <p:cNvSpPr txBox="1"/>
          <p:nvPr/>
        </p:nvSpPr>
        <p:spPr>
          <a:xfrm>
            <a:off x="6418957" y="6690271"/>
            <a:ext cx="44318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grupos fossem homogêneos. p &gt; 0,05 = sem evidência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0"/>
          <p:cNvSpPr txBox="1"/>
          <p:nvPr/>
        </p:nvSpPr>
        <p:spPr>
          <a:xfrm>
            <a:off x="6418957" y="6905030"/>
            <a:ext cx="22306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composição sexual diferente.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1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0" name="Google Shape;790;p11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11"/>
          <p:cNvSpPr/>
          <p:nvPr/>
        </p:nvSpPr>
        <p:spPr>
          <a:xfrm>
            <a:off x="400050" y="2781598"/>
            <a:ext cx="5549205" cy="888504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1"/>
          <p:cNvSpPr/>
          <p:nvPr/>
        </p:nvSpPr>
        <p:spPr>
          <a:xfrm>
            <a:off x="404812" y="2786360"/>
            <a:ext cx="1632942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3" name="Google Shape;793;p11"/>
          <p:cNvCxnSpPr/>
          <p:nvPr/>
        </p:nvCxnSpPr>
        <p:spPr>
          <a:xfrm>
            <a:off x="404812" y="2791123"/>
            <a:ext cx="163294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4" name="Google Shape;794;p11"/>
          <p:cNvCxnSpPr/>
          <p:nvPr/>
        </p:nvCxnSpPr>
        <p:spPr>
          <a:xfrm>
            <a:off x="409575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5" name="Google Shape;795;p11"/>
          <p:cNvSpPr/>
          <p:nvPr/>
        </p:nvSpPr>
        <p:spPr>
          <a:xfrm>
            <a:off x="2037755" y="2786360"/>
            <a:ext cx="526852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6" name="Google Shape;796;p11"/>
          <p:cNvCxnSpPr/>
          <p:nvPr/>
        </p:nvCxnSpPr>
        <p:spPr>
          <a:xfrm>
            <a:off x="2037755" y="2791123"/>
            <a:ext cx="526851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p11"/>
          <p:cNvCxnSpPr/>
          <p:nvPr/>
        </p:nvCxnSpPr>
        <p:spPr>
          <a:xfrm>
            <a:off x="2042517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8" name="Google Shape;798;p11"/>
          <p:cNvSpPr/>
          <p:nvPr/>
        </p:nvSpPr>
        <p:spPr>
          <a:xfrm>
            <a:off x="2564606" y="2786360"/>
            <a:ext cx="1310878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9" name="Google Shape;799;p11"/>
          <p:cNvCxnSpPr/>
          <p:nvPr/>
        </p:nvCxnSpPr>
        <p:spPr>
          <a:xfrm>
            <a:off x="2564606" y="2791123"/>
            <a:ext cx="131087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11"/>
          <p:cNvCxnSpPr/>
          <p:nvPr/>
        </p:nvCxnSpPr>
        <p:spPr>
          <a:xfrm>
            <a:off x="2569369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11"/>
          <p:cNvSpPr/>
          <p:nvPr/>
        </p:nvSpPr>
        <p:spPr>
          <a:xfrm>
            <a:off x="3875484" y="2786360"/>
            <a:ext cx="1011436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2" name="Google Shape;802;p11"/>
          <p:cNvCxnSpPr/>
          <p:nvPr/>
        </p:nvCxnSpPr>
        <p:spPr>
          <a:xfrm>
            <a:off x="3875484" y="2791123"/>
            <a:ext cx="101143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3" name="Google Shape;803;p11"/>
          <p:cNvCxnSpPr/>
          <p:nvPr/>
        </p:nvCxnSpPr>
        <p:spPr>
          <a:xfrm>
            <a:off x="3880247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4" name="Google Shape;804;p11"/>
          <p:cNvSpPr/>
          <p:nvPr/>
        </p:nvSpPr>
        <p:spPr>
          <a:xfrm>
            <a:off x="4886920" y="2786360"/>
            <a:ext cx="1057573" cy="23068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5" name="Google Shape;805;p11"/>
          <p:cNvCxnSpPr/>
          <p:nvPr/>
        </p:nvCxnSpPr>
        <p:spPr>
          <a:xfrm>
            <a:off x="4886920" y="2791123"/>
            <a:ext cx="105757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6" name="Google Shape;806;p11"/>
          <p:cNvCxnSpPr/>
          <p:nvPr/>
        </p:nvCxnSpPr>
        <p:spPr>
          <a:xfrm>
            <a:off x="4891683" y="2786360"/>
            <a:ext cx="0" cy="230684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7" name="Google Shape;807;p11"/>
          <p:cNvSpPr/>
          <p:nvPr/>
        </p:nvSpPr>
        <p:spPr>
          <a:xfrm>
            <a:off x="404812" y="3017044"/>
            <a:ext cx="1632942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8" name="Google Shape;808;p11"/>
          <p:cNvCxnSpPr/>
          <p:nvPr/>
        </p:nvCxnSpPr>
        <p:spPr>
          <a:xfrm>
            <a:off x="404812" y="3021806"/>
            <a:ext cx="1632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p11"/>
          <p:cNvCxnSpPr/>
          <p:nvPr/>
        </p:nvCxnSpPr>
        <p:spPr>
          <a:xfrm>
            <a:off x="409575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0" name="Google Shape;810;p11"/>
          <p:cNvSpPr/>
          <p:nvPr/>
        </p:nvSpPr>
        <p:spPr>
          <a:xfrm>
            <a:off x="2037755" y="3017044"/>
            <a:ext cx="526852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1" name="Google Shape;811;p11"/>
          <p:cNvCxnSpPr/>
          <p:nvPr/>
        </p:nvCxnSpPr>
        <p:spPr>
          <a:xfrm>
            <a:off x="2037755" y="3021806"/>
            <a:ext cx="52685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p11"/>
          <p:cNvCxnSpPr/>
          <p:nvPr/>
        </p:nvCxnSpPr>
        <p:spPr>
          <a:xfrm>
            <a:off x="2042517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3" name="Google Shape;813;p11"/>
          <p:cNvSpPr/>
          <p:nvPr/>
        </p:nvSpPr>
        <p:spPr>
          <a:xfrm>
            <a:off x="2564606" y="3017044"/>
            <a:ext cx="1310878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4" name="Google Shape;814;p11"/>
          <p:cNvCxnSpPr/>
          <p:nvPr/>
        </p:nvCxnSpPr>
        <p:spPr>
          <a:xfrm>
            <a:off x="2564606" y="3021806"/>
            <a:ext cx="131087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11"/>
          <p:cNvCxnSpPr/>
          <p:nvPr/>
        </p:nvCxnSpPr>
        <p:spPr>
          <a:xfrm>
            <a:off x="2569369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6" name="Google Shape;816;p11"/>
          <p:cNvSpPr/>
          <p:nvPr/>
        </p:nvSpPr>
        <p:spPr>
          <a:xfrm>
            <a:off x="3875484" y="3017044"/>
            <a:ext cx="1011436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7" name="Google Shape;817;p11"/>
          <p:cNvCxnSpPr/>
          <p:nvPr/>
        </p:nvCxnSpPr>
        <p:spPr>
          <a:xfrm>
            <a:off x="3875484" y="3021806"/>
            <a:ext cx="10114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11"/>
          <p:cNvCxnSpPr/>
          <p:nvPr/>
        </p:nvCxnSpPr>
        <p:spPr>
          <a:xfrm>
            <a:off x="3880247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9" name="Google Shape;819;p11"/>
          <p:cNvSpPr/>
          <p:nvPr/>
        </p:nvSpPr>
        <p:spPr>
          <a:xfrm>
            <a:off x="4886920" y="3017044"/>
            <a:ext cx="1057573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0" name="Google Shape;820;p11"/>
          <p:cNvCxnSpPr/>
          <p:nvPr/>
        </p:nvCxnSpPr>
        <p:spPr>
          <a:xfrm>
            <a:off x="4886920" y="3021806"/>
            <a:ext cx="105757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p11"/>
          <p:cNvCxnSpPr/>
          <p:nvPr/>
        </p:nvCxnSpPr>
        <p:spPr>
          <a:xfrm>
            <a:off x="4891683" y="3017044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2" name="Google Shape;822;p11"/>
          <p:cNvSpPr/>
          <p:nvPr/>
        </p:nvSpPr>
        <p:spPr>
          <a:xfrm>
            <a:off x="404812" y="3233142"/>
            <a:ext cx="1632942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3" name="Google Shape;823;p11"/>
          <p:cNvCxnSpPr/>
          <p:nvPr/>
        </p:nvCxnSpPr>
        <p:spPr>
          <a:xfrm>
            <a:off x="404812" y="3237905"/>
            <a:ext cx="1632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4" name="Google Shape;824;p11"/>
          <p:cNvCxnSpPr/>
          <p:nvPr/>
        </p:nvCxnSpPr>
        <p:spPr>
          <a:xfrm>
            <a:off x="409575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p11"/>
          <p:cNvSpPr/>
          <p:nvPr/>
        </p:nvSpPr>
        <p:spPr>
          <a:xfrm>
            <a:off x="2037755" y="3233142"/>
            <a:ext cx="526852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6" name="Google Shape;826;p11"/>
          <p:cNvCxnSpPr/>
          <p:nvPr/>
        </p:nvCxnSpPr>
        <p:spPr>
          <a:xfrm>
            <a:off x="2037755" y="3237905"/>
            <a:ext cx="52685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p11"/>
          <p:cNvCxnSpPr/>
          <p:nvPr/>
        </p:nvCxnSpPr>
        <p:spPr>
          <a:xfrm>
            <a:off x="2042517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8" name="Google Shape;828;p11"/>
          <p:cNvSpPr/>
          <p:nvPr/>
        </p:nvSpPr>
        <p:spPr>
          <a:xfrm>
            <a:off x="2564606" y="3233142"/>
            <a:ext cx="1310878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9" name="Google Shape;829;p11"/>
          <p:cNvCxnSpPr/>
          <p:nvPr/>
        </p:nvCxnSpPr>
        <p:spPr>
          <a:xfrm>
            <a:off x="2564606" y="3237905"/>
            <a:ext cx="131087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11"/>
          <p:cNvCxnSpPr/>
          <p:nvPr/>
        </p:nvCxnSpPr>
        <p:spPr>
          <a:xfrm>
            <a:off x="2569369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1" name="Google Shape;831;p11"/>
          <p:cNvSpPr/>
          <p:nvPr/>
        </p:nvSpPr>
        <p:spPr>
          <a:xfrm>
            <a:off x="3875484" y="3233142"/>
            <a:ext cx="1011436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2" name="Google Shape;832;p11"/>
          <p:cNvCxnSpPr/>
          <p:nvPr/>
        </p:nvCxnSpPr>
        <p:spPr>
          <a:xfrm>
            <a:off x="3875484" y="3237905"/>
            <a:ext cx="10114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3" name="Google Shape;833;p11"/>
          <p:cNvCxnSpPr/>
          <p:nvPr/>
        </p:nvCxnSpPr>
        <p:spPr>
          <a:xfrm>
            <a:off x="3880247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4" name="Google Shape;834;p11"/>
          <p:cNvSpPr/>
          <p:nvPr/>
        </p:nvSpPr>
        <p:spPr>
          <a:xfrm>
            <a:off x="4886920" y="3233142"/>
            <a:ext cx="1057573" cy="21609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" name="Google Shape;835;p11"/>
          <p:cNvCxnSpPr/>
          <p:nvPr/>
        </p:nvCxnSpPr>
        <p:spPr>
          <a:xfrm>
            <a:off x="4886920" y="3237905"/>
            <a:ext cx="105757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6" name="Google Shape;836;p11"/>
          <p:cNvCxnSpPr/>
          <p:nvPr/>
        </p:nvCxnSpPr>
        <p:spPr>
          <a:xfrm>
            <a:off x="4891683" y="3233142"/>
            <a:ext cx="0" cy="216099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7" name="Google Shape;837;p11"/>
          <p:cNvSpPr/>
          <p:nvPr/>
        </p:nvSpPr>
        <p:spPr>
          <a:xfrm>
            <a:off x="404812" y="3449241"/>
            <a:ext cx="1632942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" name="Google Shape;838;p11"/>
          <p:cNvCxnSpPr/>
          <p:nvPr/>
        </p:nvCxnSpPr>
        <p:spPr>
          <a:xfrm>
            <a:off x="404812" y="3454003"/>
            <a:ext cx="1632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11"/>
          <p:cNvCxnSpPr/>
          <p:nvPr/>
        </p:nvCxnSpPr>
        <p:spPr>
          <a:xfrm>
            <a:off x="409575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11"/>
          <p:cNvSpPr/>
          <p:nvPr/>
        </p:nvSpPr>
        <p:spPr>
          <a:xfrm>
            <a:off x="2037755" y="3449241"/>
            <a:ext cx="526852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" name="Google Shape;841;p11"/>
          <p:cNvCxnSpPr/>
          <p:nvPr/>
        </p:nvCxnSpPr>
        <p:spPr>
          <a:xfrm>
            <a:off x="2037755" y="3454003"/>
            <a:ext cx="52685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2" name="Google Shape;842;p11"/>
          <p:cNvCxnSpPr/>
          <p:nvPr/>
        </p:nvCxnSpPr>
        <p:spPr>
          <a:xfrm>
            <a:off x="2042517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3" name="Google Shape;843;p11"/>
          <p:cNvSpPr/>
          <p:nvPr/>
        </p:nvSpPr>
        <p:spPr>
          <a:xfrm>
            <a:off x="2564606" y="3449241"/>
            <a:ext cx="1310878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4" name="Google Shape;844;p11"/>
          <p:cNvCxnSpPr/>
          <p:nvPr/>
        </p:nvCxnSpPr>
        <p:spPr>
          <a:xfrm>
            <a:off x="2564606" y="3454003"/>
            <a:ext cx="131087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p11"/>
          <p:cNvCxnSpPr/>
          <p:nvPr/>
        </p:nvCxnSpPr>
        <p:spPr>
          <a:xfrm>
            <a:off x="2569369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6" name="Google Shape;846;p11"/>
          <p:cNvSpPr/>
          <p:nvPr/>
        </p:nvSpPr>
        <p:spPr>
          <a:xfrm>
            <a:off x="3875484" y="3449241"/>
            <a:ext cx="1011436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11"/>
          <p:cNvCxnSpPr/>
          <p:nvPr/>
        </p:nvCxnSpPr>
        <p:spPr>
          <a:xfrm>
            <a:off x="3875484" y="3454003"/>
            <a:ext cx="10114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11"/>
          <p:cNvCxnSpPr/>
          <p:nvPr/>
        </p:nvCxnSpPr>
        <p:spPr>
          <a:xfrm>
            <a:off x="3880247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9" name="Google Shape;849;p11"/>
          <p:cNvSpPr/>
          <p:nvPr/>
        </p:nvSpPr>
        <p:spPr>
          <a:xfrm>
            <a:off x="4886920" y="3449241"/>
            <a:ext cx="1057573" cy="216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0" name="Google Shape;850;p11"/>
          <p:cNvCxnSpPr/>
          <p:nvPr/>
        </p:nvCxnSpPr>
        <p:spPr>
          <a:xfrm>
            <a:off x="4886920" y="3454003"/>
            <a:ext cx="105757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11"/>
          <p:cNvCxnSpPr/>
          <p:nvPr/>
        </p:nvCxnSpPr>
        <p:spPr>
          <a:xfrm>
            <a:off x="4891683" y="3449241"/>
            <a:ext cx="0" cy="21609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2" name="Google Shape;852;p11"/>
          <p:cNvSpPr/>
          <p:nvPr/>
        </p:nvSpPr>
        <p:spPr>
          <a:xfrm>
            <a:off x="995065" y="4313039"/>
            <a:ext cx="4359176" cy="1044773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1"/>
          <p:cNvSpPr/>
          <p:nvPr/>
        </p:nvSpPr>
        <p:spPr>
          <a:xfrm>
            <a:off x="999827" y="4317802"/>
            <a:ext cx="2000994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4" name="Google Shape;854;p11"/>
          <p:cNvCxnSpPr/>
          <p:nvPr/>
        </p:nvCxnSpPr>
        <p:spPr>
          <a:xfrm>
            <a:off x="999827" y="4322564"/>
            <a:ext cx="200099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5" name="Google Shape;855;p11"/>
          <p:cNvCxnSpPr/>
          <p:nvPr/>
        </p:nvCxnSpPr>
        <p:spPr>
          <a:xfrm>
            <a:off x="1004590" y="4317802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56" name="Google Shape;856;p11"/>
          <p:cNvSpPr/>
          <p:nvPr/>
        </p:nvSpPr>
        <p:spPr>
          <a:xfrm>
            <a:off x="3000821" y="4317802"/>
            <a:ext cx="1240780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7" name="Google Shape;857;p11"/>
          <p:cNvCxnSpPr/>
          <p:nvPr/>
        </p:nvCxnSpPr>
        <p:spPr>
          <a:xfrm>
            <a:off x="3000821" y="4322564"/>
            <a:ext cx="1240781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58" name="Google Shape;858;p11"/>
          <p:cNvCxnSpPr/>
          <p:nvPr/>
        </p:nvCxnSpPr>
        <p:spPr>
          <a:xfrm>
            <a:off x="3005584" y="4317802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59" name="Google Shape;859;p11"/>
          <p:cNvSpPr/>
          <p:nvPr/>
        </p:nvSpPr>
        <p:spPr>
          <a:xfrm>
            <a:off x="4241602" y="4317802"/>
            <a:ext cx="1107877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0" name="Google Shape;860;p11"/>
          <p:cNvCxnSpPr/>
          <p:nvPr/>
        </p:nvCxnSpPr>
        <p:spPr>
          <a:xfrm>
            <a:off x="4241602" y="4322564"/>
            <a:ext cx="11078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1" name="Google Shape;861;p11"/>
          <p:cNvCxnSpPr/>
          <p:nvPr/>
        </p:nvCxnSpPr>
        <p:spPr>
          <a:xfrm>
            <a:off x="4246364" y="4317802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62" name="Google Shape;862;p11"/>
          <p:cNvSpPr/>
          <p:nvPr/>
        </p:nvSpPr>
        <p:spPr>
          <a:xfrm>
            <a:off x="999827" y="4576614"/>
            <a:ext cx="2000994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3" name="Google Shape;863;p11"/>
          <p:cNvCxnSpPr/>
          <p:nvPr/>
        </p:nvCxnSpPr>
        <p:spPr>
          <a:xfrm>
            <a:off x="999827" y="4581376"/>
            <a:ext cx="200099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4" name="Google Shape;864;p11"/>
          <p:cNvCxnSpPr/>
          <p:nvPr/>
        </p:nvCxnSpPr>
        <p:spPr>
          <a:xfrm>
            <a:off x="1004590" y="4576614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65" name="Google Shape;865;p11"/>
          <p:cNvSpPr/>
          <p:nvPr/>
        </p:nvSpPr>
        <p:spPr>
          <a:xfrm>
            <a:off x="3000821" y="4576614"/>
            <a:ext cx="1240780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6" name="Google Shape;866;p11"/>
          <p:cNvCxnSpPr/>
          <p:nvPr/>
        </p:nvCxnSpPr>
        <p:spPr>
          <a:xfrm>
            <a:off x="3000821" y="4581376"/>
            <a:ext cx="1240781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67" name="Google Shape;867;p11"/>
          <p:cNvCxnSpPr/>
          <p:nvPr/>
        </p:nvCxnSpPr>
        <p:spPr>
          <a:xfrm>
            <a:off x="3005584" y="4576614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68" name="Google Shape;868;p11"/>
          <p:cNvSpPr/>
          <p:nvPr/>
        </p:nvSpPr>
        <p:spPr>
          <a:xfrm>
            <a:off x="4241602" y="4576614"/>
            <a:ext cx="1107877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9" name="Google Shape;869;p11"/>
          <p:cNvCxnSpPr/>
          <p:nvPr/>
        </p:nvCxnSpPr>
        <p:spPr>
          <a:xfrm>
            <a:off x="4241602" y="4581376"/>
            <a:ext cx="11078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0" name="Google Shape;870;p11"/>
          <p:cNvCxnSpPr/>
          <p:nvPr/>
        </p:nvCxnSpPr>
        <p:spPr>
          <a:xfrm>
            <a:off x="4246364" y="4576614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1" name="Google Shape;871;p11"/>
          <p:cNvSpPr/>
          <p:nvPr/>
        </p:nvSpPr>
        <p:spPr>
          <a:xfrm>
            <a:off x="999827" y="4835426"/>
            <a:ext cx="2000994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2" name="Google Shape;872;p11"/>
          <p:cNvCxnSpPr/>
          <p:nvPr/>
        </p:nvCxnSpPr>
        <p:spPr>
          <a:xfrm>
            <a:off x="999827" y="4840188"/>
            <a:ext cx="200099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3" name="Google Shape;873;p11"/>
          <p:cNvCxnSpPr/>
          <p:nvPr/>
        </p:nvCxnSpPr>
        <p:spPr>
          <a:xfrm>
            <a:off x="1004590" y="4835426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4" name="Google Shape;874;p11"/>
          <p:cNvSpPr/>
          <p:nvPr/>
        </p:nvSpPr>
        <p:spPr>
          <a:xfrm>
            <a:off x="3000821" y="4835426"/>
            <a:ext cx="1240780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5" name="Google Shape;875;p11"/>
          <p:cNvCxnSpPr/>
          <p:nvPr/>
        </p:nvCxnSpPr>
        <p:spPr>
          <a:xfrm>
            <a:off x="3000821" y="4840188"/>
            <a:ext cx="1240781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6" name="Google Shape;876;p11"/>
          <p:cNvCxnSpPr/>
          <p:nvPr/>
        </p:nvCxnSpPr>
        <p:spPr>
          <a:xfrm>
            <a:off x="3005584" y="4835426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77" name="Google Shape;877;p11"/>
          <p:cNvSpPr/>
          <p:nvPr/>
        </p:nvSpPr>
        <p:spPr>
          <a:xfrm>
            <a:off x="4241602" y="4835426"/>
            <a:ext cx="1107877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8" name="Google Shape;878;p11"/>
          <p:cNvCxnSpPr/>
          <p:nvPr/>
        </p:nvCxnSpPr>
        <p:spPr>
          <a:xfrm>
            <a:off x="4241602" y="4840188"/>
            <a:ext cx="11078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79" name="Google Shape;879;p11"/>
          <p:cNvCxnSpPr/>
          <p:nvPr/>
        </p:nvCxnSpPr>
        <p:spPr>
          <a:xfrm>
            <a:off x="4246364" y="4835426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0" name="Google Shape;880;p11"/>
          <p:cNvSpPr/>
          <p:nvPr/>
        </p:nvSpPr>
        <p:spPr>
          <a:xfrm>
            <a:off x="999827" y="5094238"/>
            <a:ext cx="2000994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1" name="Google Shape;881;p11"/>
          <p:cNvCxnSpPr/>
          <p:nvPr/>
        </p:nvCxnSpPr>
        <p:spPr>
          <a:xfrm>
            <a:off x="999827" y="5099000"/>
            <a:ext cx="200099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2" name="Google Shape;882;p11"/>
          <p:cNvCxnSpPr/>
          <p:nvPr/>
        </p:nvCxnSpPr>
        <p:spPr>
          <a:xfrm>
            <a:off x="1004590" y="5094238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3" name="Google Shape;883;p11"/>
          <p:cNvSpPr/>
          <p:nvPr/>
        </p:nvSpPr>
        <p:spPr>
          <a:xfrm>
            <a:off x="3000821" y="5094238"/>
            <a:ext cx="1240780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4" name="Google Shape;884;p11"/>
          <p:cNvCxnSpPr/>
          <p:nvPr/>
        </p:nvCxnSpPr>
        <p:spPr>
          <a:xfrm>
            <a:off x="3000821" y="5099000"/>
            <a:ext cx="1240781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5" name="Google Shape;885;p11"/>
          <p:cNvCxnSpPr/>
          <p:nvPr/>
        </p:nvCxnSpPr>
        <p:spPr>
          <a:xfrm>
            <a:off x="3005584" y="5094238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6" name="Google Shape;886;p11"/>
          <p:cNvSpPr/>
          <p:nvPr/>
        </p:nvSpPr>
        <p:spPr>
          <a:xfrm>
            <a:off x="4241602" y="5094238"/>
            <a:ext cx="1107877" cy="258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7" name="Google Shape;887;p11"/>
          <p:cNvCxnSpPr/>
          <p:nvPr/>
        </p:nvCxnSpPr>
        <p:spPr>
          <a:xfrm>
            <a:off x="4241602" y="5099000"/>
            <a:ext cx="1107876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888" name="Google Shape;888;p11"/>
          <p:cNvCxnSpPr/>
          <p:nvPr/>
        </p:nvCxnSpPr>
        <p:spPr>
          <a:xfrm>
            <a:off x="4246364" y="5094238"/>
            <a:ext cx="0" cy="258812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89" name="Google Shape;889;p11"/>
          <p:cNvSpPr/>
          <p:nvPr/>
        </p:nvSpPr>
        <p:spPr>
          <a:xfrm>
            <a:off x="6242596" y="4543276"/>
            <a:ext cx="5549354" cy="1294954"/>
          </a:xfrm>
          <a:prstGeom prst="roundRect">
            <a:avLst>
              <a:gd fmla="val 3677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0" name="Google Shape;890;p11"/>
          <p:cNvCxnSpPr/>
          <p:nvPr/>
        </p:nvCxnSpPr>
        <p:spPr>
          <a:xfrm>
            <a:off x="6266408" y="4543276"/>
            <a:ext cx="0" cy="1294954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1" name="Google Shape;891;p11"/>
          <p:cNvSpPr/>
          <p:nvPr/>
        </p:nvSpPr>
        <p:spPr>
          <a:xfrm>
            <a:off x="6242596" y="5941219"/>
            <a:ext cx="5549354" cy="1440359"/>
          </a:xfrm>
          <a:prstGeom prst="roundRect">
            <a:avLst>
              <a:gd fmla="val 3306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2" name="Google Shape;892;p11"/>
          <p:cNvCxnSpPr/>
          <p:nvPr/>
        </p:nvCxnSpPr>
        <p:spPr>
          <a:xfrm>
            <a:off x="6266408" y="5941219"/>
            <a:ext cx="0" cy="1440358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p11"/>
          <p:cNvSpPr/>
          <p:nvPr/>
        </p:nvSpPr>
        <p:spPr>
          <a:xfrm>
            <a:off x="6418957" y="6240661"/>
            <a:ext cx="639217" cy="187077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9b9a5fcdf6640c0b408720426766943.png" id="894" name="Google Shape;8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1940" y="715566"/>
            <a:ext cx="5090517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11"/>
          <p:cNvSpPr txBox="1"/>
          <p:nvPr/>
        </p:nvSpPr>
        <p:spPr>
          <a:xfrm>
            <a:off x="400050" y="161925"/>
            <a:ext cx="218063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por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1"/>
          <p:cNvSpPr txBox="1"/>
          <p:nvPr/>
        </p:nvSpPr>
        <p:spPr>
          <a:xfrm>
            <a:off x="438150" y="2820442"/>
            <a:ext cx="523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1"/>
          <p:cNvSpPr txBox="1"/>
          <p:nvPr/>
        </p:nvSpPr>
        <p:spPr>
          <a:xfrm>
            <a:off x="2075497" y="2820442"/>
            <a:ext cx="4505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1"/>
          <p:cNvSpPr txBox="1"/>
          <p:nvPr/>
        </p:nvSpPr>
        <p:spPr>
          <a:xfrm>
            <a:off x="2602221" y="2820450"/>
            <a:ext cx="639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Média ± DP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1"/>
          <p:cNvSpPr txBox="1"/>
          <p:nvPr/>
        </p:nvSpPr>
        <p:spPr>
          <a:xfrm>
            <a:off x="3913827" y="2820450"/>
            <a:ext cx="473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"/>
          <p:cNvSpPr txBox="1"/>
          <p:nvPr/>
        </p:nvSpPr>
        <p:spPr>
          <a:xfrm>
            <a:off x="4925377" y="2820442"/>
            <a:ext cx="3857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Q1–Q3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1"/>
          <p:cNvSpPr txBox="1"/>
          <p:nvPr/>
        </p:nvSpPr>
        <p:spPr>
          <a:xfrm>
            <a:off x="438150" y="3043825"/>
            <a:ext cx="7935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11"/>
          <p:cNvSpPr txBox="1"/>
          <p:nvPr/>
        </p:nvSpPr>
        <p:spPr>
          <a:xfrm>
            <a:off x="2075497" y="3043833"/>
            <a:ext cx="4505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1"/>
          <p:cNvSpPr txBox="1"/>
          <p:nvPr/>
        </p:nvSpPr>
        <p:spPr>
          <a:xfrm>
            <a:off x="2602220" y="3043825"/>
            <a:ext cx="7029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59.4 ± 13.5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1"/>
          <p:cNvSpPr txBox="1"/>
          <p:nvPr/>
        </p:nvSpPr>
        <p:spPr>
          <a:xfrm>
            <a:off x="3913822" y="3043833"/>
            <a:ext cx="28956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1"/>
          <p:cNvSpPr txBox="1"/>
          <p:nvPr/>
        </p:nvSpPr>
        <p:spPr>
          <a:xfrm>
            <a:off x="4925375" y="3043825"/>
            <a:ext cx="526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51.8–69.0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1"/>
          <p:cNvSpPr txBox="1"/>
          <p:nvPr/>
        </p:nvSpPr>
        <p:spPr>
          <a:xfrm>
            <a:off x="438150" y="3259925"/>
            <a:ext cx="101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1"/>
          <p:cNvSpPr txBox="1"/>
          <p:nvPr/>
        </p:nvSpPr>
        <p:spPr>
          <a:xfrm>
            <a:off x="2075497" y="3259931"/>
            <a:ext cx="4505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1"/>
          <p:cNvSpPr txBox="1"/>
          <p:nvPr/>
        </p:nvSpPr>
        <p:spPr>
          <a:xfrm>
            <a:off x="2602221" y="3259925"/>
            <a:ext cx="628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61.7 ± 16.1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1"/>
          <p:cNvSpPr txBox="1"/>
          <p:nvPr/>
        </p:nvSpPr>
        <p:spPr>
          <a:xfrm>
            <a:off x="3913822" y="3259931"/>
            <a:ext cx="28956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68.5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11"/>
          <p:cNvSpPr txBox="1"/>
          <p:nvPr/>
        </p:nvSpPr>
        <p:spPr>
          <a:xfrm>
            <a:off x="4925375" y="3259925"/>
            <a:ext cx="4947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52.2–74.5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11"/>
          <p:cNvSpPr txBox="1"/>
          <p:nvPr/>
        </p:nvSpPr>
        <p:spPr>
          <a:xfrm>
            <a:off x="438150" y="3476025"/>
            <a:ext cx="8250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11"/>
          <p:cNvSpPr txBox="1"/>
          <p:nvPr/>
        </p:nvSpPr>
        <p:spPr>
          <a:xfrm>
            <a:off x="2075497" y="3476030"/>
            <a:ext cx="4505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1"/>
          <p:cNvSpPr txBox="1"/>
          <p:nvPr/>
        </p:nvSpPr>
        <p:spPr>
          <a:xfrm>
            <a:off x="2602221" y="3476025"/>
            <a:ext cx="623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53.7 ± 11.1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1"/>
          <p:cNvSpPr txBox="1"/>
          <p:nvPr/>
        </p:nvSpPr>
        <p:spPr>
          <a:xfrm>
            <a:off x="3913822" y="3476030"/>
            <a:ext cx="28956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1"/>
          <p:cNvSpPr txBox="1"/>
          <p:nvPr/>
        </p:nvSpPr>
        <p:spPr>
          <a:xfrm>
            <a:off x="4925375" y="3476025"/>
            <a:ext cx="589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7"/>
              <a:buFont typeface="Arial"/>
              <a:buNone/>
            </a:pPr>
            <a:r>
              <a:rPr b="0" i="0" lang="en-US" sz="95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45.0–65.0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1"/>
          <p:cNvSpPr txBox="1"/>
          <p:nvPr/>
        </p:nvSpPr>
        <p:spPr>
          <a:xfrm>
            <a:off x="438150" y="3841550"/>
            <a:ext cx="702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1"/>
          <p:cNvSpPr txBox="1"/>
          <p:nvPr/>
        </p:nvSpPr>
        <p:spPr>
          <a:xfrm>
            <a:off x="1038225" y="4342358"/>
            <a:ext cx="9610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1"/>
          <p:cNvSpPr txBox="1"/>
          <p:nvPr/>
        </p:nvSpPr>
        <p:spPr>
          <a:xfrm>
            <a:off x="3038475" y="4342358"/>
            <a:ext cx="7991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1"/>
          <p:cNvSpPr txBox="1"/>
          <p:nvPr/>
        </p:nvSpPr>
        <p:spPr>
          <a:xfrm>
            <a:off x="4925377" y="4342358"/>
            <a:ext cx="3857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1"/>
          <p:cNvSpPr txBox="1"/>
          <p:nvPr/>
        </p:nvSpPr>
        <p:spPr>
          <a:xfrm>
            <a:off x="1038225" y="4601175"/>
            <a:ext cx="1916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1"/>
          <p:cNvSpPr txBox="1"/>
          <p:nvPr/>
        </p:nvSpPr>
        <p:spPr>
          <a:xfrm>
            <a:off x="3038475" y="4601170"/>
            <a:ext cx="7991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1"/>
          <p:cNvSpPr txBox="1"/>
          <p:nvPr/>
        </p:nvSpPr>
        <p:spPr>
          <a:xfrm>
            <a:off x="4279572" y="4601175"/>
            <a:ext cx="79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1" i="0" lang="en-US" sz="115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3,96 × 10⁻⁶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11"/>
          <p:cNvSpPr txBox="1"/>
          <p:nvPr/>
        </p:nvSpPr>
        <p:spPr>
          <a:xfrm>
            <a:off x="1038225" y="4859975"/>
            <a:ext cx="1916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1"/>
          <p:cNvSpPr txBox="1"/>
          <p:nvPr/>
        </p:nvSpPr>
        <p:spPr>
          <a:xfrm>
            <a:off x="3038475" y="4859982"/>
            <a:ext cx="7991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1"/>
          <p:cNvSpPr txBox="1"/>
          <p:nvPr/>
        </p:nvSpPr>
        <p:spPr>
          <a:xfrm>
            <a:off x="4279582" y="4869595"/>
            <a:ext cx="569595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0,0438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1"/>
          <p:cNvSpPr txBox="1"/>
          <p:nvPr/>
        </p:nvSpPr>
        <p:spPr>
          <a:xfrm>
            <a:off x="1038225" y="5118795"/>
            <a:ext cx="9610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Três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11"/>
          <p:cNvSpPr txBox="1"/>
          <p:nvPr/>
        </p:nvSpPr>
        <p:spPr>
          <a:xfrm>
            <a:off x="3038475" y="5118800"/>
            <a:ext cx="1057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11"/>
          <p:cNvSpPr txBox="1"/>
          <p:nvPr/>
        </p:nvSpPr>
        <p:spPr>
          <a:xfrm>
            <a:off x="4279572" y="5118800"/>
            <a:ext cx="79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b="0" i="0" lang="en-US" sz="115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8,80 × 10⁻⁷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1"/>
          <p:cNvSpPr txBox="1"/>
          <p:nvPr/>
        </p:nvSpPr>
        <p:spPr>
          <a:xfrm>
            <a:off x="6304597" y="4269879"/>
            <a:ext cx="544925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3. Distribuição de idade por grupo (violino + boxplot).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1"/>
          <p:cNvSpPr txBox="1"/>
          <p:nvPr/>
        </p:nvSpPr>
        <p:spPr>
          <a:xfrm>
            <a:off x="6304600" y="4827799"/>
            <a:ext cx="54492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Tumores TCGA são ≡ 5,7 anos mais velhos que doadores GTEx. </a:t>
            </a:r>
            <a:r>
              <a:rPr lang="en-US" sz="148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idade do GTEx é o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 sz="1485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ponto médio da faixa etária</a:t>
            </a:r>
            <a:r>
              <a:rPr lang="en-US" sz="148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o que introduz erro de medida.</a:t>
            </a:r>
            <a:endParaRPr sz="1485">
              <a:solidFill>
                <a:srgbClr val="1E293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31" name="Google Shape;931;p11"/>
          <p:cNvSpPr txBox="1"/>
          <p:nvPr/>
        </p:nvSpPr>
        <p:spPr>
          <a:xfrm>
            <a:off x="6489353" y="6236643"/>
            <a:ext cx="536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b="1" i="0" lang="en-US" sz="110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1"/>
          <p:cNvSpPr txBox="1"/>
          <p:nvPr/>
        </p:nvSpPr>
        <p:spPr>
          <a:xfrm>
            <a:off x="7154614" y="6208068"/>
            <a:ext cx="7935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1"/>
          <p:cNvSpPr txBox="1"/>
          <p:nvPr/>
        </p:nvSpPr>
        <p:spPr>
          <a:xfrm>
            <a:off x="7957096" y="6208068"/>
            <a:ext cx="900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11"/>
          <p:cNvSpPr txBox="1"/>
          <p:nvPr/>
        </p:nvSpPr>
        <p:spPr>
          <a:xfrm>
            <a:off x="8009037" y="6227118"/>
            <a:ext cx="18503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stats::wilcox.test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11"/>
          <p:cNvSpPr txBox="1"/>
          <p:nvPr/>
        </p:nvSpPr>
        <p:spPr>
          <a:xfrm>
            <a:off x="9821317" y="6208068"/>
            <a:ext cx="17441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compara dois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1"/>
          <p:cNvSpPr txBox="1"/>
          <p:nvPr/>
        </p:nvSpPr>
        <p:spPr>
          <a:xfrm>
            <a:off x="6418957" y="6432352"/>
            <a:ext cx="27484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postos, sem exigir normalidade;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1"/>
          <p:cNvSpPr txBox="1"/>
          <p:nvPr/>
        </p:nvSpPr>
        <p:spPr>
          <a:xfrm>
            <a:off x="9176445" y="6432352"/>
            <a:ext cx="118526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1"/>
          <p:cNvSpPr txBox="1"/>
          <p:nvPr/>
        </p:nvSpPr>
        <p:spPr>
          <a:xfrm>
            <a:off x="6418957" y="6647111"/>
            <a:ext cx="900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1"/>
          <p:cNvSpPr txBox="1"/>
          <p:nvPr/>
        </p:nvSpPr>
        <p:spPr>
          <a:xfrm>
            <a:off x="6470898" y="6666161"/>
            <a:ext cx="19511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1"/>
          <p:cNvSpPr txBox="1"/>
          <p:nvPr/>
        </p:nvSpPr>
        <p:spPr>
          <a:xfrm>
            <a:off x="8383935" y="6647111"/>
            <a:ext cx="236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estende para três grupos. BH: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11"/>
          <p:cNvSpPr txBox="1"/>
          <p:nvPr/>
        </p:nvSpPr>
        <p:spPr>
          <a:xfrm>
            <a:off x="6418957" y="6890445"/>
            <a:ext cx="154840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11"/>
          <p:cNvSpPr txBox="1"/>
          <p:nvPr/>
        </p:nvSpPr>
        <p:spPr>
          <a:xfrm>
            <a:off x="7929265" y="6871395"/>
            <a:ext cx="75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7" name="Google Shape;947;p12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8" name="Google Shape;948;p12"/>
          <p:cNvSpPr/>
          <p:nvPr/>
        </p:nvSpPr>
        <p:spPr>
          <a:xfrm>
            <a:off x="400050" y="5541913"/>
            <a:ext cx="11391900" cy="903684"/>
          </a:xfrm>
          <a:prstGeom prst="roundRect">
            <a:avLst>
              <a:gd fmla="val 527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9b9a5fcdf6640c0b408720426766943.png" id="949" name="Google Shape;9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870" y="1095524"/>
            <a:ext cx="5503218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12"/>
          <p:cNvSpPr txBox="1"/>
          <p:nvPr/>
        </p:nvSpPr>
        <p:spPr>
          <a:xfrm>
            <a:off x="400050" y="161925"/>
            <a:ext cx="219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ler violino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2"/>
          <p:cNvSpPr txBox="1"/>
          <p:nvPr/>
        </p:nvSpPr>
        <p:spPr>
          <a:xfrm>
            <a:off x="1446907" y="4935587"/>
            <a:ext cx="494109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 (repetida para leitura). O violino mostra a distribuição completa; a caixa mostra os quartis.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2"/>
          <p:cNvSpPr txBox="1"/>
          <p:nvPr/>
        </p:nvSpPr>
        <p:spPr>
          <a:xfrm>
            <a:off x="7690247" y="887016"/>
            <a:ext cx="7395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Violino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2"/>
          <p:cNvSpPr txBox="1"/>
          <p:nvPr/>
        </p:nvSpPr>
        <p:spPr>
          <a:xfrm>
            <a:off x="7920633" y="1339453"/>
            <a:ext cx="263559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largura em cada altura é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2"/>
          <p:cNvSpPr txBox="1"/>
          <p:nvPr/>
        </p:nvSpPr>
        <p:spPr>
          <a:xfrm>
            <a:off x="10575429" y="1339453"/>
            <a:ext cx="104536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densidade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2"/>
          <p:cNvSpPr txBox="1"/>
          <p:nvPr/>
        </p:nvSpPr>
        <p:spPr>
          <a:xfrm>
            <a:off x="7920633" y="1601391"/>
            <a:ext cx="25174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amostras naquele valor.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12"/>
          <p:cNvSpPr txBox="1"/>
          <p:nvPr/>
        </p:nvSpPr>
        <p:spPr>
          <a:xfrm>
            <a:off x="7920633" y="1909316"/>
            <a:ext cx="39070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Mais largo = mais amostras naquela faixa.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12"/>
          <p:cNvSpPr txBox="1"/>
          <p:nvPr/>
        </p:nvSpPr>
        <p:spPr>
          <a:xfrm>
            <a:off x="7920633" y="2217241"/>
            <a:ext cx="36425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Cauda longa = assimetria; dois bojos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12"/>
          <p:cNvSpPr txBox="1"/>
          <p:nvPr/>
        </p:nvSpPr>
        <p:spPr>
          <a:xfrm>
            <a:off x="7920633" y="2479179"/>
            <a:ext cx="28936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possível mistura de subgrupos.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12"/>
          <p:cNvSpPr txBox="1"/>
          <p:nvPr/>
        </p:nvSpPr>
        <p:spPr>
          <a:xfrm>
            <a:off x="7690247" y="2977604"/>
            <a:ext cx="25799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Boxplot dentro do violino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12"/>
          <p:cNvSpPr txBox="1"/>
          <p:nvPr/>
        </p:nvSpPr>
        <p:spPr>
          <a:xfrm>
            <a:off x="7920633" y="3430042"/>
            <a:ext cx="7288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Caixa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12"/>
          <p:cNvSpPr txBox="1"/>
          <p:nvPr/>
        </p:nvSpPr>
        <p:spPr>
          <a:xfrm>
            <a:off x="8668792" y="3430042"/>
            <a:ext cx="8254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Q1 a 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2"/>
          <p:cNvSpPr txBox="1"/>
          <p:nvPr/>
        </p:nvSpPr>
        <p:spPr>
          <a:xfrm>
            <a:off x="9513391" y="3430042"/>
            <a:ext cx="155882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(50% central 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2"/>
          <p:cNvSpPr txBox="1"/>
          <p:nvPr/>
        </p:nvSpPr>
        <p:spPr>
          <a:xfrm>
            <a:off x="7920633" y="3691979"/>
            <a:ext cx="9850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12"/>
          <p:cNvSpPr txBox="1"/>
          <p:nvPr/>
        </p:nvSpPr>
        <p:spPr>
          <a:xfrm>
            <a:off x="7920633" y="3999905"/>
            <a:ext cx="141565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Linha central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12"/>
          <p:cNvSpPr txBox="1"/>
          <p:nvPr/>
        </p:nvSpPr>
        <p:spPr>
          <a:xfrm>
            <a:off x="9355634" y="3999905"/>
            <a:ext cx="8850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2"/>
          <p:cNvSpPr txBox="1"/>
          <p:nvPr/>
        </p:nvSpPr>
        <p:spPr>
          <a:xfrm>
            <a:off x="10202614" y="3999905"/>
            <a:ext cx="83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12"/>
          <p:cNvSpPr txBox="1"/>
          <p:nvPr/>
        </p:nvSpPr>
        <p:spPr>
          <a:xfrm>
            <a:off x="7920625" y="4307825"/>
            <a:ext cx="279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Bigodes (</a:t>
            </a:r>
            <a:r>
              <a:rPr b="0" i="1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whisker</a:t>
            </a: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 = </a:t>
            </a:r>
            <a:r>
              <a:rPr b="1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1,5 x IQT</a:t>
            </a: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12"/>
          <p:cNvSpPr txBox="1"/>
          <p:nvPr/>
        </p:nvSpPr>
        <p:spPr>
          <a:xfrm>
            <a:off x="10637518" y="4317268"/>
            <a:ext cx="149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pontos além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12"/>
          <p:cNvSpPr txBox="1"/>
          <p:nvPr/>
        </p:nvSpPr>
        <p:spPr>
          <a:xfrm>
            <a:off x="7920633" y="4569768"/>
            <a:ext cx="7838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outliers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12"/>
          <p:cNvSpPr txBox="1"/>
          <p:nvPr/>
        </p:nvSpPr>
        <p:spPr>
          <a:xfrm>
            <a:off x="8666411" y="4569768"/>
            <a:ext cx="83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12"/>
          <p:cNvSpPr txBox="1"/>
          <p:nvPr/>
        </p:nvSpPr>
        <p:spPr>
          <a:xfrm>
            <a:off x="7920633" y="4877693"/>
            <a:ext cx="28271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Cada ponto (quando visível)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2"/>
          <p:cNvSpPr txBox="1"/>
          <p:nvPr/>
        </p:nvSpPr>
        <p:spPr>
          <a:xfrm>
            <a:off x="10767120" y="4877693"/>
            <a:ext cx="4697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12"/>
          <p:cNvSpPr txBox="1"/>
          <p:nvPr/>
        </p:nvSpPr>
        <p:spPr>
          <a:xfrm>
            <a:off x="7920633" y="5139630"/>
            <a:ext cx="8408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12"/>
          <p:cNvSpPr txBox="1"/>
          <p:nvPr/>
        </p:nvSpPr>
        <p:spPr>
          <a:xfrm>
            <a:off x="8723412" y="5139630"/>
            <a:ext cx="26524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 a área do violino não é o 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2"/>
          <p:cNvSpPr txBox="1"/>
          <p:nvPr/>
        </p:nvSpPr>
        <p:spPr>
          <a:xfrm>
            <a:off x="507504" y="5795665"/>
            <a:ext cx="7280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ler: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12"/>
          <p:cNvSpPr txBox="1"/>
          <p:nvPr/>
        </p:nvSpPr>
        <p:spPr>
          <a:xfrm>
            <a:off x="1238696" y="5795665"/>
            <a:ext cx="74116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2"/>
          <p:cNvSpPr txBox="1"/>
          <p:nvPr/>
        </p:nvSpPr>
        <p:spPr>
          <a:xfrm>
            <a:off x="1983135" y="5795665"/>
            <a:ext cx="6101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12"/>
          <p:cNvSpPr txBox="1"/>
          <p:nvPr/>
        </p:nvSpPr>
        <p:spPr>
          <a:xfrm>
            <a:off x="2596455" y="5795665"/>
            <a:ext cx="23529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12"/>
          <p:cNvSpPr txBox="1"/>
          <p:nvPr/>
        </p:nvSpPr>
        <p:spPr>
          <a:xfrm>
            <a:off x="2835027" y="5795665"/>
            <a:ext cx="42832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12"/>
          <p:cNvSpPr txBox="1"/>
          <p:nvPr/>
        </p:nvSpPr>
        <p:spPr>
          <a:xfrm>
            <a:off x="3266480" y="5795665"/>
            <a:ext cx="182359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 distribuições. O violino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12"/>
          <p:cNvSpPr txBox="1"/>
          <p:nvPr/>
        </p:nvSpPr>
        <p:spPr>
          <a:xfrm>
            <a:off x="5093345" y="5795665"/>
            <a:ext cx="9557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IC 95%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2"/>
          <p:cNvSpPr txBox="1"/>
          <p:nvPr/>
        </p:nvSpPr>
        <p:spPr>
          <a:xfrm>
            <a:off x="6052245" y="5795665"/>
            <a:ext cx="54682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não substitui o teste; o p vem do Wilcoxon/Kruskal-Wallis. Sobreposição grande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2"/>
          <p:cNvSpPr txBox="1"/>
          <p:nvPr/>
        </p:nvSpPr>
        <p:spPr>
          <a:xfrm>
            <a:off x="507504" y="5984230"/>
            <a:ext cx="157772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sugere efeito pequeno.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2"/>
          <p:cNvSpPr/>
          <p:nvPr/>
        </p:nvSpPr>
        <p:spPr>
          <a:xfrm>
            <a:off x="7717369" y="14562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2"/>
          <p:cNvSpPr/>
          <p:nvPr/>
        </p:nvSpPr>
        <p:spPr>
          <a:xfrm>
            <a:off x="7717369" y="2026093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2"/>
          <p:cNvSpPr/>
          <p:nvPr/>
        </p:nvSpPr>
        <p:spPr>
          <a:xfrm>
            <a:off x="7717369" y="2334018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2"/>
          <p:cNvSpPr/>
          <p:nvPr/>
        </p:nvSpPr>
        <p:spPr>
          <a:xfrm>
            <a:off x="7717369" y="3546818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2"/>
          <p:cNvSpPr/>
          <p:nvPr/>
        </p:nvSpPr>
        <p:spPr>
          <a:xfrm>
            <a:off x="7717369" y="4116681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2"/>
          <p:cNvSpPr/>
          <p:nvPr/>
        </p:nvSpPr>
        <p:spPr>
          <a:xfrm>
            <a:off x="7717369" y="4424607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2"/>
          <p:cNvSpPr/>
          <p:nvPr/>
        </p:nvSpPr>
        <p:spPr>
          <a:xfrm>
            <a:off x="7717369" y="4994469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3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6" name="Google Shape;996;p13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7" name="Google Shape;997;p13"/>
          <p:cNvSpPr/>
          <p:nvPr/>
        </p:nvSpPr>
        <p:spPr>
          <a:xfrm>
            <a:off x="400050" y="5124301"/>
            <a:ext cx="11391900" cy="1059359"/>
          </a:xfrm>
          <a:prstGeom prst="roundRect">
            <a:avLst>
              <a:gd fmla="val 4495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8" name="Google Shape;998;p13"/>
          <p:cNvCxnSpPr/>
          <p:nvPr/>
        </p:nvCxnSpPr>
        <p:spPr>
          <a:xfrm>
            <a:off x="423862" y="5124301"/>
            <a:ext cx="0" cy="1059359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9" name="Google Shape;999;p13"/>
          <p:cNvSpPr/>
          <p:nvPr/>
        </p:nvSpPr>
        <p:spPr>
          <a:xfrm>
            <a:off x="400050" y="6258967"/>
            <a:ext cx="11391900" cy="903684"/>
          </a:xfrm>
          <a:prstGeom prst="roundRect">
            <a:avLst>
              <a:gd fmla="val 527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d165343d25b643383fb6c39652570b1.png" id="1000" name="Google Shape;10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653" y="715566"/>
            <a:ext cx="45720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f705eaa6b5503576d917717d09c8408.png" id="1001" name="Google Shape;10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198" y="715566"/>
            <a:ext cx="45720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13"/>
          <p:cNvSpPr txBox="1"/>
          <p:nvPr/>
        </p:nvSpPr>
        <p:spPr>
          <a:xfrm>
            <a:off x="400050" y="161925"/>
            <a:ext cx="37671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e grau (TCGA tumor)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3"/>
          <p:cNvSpPr txBox="1"/>
          <p:nvPr/>
        </p:nvSpPr>
        <p:spPr>
          <a:xfrm>
            <a:off x="2031355" y="3946029"/>
            <a:ext cx="232469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4. Estágio AJCC dos tumores primários.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13"/>
          <p:cNvSpPr txBox="1"/>
          <p:nvPr/>
        </p:nvSpPr>
        <p:spPr>
          <a:xfrm>
            <a:off x="400050" y="4268391"/>
            <a:ext cx="81036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3"/>
          <p:cNvSpPr txBox="1"/>
          <p:nvPr/>
        </p:nvSpPr>
        <p:spPr>
          <a:xfrm>
            <a:off x="1229618" y="4268391"/>
            <a:ext cx="44763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 = 169; II = 86; III = 85; IV = 5; não informado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13"/>
          <p:cNvSpPr txBox="1"/>
          <p:nvPr/>
        </p:nvSpPr>
        <p:spPr>
          <a:xfrm>
            <a:off x="400050" y="4530328"/>
            <a:ext cx="3095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3"/>
          <p:cNvSpPr txBox="1"/>
          <p:nvPr/>
        </p:nvSpPr>
        <p:spPr>
          <a:xfrm>
            <a:off x="7788027" y="3946029"/>
            <a:ext cx="24964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5. Grau histológico dos tumores primários.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13"/>
          <p:cNvSpPr txBox="1"/>
          <p:nvPr/>
        </p:nvSpPr>
        <p:spPr>
          <a:xfrm>
            <a:off x="6242596" y="4268391"/>
            <a:ext cx="5668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13"/>
          <p:cNvSpPr txBox="1"/>
          <p:nvPr/>
        </p:nvSpPr>
        <p:spPr>
          <a:xfrm>
            <a:off x="6828681" y="4268391"/>
            <a:ext cx="398665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G1 = 55; G2 = 177; G3 = 121; G4 = 11; 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13"/>
          <p:cNvSpPr txBox="1"/>
          <p:nvPr/>
        </p:nvSpPr>
        <p:spPr>
          <a:xfrm>
            <a:off x="6242596" y="4530328"/>
            <a:ext cx="14186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informado = 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3"/>
          <p:cNvSpPr txBox="1"/>
          <p:nvPr/>
        </p:nvSpPr>
        <p:spPr>
          <a:xfrm>
            <a:off x="598438" y="5408861"/>
            <a:ext cx="1103233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Predomínio de estágios iniciais (I–II = 69,1%) e graus G2–G3 (80,8%). Os subgrupos extremos (estágio IV, n = 5; grau G4, n = 11) têm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13"/>
          <p:cNvSpPr txBox="1"/>
          <p:nvPr/>
        </p:nvSpPr>
        <p:spPr>
          <a:xfrm>
            <a:off x="598438" y="5644455"/>
            <a:ext cx="47089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poder limitado; por isso a expressão diferencial agrupou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13"/>
          <p:cNvSpPr txBox="1"/>
          <p:nvPr/>
        </p:nvSpPr>
        <p:spPr>
          <a:xfrm>
            <a:off x="5320903" y="5644455"/>
            <a:ext cx="111070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III–IV vs. I–II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3"/>
          <p:cNvSpPr txBox="1"/>
          <p:nvPr/>
        </p:nvSpPr>
        <p:spPr>
          <a:xfrm>
            <a:off x="6445002" y="5644455"/>
            <a:ext cx="1369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3"/>
          <p:cNvSpPr txBox="1"/>
          <p:nvPr/>
        </p:nvSpPr>
        <p:spPr>
          <a:xfrm>
            <a:off x="6595467" y="5644455"/>
            <a:ext cx="1536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G3–G4 vs. G1–G2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3"/>
          <p:cNvSpPr txBox="1"/>
          <p:nvPr/>
        </p:nvSpPr>
        <p:spPr>
          <a:xfrm>
            <a:off x="8094018" y="5644455"/>
            <a:ext cx="790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3"/>
          <p:cNvSpPr txBox="1"/>
          <p:nvPr/>
        </p:nvSpPr>
        <p:spPr>
          <a:xfrm>
            <a:off x="507504" y="6512719"/>
            <a:ext cx="95770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AJCC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3"/>
          <p:cNvSpPr txBox="1"/>
          <p:nvPr/>
        </p:nvSpPr>
        <p:spPr>
          <a:xfrm>
            <a:off x="1468338" y="6512719"/>
            <a:ext cx="25900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extensão anatômica do tumor (I–IV);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3"/>
          <p:cNvSpPr txBox="1"/>
          <p:nvPr/>
        </p:nvSpPr>
        <p:spPr>
          <a:xfrm>
            <a:off x="4061668" y="6512719"/>
            <a:ext cx="36403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3"/>
          <p:cNvSpPr txBox="1"/>
          <p:nvPr/>
        </p:nvSpPr>
        <p:spPr>
          <a:xfrm>
            <a:off x="4428827" y="6512719"/>
            <a:ext cx="670783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diferenciação histológica (G1 bem diferenciado → G4 indiferenciado). São eixos diferentes: 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3"/>
          <p:cNvSpPr txBox="1"/>
          <p:nvPr/>
        </p:nvSpPr>
        <p:spPr>
          <a:xfrm>
            <a:off x="507504" y="6701284"/>
            <a:ext cx="634320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descreve disseminação; grau descreve aparência celular. “Não informado” não entra nos testes.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5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7" name="Google Shape;1027;p15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8" name="Google Shape;1028;p15"/>
          <p:cNvSpPr/>
          <p:nvPr/>
        </p:nvSpPr>
        <p:spPr>
          <a:xfrm>
            <a:off x="400050" y="4829026"/>
            <a:ext cx="11391900" cy="1078409"/>
          </a:xfrm>
          <a:prstGeom prst="roundRect">
            <a:avLst>
              <a:gd fmla="val 4416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9" name="Google Shape;1029;p15"/>
          <p:cNvCxnSpPr/>
          <p:nvPr/>
        </p:nvCxnSpPr>
        <p:spPr>
          <a:xfrm>
            <a:off x="423862" y="4829026"/>
            <a:ext cx="0" cy="1078409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0" name="Google Shape;1030;p15"/>
          <p:cNvSpPr/>
          <p:nvPr/>
        </p:nvSpPr>
        <p:spPr>
          <a:xfrm>
            <a:off x="400050" y="6010424"/>
            <a:ext cx="11391900" cy="991791"/>
          </a:xfrm>
          <a:prstGeom prst="roundRect">
            <a:avLst>
              <a:gd fmla="val 4801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1" name="Google Shape;1031;p15"/>
          <p:cNvCxnSpPr/>
          <p:nvPr/>
        </p:nvCxnSpPr>
        <p:spPr>
          <a:xfrm>
            <a:off x="423862" y="6010424"/>
            <a:ext cx="0" cy="991790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2" name="Google Shape;1032;p15"/>
          <p:cNvSpPr/>
          <p:nvPr/>
        </p:nvSpPr>
        <p:spPr>
          <a:xfrm>
            <a:off x="576411" y="6309866"/>
            <a:ext cx="770930" cy="187077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31617be9c1d24e0980ac3bc40b0a963.png" id="1033" name="Google Shape;10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094" y="715566"/>
            <a:ext cx="484896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7314043e2050e30c4976e301852380c6.png" id="1034" name="Google Shape;10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2788" y="715566"/>
            <a:ext cx="4848969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15"/>
          <p:cNvSpPr txBox="1"/>
          <p:nvPr/>
        </p:nvSpPr>
        <p:spPr>
          <a:xfrm>
            <a:off x="400050" y="161925"/>
            <a:ext cx="40214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 por grupo e por estudo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5"/>
          <p:cNvSpPr txBox="1"/>
          <p:nvPr/>
        </p:nvSpPr>
        <p:spPr>
          <a:xfrm>
            <a:off x="2285554" y="4555629"/>
            <a:ext cx="1816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7. UMAP colorido por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5"/>
          <p:cNvSpPr txBox="1"/>
          <p:nvPr/>
        </p:nvSpPr>
        <p:spPr>
          <a:xfrm>
            <a:off x="8108454" y="4555629"/>
            <a:ext cx="18557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8. UMAP colorido por estudo.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5"/>
          <p:cNvSpPr txBox="1"/>
          <p:nvPr/>
        </p:nvSpPr>
        <p:spPr>
          <a:xfrm>
            <a:off x="598438" y="5113586"/>
            <a:ext cx="2377529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2.000 genes mais variáveis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5"/>
          <p:cNvSpPr txBox="1"/>
          <p:nvPr/>
        </p:nvSpPr>
        <p:spPr>
          <a:xfrm>
            <a:off x="2937867" y="5113586"/>
            <a:ext cx="790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5"/>
          <p:cNvSpPr txBox="1"/>
          <p:nvPr/>
        </p:nvSpPr>
        <p:spPr>
          <a:xfrm>
            <a:off x="3030438" y="5142161"/>
            <a:ext cx="180528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n_neighbors =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15"/>
          <p:cNvSpPr txBox="1"/>
          <p:nvPr/>
        </p:nvSpPr>
        <p:spPr>
          <a:xfrm>
            <a:off x="4797623" y="5113586"/>
            <a:ext cx="790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5"/>
          <p:cNvSpPr txBox="1"/>
          <p:nvPr/>
        </p:nvSpPr>
        <p:spPr>
          <a:xfrm>
            <a:off x="4890195" y="5142161"/>
            <a:ext cx="16948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min_dist = 0,25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15"/>
          <p:cNvSpPr txBox="1"/>
          <p:nvPr/>
        </p:nvSpPr>
        <p:spPr>
          <a:xfrm>
            <a:off x="6546949" y="5113586"/>
            <a:ext cx="137055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métrica cosine,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5"/>
          <p:cNvSpPr txBox="1"/>
          <p:nvPr/>
        </p:nvSpPr>
        <p:spPr>
          <a:xfrm>
            <a:off x="7931051" y="5142161"/>
            <a:ext cx="921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pca = 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5"/>
          <p:cNvSpPr txBox="1"/>
          <p:nvPr/>
        </p:nvSpPr>
        <p:spPr>
          <a:xfrm>
            <a:off x="8814643" y="5113586"/>
            <a:ext cx="2511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semente 2026. Há separação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5"/>
          <p:cNvSpPr txBox="1"/>
          <p:nvPr/>
        </p:nvSpPr>
        <p:spPr>
          <a:xfrm>
            <a:off x="598438" y="5368230"/>
            <a:ext cx="6303169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parcial entre tumor, adjacente e GTEx normal e separação evidente entre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5"/>
          <p:cNvSpPr txBox="1"/>
          <p:nvPr/>
        </p:nvSpPr>
        <p:spPr>
          <a:xfrm>
            <a:off x="6562855" y="5368230"/>
            <a:ext cx="1171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e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5"/>
          <p:cNvSpPr txBox="1"/>
          <p:nvPr/>
        </p:nvSpPr>
        <p:spPr>
          <a:xfrm>
            <a:off x="7592096" y="5368230"/>
            <a:ext cx="3296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compatível com efeito lote.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5"/>
          <p:cNvSpPr txBox="1"/>
          <p:nvPr/>
        </p:nvSpPr>
        <p:spPr>
          <a:xfrm>
            <a:off x="646807" y="6305848"/>
            <a:ext cx="6682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b="1" i="0" lang="en-US" sz="110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5"/>
          <p:cNvSpPr txBox="1"/>
          <p:nvPr/>
        </p:nvSpPr>
        <p:spPr>
          <a:xfrm>
            <a:off x="1443782" y="6277273"/>
            <a:ext cx="5531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5"/>
          <p:cNvSpPr txBox="1"/>
          <p:nvPr/>
        </p:nvSpPr>
        <p:spPr>
          <a:xfrm>
            <a:off x="2005905" y="6277273"/>
            <a:ext cx="900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5"/>
          <p:cNvSpPr txBox="1"/>
          <p:nvPr/>
        </p:nvSpPr>
        <p:spPr>
          <a:xfrm>
            <a:off x="2057846" y="6296323"/>
            <a:ext cx="10449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uwot::umap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5"/>
          <p:cNvSpPr txBox="1"/>
          <p:nvPr/>
        </p:nvSpPr>
        <p:spPr>
          <a:xfrm>
            <a:off x="3064669" y="6277273"/>
            <a:ext cx="60617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): reduz milhares de genes para 2 eixos preservando vizinhanças locais. Os eixos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5"/>
          <p:cNvSpPr txBox="1"/>
          <p:nvPr/>
        </p:nvSpPr>
        <p:spPr>
          <a:xfrm>
            <a:off x="9135517" y="6277273"/>
            <a:ext cx="14059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1" i="0" lang="en-US" sz="135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têm unidade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5"/>
          <p:cNvSpPr txBox="1"/>
          <p:nvPr/>
        </p:nvSpPr>
        <p:spPr>
          <a:xfrm>
            <a:off x="10550426" y="6277273"/>
            <a:ext cx="976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a distância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5"/>
          <p:cNvSpPr txBox="1"/>
          <p:nvPr/>
        </p:nvSpPr>
        <p:spPr>
          <a:xfrm>
            <a:off x="576411" y="6501557"/>
            <a:ext cx="83391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r>
              <a:rPr b="0" i="0" lang="en-US" sz="1353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não é interpretável como “diferença absoluta”. Serve para explorar estrutura, não para testar hipóteses.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5"/>
          <p:cNvSpPr/>
          <p:nvPr/>
        </p:nvSpPr>
        <p:spPr>
          <a:xfrm>
            <a:off x="400050" y="703079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McInnes et al., 2018.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9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3" name="Google Shape;1063;p19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4" name="Google Shape;1064;p19"/>
          <p:cNvSpPr/>
          <p:nvPr/>
        </p:nvSpPr>
        <p:spPr>
          <a:xfrm>
            <a:off x="7690247" y="3687366"/>
            <a:ext cx="4101703" cy="1294954"/>
          </a:xfrm>
          <a:prstGeom prst="roundRect">
            <a:avLst>
              <a:gd fmla="val 367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5" name="Google Shape;1065;p19"/>
          <p:cNvCxnSpPr/>
          <p:nvPr/>
        </p:nvCxnSpPr>
        <p:spPr>
          <a:xfrm>
            <a:off x="7714059" y="3687366"/>
            <a:ext cx="0" cy="1294953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6" name="Google Shape;1066;p19"/>
          <p:cNvSpPr/>
          <p:nvPr/>
        </p:nvSpPr>
        <p:spPr>
          <a:xfrm>
            <a:off x="7690247" y="5057626"/>
            <a:ext cx="4101703" cy="1280815"/>
          </a:xfrm>
          <a:prstGeom prst="roundRect">
            <a:avLst>
              <a:gd fmla="val 3718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2d4d6f8c8844d959151decc1c174e057.png" id="1067" name="Google Shape;10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607" y="1388566"/>
            <a:ext cx="6655594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19"/>
          <p:cNvSpPr txBox="1"/>
          <p:nvPr/>
        </p:nvSpPr>
        <p:spPr>
          <a:xfrm>
            <a:off x="400050" y="161925"/>
            <a:ext cx="418534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Marcadores conhecidos de HCC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19"/>
          <p:cNvSpPr txBox="1"/>
          <p:nvPr/>
        </p:nvSpPr>
        <p:spPr>
          <a:xfrm>
            <a:off x="1776264" y="5514380"/>
            <a:ext cx="428252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12. Expressão de marcadores selecionados nos três grupos (violino + boxplot).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19"/>
          <p:cNvSpPr txBox="1"/>
          <p:nvPr/>
        </p:nvSpPr>
        <p:spPr>
          <a:xfrm>
            <a:off x="7920633" y="696516"/>
            <a:ext cx="5671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19"/>
          <p:cNvSpPr txBox="1"/>
          <p:nvPr/>
        </p:nvSpPr>
        <p:spPr>
          <a:xfrm>
            <a:off x="8507016" y="696516"/>
            <a:ext cx="1477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19"/>
          <p:cNvSpPr txBox="1"/>
          <p:nvPr/>
        </p:nvSpPr>
        <p:spPr>
          <a:xfrm>
            <a:off x="8674150" y="696516"/>
            <a:ext cx="4232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9"/>
          <p:cNvSpPr txBox="1"/>
          <p:nvPr/>
        </p:nvSpPr>
        <p:spPr>
          <a:xfrm>
            <a:off x="9059317" y="696516"/>
            <a:ext cx="23608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marcadores clássicos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9"/>
          <p:cNvSpPr txBox="1"/>
          <p:nvPr/>
        </p:nvSpPr>
        <p:spPr>
          <a:xfrm>
            <a:off x="7920633" y="958453"/>
            <a:ext cx="232290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HCC, elevados no 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9"/>
          <p:cNvSpPr txBox="1"/>
          <p:nvPr/>
        </p:nvSpPr>
        <p:spPr>
          <a:xfrm>
            <a:off x="7920633" y="1266379"/>
            <a:ext cx="6249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9"/>
          <p:cNvSpPr txBox="1"/>
          <p:nvPr/>
        </p:nvSpPr>
        <p:spPr>
          <a:xfrm>
            <a:off x="8564761" y="1266379"/>
            <a:ext cx="10179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(survivina):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19"/>
          <p:cNvSpPr txBox="1"/>
          <p:nvPr/>
        </p:nvSpPr>
        <p:spPr>
          <a:xfrm>
            <a:off x="7920633" y="1528316"/>
            <a:ext cx="24814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proliferação/antiapoptose.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9"/>
          <p:cNvSpPr txBox="1"/>
          <p:nvPr/>
        </p:nvSpPr>
        <p:spPr>
          <a:xfrm>
            <a:off x="7920633" y="1836241"/>
            <a:ext cx="2717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MMP9, COL1A1, VIM, SPP1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9"/>
          <p:cNvSpPr txBox="1"/>
          <p:nvPr/>
        </p:nvSpPr>
        <p:spPr>
          <a:xfrm>
            <a:off x="10599688" y="1836241"/>
            <a:ext cx="83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9"/>
          <p:cNvSpPr txBox="1"/>
          <p:nvPr/>
        </p:nvSpPr>
        <p:spPr>
          <a:xfrm>
            <a:off x="7920633" y="2098179"/>
            <a:ext cx="3909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remodelamento da matriz, invasão e EMT.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9"/>
          <p:cNvSpPr txBox="1"/>
          <p:nvPr/>
        </p:nvSpPr>
        <p:spPr>
          <a:xfrm>
            <a:off x="7920633" y="2406104"/>
            <a:ext cx="6045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CDH1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9"/>
          <p:cNvSpPr txBox="1"/>
          <p:nvPr/>
        </p:nvSpPr>
        <p:spPr>
          <a:xfrm>
            <a:off x="8544371" y="2406104"/>
            <a:ext cx="26219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(E-caderina): tende a cair 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9"/>
          <p:cNvSpPr txBox="1"/>
          <p:nvPr/>
        </p:nvSpPr>
        <p:spPr>
          <a:xfrm>
            <a:off x="7920633" y="2668042"/>
            <a:ext cx="6493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9"/>
          <p:cNvSpPr txBox="1"/>
          <p:nvPr/>
        </p:nvSpPr>
        <p:spPr>
          <a:xfrm>
            <a:off x="7920633" y="2975967"/>
            <a:ext cx="67062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KRT19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9"/>
          <p:cNvSpPr txBox="1"/>
          <p:nvPr/>
        </p:nvSpPr>
        <p:spPr>
          <a:xfrm>
            <a:off x="8610451" y="2975967"/>
            <a:ext cx="1477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9"/>
          <p:cNvSpPr txBox="1"/>
          <p:nvPr/>
        </p:nvSpPr>
        <p:spPr>
          <a:xfrm>
            <a:off x="8777585" y="2975967"/>
            <a:ext cx="75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EPCAM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9"/>
          <p:cNvSpPr txBox="1"/>
          <p:nvPr/>
        </p:nvSpPr>
        <p:spPr>
          <a:xfrm>
            <a:off x="9496574" y="2975967"/>
            <a:ext cx="211038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progenitores/ductais;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19"/>
          <p:cNvSpPr txBox="1"/>
          <p:nvPr/>
        </p:nvSpPr>
        <p:spPr>
          <a:xfrm>
            <a:off x="7920633" y="3237905"/>
            <a:ext cx="25454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interpretação heterogênea.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19"/>
          <p:cNvSpPr txBox="1"/>
          <p:nvPr/>
        </p:nvSpPr>
        <p:spPr>
          <a:xfrm>
            <a:off x="7888635" y="3971925"/>
            <a:ext cx="300260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comportamento esperado desses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19"/>
          <p:cNvSpPr txBox="1"/>
          <p:nvPr/>
        </p:nvSpPr>
        <p:spPr>
          <a:xfrm>
            <a:off x="7888635" y="4207520"/>
            <a:ext cx="332824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marcadores valida o processamento 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9"/>
          <p:cNvSpPr txBox="1"/>
          <p:nvPr/>
        </p:nvSpPr>
        <p:spPr>
          <a:xfrm>
            <a:off x="7888635" y="4443115"/>
            <a:ext cx="84534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anotação.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9"/>
          <p:cNvSpPr txBox="1"/>
          <p:nvPr/>
        </p:nvSpPr>
        <p:spPr>
          <a:xfrm>
            <a:off x="7797701" y="5311378"/>
            <a:ext cx="207034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Leitura do violino + boxplot: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9"/>
          <p:cNvSpPr txBox="1"/>
          <p:nvPr/>
        </p:nvSpPr>
        <p:spPr>
          <a:xfrm>
            <a:off x="9871174" y="5311378"/>
            <a:ext cx="17834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largura = densidade; caixa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9"/>
          <p:cNvSpPr txBox="1"/>
          <p:nvPr/>
        </p:nvSpPr>
        <p:spPr>
          <a:xfrm>
            <a:off x="7797701" y="5499943"/>
            <a:ext cx="39061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Q1–Q3; linha = mediana; bigodes = 1,5 × IQR; pontos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9"/>
          <p:cNvSpPr txBox="1"/>
          <p:nvPr/>
        </p:nvSpPr>
        <p:spPr>
          <a:xfrm>
            <a:off x="7797701" y="5688509"/>
            <a:ext cx="196795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outliers. A expressão está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9"/>
          <p:cNvSpPr txBox="1"/>
          <p:nvPr/>
        </p:nvSpPr>
        <p:spPr>
          <a:xfrm>
            <a:off x="9768929" y="5688509"/>
            <a:ext cx="136832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log2(TPM + 0,001)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9"/>
          <p:cNvSpPr txBox="1"/>
          <p:nvPr/>
        </p:nvSpPr>
        <p:spPr>
          <a:xfrm>
            <a:off x="11099155" y="5688509"/>
            <a:ext cx="708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9"/>
          <p:cNvSpPr txBox="1"/>
          <p:nvPr/>
        </p:nvSpPr>
        <p:spPr>
          <a:xfrm>
            <a:off x="7797701" y="5877074"/>
            <a:ext cx="20337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diferenças de 1 unidade = 2×.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9"/>
          <p:cNvSpPr/>
          <p:nvPr/>
        </p:nvSpPr>
        <p:spPr>
          <a:xfrm>
            <a:off x="7717369" y="813292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19"/>
          <p:cNvSpPr/>
          <p:nvPr/>
        </p:nvSpPr>
        <p:spPr>
          <a:xfrm>
            <a:off x="7717369" y="1383155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19"/>
          <p:cNvSpPr/>
          <p:nvPr/>
        </p:nvSpPr>
        <p:spPr>
          <a:xfrm>
            <a:off x="7717369" y="1953018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19"/>
          <p:cNvSpPr/>
          <p:nvPr/>
        </p:nvSpPr>
        <p:spPr>
          <a:xfrm>
            <a:off x="7717369" y="2522881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19"/>
          <p:cNvSpPr/>
          <p:nvPr/>
        </p:nvSpPr>
        <p:spPr>
          <a:xfrm>
            <a:off x="7717369" y="3092744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0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9" name="Google Shape;1109;p20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0" name="Google Shape;1110;p20"/>
          <p:cNvSpPr/>
          <p:nvPr/>
        </p:nvSpPr>
        <p:spPr>
          <a:xfrm>
            <a:off x="6262688" y="3747046"/>
            <a:ext cx="5529262" cy="1478012"/>
          </a:xfrm>
          <a:prstGeom prst="roundRect">
            <a:avLst>
              <a:gd fmla="val 3222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1" name="Google Shape;1111;p20"/>
          <p:cNvCxnSpPr/>
          <p:nvPr/>
        </p:nvCxnSpPr>
        <p:spPr>
          <a:xfrm>
            <a:off x="6286500" y="3747046"/>
            <a:ext cx="0" cy="1478012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2" name="Google Shape;1112;p20"/>
          <p:cNvSpPr txBox="1"/>
          <p:nvPr/>
        </p:nvSpPr>
        <p:spPr>
          <a:xfrm>
            <a:off x="400050" y="161925"/>
            <a:ext cx="4544169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Síntese da análise exploratória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0"/>
          <p:cNvSpPr txBox="1"/>
          <p:nvPr/>
        </p:nvSpPr>
        <p:spPr>
          <a:xfrm>
            <a:off x="400050" y="1251645"/>
            <a:ext cx="194845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ficou claro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0"/>
          <p:cNvSpPr txBox="1"/>
          <p:nvPr/>
        </p:nvSpPr>
        <p:spPr>
          <a:xfrm>
            <a:off x="661988" y="1761232"/>
            <a:ext cx="46292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Coorte predominantemente masculina, sem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20"/>
          <p:cNvSpPr txBox="1"/>
          <p:nvPr/>
        </p:nvSpPr>
        <p:spPr>
          <a:xfrm>
            <a:off x="661988" y="2080320"/>
            <a:ext cx="33456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diferença de sexo entre grupos.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20"/>
          <p:cNvSpPr txBox="1"/>
          <p:nvPr/>
        </p:nvSpPr>
        <p:spPr>
          <a:xfrm>
            <a:off x="661988" y="2451795"/>
            <a:ext cx="46970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difere entre TCGA e GTEx → ajuste por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0"/>
          <p:cNvSpPr txBox="1"/>
          <p:nvPr/>
        </p:nvSpPr>
        <p:spPr>
          <a:xfrm>
            <a:off x="661988" y="2770882"/>
            <a:ext cx="6735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20"/>
          <p:cNvSpPr txBox="1"/>
          <p:nvPr/>
        </p:nvSpPr>
        <p:spPr>
          <a:xfrm>
            <a:off x="661988" y="3142357"/>
            <a:ext cx="358973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Maioria estágio I–II e grau G2–G3.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20"/>
          <p:cNvSpPr txBox="1"/>
          <p:nvPr/>
        </p:nvSpPr>
        <p:spPr>
          <a:xfrm>
            <a:off x="661988" y="3541782"/>
            <a:ext cx="4496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Separação global TCGA × GTEx é evidente.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20"/>
          <p:cNvSpPr txBox="1"/>
          <p:nvPr/>
        </p:nvSpPr>
        <p:spPr>
          <a:xfrm>
            <a:off x="661988" y="3913257"/>
            <a:ext cx="4483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Marcadores clássicos têm comportamento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20"/>
          <p:cNvSpPr txBox="1"/>
          <p:nvPr/>
        </p:nvSpPr>
        <p:spPr>
          <a:xfrm>
            <a:off x="661988" y="4232345"/>
            <a:ext cx="1063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esperado.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20"/>
          <p:cNvSpPr txBox="1"/>
          <p:nvPr/>
        </p:nvSpPr>
        <p:spPr>
          <a:xfrm>
            <a:off x="6262688" y="974080"/>
            <a:ext cx="122753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20"/>
          <p:cNvSpPr txBox="1"/>
          <p:nvPr/>
        </p:nvSpPr>
        <p:spPr>
          <a:xfrm>
            <a:off x="6524625" y="1483668"/>
            <a:ext cx="37924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GTEx = ponto médio da faixa.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0"/>
          <p:cNvSpPr txBox="1"/>
          <p:nvPr/>
        </p:nvSpPr>
        <p:spPr>
          <a:xfrm>
            <a:off x="6524625" y="1855143"/>
            <a:ext cx="52074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Estágio/grau são do paciente; adjacentes herdam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0"/>
          <p:cNvSpPr txBox="1"/>
          <p:nvPr/>
        </p:nvSpPr>
        <p:spPr>
          <a:xfrm>
            <a:off x="6524625" y="2174230"/>
            <a:ext cx="26841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estágio/grau do 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0"/>
          <p:cNvSpPr txBox="1"/>
          <p:nvPr/>
        </p:nvSpPr>
        <p:spPr>
          <a:xfrm>
            <a:off x="6524625" y="2545705"/>
            <a:ext cx="52138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 é sensível a genes, hiperparâmetros e lote.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20"/>
          <p:cNvSpPr txBox="1"/>
          <p:nvPr/>
        </p:nvSpPr>
        <p:spPr>
          <a:xfrm>
            <a:off x="6524625" y="2917180"/>
            <a:ext cx="490001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Análise descritiva; os testes principais estão 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20"/>
          <p:cNvSpPr txBox="1"/>
          <p:nvPr/>
        </p:nvSpPr>
        <p:spPr>
          <a:xfrm>
            <a:off x="6524625" y="3236268"/>
            <a:ext cx="22843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expressão diferencial.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20"/>
          <p:cNvSpPr txBox="1"/>
          <p:nvPr/>
        </p:nvSpPr>
        <p:spPr>
          <a:xfrm>
            <a:off x="6481762" y="4055418"/>
            <a:ext cx="22824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separação por estudo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20"/>
          <p:cNvSpPr txBox="1"/>
          <p:nvPr/>
        </p:nvSpPr>
        <p:spPr>
          <a:xfrm>
            <a:off x="8784878" y="4055418"/>
            <a:ext cx="253171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prova de diferença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20"/>
          <p:cNvSpPr txBox="1"/>
          <p:nvPr/>
        </p:nvSpPr>
        <p:spPr>
          <a:xfrm>
            <a:off x="6481762" y="4342507"/>
            <a:ext cx="9666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biológica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20"/>
          <p:cNvSpPr txBox="1"/>
          <p:nvPr/>
        </p:nvSpPr>
        <p:spPr>
          <a:xfrm>
            <a:off x="7328571" y="4342507"/>
            <a:ext cx="3955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é também efeito de lote e composição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20"/>
          <p:cNvSpPr txBox="1"/>
          <p:nvPr/>
        </p:nvSpPr>
        <p:spPr>
          <a:xfrm>
            <a:off x="6481762" y="4629596"/>
            <a:ext cx="828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tecidual.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20"/>
          <p:cNvSpPr txBox="1"/>
          <p:nvPr/>
        </p:nvSpPr>
        <p:spPr>
          <a:xfrm>
            <a:off x="295275" y="1761232"/>
            <a:ext cx="285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20"/>
          <p:cNvSpPr txBox="1"/>
          <p:nvPr/>
        </p:nvSpPr>
        <p:spPr>
          <a:xfrm>
            <a:off x="295275" y="2451795"/>
            <a:ext cx="285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20"/>
          <p:cNvSpPr txBox="1"/>
          <p:nvPr/>
        </p:nvSpPr>
        <p:spPr>
          <a:xfrm>
            <a:off x="295275" y="3142357"/>
            <a:ext cx="285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20"/>
          <p:cNvSpPr txBox="1"/>
          <p:nvPr/>
        </p:nvSpPr>
        <p:spPr>
          <a:xfrm>
            <a:off x="295275" y="3541782"/>
            <a:ext cx="28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20"/>
          <p:cNvSpPr txBox="1"/>
          <p:nvPr/>
        </p:nvSpPr>
        <p:spPr>
          <a:xfrm>
            <a:off x="295275" y="3913257"/>
            <a:ext cx="285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n-US" sz="1875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20"/>
          <p:cNvSpPr/>
          <p:nvPr/>
        </p:nvSpPr>
        <p:spPr>
          <a:xfrm>
            <a:off x="6293644" y="160987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0"/>
          <p:cNvSpPr/>
          <p:nvPr/>
        </p:nvSpPr>
        <p:spPr>
          <a:xfrm>
            <a:off x="6293644" y="1981349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20"/>
          <p:cNvSpPr/>
          <p:nvPr/>
        </p:nvSpPr>
        <p:spPr>
          <a:xfrm>
            <a:off x="6293644" y="267191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0"/>
          <p:cNvSpPr/>
          <p:nvPr/>
        </p:nvSpPr>
        <p:spPr>
          <a:xfrm>
            <a:off x="6293644" y="304338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7" name="Google Shape;1147;p21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8" name="Google Shape;1148;p21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9" name="Google Shape;1149;p21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0" name="Google Shape;1150;p21"/>
          <p:cNvSpPr/>
          <p:nvPr/>
        </p:nvSpPr>
        <p:spPr>
          <a:xfrm>
            <a:off x="762000" y="2418151"/>
            <a:ext cx="10668000" cy="1680000"/>
          </a:xfrm>
          <a:prstGeom prst="roundRect">
            <a:avLst>
              <a:gd fmla="val 2834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1" name="Google Shape;1151;p21"/>
          <p:cNvCxnSpPr/>
          <p:nvPr/>
        </p:nvCxnSpPr>
        <p:spPr>
          <a:xfrm>
            <a:off x="785812" y="2418151"/>
            <a:ext cx="0" cy="1680000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2" name="Google Shape;1152;p21"/>
          <p:cNvSpPr/>
          <p:nvPr/>
        </p:nvSpPr>
        <p:spPr>
          <a:xfrm>
            <a:off x="956072" y="2737982"/>
            <a:ext cx="1813500" cy="227400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1"/>
          <p:cNvSpPr txBox="1"/>
          <p:nvPr/>
        </p:nvSpPr>
        <p:spPr>
          <a:xfrm>
            <a:off x="800100" y="852488"/>
            <a:ext cx="6272212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2 — Expressão diferencial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21"/>
          <p:cNvSpPr txBox="1"/>
          <p:nvPr/>
        </p:nvSpPr>
        <p:spPr>
          <a:xfrm>
            <a:off x="800100" y="1655564"/>
            <a:ext cx="301317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LIMMA, LOGFC E VOLCANO PLOTS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21"/>
          <p:cNvSpPr txBox="1"/>
          <p:nvPr/>
        </p:nvSpPr>
        <p:spPr>
          <a:xfrm>
            <a:off x="800100" y="1993999"/>
            <a:ext cx="37497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02_expressao_diferencial.R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21"/>
          <p:cNvSpPr txBox="1"/>
          <p:nvPr/>
        </p:nvSpPr>
        <p:spPr>
          <a:xfrm>
            <a:off x="4576614" y="1955899"/>
            <a:ext cx="1672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21"/>
          <p:cNvSpPr txBox="1"/>
          <p:nvPr/>
        </p:nvSpPr>
        <p:spPr>
          <a:xfrm>
            <a:off x="4770834" y="1993999"/>
            <a:ext cx="260776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03_volcano_plots.R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1"/>
          <p:cNvSpPr txBox="1"/>
          <p:nvPr/>
        </p:nvSpPr>
        <p:spPr>
          <a:xfrm>
            <a:off x="1035993" y="2744382"/>
            <a:ext cx="1692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21"/>
          <p:cNvSpPr txBox="1"/>
          <p:nvPr/>
        </p:nvSpPr>
        <p:spPr>
          <a:xfrm>
            <a:off x="2879229" y="2706282"/>
            <a:ext cx="61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1"/>
          <p:cNvSpPr txBox="1"/>
          <p:nvPr/>
        </p:nvSpPr>
        <p:spPr>
          <a:xfrm>
            <a:off x="3506539" y="2706282"/>
            <a:ext cx="97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21"/>
          <p:cNvSpPr txBox="1"/>
          <p:nvPr/>
        </p:nvSpPr>
        <p:spPr>
          <a:xfrm>
            <a:off x="3565624" y="2734857"/>
            <a:ext cx="1410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limma::lmFit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1"/>
          <p:cNvSpPr txBox="1"/>
          <p:nvPr/>
        </p:nvSpPr>
        <p:spPr>
          <a:xfrm>
            <a:off x="4938564" y="2706282"/>
            <a:ext cx="80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21"/>
          <p:cNvSpPr txBox="1"/>
          <p:nvPr/>
        </p:nvSpPr>
        <p:spPr>
          <a:xfrm>
            <a:off x="5034409" y="2734857"/>
            <a:ext cx="152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contrasts.fit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1"/>
          <p:cNvSpPr txBox="1"/>
          <p:nvPr/>
        </p:nvSpPr>
        <p:spPr>
          <a:xfrm>
            <a:off x="6521797" y="2706282"/>
            <a:ext cx="80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1"/>
          <p:cNvSpPr txBox="1"/>
          <p:nvPr/>
        </p:nvSpPr>
        <p:spPr>
          <a:xfrm>
            <a:off x="6617643" y="2734857"/>
            <a:ext cx="72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eBayes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1"/>
          <p:cNvSpPr txBox="1"/>
          <p:nvPr/>
        </p:nvSpPr>
        <p:spPr>
          <a:xfrm>
            <a:off x="7304187" y="2706282"/>
            <a:ext cx="80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1"/>
          <p:cNvSpPr txBox="1"/>
          <p:nvPr/>
        </p:nvSpPr>
        <p:spPr>
          <a:xfrm>
            <a:off x="7400032" y="2734857"/>
            <a:ext cx="95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topTable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1"/>
          <p:cNvSpPr txBox="1"/>
          <p:nvPr/>
        </p:nvSpPr>
        <p:spPr>
          <a:xfrm>
            <a:off x="8315325" y="2706282"/>
            <a:ext cx="2581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ajusta um modelo linear por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1"/>
          <p:cNvSpPr txBox="1"/>
          <p:nvPr/>
        </p:nvSpPr>
        <p:spPr>
          <a:xfrm>
            <a:off x="956072" y="2986972"/>
            <a:ext cx="637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gene, modera a variância (empirical Bayes) e calcula o logFC do contraste.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1"/>
          <p:cNvSpPr txBox="1"/>
          <p:nvPr/>
        </p:nvSpPr>
        <p:spPr>
          <a:xfrm>
            <a:off x="7348984" y="2986972"/>
            <a:ext cx="312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21"/>
          <p:cNvSpPr txBox="1"/>
          <p:nvPr/>
        </p:nvSpPr>
        <p:spPr>
          <a:xfrm>
            <a:off x="7677299" y="2986972"/>
            <a:ext cx="97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21"/>
          <p:cNvSpPr txBox="1"/>
          <p:nvPr/>
        </p:nvSpPr>
        <p:spPr>
          <a:xfrm>
            <a:off x="7736384" y="3015547"/>
            <a:ext cx="175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1"/>
          <p:cNvSpPr txBox="1"/>
          <p:nvPr/>
        </p:nvSpPr>
        <p:spPr>
          <a:xfrm>
            <a:off x="9452670" y="2986972"/>
            <a:ext cx="1473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controla o FDR.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21"/>
          <p:cNvSpPr txBox="1"/>
          <p:nvPr/>
        </p:nvSpPr>
        <p:spPr>
          <a:xfrm>
            <a:off x="956072" y="3267662"/>
            <a:ext cx="766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Volcano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1"/>
          <p:cNvSpPr txBox="1"/>
          <p:nvPr/>
        </p:nvSpPr>
        <p:spPr>
          <a:xfrm>
            <a:off x="1738312" y="3267662"/>
            <a:ext cx="308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21"/>
          <p:cNvSpPr txBox="1"/>
          <p:nvPr/>
        </p:nvSpPr>
        <p:spPr>
          <a:xfrm>
            <a:off x="2062162" y="3296237"/>
            <a:ext cx="83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ggplot2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21"/>
          <p:cNvSpPr txBox="1"/>
          <p:nvPr/>
        </p:nvSpPr>
        <p:spPr>
          <a:xfrm>
            <a:off x="2916585" y="3267662"/>
            <a:ext cx="171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21"/>
          <p:cNvSpPr txBox="1"/>
          <p:nvPr/>
        </p:nvSpPr>
        <p:spPr>
          <a:xfrm>
            <a:off x="3103811" y="3296237"/>
            <a:ext cx="83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ggrepel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21"/>
          <p:cNvSpPr txBox="1"/>
          <p:nvPr/>
        </p:nvSpPr>
        <p:spPr>
          <a:xfrm>
            <a:off x="3904804" y="3267662"/>
            <a:ext cx="7033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Não se usa teste t clássico gene a gene porque o limma compartilha informação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21"/>
          <p:cNvSpPr txBox="1"/>
          <p:nvPr/>
        </p:nvSpPr>
        <p:spPr>
          <a:xfrm>
            <a:off x="956072" y="3548352"/>
            <a:ext cx="3917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 genes e é mais estável com n pequeno.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21"/>
          <p:cNvSpPr/>
          <p:nvPr/>
        </p:nvSpPr>
        <p:spPr>
          <a:xfrm>
            <a:off x="400050" y="723900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2015; Benjamini, 2010.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22"/>
          <p:cNvSpPr/>
          <p:nvPr/>
        </p:nvSpPr>
        <p:spPr>
          <a:xfrm>
            <a:off x="400050" y="190500"/>
            <a:ext cx="11391900" cy="493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7" name="Google Shape;1187;p22"/>
          <p:cNvCxnSpPr/>
          <p:nvPr/>
        </p:nvCxnSpPr>
        <p:spPr>
          <a:xfrm>
            <a:off x="400050" y="67002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8" name="Google Shape;1188;p22"/>
          <p:cNvSpPr/>
          <p:nvPr/>
        </p:nvSpPr>
        <p:spPr>
          <a:xfrm>
            <a:off x="400052" y="809775"/>
            <a:ext cx="5497500" cy="253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71000" lIns="142050" spcFirstLastPara="1" rIns="142050" wrap="square" tIns="7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7"/>
              <a:buFont typeface="Arial"/>
              <a:buNone/>
            </a:pPr>
            <a:r>
              <a:t/>
            </a:r>
            <a:endParaRPr b="0" i="0" sz="27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2"/>
          <p:cNvSpPr/>
          <p:nvPr/>
        </p:nvSpPr>
        <p:spPr>
          <a:xfrm>
            <a:off x="400052" y="1105761"/>
            <a:ext cx="5516100" cy="1946100"/>
          </a:xfrm>
          <a:prstGeom prst="roundRect">
            <a:avLst>
              <a:gd fmla="val 3802" name="adj"/>
            </a:avLst>
          </a:prstGeom>
          <a:noFill/>
          <a:ln cap="flat" cmpd="sng" w="14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000" lIns="142050" spcFirstLastPara="1" rIns="142050" wrap="square" tIns="7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7"/>
              <a:buFont typeface="Arial"/>
              <a:buNone/>
            </a:pPr>
            <a:r>
              <a:t/>
            </a:r>
            <a:endParaRPr b="0" i="0" sz="27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2"/>
          <p:cNvSpPr/>
          <p:nvPr/>
        </p:nvSpPr>
        <p:spPr>
          <a:xfrm>
            <a:off x="400050" y="4732883"/>
            <a:ext cx="11391900" cy="1209973"/>
          </a:xfrm>
          <a:prstGeom prst="roundRect">
            <a:avLst>
              <a:gd fmla="val 3936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1" name="Google Shape;1191;p22"/>
          <p:cNvCxnSpPr/>
          <p:nvPr/>
        </p:nvCxnSpPr>
        <p:spPr>
          <a:xfrm>
            <a:off x="423862" y="4732883"/>
            <a:ext cx="0" cy="1209973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2" name="Google Shape;1192;p22"/>
          <p:cNvSpPr/>
          <p:nvPr/>
        </p:nvSpPr>
        <p:spPr>
          <a:xfrm>
            <a:off x="400050" y="6028581"/>
            <a:ext cx="11391900" cy="1251793"/>
          </a:xfrm>
          <a:prstGeom prst="roundRect">
            <a:avLst>
              <a:gd fmla="val 380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22"/>
          <p:cNvSpPr txBox="1"/>
          <p:nvPr/>
        </p:nvSpPr>
        <p:spPr>
          <a:xfrm>
            <a:off x="400050" y="161925"/>
            <a:ext cx="121592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22"/>
          <p:cNvSpPr txBox="1"/>
          <p:nvPr/>
        </p:nvSpPr>
        <p:spPr>
          <a:xfrm>
            <a:off x="1665833" y="209550"/>
            <a:ext cx="1003399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22"/>
          <p:cNvSpPr txBox="1"/>
          <p:nvPr/>
        </p:nvSpPr>
        <p:spPr>
          <a:xfrm>
            <a:off x="2718941" y="161925"/>
            <a:ext cx="319727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calculado no 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22"/>
          <p:cNvSpPr txBox="1"/>
          <p:nvPr/>
        </p:nvSpPr>
        <p:spPr>
          <a:xfrm>
            <a:off x="544349" y="1250058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design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22"/>
          <p:cNvSpPr txBox="1"/>
          <p:nvPr/>
        </p:nvSpPr>
        <p:spPr>
          <a:xfrm>
            <a:off x="1303277" y="1250058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22"/>
          <p:cNvSpPr txBox="1"/>
          <p:nvPr/>
        </p:nvSpPr>
        <p:spPr>
          <a:xfrm>
            <a:off x="1628630" y="1250058"/>
            <a:ext cx="1360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model.matrix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22"/>
          <p:cNvSpPr txBox="1"/>
          <p:nvPr/>
        </p:nvSpPr>
        <p:spPr>
          <a:xfrm>
            <a:off x="2929353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2"/>
          <p:cNvSpPr txBox="1"/>
          <p:nvPr/>
        </p:nvSpPr>
        <p:spPr>
          <a:xfrm>
            <a:off x="3037804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~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2"/>
          <p:cNvSpPr txBox="1"/>
          <p:nvPr/>
        </p:nvSpPr>
        <p:spPr>
          <a:xfrm>
            <a:off x="3254706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2"/>
          <p:cNvSpPr txBox="1"/>
          <p:nvPr/>
        </p:nvSpPr>
        <p:spPr>
          <a:xfrm>
            <a:off x="3471608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2"/>
          <p:cNvSpPr txBox="1"/>
          <p:nvPr/>
        </p:nvSpPr>
        <p:spPr>
          <a:xfrm>
            <a:off x="3688279" y="1250058"/>
            <a:ext cx="601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grupo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2"/>
          <p:cNvSpPr txBox="1"/>
          <p:nvPr/>
        </p:nvSpPr>
        <p:spPr>
          <a:xfrm>
            <a:off x="4338988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2"/>
          <p:cNvSpPr txBox="1"/>
          <p:nvPr/>
        </p:nvSpPr>
        <p:spPr>
          <a:xfrm>
            <a:off x="4555659" y="1250058"/>
            <a:ext cx="493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sexo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2"/>
          <p:cNvSpPr txBox="1"/>
          <p:nvPr/>
        </p:nvSpPr>
        <p:spPr>
          <a:xfrm>
            <a:off x="5097915" y="1250058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2"/>
          <p:cNvSpPr txBox="1"/>
          <p:nvPr/>
        </p:nvSpPr>
        <p:spPr>
          <a:xfrm>
            <a:off x="5314587" y="1250058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idade,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2"/>
          <p:cNvSpPr txBox="1"/>
          <p:nvPr/>
        </p:nvSpPr>
        <p:spPr>
          <a:xfrm>
            <a:off x="3037572" y="1486847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data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2"/>
          <p:cNvSpPr txBox="1"/>
          <p:nvPr/>
        </p:nvSpPr>
        <p:spPr>
          <a:xfrm>
            <a:off x="3796268" y="1486847"/>
            <a:ext cx="11433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metadados)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2"/>
          <p:cNvSpPr txBox="1"/>
          <p:nvPr/>
        </p:nvSpPr>
        <p:spPr>
          <a:xfrm>
            <a:off x="544349" y="1723636"/>
            <a:ext cx="384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fit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2"/>
          <p:cNvSpPr txBox="1"/>
          <p:nvPr/>
        </p:nvSpPr>
        <p:spPr>
          <a:xfrm>
            <a:off x="1086374" y="1723636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2"/>
          <p:cNvSpPr txBox="1"/>
          <p:nvPr/>
        </p:nvSpPr>
        <p:spPr>
          <a:xfrm>
            <a:off x="1411729" y="1723636"/>
            <a:ext cx="601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lmFit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2"/>
          <p:cNvSpPr txBox="1"/>
          <p:nvPr/>
        </p:nvSpPr>
        <p:spPr>
          <a:xfrm>
            <a:off x="1953754" y="1723636"/>
            <a:ext cx="1576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(expr, design)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22"/>
          <p:cNvSpPr txBox="1"/>
          <p:nvPr/>
        </p:nvSpPr>
        <p:spPr>
          <a:xfrm>
            <a:off x="544349" y="1960425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fit2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22"/>
          <p:cNvSpPr txBox="1"/>
          <p:nvPr/>
        </p:nvSpPr>
        <p:spPr>
          <a:xfrm>
            <a:off x="1086374" y="1960425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22"/>
          <p:cNvSpPr txBox="1"/>
          <p:nvPr/>
        </p:nvSpPr>
        <p:spPr>
          <a:xfrm>
            <a:off x="1411729" y="1960425"/>
            <a:ext cx="14682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contrasts.fit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22"/>
          <p:cNvSpPr txBox="1"/>
          <p:nvPr/>
        </p:nvSpPr>
        <p:spPr>
          <a:xfrm>
            <a:off x="2820901" y="1960425"/>
            <a:ext cx="1793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(fit, contraste)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22"/>
          <p:cNvSpPr txBox="1"/>
          <p:nvPr/>
        </p:nvSpPr>
        <p:spPr>
          <a:xfrm>
            <a:off x="544349" y="2197214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fit2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22"/>
          <p:cNvSpPr txBox="1"/>
          <p:nvPr/>
        </p:nvSpPr>
        <p:spPr>
          <a:xfrm>
            <a:off x="1086374" y="2197214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22"/>
          <p:cNvSpPr txBox="1"/>
          <p:nvPr/>
        </p:nvSpPr>
        <p:spPr>
          <a:xfrm>
            <a:off x="1411729" y="2197214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eBayes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22"/>
          <p:cNvSpPr txBox="1"/>
          <p:nvPr/>
        </p:nvSpPr>
        <p:spPr>
          <a:xfrm>
            <a:off x="2062204" y="2197214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(fit2,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22"/>
          <p:cNvSpPr txBox="1"/>
          <p:nvPr/>
        </p:nvSpPr>
        <p:spPr>
          <a:xfrm>
            <a:off x="2821132" y="2197214"/>
            <a:ext cx="8181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trend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22"/>
          <p:cNvSpPr txBox="1"/>
          <p:nvPr/>
        </p:nvSpPr>
        <p:spPr>
          <a:xfrm>
            <a:off x="3688511" y="2197214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22"/>
          <p:cNvSpPr txBox="1"/>
          <p:nvPr/>
        </p:nvSpPr>
        <p:spPr>
          <a:xfrm>
            <a:off x="4122085" y="2197214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22"/>
          <p:cNvSpPr txBox="1"/>
          <p:nvPr/>
        </p:nvSpPr>
        <p:spPr>
          <a:xfrm>
            <a:off x="4338988" y="2197214"/>
            <a:ext cx="9261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robust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22"/>
          <p:cNvSpPr txBox="1"/>
          <p:nvPr/>
        </p:nvSpPr>
        <p:spPr>
          <a:xfrm>
            <a:off x="5314587" y="2197214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22"/>
          <p:cNvSpPr txBox="1"/>
          <p:nvPr/>
        </p:nvSpPr>
        <p:spPr>
          <a:xfrm>
            <a:off x="5699184" y="2236836"/>
            <a:ext cx="108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22"/>
          <p:cNvSpPr txBox="1"/>
          <p:nvPr/>
        </p:nvSpPr>
        <p:spPr>
          <a:xfrm>
            <a:off x="544349" y="2434003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tt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22"/>
          <p:cNvSpPr txBox="1"/>
          <p:nvPr/>
        </p:nvSpPr>
        <p:spPr>
          <a:xfrm>
            <a:off x="869702" y="2434003"/>
            <a:ext cx="2760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22"/>
          <p:cNvSpPr txBox="1"/>
          <p:nvPr/>
        </p:nvSpPr>
        <p:spPr>
          <a:xfrm>
            <a:off x="1195058" y="2434003"/>
            <a:ext cx="9261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1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topTable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22"/>
          <p:cNvSpPr txBox="1"/>
          <p:nvPr/>
        </p:nvSpPr>
        <p:spPr>
          <a:xfrm>
            <a:off x="2062204" y="2434003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(fit2,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22"/>
          <p:cNvSpPr txBox="1"/>
          <p:nvPr/>
        </p:nvSpPr>
        <p:spPr>
          <a:xfrm>
            <a:off x="2821132" y="2434003"/>
            <a:ext cx="7098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coef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2"/>
          <p:cNvSpPr txBox="1"/>
          <p:nvPr/>
        </p:nvSpPr>
        <p:spPr>
          <a:xfrm>
            <a:off x="3580060" y="2434003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2"/>
          <p:cNvSpPr txBox="1"/>
          <p:nvPr/>
        </p:nvSpPr>
        <p:spPr>
          <a:xfrm>
            <a:off x="3688511" y="2434003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2"/>
          <p:cNvSpPr txBox="1"/>
          <p:nvPr/>
        </p:nvSpPr>
        <p:spPr>
          <a:xfrm>
            <a:off x="3905413" y="2434003"/>
            <a:ext cx="9261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number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22"/>
          <p:cNvSpPr txBox="1"/>
          <p:nvPr/>
        </p:nvSpPr>
        <p:spPr>
          <a:xfrm>
            <a:off x="4881013" y="2434003"/>
            <a:ext cx="384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Inf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22"/>
          <p:cNvSpPr txBox="1"/>
          <p:nvPr/>
        </p:nvSpPr>
        <p:spPr>
          <a:xfrm>
            <a:off x="5206366" y="2434003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22"/>
          <p:cNvSpPr txBox="1"/>
          <p:nvPr/>
        </p:nvSpPr>
        <p:spPr>
          <a:xfrm>
            <a:off x="2170425" y="2670792"/>
            <a:ext cx="16854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adjust.method =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22"/>
          <p:cNvSpPr txBox="1"/>
          <p:nvPr/>
        </p:nvSpPr>
        <p:spPr>
          <a:xfrm>
            <a:off x="3904950" y="2670792"/>
            <a:ext cx="4926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"BH"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22"/>
          <p:cNvSpPr txBox="1"/>
          <p:nvPr/>
        </p:nvSpPr>
        <p:spPr>
          <a:xfrm>
            <a:off x="4338525" y="2670792"/>
            <a:ext cx="1677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Arial"/>
              <a:buNone/>
            </a:pPr>
            <a:r>
              <a:rPr b="0" i="0" lang="en-US" sz="1456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2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22"/>
          <p:cNvSpPr txBox="1"/>
          <p:nvPr/>
        </p:nvSpPr>
        <p:spPr>
          <a:xfrm>
            <a:off x="6521425" y="1561843"/>
            <a:ext cx="735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lmFit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22"/>
          <p:cNvSpPr txBox="1"/>
          <p:nvPr/>
        </p:nvSpPr>
        <p:spPr>
          <a:xfrm>
            <a:off x="7219131" y="1523743"/>
            <a:ext cx="357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ajusta o modelo para cada gene.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22"/>
          <p:cNvSpPr txBox="1"/>
          <p:nvPr/>
        </p:nvSpPr>
        <p:spPr>
          <a:xfrm>
            <a:off x="6521425" y="1952368"/>
            <a:ext cx="875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eBayes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22"/>
          <p:cNvSpPr txBox="1"/>
          <p:nvPr/>
        </p:nvSpPr>
        <p:spPr>
          <a:xfrm>
            <a:off x="7358583" y="1914268"/>
            <a:ext cx="4266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modera a variância e aumenta o poder.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2"/>
          <p:cNvSpPr txBox="1"/>
          <p:nvPr/>
        </p:nvSpPr>
        <p:spPr>
          <a:xfrm>
            <a:off x="6521425" y="2342893"/>
            <a:ext cx="1154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topTable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2"/>
          <p:cNvSpPr txBox="1"/>
          <p:nvPr/>
        </p:nvSpPr>
        <p:spPr>
          <a:xfrm>
            <a:off x="7637636" y="2304793"/>
            <a:ext cx="3034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resume logFC, t, p, FDR e 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2"/>
          <p:cNvSpPr txBox="1"/>
          <p:nvPr/>
        </p:nvSpPr>
        <p:spPr>
          <a:xfrm>
            <a:off x="619125" y="5041255"/>
            <a:ext cx="1997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2"/>
          <p:cNvSpPr txBox="1"/>
          <p:nvPr/>
        </p:nvSpPr>
        <p:spPr>
          <a:xfrm>
            <a:off x="839539" y="5069830"/>
            <a:ext cx="66600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2"/>
          <p:cNvSpPr txBox="1"/>
          <p:nvPr/>
        </p:nvSpPr>
        <p:spPr>
          <a:xfrm>
            <a:off x="1526084" y="5041255"/>
            <a:ext cx="179590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recebe uma matriz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2"/>
          <p:cNvSpPr txBox="1"/>
          <p:nvPr/>
        </p:nvSpPr>
        <p:spPr>
          <a:xfrm>
            <a:off x="3342531" y="5041255"/>
            <a:ext cx="24535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já em escala logarítmica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2"/>
          <p:cNvSpPr txBox="1"/>
          <p:nvPr/>
        </p:nvSpPr>
        <p:spPr>
          <a:xfrm>
            <a:off x="5758011" y="5041255"/>
            <a:ext cx="58629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Aqui usamos log2(TPM + 0,001), portanto não foi necessário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2"/>
          <p:cNvSpPr txBox="1"/>
          <p:nvPr/>
        </p:nvSpPr>
        <p:spPr>
          <a:xfrm>
            <a:off x="619125" y="5366445"/>
            <a:ext cx="54039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voom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22"/>
          <p:cNvSpPr txBox="1"/>
          <p:nvPr/>
        </p:nvSpPr>
        <p:spPr>
          <a:xfrm>
            <a:off x="1121420" y="5337870"/>
            <a:ext cx="8468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22"/>
          <p:cNvSpPr txBox="1"/>
          <p:nvPr/>
        </p:nvSpPr>
        <p:spPr>
          <a:xfrm>
            <a:off x="520898" y="6300490"/>
            <a:ext cx="22136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cada argumento faz: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22"/>
          <p:cNvSpPr txBox="1"/>
          <p:nvPr/>
        </p:nvSpPr>
        <p:spPr>
          <a:xfrm>
            <a:off x="2743498" y="6319540"/>
            <a:ext cx="124360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trend =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22"/>
          <p:cNvSpPr txBox="1"/>
          <p:nvPr/>
        </p:nvSpPr>
        <p:spPr>
          <a:xfrm>
            <a:off x="3995886" y="6300490"/>
            <a:ext cx="41018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permite que a variância dependa da expressão média;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22"/>
          <p:cNvSpPr txBox="1"/>
          <p:nvPr/>
        </p:nvSpPr>
        <p:spPr>
          <a:xfrm>
            <a:off x="8106668" y="6319540"/>
            <a:ext cx="13440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robust = 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22"/>
          <p:cNvSpPr txBox="1"/>
          <p:nvPr/>
        </p:nvSpPr>
        <p:spPr>
          <a:xfrm>
            <a:off x="9459516" y="6300490"/>
            <a:ext cx="2104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reduz a influência de 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22"/>
          <p:cNvSpPr txBox="1"/>
          <p:nvPr/>
        </p:nvSpPr>
        <p:spPr>
          <a:xfrm>
            <a:off x="520898" y="6539657"/>
            <a:ext cx="17698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 variância extrema;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22"/>
          <p:cNvSpPr txBox="1"/>
          <p:nvPr/>
        </p:nvSpPr>
        <p:spPr>
          <a:xfrm>
            <a:off x="2299692" y="6558707"/>
            <a:ext cx="20472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adjust.method = "BH"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22"/>
          <p:cNvSpPr txBox="1"/>
          <p:nvPr/>
        </p:nvSpPr>
        <p:spPr>
          <a:xfrm>
            <a:off x="4355753" y="6539657"/>
            <a:ext cx="1684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transforma p em FDR.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22"/>
          <p:cNvSpPr txBox="1"/>
          <p:nvPr/>
        </p:nvSpPr>
        <p:spPr>
          <a:xfrm>
            <a:off x="6048821" y="6539657"/>
            <a:ext cx="50326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FDR não é a probabilidade de um gene específico estar errado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22"/>
          <p:cNvSpPr txBox="1"/>
          <p:nvPr/>
        </p:nvSpPr>
        <p:spPr>
          <a:xfrm>
            <a:off x="11043345" y="6539657"/>
            <a:ext cx="3461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é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22"/>
          <p:cNvSpPr txBox="1"/>
          <p:nvPr/>
        </p:nvSpPr>
        <p:spPr>
          <a:xfrm>
            <a:off x="520898" y="6778823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proporção esperada de falsos positivos dentro do conjunto declarado significativo.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22"/>
          <p:cNvSpPr/>
          <p:nvPr/>
        </p:nvSpPr>
        <p:spPr>
          <a:xfrm>
            <a:off x="6290444" y="1649949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2"/>
          <p:cNvSpPr/>
          <p:nvPr/>
        </p:nvSpPr>
        <p:spPr>
          <a:xfrm>
            <a:off x="6290444" y="2040474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2"/>
          <p:cNvSpPr/>
          <p:nvPr/>
        </p:nvSpPr>
        <p:spPr>
          <a:xfrm>
            <a:off x="6290444" y="2430999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22"/>
          <p:cNvSpPr/>
          <p:nvPr/>
        </p:nvSpPr>
        <p:spPr>
          <a:xfrm>
            <a:off x="6762750" y="133350"/>
            <a:ext cx="50292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2015; Benjamini, 2010.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23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4" name="Google Shape;1274;p23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5" name="Google Shape;1275;p23"/>
          <p:cNvSpPr/>
          <p:nvPr/>
        </p:nvSpPr>
        <p:spPr>
          <a:xfrm>
            <a:off x="400050" y="783580"/>
            <a:ext cx="11391900" cy="1247031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23"/>
          <p:cNvSpPr/>
          <p:nvPr/>
        </p:nvSpPr>
        <p:spPr>
          <a:xfrm>
            <a:off x="404812" y="788343"/>
            <a:ext cx="1336625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7" name="Google Shape;1277;p23"/>
          <p:cNvCxnSpPr/>
          <p:nvPr/>
        </p:nvCxnSpPr>
        <p:spPr>
          <a:xfrm>
            <a:off x="404812" y="793105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8" name="Google Shape;1278;p23"/>
          <p:cNvCxnSpPr/>
          <p:nvPr/>
        </p:nvCxnSpPr>
        <p:spPr>
          <a:xfrm>
            <a:off x="409575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9" name="Google Shape;1279;p23"/>
          <p:cNvSpPr/>
          <p:nvPr/>
        </p:nvSpPr>
        <p:spPr>
          <a:xfrm>
            <a:off x="1741438" y="788343"/>
            <a:ext cx="3916561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0" name="Google Shape;1280;p23"/>
          <p:cNvCxnSpPr/>
          <p:nvPr/>
        </p:nvCxnSpPr>
        <p:spPr>
          <a:xfrm>
            <a:off x="1741438" y="793105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1" name="Google Shape;1281;p23"/>
          <p:cNvCxnSpPr/>
          <p:nvPr/>
        </p:nvCxnSpPr>
        <p:spPr>
          <a:xfrm>
            <a:off x="1746200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2" name="Google Shape;1282;p23"/>
          <p:cNvSpPr/>
          <p:nvPr/>
        </p:nvSpPr>
        <p:spPr>
          <a:xfrm>
            <a:off x="5657999" y="788343"/>
            <a:ext cx="1237059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3" name="Google Shape;1283;p23"/>
          <p:cNvCxnSpPr/>
          <p:nvPr/>
        </p:nvCxnSpPr>
        <p:spPr>
          <a:xfrm>
            <a:off x="5657999" y="793105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4" name="Google Shape;1284;p23"/>
          <p:cNvCxnSpPr/>
          <p:nvPr/>
        </p:nvCxnSpPr>
        <p:spPr>
          <a:xfrm>
            <a:off x="5662761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5" name="Google Shape;1285;p23"/>
          <p:cNvSpPr/>
          <p:nvPr/>
        </p:nvSpPr>
        <p:spPr>
          <a:xfrm>
            <a:off x="6895058" y="788343"/>
            <a:ext cx="2270224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6" name="Google Shape;1286;p23"/>
          <p:cNvCxnSpPr/>
          <p:nvPr/>
        </p:nvCxnSpPr>
        <p:spPr>
          <a:xfrm>
            <a:off x="6895058" y="793105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23"/>
          <p:cNvCxnSpPr/>
          <p:nvPr/>
        </p:nvCxnSpPr>
        <p:spPr>
          <a:xfrm>
            <a:off x="6899821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8" name="Google Shape;1288;p23"/>
          <p:cNvSpPr/>
          <p:nvPr/>
        </p:nvSpPr>
        <p:spPr>
          <a:xfrm>
            <a:off x="9165282" y="788343"/>
            <a:ext cx="2621905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9" name="Google Shape;1289;p23"/>
          <p:cNvCxnSpPr/>
          <p:nvPr/>
        </p:nvCxnSpPr>
        <p:spPr>
          <a:xfrm>
            <a:off x="9165282" y="793105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0" name="Google Shape;1290;p23"/>
          <p:cNvCxnSpPr/>
          <p:nvPr/>
        </p:nvCxnSpPr>
        <p:spPr>
          <a:xfrm>
            <a:off x="9170045" y="788343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1" name="Google Shape;1291;p23"/>
          <p:cNvSpPr/>
          <p:nvPr/>
        </p:nvSpPr>
        <p:spPr>
          <a:xfrm>
            <a:off x="404812" y="1048941"/>
            <a:ext cx="133662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2" name="Google Shape;1292;p23"/>
          <p:cNvCxnSpPr/>
          <p:nvPr/>
        </p:nvCxnSpPr>
        <p:spPr>
          <a:xfrm>
            <a:off x="404812" y="1053703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23"/>
          <p:cNvCxnSpPr/>
          <p:nvPr/>
        </p:nvCxnSpPr>
        <p:spPr>
          <a:xfrm>
            <a:off x="409575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4" name="Google Shape;1294;p23"/>
          <p:cNvSpPr/>
          <p:nvPr/>
        </p:nvSpPr>
        <p:spPr>
          <a:xfrm>
            <a:off x="1741438" y="1048941"/>
            <a:ext cx="3916561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5" name="Google Shape;1295;p23"/>
          <p:cNvCxnSpPr/>
          <p:nvPr/>
        </p:nvCxnSpPr>
        <p:spPr>
          <a:xfrm>
            <a:off x="1741438" y="1053703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23"/>
          <p:cNvCxnSpPr/>
          <p:nvPr/>
        </p:nvCxnSpPr>
        <p:spPr>
          <a:xfrm>
            <a:off x="1746200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23"/>
          <p:cNvSpPr/>
          <p:nvPr/>
        </p:nvSpPr>
        <p:spPr>
          <a:xfrm>
            <a:off x="5657999" y="1048941"/>
            <a:ext cx="1237059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8" name="Google Shape;1298;p23"/>
          <p:cNvCxnSpPr/>
          <p:nvPr/>
        </p:nvCxnSpPr>
        <p:spPr>
          <a:xfrm>
            <a:off x="5657999" y="1053703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9" name="Google Shape;1299;p23"/>
          <p:cNvCxnSpPr/>
          <p:nvPr/>
        </p:nvCxnSpPr>
        <p:spPr>
          <a:xfrm>
            <a:off x="5662761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0" name="Google Shape;1300;p23"/>
          <p:cNvSpPr/>
          <p:nvPr/>
        </p:nvSpPr>
        <p:spPr>
          <a:xfrm>
            <a:off x="6895058" y="1048941"/>
            <a:ext cx="2270224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1" name="Google Shape;1301;p23"/>
          <p:cNvCxnSpPr/>
          <p:nvPr/>
        </p:nvCxnSpPr>
        <p:spPr>
          <a:xfrm>
            <a:off x="6895058" y="1053703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2" name="Google Shape;1302;p23"/>
          <p:cNvCxnSpPr/>
          <p:nvPr/>
        </p:nvCxnSpPr>
        <p:spPr>
          <a:xfrm>
            <a:off x="6899821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3" name="Google Shape;1303;p23"/>
          <p:cNvSpPr/>
          <p:nvPr/>
        </p:nvSpPr>
        <p:spPr>
          <a:xfrm>
            <a:off x="9165282" y="1048941"/>
            <a:ext cx="262190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4" name="Google Shape;1304;p23"/>
          <p:cNvCxnSpPr/>
          <p:nvPr/>
        </p:nvCxnSpPr>
        <p:spPr>
          <a:xfrm>
            <a:off x="9165282" y="1053703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5" name="Google Shape;1305;p23"/>
          <p:cNvCxnSpPr/>
          <p:nvPr/>
        </p:nvCxnSpPr>
        <p:spPr>
          <a:xfrm>
            <a:off x="9170045" y="104894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6" name="Google Shape;1306;p23"/>
          <p:cNvSpPr/>
          <p:nvPr/>
        </p:nvSpPr>
        <p:spPr>
          <a:xfrm>
            <a:off x="404812" y="1293168"/>
            <a:ext cx="133662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7" name="Google Shape;1307;p23"/>
          <p:cNvCxnSpPr/>
          <p:nvPr/>
        </p:nvCxnSpPr>
        <p:spPr>
          <a:xfrm>
            <a:off x="404812" y="1297930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8" name="Google Shape;1308;p23"/>
          <p:cNvCxnSpPr/>
          <p:nvPr/>
        </p:nvCxnSpPr>
        <p:spPr>
          <a:xfrm>
            <a:off x="409575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9" name="Google Shape;1309;p23"/>
          <p:cNvSpPr/>
          <p:nvPr/>
        </p:nvSpPr>
        <p:spPr>
          <a:xfrm>
            <a:off x="1741438" y="1293168"/>
            <a:ext cx="3916561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0" name="Google Shape;1310;p23"/>
          <p:cNvCxnSpPr/>
          <p:nvPr/>
        </p:nvCxnSpPr>
        <p:spPr>
          <a:xfrm>
            <a:off x="1741438" y="1297930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1" name="Google Shape;1311;p23"/>
          <p:cNvCxnSpPr/>
          <p:nvPr/>
        </p:nvCxnSpPr>
        <p:spPr>
          <a:xfrm>
            <a:off x="1746200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2" name="Google Shape;1312;p23"/>
          <p:cNvSpPr/>
          <p:nvPr/>
        </p:nvSpPr>
        <p:spPr>
          <a:xfrm>
            <a:off x="5657999" y="1293168"/>
            <a:ext cx="1237059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3" name="Google Shape;1313;p23"/>
          <p:cNvCxnSpPr/>
          <p:nvPr/>
        </p:nvCxnSpPr>
        <p:spPr>
          <a:xfrm>
            <a:off x="5657999" y="1297930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4" name="Google Shape;1314;p23"/>
          <p:cNvCxnSpPr/>
          <p:nvPr/>
        </p:nvCxnSpPr>
        <p:spPr>
          <a:xfrm>
            <a:off x="5662761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5" name="Google Shape;1315;p23"/>
          <p:cNvSpPr/>
          <p:nvPr/>
        </p:nvSpPr>
        <p:spPr>
          <a:xfrm>
            <a:off x="6895058" y="1293168"/>
            <a:ext cx="2270224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6" name="Google Shape;1316;p23"/>
          <p:cNvCxnSpPr/>
          <p:nvPr/>
        </p:nvCxnSpPr>
        <p:spPr>
          <a:xfrm>
            <a:off x="6895058" y="1297930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7" name="Google Shape;1317;p23"/>
          <p:cNvCxnSpPr/>
          <p:nvPr/>
        </p:nvCxnSpPr>
        <p:spPr>
          <a:xfrm>
            <a:off x="6899821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8" name="Google Shape;1318;p23"/>
          <p:cNvSpPr/>
          <p:nvPr/>
        </p:nvSpPr>
        <p:spPr>
          <a:xfrm>
            <a:off x="9165282" y="1293168"/>
            <a:ext cx="262190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9" name="Google Shape;1319;p23"/>
          <p:cNvCxnSpPr/>
          <p:nvPr/>
        </p:nvCxnSpPr>
        <p:spPr>
          <a:xfrm>
            <a:off x="9165282" y="1297930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0" name="Google Shape;1320;p23"/>
          <p:cNvCxnSpPr/>
          <p:nvPr/>
        </p:nvCxnSpPr>
        <p:spPr>
          <a:xfrm>
            <a:off x="9170045" y="1293168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1" name="Google Shape;1321;p23"/>
          <p:cNvSpPr/>
          <p:nvPr/>
        </p:nvSpPr>
        <p:spPr>
          <a:xfrm>
            <a:off x="404812" y="1537395"/>
            <a:ext cx="133662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2" name="Google Shape;1322;p23"/>
          <p:cNvCxnSpPr/>
          <p:nvPr/>
        </p:nvCxnSpPr>
        <p:spPr>
          <a:xfrm>
            <a:off x="404812" y="1542157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3" name="Google Shape;1323;p23"/>
          <p:cNvCxnSpPr/>
          <p:nvPr/>
        </p:nvCxnSpPr>
        <p:spPr>
          <a:xfrm>
            <a:off x="409575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4" name="Google Shape;1324;p23"/>
          <p:cNvSpPr/>
          <p:nvPr/>
        </p:nvSpPr>
        <p:spPr>
          <a:xfrm>
            <a:off x="1741438" y="1537395"/>
            <a:ext cx="3916561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5" name="Google Shape;1325;p23"/>
          <p:cNvCxnSpPr/>
          <p:nvPr/>
        </p:nvCxnSpPr>
        <p:spPr>
          <a:xfrm>
            <a:off x="1741438" y="1542157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6" name="Google Shape;1326;p23"/>
          <p:cNvCxnSpPr/>
          <p:nvPr/>
        </p:nvCxnSpPr>
        <p:spPr>
          <a:xfrm>
            <a:off x="1746200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7" name="Google Shape;1327;p23"/>
          <p:cNvSpPr/>
          <p:nvPr/>
        </p:nvSpPr>
        <p:spPr>
          <a:xfrm>
            <a:off x="5657999" y="1537395"/>
            <a:ext cx="1237059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8" name="Google Shape;1328;p23"/>
          <p:cNvCxnSpPr/>
          <p:nvPr/>
        </p:nvCxnSpPr>
        <p:spPr>
          <a:xfrm>
            <a:off x="5657999" y="1542157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9" name="Google Shape;1329;p23"/>
          <p:cNvCxnSpPr/>
          <p:nvPr/>
        </p:nvCxnSpPr>
        <p:spPr>
          <a:xfrm>
            <a:off x="5662761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0" name="Google Shape;1330;p23"/>
          <p:cNvSpPr/>
          <p:nvPr/>
        </p:nvSpPr>
        <p:spPr>
          <a:xfrm>
            <a:off x="6895058" y="1537395"/>
            <a:ext cx="2270224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1" name="Google Shape;1331;p23"/>
          <p:cNvCxnSpPr/>
          <p:nvPr/>
        </p:nvCxnSpPr>
        <p:spPr>
          <a:xfrm>
            <a:off x="6895058" y="1542157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2" name="Google Shape;1332;p23"/>
          <p:cNvCxnSpPr/>
          <p:nvPr/>
        </p:nvCxnSpPr>
        <p:spPr>
          <a:xfrm>
            <a:off x="6899821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3" name="Google Shape;1333;p23"/>
          <p:cNvSpPr/>
          <p:nvPr/>
        </p:nvSpPr>
        <p:spPr>
          <a:xfrm>
            <a:off x="9165282" y="1537395"/>
            <a:ext cx="2621905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4" name="Google Shape;1334;p23"/>
          <p:cNvCxnSpPr/>
          <p:nvPr/>
        </p:nvCxnSpPr>
        <p:spPr>
          <a:xfrm>
            <a:off x="9165282" y="1542157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23"/>
          <p:cNvCxnSpPr/>
          <p:nvPr/>
        </p:nvCxnSpPr>
        <p:spPr>
          <a:xfrm>
            <a:off x="9170045" y="1537395"/>
            <a:ext cx="0" cy="2442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6" name="Google Shape;1336;p23"/>
          <p:cNvSpPr/>
          <p:nvPr/>
        </p:nvSpPr>
        <p:spPr>
          <a:xfrm>
            <a:off x="404812" y="1781621"/>
            <a:ext cx="133662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7" name="Google Shape;1337;p23"/>
          <p:cNvCxnSpPr/>
          <p:nvPr/>
        </p:nvCxnSpPr>
        <p:spPr>
          <a:xfrm>
            <a:off x="404812" y="1786384"/>
            <a:ext cx="133662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23"/>
          <p:cNvCxnSpPr/>
          <p:nvPr/>
        </p:nvCxnSpPr>
        <p:spPr>
          <a:xfrm>
            <a:off x="409575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9" name="Google Shape;1339;p23"/>
          <p:cNvSpPr/>
          <p:nvPr/>
        </p:nvSpPr>
        <p:spPr>
          <a:xfrm>
            <a:off x="1741438" y="1781621"/>
            <a:ext cx="3916561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0" name="Google Shape;1340;p23"/>
          <p:cNvCxnSpPr/>
          <p:nvPr/>
        </p:nvCxnSpPr>
        <p:spPr>
          <a:xfrm>
            <a:off x="1741438" y="1786384"/>
            <a:ext cx="391656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23"/>
          <p:cNvCxnSpPr/>
          <p:nvPr/>
        </p:nvCxnSpPr>
        <p:spPr>
          <a:xfrm>
            <a:off x="1746200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2" name="Google Shape;1342;p23"/>
          <p:cNvSpPr/>
          <p:nvPr/>
        </p:nvSpPr>
        <p:spPr>
          <a:xfrm>
            <a:off x="5657999" y="1781621"/>
            <a:ext cx="1237059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3" name="Google Shape;1343;p23"/>
          <p:cNvCxnSpPr/>
          <p:nvPr/>
        </p:nvCxnSpPr>
        <p:spPr>
          <a:xfrm>
            <a:off x="5657999" y="1786384"/>
            <a:ext cx="123705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4" name="Google Shape;1344;p23"/>
          <p:cNvCxnSpPr/>
          <p:nvPr/>
        </p:nvCxnSpPr>
        <p:spPr>
          <a:xfrm>
            <a:off x="5662761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5" name="Google Shape;1345;p23"/>
          <p:cNvSpPr/>
          <p:nvPr/>
        </p:nvSpPr>
        <p:spPr>
          <a:xfrm>
            <a:off x="6895058" y="1781621"/>
            <a:ext cx="2270224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6" name="Google Shape;1346;p23"/>
          <p:cNvCxnSpPr/>
          <p:nvPr/>
        </p:nvCxnSpPr>
        <p:spPr>
          <a:xfrm>
            <a:off x="6895058" y="1786384"/>
            <a:ext cx="227022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7" name="Google Shape;1347;p23"/>
          <p:cNvCxnSpPr/>
          <p:nvPr/>
        </p:nvCxnSpPr>
        <p:spPr>
          <a:xfrm>
            <a:off x="6899821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8" name="Google Shape;1348;p23"/>
          <p:cNvSpPr/>
          <p:nvPr/>
        </p:nvSpPr>
        <p:spPr>
          <a:xfrm>
            <a:off x="9165282" y="1781621"/>
            <a:ext cx="2621905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9" name="Google Shape;1349;p23"/>
          <p:cNvCxnSpPr/>
          <p:nvPr/>
        </p:nvCxnSpPr>
        <p:spPr>
          <a:xfrm>
            <a:off x="9165282" y="1786384"/>
            <a:ext cx="26219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0" name="Google Shape;1350;p23"/>
          <p:cNvCxnSpPr/>
          <p:nvPr/>
        </p:nvCxnSpPr>
        <p:spPr>
          <a:xfrm>
            <a:off x="9170045" y="178162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1" name="Google Shape;1351;p23"/>
          <p:cNvSpPr/>
          <p:nvPr/>
        </p:nvSpPr>
        <p:spPr>
          <a:xfrm>
            <a:off x="400050" y="4208675"/>
            <a:ext cx="11391900" cy="1366200"/>
          </a:xfrm>
          <a:prstGeom prst="roundRect">
            <a:avLst>
              <a:gd fmla="val 457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23"/>
          <p:cNvSpPr txBox="1"/>
          <p:nvPr/>
        </p:nvSpPr>
        <p:spPr>
          <a:xfrm>
            <a:off x="400050" y="161925"/>
            <a:ext cx="3629323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Exemplos reais de 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23"/>
          <p:cNvSpPr txBox="1"/>
          <p:nvPr/>
        </p:nvSpPr>
        <p:spPr>
          <a:xfrm>
            <a:off x="438150" y="818108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23"/>
          <p:cNvSpPr txBox="1"/>
          <p:nvPr/>
        </p:nvSpPr>
        <p:spPr>
          <a:xfrm>
            <a:off x="1779270" y="818108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23"/>
          <p:cNvSpPr txBox="1"/>
          <p:nvPr/>
        </p:nvSpPr>
        <p:spPr>
          <a:xfrm>
            <a:off x="5695950" y="818108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23"/>
          <p:cNvSpPr txBox="1"/>
          <p:nvPr/>
        </p:nvSpPr>
        <p:spPr>
          <a:xfrm>
            <a:off x="6933247" y="818108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FC aproximado (Fa</a:t>
            </a:r>
            <a:r>
              <a:rPr lang="en-US" sz="1087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tor de variação)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23"/>
          <p:cNvSpPr txBox="1"/>
          <p:nvPr/>
        </p:nvSpPr>
        <p:spPr>
          <a:xfrm>
            <a:off x="9203055" y="818108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23"/>
          <p:cNvSpPr txBox="1"/>
          <p:nvPr/>
        </p:nvSpPr>
        <p:spPr>
          <a:xfrm>
            <a:off x="438150" y="1070521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23"/>
          <p:cNvSpPr txBox="1"/>
          <p:nvPr/>
        </p:nvSpPr>
        <p:spPr>
          <a:xfrm>
            <a:off x="1779270" y="1070521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23"/>
          <p:cNvSpPr txBox="1"/>
          <p:nvPr/>
        </p:nvSpPr>
        <p:spPr>
          <a:xfrm>
            <a:off x="5695950" y="1070521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6.969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23"/>
          <p:cNvSpPr txBox="1"/>
          <p:nvPr/>
        </p:nvSpPr>
        <p:spPr>
          <a:xfrm>
            <a:off x="6933247" y="1070521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≈125×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23"/>
          <p:cNvSpPr txBox="1"/>
          <p:nvPr/>
        </p:nvSpPr>
        <p:spPr>
          <a:xfrm>
            <a:off x="9203055" y="1070521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 no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23"/>
          <p:cNvSpPr txBox="1"/>
          <p:nvPr/>
        </p:nvSpPr>
        <p:spPr>
          <a:xfrm>
            <a:off x="438150" y="1314748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23"/>
          <p:cNvSpPr txBox="1"/>
          <p:nvPr/>
        </p:nvSpPr>
        <p:spPr>
          <a:xfrm>
            <a:off x="1779270" y="1314748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23"/>
          <p:cNvSpPr txBox="1"/>
          <p:nvPr/>
        </p:nvSpPr>
        <p:spPr>
          <a:xfrm>
            <a:off x="5695950" y="1314748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2.852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23"/>
          <p:cNvSpPr txBox="1"/>
          <p:nvPr/>
        </p:nvSpPr>
        <p:spPr>
          <a:xfrm>
            <a:off x="6933247" y="1314748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≈7,2×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23"/>
          <p:cNvSpPr txBox="1"/>
          <p:nvPr/>
        </p:nvSpPr>
        <p:spPr>
          <a:xfrm>
            <a:off x="9203055" y="1314748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 no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23"/>
          <p:cNvSpPr txBox="1"/>
          <p:nvPr/>
        </p:nvSpPr>
        <p:spPr>
          <a:xfrm>
            <a:off x="438150" y="1558975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CLEC4M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23"/>
          <p:cNvSpPr txBox="1"/>
          <p:nvPr/>
        </p:nvSpPr>
        <p:spPr>
          <a:xfrm>
            <a:off x="1779270" y="1558975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23"/>
          <p:cNvSpPr txBox="1"/>
          <p:nvPr/>
        </p:nvSpPr>
        <p:spPr>
          <a:xfrm>
            <a:off x="5695950" y="1558975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-10.201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23"/>
          <p:cNvSpPr txBox="1"/>
          <p:nvPr/>
        </p:nvSpPr>
        <p:spPr>
          <a:xfrm>
            <a:off x="6933247" y="1558975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≈1/1.177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23"/>
          <p:cNvSpPr txBox="1"/>
          <p:nvPr/>
        </p:nvSpPr>
        <p:spPr>
          <a:xfrm>
            <a:off x="9203055" y="1558975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 no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23"/>
          <p:cNvSpPr txBox="1"/>
          <p:nvPr/>
        </p:nvSpPr>
        <p:spPr>
          <a:xfrm>
            <a:off x="438150" y="1803202"/>
            <a:ext cx="126492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23"/>
          <p:cNvSpPr txBox="1"/>
          <p:nvPr/>
        </p:nvSpPr>
        <p:spPr>
          <a:xfrm>
            <a:off x="1779270" y="1803202"/>
            <a:ext cx="384048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masculino vs. 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23"/>
          <p:cNvSpPr txBox="1"/>
          <p:nvPr/>
        </p:nvSpPr>
        <p:spPr>
          <a:xfrm>
            <a:off x="5695950" y="1803202"/>
            <a:ext cx="1161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-9.273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23"/>
          <p:cNvSpPr txBox="1"/>
          <p:nvPr/>
        </p:nvSpPr>
        <p:spPr>
          <a:xfrm>
            <a:off x="6933247" y="1803202"/>
            <a:ext cx="219360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≈1/617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23"/>
          <p:cNvSpPr txBox="1"/>
          <p:nvPr/>
        </p:nvSpPr>
        <p:spPr>
          <a:xfrm>
            <a:off x="9203055" y="1803202"/>
            <a:ext cx="254603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 em homens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23"/>
          <p:cNvSpPr txBox="1"/>
          <p:nvPr/>
        </p:nvSpPr>
        <p:spPr>
          <a:xfrm>
            <a:off x="661988" y="2051298"/>
            <a:ext cx="7038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23"/>
          <p:cNvSpPr txBox="1"/>
          <p:nvPr/>
        </p:nvSpPr>
        <p:spPr>
          <a:xfrm>
            <a:off x="1392882" y="2051298"/>
            <a:ext cx="44547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≈125× mais expresso no tumor; marcador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23"/>
          <p:cNvSpPr txBox="1"/>
          <p:nvPr/>
        </p:nvSpPr>
        <p:spPr>
          <a:xfrm>
            <a:off x="661988" y="2370386"/>
            <a:ext cx="174069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clássico de HCC.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23"/>
          <p:cNvSpPr txBox="1"/>
          <p:nvPr/>
        </p:nvSpPr>
        <p:spPr>
          <a:xfrm>
            <a:off x="661988" y="2741861"/>
            <a:ext cx="54024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23"/>
          <p:cNvSpPr txBox="1"/>
          <p:nvPr/>
        </p:nvSpPr>
        <p:spPr>
          <a:xfrm>
            <a:off x="1229320" y="2741861"/>
            <a:ext cx="33099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≈7,2× mais expresso no 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23"/>
          <p:cNvSpPr txBox="1"/>
          <p:nvPr/>
        </p:nvSpPr>
        <p:spPr>
          <a:xfrm>
            <a:off x="661988" y="3113336"/>
            <a:ext cx="10132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CLEC4M: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23"/>
          <p:cNvSpPr txBox="1"/>
          <p:nvPr/>
        </p:nvSpPr>
        <p:spPr>
          <a:xfrm>
            <a:off x="1702296" y="3113336"/>
            <a:ext cx="37305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≈1.177× menor no tumor; receptor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23"/>
          <p:cNvSpPr txBox="1"/>
          <p:nvPr/>
        </p:nvSpPr>
        <p:spPr>
          <a:xfrm>
            <a:off x="661988" y="3432423"/>
            <a:ext cx="40132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endotelial sinusoidal, consistente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23"/>
          <p:cNvSpPr txBox="1"/>
          <p:nvPr/>
        </p:nvSpPr>
        <p:spPr>
          <a:xfrm>
            <a:off x="661988" y="3751511"/>
            <a:ext cx="18541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desdiferenciação.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23"/>
          <p:cNvSpPr txBox="1"/>
          <p:nvPr/>
        </p:nvSpPr>
        <p:spPr>
          <a:xfrm>
            <a:off x="6524625" y="2201317"/>
            <a:ext cx="6051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XIST: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23"/>
          <p:cNvSpPr txBox="1"/>
          <p:nvPr/>
        </p:nvSpPr>
        <p:spPr>
          <a:xfrm>
            <a:off x="7156847" y="2201317"/>
            <a:ext cx="28527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≈617× menor em homens;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23"/>
          <p:cNvSpPr txBox="1"/>
          <p:nvPr/>
        </p:nvSpPr>
        <p:spPr>
          <a:xfrm>
            <a:off x="10036671" y="2201317"/>
            <a:ext cx="9706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23"/>
          <p:cNvSpPr txBox="1"/>
          <p:nvPr/>
        </p:nvSpPr>
        <p:spPr>
          <a:xfrm>
            <a:off x="6524625" y="2520404"/>
            <a:ext cx="9364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23"/>
          <p:cNvSpPr txBox="1"/>
          <p:nvPr/>
        </p:nvSpPr>
        <p:spPr>
          <a:xfrm>
            <a:off x="7488138" y="2520404"/>
            <a:ext cx="267399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 comparação por sexo.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23"/>
          <p:cNvSpPr txBox="1"/>
          <p:nvPr/>
        </p:nvSpPr>
        <p:spPr>
          <a:xfrm>
            <a:off x="6524625" y="2891879"/>
            <a:ext cx="50930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sinal do logFC depende do contraste: positivo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23"/>
          <p:cNvSpPr txBox="1"/>
          <p:nvPr/>
        </p:nvSpPr>
        <p:spPr>
          <a:xfrm>
            <a:off x="6524625" y="3210967"/>
            <a:ext cx="38524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grupo de interesse no numerador.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23"/>
          <p:cNvSpPr txBox="1"/>
          <p:nvPr/>
        </p:nvSpPr>
        <p:spPr>
          <a:xfrm>
            <a:off x="6524625" y="3620542"/>
            <a:ext cx="12939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23"/>
          <p:cNvSpPr txBox="1"/>
          <p:nvPr/>
        </p:nvSpPr>
        <p:spPr>
          <a:xfrm>
            <a:off x="7845623" y="3582442"/>
            <a:ext cx="89296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significa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23"/>
          <p:cNvSpPr txBox="1"/>
          <p:nvPr/>
        </p:nvSpPr>
        <p:spPr>
          <a:xfrm>
            <a:off x="8765679" y="3582442"/>
            <a:ext cx="34349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23"/>
          <p:cNvSpPr txBox="1"/>
          <p:nvPr/>
        </p:nvSpPr>
        <p:spPr>
          <a:xfrm>
            <a:off x="9071074" y="3582442"/>
            <a:ext cx="9586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não 1×.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23"/>
          <p:cNvSpPr txBox="1"/>
          <p:nvPr/>
        </p:nvSpPr>
        <p:spPr>
          <a:xfrm>
            <a:off x="520898" y="4518720"/>
            <a:ext cx="27027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23"/>
          <p:cNvSpPr txBox="1"/>
          <p:nvPr/>
        </p:nvSpPr>
        <p:spPr>
          <a:xfrm>
            <a:off x="3232398" y="4518720"/>
            <a:ext cx="38714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23"/>
          <p:cNvSpPr txBox="1"/>
          <p:nvPr/>
        </p:nvSpPr>
        <p:spPr>
          <a:xfrm>
            <a:off x="7112794" y="4518720"/>
            <a:ext cx="25966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23"/>
          <p:cNvSpPr txBox="1"/>
          <p:nvPr/>
        </p:nvSpPr>
        <p:spPr>
          <a:xfrm>
            <a:off x="9671298" y="4518720"/>
            <a:ext cx="615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23"/>
          <p:cNvSpPr txBox="1"/>
          <p:nvPr/>
        </p:nvSpPr>
        <p:spPr>
          <a:xfrm>
            <a:off x="10249049" y="4480620"/>
            <a:ext cx="398859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23"/>
          <p:cNvSpPr txBox="1"/>
          <p:nvPr/>
        </p:nvSpPr>
        <p:spPr>
          <a:xfrm>
            <a:off x="10609808" y="4518720"/>
            <a:ext cx="8050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23"/>
          <p:cNvSpPr txBox="1"/>
          <p:nvPr/>
        </p:nvSpPr>
        <p:spPr>
          <a:xfrm>
            <a:off x="520898" y="4748361"/>
            <a:ext cx="58345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23"/>
          <p:cNvSpPr txBox="1"/>
          <p:nvPr/>
        </p:nvSpPr>
        <p:spPr>
          <a:xfrm>
            <a:off x="6364337" y="4748361"/>
            <a:ext cx="159484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23"/>
          <p:cNvSpPr txBox="1"/>
          <p:nvPr/>
        </p:nvSpPr>
        <p:spPr>
          <a:xfrm>
            <a:off x="7921079" y="4748361"/>
            <a:ext cx="30916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23"/>
          <p:cNvSpPr/>
          <p:nvPr/>
        </p:nvSpPr>
        <p:spPr>
          <a:xfrm>
            <a:off x="431006" y="217750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23"/>
          <p:cNvSpPr/>
          <p:nvPr/>
        </p:nvSpPr>
        <p:spPr>
          <a:xfrm>
            <a:off x="431006" y="2868067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23"/>
          <p:cNvSpPr/>
          <p:nvPr/>
        </p:nvSpPr>
        <p:spPr>
          <a:xfrm>
            <a:off x="431006" y="3239542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23"/>
          <p:cNvSpPr/>
          <p:nvPr/>
        </p:nvSpPr>
        <p:spPr>
          <a:xfrm>
            <a:off x="6293644" y="232752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23"/>
          <p:cNvSpPr/>
          <p:nvPr/>
        </p:nvSpPr>
        <p:spPr>
          <a:xfrm>
            <a:off x="6293644" y="301808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23"/>
          <p:cNvSpPr/>
          <p:nvPr/>
        </p:nvSpPr>
        <p:spPr>
          <a:xfrm>
            <a:off x="6293644" y="3708648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23"/>
          <p:cNvSpPr txBox="1"/>
          <p:nvPr/>
        </p:nvSpPr>
        <p:spPr>
          <a:xfrm>
            <a:off x="520900" y="4389675"/>
            <a:ext cx="11096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que o logFC é uma diferença: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como os dados já estão em log2(TPM), o logFC é a </a:t>
            </a:r>
            <a:r>
              <a:rPr i="1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diferença entre as médias dos log2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FC = 2 </a:t>
            </a:r>
            <a:r>
              <a:rPr baseline="30000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 Exemplo: logFC = 1,44 → FC ≈ 2,7×. “Down em homens” para XIST significa que XIST é </a:t>
            </a:r>
            <a:r>
              <a:rPr b="1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maior em mulheres 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 o numerador do contraste é masculino.</a:t>
            </a:r>
            <a:endParaRPr b="1" sz="1300">
              <a:solidFill>
                <a:srgbClr val="204A8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04A8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os dados de expressão no projeto são analisados em escala logarítmica de base 2 (log_2), o pacote estatístico calcula diretamente a diferença de médias nessa escala, chamada de </a:t>
            </a:r>
            <a:r>
              <a:rPr b="1"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</a:t>
            </a:r>
            <a:r>
              <a:rPr lang="en-US" sz="1300">
                <a:solidFill>
                  <a:srgbClr val="204A8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2more_horiz.</a:t>
            </a:r>
            <a:endParaRPr sz="1300">
              <a:solidFill>
                <a:srgbClr val="204A8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25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9" name="Google Shape;1419;p25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0" name="Google Shape;1420;p25"/>
          <p:cNvSpPr/>
          <p:nvPr/>
        </p:nvSpPr>
        <p:spPr>
          <a:xfrm>
            <a:off x="849809" y="4302323"/>
            <a:ext cx="4629596" cy="1473994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25"/>
          <p:cNvSpPr/>
          <p:nvPr/>
        </p:nvSpPr>
        <p:spPr>
          <a:xfrm>
            <a:off x="854571" y="4307086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2" name="Google Shape;1422;p25"/>
          <p:cNvCxnSpPr/>
          <p:nvPr/>
        </p:nvCxnSpPr>
        <p:spPr>
          <a:xfrm>
            <a:off x="854571" y="4311848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23" name="Google Shape;1423;p25"/>
          <p:cNvCxnSpPr/>
          <p:nvPr/>
        </p:nvCxnSpPr>
        <p:spPr>
          <a:xfrm>
            <a:off x="859334" y="4307086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24" name="Google Shape;1424;p25"/>
          <p:cNvSpPr/>
          <p:nvPr/>
        </p:nvSpPr>
        <p:spPr>
          <a:xfrm>
            <a:off x="2522934" y="4307086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5" name="Google Shape;1425;p25"/>
          <p:cNvCxnSpPr/>
          <p:nvPr/>
        </p:nvCxnSpPr>
        <p:spPr>
          <a:xfrm>
            <a:off x="2522934" y="4311848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26" name="Google Shape;1426;p25"/>
          <p:cNvCxnSpPr/>
          <p:nvPr/>
        </p:nvCxnSpPr>
        <p:spPr>
          <a:xfrm>
            <a:off x="2527697" y="4307086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27" name="Google Shape;1427;p25"/>
          <p:cNvSpPr/>
          <p:nvPr/>
        </p:nvSpPr>
        <p:spPr>
          <a:xfrm>
            <a:off x="854571" y="4599980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8" name="Google Shape;1428;p25"/>
          <p:cNvCxnSpPr/>
          <p:nvPr/>
        </p:nvCxnSpPr>
        <p:spPr>
          <a:xfrm>
            <a:off x="854571" y="4604742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29" name="Google Shape;1429;p25"/>
          <p:cNvCxnSpPr/>
          <p:nvPr/>
        </p:nvCxnSpPr>
        <p:spPr>
          <a:xfrm>
            <a:off x="859334" y="4599980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30" name="Google Shape;1430;p25"/>
          <p:cNvSpPr/>
          <p:nvPr/>
        </p:nvSpPr>
        <p:spPr>
          <a:xfrm>
            <a:off x="2522934" y="4599980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1" name="Google Shape;1431;p25"/>
          <p:cNvCxnSpPr/>
          <p:nvPr/>
        </p:nvCxnSpPr>
        <p:spPr>
          <a:xfrm>
            <a:off x="2522934" y="4604742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2" name="Google Shape;1432;p25"/>
          <p:cNvCxnSpPr/>
          <p:nvPr/>
        </p:nvCxnSpPr>
        <p:spPr>
          <a:xfrm>
            <a:off x="2527697" y="4599980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33" name="Google Shape;1433;p25"/>
          <p:cNvSpPr/>
          <p:nvPr/>
        </p:nvSpPr>
        <p:spPr>
          <a:xfrm>
            <a:off x="854571" y="4892873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4" name="Google Shape;1434;p25"/>
          <p:cNvCxnSpPr/>
          <p:nvPr/>
        </p:nvCxnSpPr>
        <p:spPr>
          <a:xfrm>
            <a:off x="854571" y="4897636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5" name="Google Shape;1435;p25"/>
          <p:cNvCxnSpPr/>
          <p:nvPr/>
        </p:nvCxnSpPr>
        <p:spPr>
          <a:xfrm>
            <a:off x="859334" y="489287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36" name="Google Shape;1436;p25"/>
          <p:cNvSpPr/>
          <p:nvPr/>
        </p:nvSpPr>
        <p:spPr>
          <a:xfrm>
            <a:off x="2522934" y="4892873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7" name="Google Shape;1437;p25"/>
          <p:cNvCxnSpPr/>
          <p:nvPr/>
        </p:nvCxnSpPr>
        <p:spPr>
          <a:xfrm>
            <a:off x="2522934" y="4897636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8" name="Google Shape;1438;p25"/>
          <p:cNvCxnSpPr/>
          <p:nvPr/>
        </p:nvCxnSpPr>
        <p:spPr>
          <a:xfrm>
            <a:off x="2527697" y="489287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39" name="Google Shape;1439;p25"/>
          <p:cNvSpPr/>
          <p:nvPr/>
        </p:nvSpPr>
        <p:spPr>
          <a:xfrm>
            <a:off x="854571" y="5185767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0" name="Google Shape;1440;p25"/>
          <p:cNvCxnSpPr/>
          <p:nvPr/>
        </p:nvCxnSpPr>
        <p:spPr>
          <a:xfrm>
            <a:off x="854571" y="5190530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41" name="Google Shape;1441;p25"/>
          <p:cNvCxnSpPr/>
          <p:nvPr/>
        </p:nvCxnSpPr>
        <p:spPr>
          <a:xfrm>
            <a:off x="859334" y="518576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42" name="Google Shape;1442;p25"/>
          <p:cNvSpPr/>
          <p:nvPr/>
        </p:nvSpPr>
        <p:spPr>
          <a:xfrm>
            <a:off x="2522934" y="5185767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3" name="Google Shape;1443;p25"/>
          <p:cNvCxnSpPr/>
          <p:nvPr/>
        </p:nvCxnSpPr>
        <p:spPr>
          <a:xfrm>
            <a:off x="2522934" y="5190530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44" name="Google Shape;1444;p25"/>
          <p:cNvCxnSpPr/>
          <p:nvPr/>
        </p:nvCxnSpPr>
        <p:spPr>
          <a:xfrm>
            <a:off x="2527697" y="518576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45" name="Google Shape;1445;p25"/>
          <p:cNvSpPr/>
          <p:nvPr/>
        </p:nvSpPr>
        <p:spPr>
          <a:xfrm>
            <a:off x="854571" y="5478661"/>
            <a:ext cx="1668363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6" name="Google Shape;1446;p25"/>
          <p:cNvCxnSpPr/>
          <p:nvPr/>
        </p:nvCxnSpPr>
        <p:spPr>
          <a:xfrm>
            <a:off x="854571" y="5483423"/>
            <a:ext cx="1668363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47" name="Google Shape;1447;p25"/>
          <p:cNvCxnSpPr/>
          <p:nvPr/>
        </p:nvCxnSpPr>
        <p:spPr>
          <a:xfrm>
            <a:off x="859334" y="5478661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48" name="Google Shape;1448;p25"/>
          <p:cNvSpPr/>
          <p:nvPr/>
        </p:nvSpPr>
        <p:spPr>
          <a:xfrm>
            <a:off x="2522934" y="5478661"/>
            <a:ext cx="2951708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9" name="Google Shape;1449;p25"/>
          <p:cNvCxnSpPr/>
          <p:nvPr/>
        </p:nvCxnSpPr>
        <p:spPr>
          <a:xfrm>
            <a:off x="2522934" y="5483423"/>
            <a:ext cx="295170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50" name="Google Shape;1450;p25"/>
          <p:cNvCxnSpPr/>
          <p:nvPr/>
        </p:nvCxnSpPr>
        <p:spPr>
          <a:xfrm>
            <a:off x="2527697" y="5478661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51" name="Google Shape;1451;p25"/>
          <p:cNvSpPr/>
          <p:nvPr/>
        </p:nvSpPr>
        <p:spPr>
          <a:xfrm>
            <a:off x="6524625" y="1573560"/>
            <a:ext cx="340519" cy="215354"/>
          </a:xfrm>
          <a:prstGeom prst="roundRect">
            <a:avLst>
              <a:gd fmla="val 50000" name="adj"/>
            </a:avLst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25"/>
          <p:cNvSpPr/>
          <p:nvPr/>
        </p:nvSpPr>
        <p:spPr>
          <a:xfrm>
            <a:off x="6524625" y="1945035"/>
            <a:ext cx="539651" cy="215354"/>
          </a:xfrm>
          <a:prstGeom prst="roundRect">
            <a:avLst>
              <a:gd fmla="val 50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25"/>
          <p:cNvSpPr/>
          <p:nvPr/>
        </p:nvSpPr>
        <p:spPr>
          <a:xfrm>
            <a:off x="6262688" y="3207693"/>
            <a:ext cx="5529262" cy="87153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25"/>
          <p:cNvSpPr/>
          <p:nvPr/>
        </p:nvSpPr>
        <p:spPr>
          <a:xfrm>
            <a:off x="6262688" y="3398193"/>
            <a:ext cx="5548312" cy="490538"/>
          </a:xfrm>
          <a:prstGeom prst="roundRect">
            <a:avLst>
              <a:gd fmla="val 9708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25"/>
          <p:cNvSpPr/>
          <p:nvPr/>
        </p:nvSpPr>
        <p:spPr>
          <a:xfrm>
            <a:off x="6262688" y="4317355"/>
            <a:ext cx="5529262" cy="1478012"/>
          </a:xfrm>
          <a:prstGeom prst="roundRect">
            <a:avLst>
              <a:gd fmla="val 3222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6" name="Google Shape;1456;p25"/>
          <p:cNvCxnSpPr/>
          <p:nvPr/>
        </p:nvCxnSpPr>
        <p:spPr>
          <a:xfrm>
            <a:off x="6286500" y="4317355"/>
            <a:ext cx="0" cy="1478012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7" name="Google Shape;1457;p25"/>
          <p:cNvSpPr/>
          <p:nvPr/>
        </p:nvSpPr>
        <p:spPr>
          <a:xfrm>
            <a:off x="6262688" y="5881092"/>
            <a:ext cx="5529262" cy="1232743"/>
          </a:xfrm>
          <a:prstGeom prst="roundRect">
            <a:avLst>
              <a:gd fmla="val 386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25"/>
          <p:cNvSpPr txBox="1"/>
          <p:nvPr/>
        </p:nvSpPr>
        <p:spPr>
          <a:xfrm>
            <a:off x="400050" y="161925"/>
            <a:ext cx="445055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Anatomia de um volcano plot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25"/>
          <p:cNvSpPr txBox="1"/>
          <p:nvPr/>
        </p:nvSpPr>
        <p:spPr>
          <a:xfrm>
            <a:off x="400050" y="2311598"/>
            <a:ext cx="6103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Eixos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25"/>
          <p:cNvSpPr txBox="1"/>
          <p:nvPr/>
        </p:nvSpPr>
        <p:spPr>
          <a:xfrm>
            <a:off x="661988" y="2821186"/>
            <a:ext cx="23425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25"/>
          <p:cNvSpPr txBox="1"/>
          <p:nvPr/>
        </p:nvSpPr>
        <p:spPr>
          <a:xfrm>
            <a:off x="923479" y="2859286"/>
            <a:ext cx="735806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25"/>
          <p:cNvSpPr txBox="1"/>
          <p:nvPr/>
        </p:nvSpPr>
        <p:spPr>
          <a:xfrm>
            <a:off x="1686371" y="2821186"/>
            <a:ext cx="25631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magnitude e direção.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25"/>
          <p:cNvSpPr txBox="1"/>
          <p:nvPr/>
        </p:nvSpPr>
        <p:spPr>
          <a:xfrm>
            <a:off x="661988" y="3211711"/>
            <a:ext cx="2308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25"/>
          <p:cNvSpPr txBox="1"/>
          <p:nvPr/>
        </p:nvSpPr>
        <p:spPr>
          <a:xfrm>
            <a:off x="920055" y="3249811"/>
            <a:ext cx="1572964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−log10(FDR)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25"/>
          <p:cNvSpPr txBox="1"/>
          <p:nvPr/>
        </p:nvSpPr>
        <p:spPr>
          <a:xfrm>
            <a:off x="2520107" y="3211711"/>
            <a:ext cx="26146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significância ajustada.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25"/>
          <p:cNvSpPr txBox="1"/>
          <p:nvPr/>
        </p:nvSpPr>
        <p:spPr>
          <a:xfrm>
            <a:off x="400050" y="3792736"/>
            <a:ext cx="91067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25"/>
          <p:cNvSpPr txBox="1"/>
          <p:nvPr/>
        </p:nvSpPr>
        <p:spPr>
          <a:xfrm>
            <a:off x="892492" y="4335661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25"/>
          <p:cNvSpPr txBox="1"/>
          <p:nvPr/>
        </p:nvSpPr>
        <p:spPr>
          <a:xfrm>
            <a:off x="2561272" y="4335661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25"/>
          <p:cNvSpPr txBox="1"/>
          <p:nvPr/>
        </p:nvSpPr>
        <p:spPr>
          <a:xfrm>
            <a:off x="892492" y="4628555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Direita superior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25"/>
          <p:cNvSpPr txBox="1"/>
          <p:nvPr/>
        </p:nvSpPr>
        <p:spPr>
          <a:xfrm>
            <a:off x="2561272" y="4628555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up-regulado e significativo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25"/>
          <p:cNvSpPr txBox="1"/>
          <p:nvPr/>
        </p:nvSpPr>
        <p:spPr>
          <a:xfrm>
            <a:off x="892492" y="4921448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Esquerda superior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25"/>
          <p:cNvSpPr txBox="1"/>
          <p:nvPr/>
        </p:nvSpPr>
        <p:spPr>
          <a:xfrm>
            <a:off x="2561272" y="4921448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down-regulado e significativo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25"/>
          <p:cNvSpPr txBox="1"/>
          <p:nvPr/>
        </p:nvSpPr>
        <p:spPr>
          <a:xfrm>
            <a:off x="892492" y="5214342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25"/>
          <p:cNvSpPr txBox="1"/>
          <p:nvPr/>
        </p:nvSpPr>
        <p:spPr>
          <a:xfrm>
            <a:off x="2561272" y="5214342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evidência de diferença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25"/>
          <p:cNvSpPr txBox="1"/>
          <p:nvPr/>
        </p:nvSpPr>
        <p:spPr>
          <a:xfrm>
            <a:off x="892492" y="5507236"/>
            <a:ext cx="15925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Laterais inferiores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25"/>
          <p:cNvSpPr txBox="1"/>
          <p:nvPr/>
        </p:nvSpPr>
        <p:spPr>
          <a:xfrm>
            <a:off x="2561272" y="5507236"/>
            <a:ext cx="2875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 grande, mas não significativo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25"/>
          <p:cNvSpPr txBox="1"/>
          <p:nvPr/>
        </p:nvSpPr>
        <p:spPr>
          <a:xfrm>
            <a:off x="6262688" y="974080"/>
            <a:ext cx="15756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Cores e linhas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5"/>
          <p:cNvSpPr txBox="1"/>
          <p:nvPr/>
        </p:nvSpPr>
        <p:spPr>
          <a:xfrm>
            <a:off x="6598444" y="1572816"/>
            <a:ext cx="2309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0" i="0" lang="en-US" sz="1162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25"/>
          <p:cNvSpPr txBox="1"/>
          <p:nvPr/>
        </p:nvSpPr>
        <p:spPr>
          <a:xfrm>
            <a:off x="6930330" y="1483668"/>
            <a:ext cx="10211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vermelho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5"/>
          <p:cNvSpPr txBox="1"/>
          <p:nvPr/>
        </p:nvSpPr>
        <p:spPr>
          <a:xfrm>
            <a:off x="6598444" y="1944291"/>
            <a:ext cx="43011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0" i="0" lang="en-US" sz="1162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25"/>
          <p:cNvSpPr txBox="1"/>
          <p:nvPr/>
        </p:nvSpPr>
        <p:spPr>
          <a:xfrm>
            <a:off x="7129462" y="1855143"/>
            <a:ext cx="4594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25"/>
          <p:cNvSpPr txBox="1"/>
          <p:nvPr/>
        </p:nvSpPr>
        <p:spPr>
          <a:xfrm>
            <a:off x="6524625" y="2226618"/>
            <a:ext cx="243110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Cinza: não significativo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5"/>
          <p:cNvSpPr txBox="1"/>
          <p:nvPr/>
        </p:nvSpPr>
        <p:spPr>
          <a:xfrm>
            <a:off x="6524625" y="2598093"/>
            <a:ext cx="45386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Linhas tracejadas: FDR = 0,05 e logFC = ±1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5"/>
          <p:cNvSpPr txBox="1"/>
          <p:nvPr/>
        </p:nvSpPr>
        <p:spPr>
          <a:xfrm>
            <a:off x="6355556" y="3491061"/>
            <a:ext cx="7358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regulation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25"/>
          <p:cNvSpPr txBox="1"/>
          <p:nvPr/>
        </p:nvSpPr>
        <p:spPr>
          <a:xfrm>
            <a:off x="7123063" y="3491061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5"/>
          <p:cNvSpPr txBox="1"/>
          <p:nvPr/>
        </p:nvSpPr>
        <p:spPr>
          <a:xfrm>
            <a:off x="7332464" y="34910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25"/>
          <p:cNvSpPr txBox="1"/>
          <p:nvPr/>
        </p:nvSpPr>
        <p:spPr>
          <a:xfrm>
            <a:off x="7751118" y="3491061"/>
            <a:ext cx="7358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(adj.P.Val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25"/>
          <p:cNvSpPr txBox="1"/>
          <p:nvPr/>
        </p:nvSpPr>
        <p:spPr>
          <a:xfrm>
            <a:off x="8518624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5"/>
          <p:cNvSpPr txBox="1"/>
          <p:nvPr/>
        </p:nvSpPr>
        <p:spPr>
          <a:xfrm>
            <a:off x="8658225" y="34910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0.05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25"/>
          <p:cNvSpPr txBox="1"/>
          <p:nvPr/>
        </p:nvSpPr>
        <p:spPr>
          <a:xfrm>
            <a:off x="9007078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25"/>
          <p:cNvSpPr txBox="1"/>
          <p:nvPr/>
        </p:nvSpPr>
        <p:spPr>
          <a:xfrm>
            <a:off x="9146530" y="3491061"/>
            <a:ext cx="3871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25"/>
          <p:cNvSpPr txBox="1"/>
          <p:nvPr/>
        </p:nvSpPr>
        <p:spPr>
          <a:xfrm>
            <a:off x="9565332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25"/>
          <p:cNvSpPr txBox="1"/>
          <p:nvPr/>
        </p:nvSpPr>
        <p:spPr>
          <a:xfrm>
            <a:off x="9774734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25"/>
          <p:cNvSpPr txBox="1"/>
          <p:nvPr/>
        </p:nvSpPr>
        <p:spPr>
          <a:xfrm>
            <a:off x="9844534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25"/>
          <p:cNvSpPr txBox="1"/>
          <p:nvPr/>
        </p:nvSpPr>
        <p:spPr>
          <a:xfrm>
            <a:off x="9984135" y="34910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"Up"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25"/>
          <p:cNvSpPr txBox="1"/>
          <p:nvPr/>
        </p:nvSpPr>
        <p:spPr>
          <a:xfrm>
            <a:off x="10263188" y="3491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25"/>
          <p:cNvSpPr txBox="1"/>
          <p:nvPr/>
        </p:nvSpPr>
        <p:spPr>
          <a:xfrm>
            <a:off x="7332315" y="36434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25"/>
          <p:cNvSpPr txBox="1"/>
          <p:nvPr/>
        </p:nvSpPr>
        <p:spPr>
          <a:xfrm>
            <a:off x="7750969" y="3643461"/>
            <a:ext cx="7358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(adj.P.Val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25"/>
          <p:cNvSpPr txBox="1"/>
          <p:nvPr/>
        </p:nvSpPr>
        <p:spPr>
          <a:xfrm>
            <a:off x="8518475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25"/>
          <p:cNvSpPr txBox="1"/>
          <p:nvPr/>
        </p:nvSpPr>
        <p:spPr>
          <a:xfrm>
            <a:off x="8658076" y="36434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0.05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25"/>
          <p:cNvSpPr txBox="1"/>
          <p:nvPr/>
        </p:nvSpPr>
        <p:spPr>
          <a:xfrm>
            <a:off x="9006929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25"/>
          <p:cNvSpPr txBox="1"/>
          <p:nvPr/>
        </p:nvSpPr>
        <p:spPr>
          <a:xfrm>
            <a:off x="9146381" y="3643461"/>
            <a:ext cx="3871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logFC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25"/>
          <p:cNvSpPr txBox="1"/>
          <p:nvPr/>
        </p:nvSpPr>
        <p:spPr>
          <a:xfrm>
            <a:off x="9565184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25"/>
          <p:cNvSpPr txBox="1"/>
          <p:nvPr/>
        </p:nvSpPr>
        <p:spPr>
          <a:xfrm>
            <a:off x="9704784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25"/>
          <p:cNvSpPr txBox="1"/>
          <p:nvPr/>
        </p:nvSpPr>
        <p:spPr>
          <a:xfrm>
            <a:off x="9774585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000C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25"/>
          <p:cNvSpPr txBox="1"/>
          <p:nvPr/>
        </p:nvSpPr>
        <p:spPr>
          <a:xfrm>
            <a:off x="9844385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25"/>
          <p:cNvSpPr txBox="1"/>
          <p:nvPr/>
        </p:nvSpPr>
        <p:spPr>
          <a:xfrm>
            <a:off x="9983986" y="36434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"Down"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25"/>
          <p:cNvSpPr txBox="1"/>
          <p:nvPr/>
        </p:nvSpPr>
        <p:spPr>
          <a:xfrm>
            <a:off x="10402639" y="3643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25"/>
          <p:cNvSpPr txBox="1"/>
          <p:nvPr/>
        </p:nvSpPr>
        <p:spPr>
          <a:xfrm>
            <a:off x="10542240" y="36434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4E9A06"/>
                </a:solidFill>
                <a:latin typeface="Consolas"/>
                <a:ea typeface="Consolas"/>
                <a:cs typeface="Consolas"/>
                <a:sym typeface="Consolas"/>
              </a:rPr>
              <a:t>"NS"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25"/>
          <p:cNvSpPr txBox="1"/>
          <p:nvPr/>
        </p:nvSpPr>
        <p:spPr>
          <a:xfrm>
            <a:off x="10821293" y="3643461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25"/>
          <p:cNvSpPr txBox="1"/>
          <p:nvPr/>
        </p:nvSpPr>
        <p:spPr>
          <a:xfrm>
            <a:off x="6383536" y="6153001"/>
            <a:ext cx="13500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 do eixo 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25"/>
          <p:cNvSpPr txBox="1"/>
          <p:nvPr/>
        </p:nvSpPr>
        <p:spPr>
          <a:xfrm>
            <a:off x="7742337" y="6153001"/>
            <a:ext cx="38044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−log10(FDR). FDR 0,05 → 1,3; 0,01 → 2; 0,001 → 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3" name="Google Shape;1513;p25"/>
          <p:cNvSpPr txBox="1"/>
          <p:nvPr/>
        </p:nvSpPr>
        <p:spPr>
          <a:xfrm>
            <a:off x="6383536" y="6382643"/>
            <a:ext cx="52493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10⁻⁶ → 6. Quanto mais alto, menor o FDR. A linha horizontal em 1,3 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25"/>
          <p:cNvSpPr txBox="1"/>
          <p:nvPr/>
        </p:nvSpPr>
        <p:spPr>
          <a:xfrm>
            <a:off x="6383536" y="6612285"/>
            <a:ext cx="12087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corte de 0,05.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25"/>
          <p:cNvSpPr/>
          <p:nvPr/>
        </p:nvSpPr>
        <p:spPr>
          <a:xfrm>
            <a:off x="431006" y="2947392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25"/>
          <p:cNvSpPr/>
          <p:nvPr/>
        </p:nvSpPr>
        <p:spPr>
          <a:xfrm>
            <a:off x="431006" y="3337917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25"/>
          <p:cNvSpPr/>
          <p:nvPr/>
        </p:nvSpPr>
        <p:spPr>
          <a:xfrm>
            <a:off x="6293644" y="160987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25"/>
          <p:cNvSpPr/>
          <p:nvPr/>
        </p:nvSpPr>
        <p:spPr>
          <a:xfrm>
            <a:off x="6293644" y="1981349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25"/>
          <p:cNvSpPr/>
          <p:nvPr/>
        </p:nvSpPr>
        <p:spPr>
          <a:xfrm>
            <a:off x="6293644" y="235282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25"/>
          <p:cNvSpPr/>
          <p:nvPr/>
        </p:nvSpPr>
        <p:spPr>
          <a:xfrm>
            <a:off x="6293644" y="2724299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25"/>
          <p:cNvSpPr/>
          <p:nvPr/>
        </p:nvSpPr>
        <p:spPr>
          <a:xfrm>
            <a:off x="400050" y="714241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2015; Benjamini, 2010.</a:t>
            </a:r>
            <a:endParaRPr/>
          </a:p>
        </p:txBody>
      </p:sp>
      <p:sp>
        <p:nvSpPr>
          <p:cNvPr id="1522" name="Google Shape;1522;p25"/>
          <p:cNvSpPr txBox="1"/>
          <p:nvPr/>
        </p:nvSpPr>
        <p:spPr>
          <a:xfrm>
            <a:off x="6324600" y="4625724"/>
            <a:ext cx="5429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volcano </a:t>
            </a:r>
            <a:r>
              <a:rPr b="1"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mostra tamanho amostral, precisão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lang="en-US" sz="1687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 confundimento de lote</a:t>
            </a: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Um ponto up pode ser biologia, lote ou ambos.</a:t>
            </a:r>
            <a:endParaRPr sz="1687">
              <a:solidFill>
                <a:srgbClr val="1E293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26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8" name="Google Shape;1528;p26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9" name="Google Shape;1529;p26"/>
          <p:cNvSpPr/>
          <p:nvPr/>
        </p:nvSpPr>
        <p:spPr>
          <a:xfrm>
            <a:off x="7705130" y="950268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0" name="Google Shape;1530;p26"/>
          <p:cNvCxnSpPr/>
          <p:nvPr/>
        </p:nvCxnSpPr>
        <p:spPr>
          <a:xfrm>
            <a:off x="7705130" y="969318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1" name="Google Shape;1531;p26"/>
          <p:cNvSpPr/>
          <p:nvPr/>
        </p:nvSpPr>
        <p:spPr>
          <a:xfrm>
            <a:off x="7705130" y="2018258"/>
            <a:ext cx="4086820" cy="877491"/>
          </a:xfrm>
          <a:prstGeom prst="roundRect">
            <a:avLst>
              <a:gd fmla="val 542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2" name="Google Shape;1532;p26"/>
          <p:cNvCxnSpPr/>
          <p:nvPr/>
        </p:nvCxnSpPr>
        <p:spPr>
          <a:xfrm>
            <a:off x="7705130" y="2037308"/>
            <a:ext cx="4086820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83f8833ee28af59f50203b40e28efa7.png" id="1533" name="Google Shape;15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527" y="1528762"/>
            <a:ext cx="600075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26"/>
          <p:cNvSpPr txBox="1"/>
          <p:nvPr/>
        </p:nvSpPr>
        <p:spPr>
          <a:xfrm>
            <a:off x="400050" y="161925"/>
            <a:ext cx="5952381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Volcano 01 — TCGA tumor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26"/>
          <p:cNvSpPr txBox="1"/>
          <p:nvPr/>
        </p:nvSpPr>
        <p:spPr>
          <a:xfrm>
            <a:off x="1496318" y="6231434"/>
            <a:ext cx="481726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V1. 369 tumores primários vs. 50 tecidos adjacentes; limma com sexo e 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26"/>
          <p:cNvSpPr txBox="1"/>
          <p:nvPr/>
        </p:nvSpPr>
        <p:spPr>
          <a:xfrm>
            <a:off x="9273778" y="1062186"/>
            <a:ext cx="9874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B91C1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3.322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26"/>
          <p:cNvSpPr txBox="1"/>
          <p:nvPr/>
        </p:nvSpPr>
        <p:spPr>
          <a:xfrm>
            <a:off x="9483030" y="1530102"/>
            <a:ext cx="56897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genes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26"/>
          <p:cNvSpPr txBox="1"/>
          <p:nvPr/>
        </p:nvSpPr>
        <p:spPr>
          <a:xfrm>
            <a:off x="9430048" y="2130177"/>
            <a:ext cx="675084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6"/>
              <a:buFont typeface="Arial"/>
              <a:buNone/>
            </a:pPr>
            <a:r>
              <a:rPr b="1" i="0" lang="en-US" sz="290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26"/>
          <p:cNvSpPr txBox="1"/>
          <p:nvPr/>
        </p:nvSpPr>
        <p:spPr>
          <a:xfrm>
            <a:off x="9397305" y="2598093"/>
            <a:ext cx="7404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1"/>
              <a:buFont typeface="Arial"/>
              <a:buNone/>
            </a:pPr>
            <a:r>
              <a:rPr b="0" i="0" lang="en-US" sz="103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genes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26"/>
          <p:cNvSpPr txBox="1"/>
          <p:nvPr/>
        </p:nvSpPr>
        <p:spPr>
          <a:xfrm>
            <a:off x="7705130" y="3086249"/>
            <a:ext cx="4225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26"/>
          <p:cNvSpPr txBox="1"/>
          <p:nvPr/>
        </p:nvSpPr>
        <p:spPr>
          <a:xfrm>
            <a:off x="8154739" y="3086249"/>
            <a:ext cx="250552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GABRD, PLVAP, DIPK2B,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26"/>
          <p:cNvSpPr txBox="1"/>
          <p:nvPr/>
        </p:nvSpPr>
        <p:spPr>
          <a:xfrm>
            <a:off x="7705130" y="3405336"/>
            <a:ext cx="38973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TOMM40L, HIGD1B, UBE2T, CDC25C,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26"/>
          <p:cNvSpPr txBox="1"/>
          <p:nvPr/>
        </p:nvSpPr>
        <p:spPr>
          <a:xfrm>
            <a:off x="7705130" y="3724424"/>
            <a:ext cx="22001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BIRC5, GPC3, MMP9.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26"/>
          <p:cNvSpPr txBox="1"/>
          <p:nvPr/>
        </p:nvSpPr>
        <p:spPr>
          <a:xfrm>
            <a:off x="7705130" y="4234011"/>
            <a:ext cx="7578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26"/>
          <p:cNvSpPr txBox="1"/>
          <p:nvPr/>
        </p:nvSpPr>
        <p:spPr>
          <a:xfrm>
            <a:off x="8490049" y="4234011"/>
            <a:ext cx="32743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CLEC4G, CLEC4M, FCN3, GDF2,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26"/>
          <p:cNvSpPr txBox="1"/>
          <p:nvPr/>
        </p:nvSpPr>
        <p:spPr>
          <a:xfrm>
            <a:off x="7705130" y="4553099"/>
            <a:ext cx="335860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CRHBP, CLEC1B, MARCO, FCN2,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26"/>
          <p:cNvSpPr txBox="1"/>
          <p:nvPr/>
        </p:nvSpPr>
        <p:spPr>
          <a:xfrm>
            <a:off x="7705130" y="4872186"/>
            <a:ext cx="22148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ADAMTS13, CYP1A2.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26"/>
          <p:cNvSpPr/>
          <p:nvPr/>
        </p:nvSpPr>
        <p:spPr>
          <a:xfrm>
            <a:off x="400050" y="7175451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36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4" name="Google Shape;1554;p36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5" name="Google Shape;1555;p36"/>
          <p:cNvSpPr/>
          <p:nvPr/>
        </p:nvSpPr>
        <p:spPr>
          <a:xfrm>
            <a:off x="7690247" y="862161"/>
            <a:ext cx="4101703" cy="776288"/>
          </a:xfrm>
          <a:prstGeom prst="roundRect">
            <a:avLst>
              <a:gd fmla="val 613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6" name="Google Shape;1556;p36"/>
          <p:cNvCxnSpPr/>
          <p:nvPr/>
        </p:nvCxnSpPr>
        <p:spPr>
          <a:xfrm>
            <a:off x="7690247" y="881211"/>
            <a:ext cx="4101703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7" name="Google Shape;1557;p36"/>
          <p:cNvSpPr/>
          <p:nvPr/>
        </p:nvSpPr>
        <p:spPr>
          <a:xfrm>
            <a:off x="7690247" y="1806029"/>
            <a:ext cx="4101703" cy="776288"/>
          </a:xfrm>
          <a:prstGeom prst="roundRect">
            <a:avLst>
              <a:gd fmla="val 613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8" name="Google Shape;1558;p36"/>
          <p:cNvCxnSpPr/>
          <p:nvPr/>
        </p:nvCxnSpPr>
        <p:spPr>
          <a:xfrm>
            <a:off x="7690247" y="1825079"/>
            <a:ext cx="4101703" cy="0"/>
          </a:xfrm>
          <a:prstGeom prst="straightConnector1">
            <a:avLst/>
          </a:prstGeom>
          <a:noFill/>
          <a:ln cap="flat" cmpd="sng" w="381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9" name="Google Shape;1559;p36"/>
          <p:cNvSpPr/>
          <p:nvPr/>
        </p:nvSpPr>
        <p:spPr>
          <a:xfrm>
            <a:off x="7690247" y="3922961"/>
            <a:ext cx="4101703" cy="1506438"/>
          </a:xfrm>
          <a:prstGeom prst="roundRect">
            <a:avLst>
              <a:gd fmla="val 3793" name="adj"/>
            </a:avLst>
          </a:prstGeom>
          <a:solidFill>
            <a:srgbClr val="FFF7ED"/>
          </a:solidFill>
          <a:ln cap="flat" cmpd="sng" w="190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36"/>
          <p:cNvSpPr/>
          <p:nvPr/>
        </p:nvSpPr>
        <p:spPr>
          <a:xfrm>
            <a:off x="7690247" y="5551884"/>
            <a:ext cx="4101703" cy="1530548"/>
          </a:xfrm>
          <a:prstGeom prst="roundRect">
            <a:avLst>
              <a:gd fmla="val 3111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1" name="Google Shape;1561;p36"/>
          <p:cNvCxnSpPr/>
          <p:nvPr/>
        </p:nvCxnSpPr>
        <p:spPr>
          <a:xfrm>
            <a:off x="7714059" y="5551884"/>
            <a:ext cx="0" cy="1530549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b9d4b2fd3d37b2a42dadc51addf67c33.png" id="1562" name="Google Shape;156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346" y="1522512"/>
            <a:ext cx="5878264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36"/>
          <p:cNvSpPr txBox="1"/>
          <p:nvPr/>
        </p:nvSpPr>
        <p:spPr>
          <a:xfrm>
            <a:off x="400050" y="161925"/>
            <a:ext cx="49067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Volcano 11 — via LA (KEGG hsa05417)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4" name="Google Shape;1564;p36"/>
          <p:cNvSpPr txBox="1"/>
          <p:nvPr/>
        </p:nvSpPr>
        <p:spPr>
          <a:xfrm>
            <a:off x="1979861" y="6124575"/>
            <a:ext cx="3875336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V11. 213 genes da via Lipídios e Aterosclerose: tumor vs. GTEx 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5" name="Google Shape;1565;p36"/>
          <p:cNvSpPr txBox="1"/>
          <p:nvPr/>
        </p:nvSpPr>
        <p:spPr>
          <a:xfrm>
            <a:off x="9554319" y="958304"/>
            <a:ext cx="411659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7"/>
              <a:buFont typeface="Arial"/>
              <a:buNone/>
            </a:pPr>
            <a:r>
              <a:rPr b="1" i="0" lang="en-US" sz="2557" u="none" cap="none" strike="noStrike">
                <a:solidFill>
                  <a:srgbClr val="B91C1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36"/>
          <p:cNvSpPr txBox="1"/>
          <p:nvPr/>
        </p:nvSpPr>
        <p:spPr>
          <a:xfrm>
            <a:off x="9586636" y="1389300"/>
            <a:ext cx="184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7"/>
              <a:buFont typeface="Arial"/>
              <a:buNone/>
            </a:pPr>
            <a:r>
              <a:rPr b="0" i="0" lang="en-US" sz="907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36"/>
          <p:cNvSpPr txBox="1"/>
          <p:nvPr/>
        </p:nvSpPr>
        <p:spPr>
          <a:xfrm>
            <a:off x="9554319" y="1902172"/>
            <a:ext cx="411659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7"/>
              <a:buFont typeface="Arial"/>
              <a:buNone/>
            </a:pPr>
            <a:r>
              <a:rPr b="1" i="0" lang="en-US" sz="2557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36"/>
          <p:cNvSpPr txBox="1"/>
          <p:nvPr/>
        </p:nvSpPr>
        <p:spPr>
          <a:xfrm>
            <a:off x="9599116" y="2319486"/>
            <a:ext cx="32206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7"/>
              <a:buFont typeface="Arial"/>
              <a:buNone/>
            </a:pPr>
            <a:r>
              <a:rPr b="0" i="0" lang="en-US" sz="907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36"/>
          <p:cNvSpPr txBox="1"/>
          <p:nvPr/>
        </p:nvSpPr>
        <p:spPr>
          <a:xfrm>
            <a:off x="7870031" y="2719388"/>
            <a:ext cx="107468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1" i="0" lang="en-US" sz="12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 no tumor: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36"/>
          <p:cNvSpPr txBox="1"/>
          <p:nvPr/>
        </p:nvSpPr>
        <p:spPr>
          <a:xfrm>
            <a:off x="8951416" y="2719388"/>
            <a:ext cx="36492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1" i="0" lang="en-US" sz="12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36"/>
          <p:cNvSpPr txBox="1"/>
          <p:nvPr/>
        </p:nvSpPr>
        <p:spPr>
          <a:xfrm>
            <a:off x="9278243" y="2719388"/>
            <a:ext cx="214342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HSPA4, HSP90AB1, PYCARD,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36"/>
          <p:cNvSpPr txBox="1"/>
          <p:nvPr/>
        </p:nvSpPr>
        <p:spPr>
          <a:xfrm>
            <a:off x="7870031" y="2923580"/>
            <a:ext cx="36177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PPARG, MMP1, LY96, ABCG1, MMP9, IKBKE, CD36,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36"/>
          <p:cNvSpPr txBox="1"/>
          <p:nvPr/>
        </p:nvSpPr>
        <p:spPr>
          <a:xfrm>
            <a:off x="7870031" y="3127772"/>
            <a:ext cx="17028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VCAM1, NOX1, PIK3R2.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36"/>
          <p:cNvSpPr txBox="1"/>
          <p:nvPr/>
        </p:nvSpPr>
        <p:spPr>
          <a:xfrm>
            <a:off x="7870031" y="3367832"/>
            <a:ext cx="130477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1" i="0" lang="en-US" sz="12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 no tumor: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36"/>
          <p:cNvSpPr txBox="1"/>
          <p:nvPr/>
        </p:nvSpPr>
        <p:spPr>
          <a:xfrm>
            <a:off x="9181356" y="3367832"/>
            <a:ext cx="21386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CALML5, AGER, CXCL2, MIB2,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36"/>
          <p:cNvSpPr txBox="1"/>
          <p:nvPr/>
        </p:nvSpPr>
        <p:spPr>
          <a:xfrm>
            <a:off x="7870031" y="3572024"/>
            <a:ext cx="11696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CALML6, IKBKB.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36"/>
          <p:cNvSpPr txBox="1"/>
          <p:nvPr/>
        </p:nvSpPr>
        <p:spPr>
          <a:xfrm>
            <a:off x="7838331" y="4205883"/>
            <a:ext cx="161880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1" i="0" lang="en-US" sz="1452" u="none" cap="none" strike="noStrike">
                <a:solidFill>
                  <a:srgbClr val="C241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 em destaque: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36"/>
          <p:cNvSpPr txBox="1"/>
          <p:nvPr/>
        </p:nvSpPr>
        <p:spPr>
          <a:xfrm>
            <a:off x="9469487" y="4205883"/>
            <a:ext cx="207079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0" i="0" lang="en-US" sz="145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efetor pró-apoptótico 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36"/>
          <p:cNvSpPr txBox="1"/>
          <p:nvPr/>
        </p:nvSpPr>
        <p:spPr>
          <a:xfrm>
            <a:off x="7838331" y="4436269"/>
            <a:ext cx="200784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0" i="0" lang="en-US" sz="145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família BCL-2. Na via LA: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36"/>
          <p:cNvSpPr txBox="1"/>
          <p:nvPr/>
        </p:nvSpPr>
        <p:spPr>
          <a:xfrm>
            <a:off x="9858673" y="4436269"/>
            <a:ext cx="125908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1" i="0" lang="en-US" sz="1452" u="none" cap="none" strike="noStrike">
                <a:solidFill>
                  <a:srgbClr val="C241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logFC = +1,30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36"/>
          <p:cNvSpPr txBox="1"/>
          <p:nvPr/>
        </p:nvSpPr>
        <p:spPr>
          <a:xfrm>
            <a:off x="7838331" y="4666655"/>
            <a:ext cx="68074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0" i="0" lang="en-US" sz="145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(≈2,5×),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36"/>
          <p:cNvSpPr txBox="1"/>
          <p:nvPr/>
        </p:nvSpPr>
        <p:spPr>
          <a:xfrm>
            <a:off x="8531423" y="4666655"/>
            <a:ext cx="155510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2"/>
              <a:buFont typeface="Arial"/>
              <a:buNone/>
            </a:pPr>
            <a:r>
              <a:rPr b="1" i="0" lang="en-US" sz="1452" u="none" cap="none" strike="noStrike">
                <a:solidFill>
                  <a:srgbClr val="C241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FDR = 5,5 × 10⁻⁴⁹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36"/>
          <p:cNvSpPr txBox="1"/>
          <p:nvPr/>
        </p:nvSpPr>
        <p:spPr>
          <a:xfrm>
            <a:off x="7888635" y="5836444"/>
            <a:ext cx="20259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Via remodelada no HCC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36"/>
          <p:cNvSpPr txBox="1"/>
          <p:nvPr/>
        </p:nvSpPr>
        <p:spPr>
          <a:xfrm>
            <a:off x="7888635" y="6072039"/>
            <a:ext cx="315813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(inflamação/oxidação e receptores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36"/>
          <p:cNvSpPr txBox="1"/>
          <p:nvPr/>
        </p:nvSpPr>
        <p:spPr>
          <a:xfrm>
            <a:off x="7888635" y="6307634"/>
            <a:ext cx="375121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lipídios); interpretação limitada pelo n e pelo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36"/>
          <p:cNvSpPr txBox="1"/>
          <p:nvPr/>
        </p:nvSpPr>
        <p:spPr>
          <a:xfrm>
            <a:off x="7888635" y="6543229"/>
            <a:ext cx="249599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confundimento TCGA × GTEx.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36"/>
          <p:cNvSpPr/>
          <p:nvPr/>
        </p:nvSpPr>
        <p:spPr>
          <a:xfrm>
            <a:off x="7711486" y="2810664"/>
            <a:ext cx="55573" cy="55573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36"/>
          <p:cNvSpPr/>
          <p:nvPr/>
        </p:nvSpPr>
        <p:spPr>
          <a:xfrm>
            <a:off x="7711486" y="3459108"/>
            <a:ext cx="55573" cy="55573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6"/>
          <p:cNvSpPr/>
          <p:nvPr/>
        </p:nvSpPr>
        <p:spPr>
          <a:xfrm>
            <a:off x="400050" y="7201721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Ritchie et al., 2015.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38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5" name="Google Shape;1595;p38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6" name="Google Shape;1596;p38"/>
          <p:cNvSpPr/>
          <p:nvPr/>
        </p:nvSpPr>
        <p:spPr>
          <a:xfrm>
            <a:off x="400050" y="5128171"/>
            <a:ext cx="11391900" cy="1190923"/>
          </a:xfrm>
          <a:prstGeom prst="roundRect">
            <a:avLst>
              <a:gd fmla="val 399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7" name="Google Shape;1597;p38"/>
          <p:cNvCxnSpPr/>
          <p:nvPr/>
        </p:nvCxnSpPr>
        <p:spPr>
          <a:xfrm>
            <a:off x="423862" y="5128171"/>
            <a:ext cx="0" cy="1190922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8" name="Google Shape;1598;p38"/>
          <p:cNvSpPr txBox="1"/>
          <p:nvPr/>
        </p:nvSpPr>
        <p:spPr>
          <a:xfrm>
            <a:off x="400050" y="161925"/>
            <a:ext cx="620821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Síntese biológica da expressão diferencial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38"/>
          <p:cNvSpPr txBox="1"/>
          <p:nvPr/>
        </p:nvSpPr>
        <p:spPr>
          <a:xfrm>
            <a:off x="400050" y="1643211"/>
            <a:ext cx="329743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Perda de identidade hepática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38"/>
          <p:cNvSpPr txBox="1"/>
          <p:nvPr/>
        </p:nvSpPr>
        <p:spPr>
          <a:xfrm>
            <a:off x="400050" y="2152799"/>
            <a:ext cx="53441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CLEC4M, CLEC4G, CLEC1B, FCN2/3, CYP1A2, GDF2,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1" name="Google Shape;1601;p38"/>
          <p:cNvSpPr txBox="1"/>
          <p:nvPr/>
        </p:nvSpPr>
        <p:spPr>
          <a:xfrm>
            <a:off x="400050" y="2471886"/>
            <a:ext cx="30648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MARCO, CRHBP, ADAMTS13.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38"/>
          <p:cNvSpPr txBox="1"/>
          <p:nvPr/>
        </p:nvSpPr>
        <p:spPr>
          <a:xfrm>
            <a:off x="400050" y="2981474"/>
            <a:ext cx="139020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Proliferação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38"/>
          <p:cNvSpPr txBox="1"/>
          <p:nvPr/>
        </p:nvSpPr>
        <p:spPr>
          <a:xfrm>
            <a:off x="400050" y="3491061"/>
            <a:ext cx="500806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BIRC5, UBE2T, CDC25C, AURKB, CCNB1, CDC20,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38"/>
          <p:cNvSpPr txBox="1"/>
          <p:nvPr/>
        </p:nvSpPr>
        <p:spPr>
          <a:xfrm>
            <a:off x="400050" y="3810149"/>
            <a:ext cx="13866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NUF2, KIF2C.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38"/>
          <p:cNvSpPr txBox="1"/>
          <p:nvPr/>
        </p:nvSpPr>
        <p:spPr>
          <a:xfrm>
            <a:off x="6262688" y="974080"/>
            <a:ext cx="39391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Remodelamento vascular/matricial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38"/>
          <p:cNvSpPr txBox="1"/>
          <p:nvPr/>
        </p:nvSpPr>
        <p:spPr>
          <a:xfrm>
            <a:off x="6262688" y="1483668"/>
            <a:ext cx="51827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PLVAP, CD34, MMP9, MMP1, VIM, SPP1, COL1A1,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38"/>
          <p:cNvSpPr txBox="1"/>
          <p:nvPr/>
        </p:nvSpPr>
        <p:spPr>
          <a:xfrm>
            <a:off x="6262688" y="1802755"/>
            <a:ext cx="8751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VCAM1.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38"/>
          <p:cNvSpPr txBox="1"/>
          <p:nvPr/>
        </p:nvSpPr>
        <p:spPr>
          <a:xfrm>
            <a:off x="6262688" y="2312343"/>
            <a:ext cx="308282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Hipóxia / estágio avançado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38"/>
          <p:cNvSpPr txBox="1"/>
          <p:nvPr/>
        </p:nvSpPr>
        <p:spPr>
          <a:xfrm>
            <a:off x="6262688" y="2821930"/>
            <a:ext cx="489227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CA9, MIR210HG, SLC6A8 (up); GNMT, CYP2C9,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38"/>
          <p:cNvSpPr txBox="1"/>
          <p:nvPr/>
        </p:nvSpPr>
        <p:spPr>
          <a:xfrm>
            <a:off x="6262688" y="3141018"/>
            <a:ext cx="39741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ACOT12, FTCD, HPX, SLC10A1 (down).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38"/>
          <p:cNvSpPr txBox="1"/>
          <p:nvPr/>
        </p:nvSpPr>
        <p:spPr>
          <a:xfrm>
            <a:off x="6262688" y="3650605"/>
            <a:ext cx="22416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Apoptose / estresse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38"/>
          <p:cNvSpPr txBox="1"/>
          <p:nvPr/>
        </p:nvSpPr>
        <p:spPr>
          <a:xfrm>
            <a:off x="6262688" y="4160193"/>
            <a:ext cx="5143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38"/>
          <p:cNvSpPr txBox="1"/>
          <p:nvPr/>
        </p:nvSpPr>
        <p:spPr>
          <a:xfrm>
            <a:off x="6738938" y="4160193"/>
            <a:ext cx="50604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PYCARD, HSPA4, HSP90AB1 (up no tumor; BAX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38"/>
          <p:cNvSpPr txBox="1"/>
          <p:nvPr/>
        </p:nvSpPr>
        <p:spPr>
          <a:xfrm>
            <a:off x="6262688" y="4479280"/>
            <a:ext cx="23123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também no pareado).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38"/>
          <p:cNvSpPr txBox="1"/>
          <p:nvPr/>
        </p:nvSpPr>
        <p:spPr>
          <a:xfrm>
            <a:off x="619125" y="5436543"/>
            <a:ext cx="183400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Controle positivo: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38"/>
          <p:cNvSpPr txBox="1"/>
          <p:nvPr/>
        </p:nvSpPr>
        <p:spPr>
          <a:xfrm>
            <a:off x="2473672" y="5436543"/>
            <a:ext cx="89750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genes do cromossomo Y e XIST na comparação por sexo — o pipeline recupera sinal biológico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38"/>
          <p:cNvSpPr txBox="1"/>
          <p:nvPr/>
        </p:nvSpPr>
        <p:spPr>
          <a:xfrm>
            <a:off x="619125" y="5723632"/>
            <a:ext cx="43219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38"/>
          <p:cNvSpPr/>
          <p:nvPr/>
        </p:nvSpPr>
        <p:spPr>
          <a:xfrm>
            <a:off x="6762750" y="133350"/>
            <a:ext cx="50292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Czabotar et al., 2014.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3" name="Google Shape;1623;p39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4" name="Google Shape;1624;p39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5" name="Google Shape;1625;p39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6" name="Google Shape;1626;p39"/>
          <p:cNvSpPr/>
          <p:nvPr/>
        </p:nvSpPr>
        <p:spPr>
          <a:xfrm>
            <a:off x="800100" y="2733377"/>
            <a:ext cx="10668000" cy="903833"/>
          </a:xfrm>
          <a:prstGeom prst="roundRect">
            <a:avLst>
              <a:gd fmla="val 526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7" name="Google Shape;1627;p39"/>
          <p:cNvCxnSpPr/>
          <p:nvPr/>
        </p:nvCxnSpPr>
        <p:spPr>
          <a:xfrm>
            <a:off x="823912" y="2733377"/>
            <a:ext cx="0" cy="903834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8" name="Google Shape;1628;p39"/>
          <p:cNvSpPr/>
          <p:nvPr/>
        </p:nvSpPr>
        <p:spPr>
          <a:xfrm>
            <a:off x="800100" y="3754338"/>
            <a:ext cx="10668000" cy="1418332"/>
          </a:xfrm>
          <a:prstGeom prst="roundRect">
            <a:avLst>
              <a:gd fmla="val 3357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9" name="Google Shape;1629;p39"/>
          <p:cNvCxnSpPr/>
          <p:nvPr/>
        </p:nvCxnSpPr>
        <p:spPr>
          <a:xfrm>
            <a:off x="823912" y="3754338"/>
            <a:ext cx="0" cy="1418332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0" name="Google Shape;1630;p39"/>
          <p:cNvSpPr/>
          <p:nvPr/>
        </p:nvSpPr>
        <p:spPr>
          <a:xfrm>
            <a:off x="994172" y="4074170"/>
            <a:ext cx="1813620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9"/>
          <p:cNvSpPr txBox="1"/>
          <p:nvPr/>
        </p:nvSpPr>
        <p:spPr>
          <a:xfrm>
            <a:off x="800100" y="852488"/>
            <a:ext cx="3700462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3 — 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39"/>
          <p:cNvSpPr txBox="1"/>
          <p:nvPr/>
        </p:nvSpPr>
        <p:spPr>
          <a:xfrm>
            <a:off x="800100" y="1655564"/>
            <a:ext cx="457333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CORREÇÃO DE LOTE, DEMONSTRAÇÃO E LIMITAÇÃO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39"/>
          <p:cNvSpPr txBox="1"/>
          <p:nvPr/>
        </p:nvSpPr>
        <p:spPr>
          <a:xfrm>
            <a:off x="800100" y="1993999"/>
            <a:ext cx="34642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04_ComBat_demonstracao.R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39"/>
          <p:cNvSpPr txBox="1"/>
          <p:nvPr/>
        </p:nvSpPr>
        <p:spPr>
          <a:xfrm>
            <a:off x="4291161" y="1955899"/>
            <a:ext cx="2659856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figuras 13–14 e tabela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5" name="Google Shape;1635;p39"/>
          <p:cNvSpPr txBox="1"/>
          <p:nvPr/>
        </p:nvSpPr>
        <p:spPr>
          <a:xfrm>
            <a:off x="800100" y="2274975"/>
            <a:ext cx="60471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DE/COMPARACAO_ComBat_antes_depois.csv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6" name="Google Shape;1636;p39"/>
          <p:cNvSpPr txBox="1"/>
          <p:nvPr/>
        </p:nvSpPr>
        <p:spPr>
          <a:xfrm>
            <a:off x="862012" y="3041749"/>
            <a:ext cx="105679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Pergunta: o ComBat consegue separar o efeito de lote TCGA × GTEx do efeito biológico tumor × normal?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39"/>
          <p:cNvSpPr txBox="1"/>
          <p:nvPr/>
        </p:nvSpPr>
        <p:spPr>
          <a:xfrm>
            <a:off x="1074093" y="4080570"/>
            <a:ext cx="1691878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39"/>
          <p:cNvSpPr txBox="1"/>
          <p:nvPr/>
        </p:nvSpPr>
        <p:spPr>
          <a:xfrm>
            <a:off x="2917329" y="4042470"/>
            <a:ext cx="76453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39"/>
          <p:cNvSpPr txBox="1"/>
          <p:nvPr/>
        </p:nvSpPr>
        <p:spPr>
          <a:xfrm>
            <a:off x="3697188" y="4042470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39"/>
          <p:cNvSpPr txBox="1"/>
          <p:nvPr/>
        </p:nvSpPr>
        <p:spPr>
          <a:xfrm>
            <a:off x="3756273" y="4071045"/>
            <a:ext cx="129673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sva::ComBat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39"/>
          <p:cNvSpPr txBox="1"/>
          <p:nvPr/>
        </p:nvSpPr>
        <p:spPr>
          <a:xfrm>
            <a:off x="5014912" y="4042470"/>
            <a:ext cx="633085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corrige lote de forma empírico-bayesiana, estimando efeitos aditivos (γ)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39"/>
          <p:cNvSpPr txBox="1"/>
          <p:nvPr/>
        </p:nvSpPr>
        <p:spPr>
          <a:xfrm>
            <a:off x="994172" y="4323159"/>
            <a:ext cx="4695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 multiplicativos (δ) por gene e por lote. O argumento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39"/>
          <p:cNvSpPr txBox="1"/>
          <p:nvPr/>
        </p:nvSpPr>
        <p:spPr>
          <a:xfrm>
            <a:off x="5705326" y="4351734"/>
            <a:ext cx="3814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39"/>
          <p:cNvSpPr txBox="1"/>
          <p:nvPr/>
        </p:nvSpPr>
        <p:spPr>
          <a:xfrm>
            <a:off x="6102102" y="4323159"/>
            <a:ext cx="27667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 a biologia que deve 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39"/>
          <p:cNvSpPr txBox="1"/>
          <p:nvPr/>
        </p:nvSpPr>
        <p:spPr>
          <a:xfrm>
            <a:off x="8884295" y="4323159"/>
            <a:ext cx="96098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1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preservada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39"/>
          <p:cNvSpPr txBox="1"/>
          <p:nvPr/>
        </p:nvSpPr>
        <p:spPr>
          <a:xfrm>
            <a:off x="9807178" y="4323159"/>
            <a:ext cx="133677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Em seguida,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39"/>
          <p:cNvSpPr txBox="1"/>
          <p:nvPr/>
        </p:nvSpPr>
        <p:spPr>
          <a:xfrm>
            <a:off x="994172" y="4603849"/>
            <a:ext cx="182865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efeito é medido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39"/>
          <p:cNvSpPr txBox="1"/>
          <p:nvPr/>
        </p:nvSpPr>
        <p:spPr>
          <a:xfrm>
            <a:off x="2838301" y="4603849"/>
            <a:ext cx="6119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39"/>
          <p:cNvSpPr txBox="1"/>
          <p:nvPr/>
        </p:nvSpPr>
        <p:spPr>
          <a:xfrm>
            <a:off x="3465612" y="4603849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39"/>
          <p:cNvSpPr txBox="1"/>
          <p:nvPr/>
        </p:nvSpPr>
        <p:spPr>
          <a:xfrm>
            <a:off x="3524696" y="4632424"/>
            <a:ext cx="6101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39"/>
          <p:cNvSpPr txBox="1"/>
          <p:nvPr/>
        </p:nvSpPr>
        <p:spPr>
          <a:xfrm>
            <a:off x="4096792" y="4603849"/>
            <a:ext cx="14649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e resumido por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39"/>
          <p:cNvSpPr txBox="1"/>
          <p:nvPr/>
        </p:nvSpPr>
        <p:spPr>
          <a:xfrm>
            <a:off x="5577185" y="4603849"/>
            <a:ext cx="7186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Jaccard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39"/>
          <p:cNvSpPr txBox="1"/>
          <p:nvPr/>
        </p:nvSpPr>
        <p:spPr>
          <a:xfrm>
            <a:off x="6311205" y="4603849"/>
            <a:ext cx="88106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(base R)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39"/>
          <p:cNvSpPr txBox="1"/>
          <p:nvPr/>
        </p:nvSpPr>
        <p:spPr>
          <a:xfrm>
            <a:off x="7207597" y="4603849"/>
            <a:ext cx="9597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39"/>
          <p:cNvSpPr txBox="1"/>
          <p:nvPr/>
        </p:nvSpPr>
        <p:spPr>
          <a:xfrm>
            <a:off x="8182719" y="4603849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39"/>
          <p:cNvSpPr txBox="1"/>
          <p:nvPr/>
        </p:nvSpPr>
        <p:spPr>
          <a:xfrm>
            <a:off x="8241804" y="4632424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39"/>
          <p:cNvSpPr txBox="1"/>
          <p:nvPr/>
        </p:nvSpPr>
        <p:spPr>
          <a:xfrm>
            <a:off x="9958090" y="4603849"/>
            <a:ext cx="1394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39"/>
          <p:cNvSpPr/>
          <p:nvPr/>
        </p:nvSpPr>
        <p:spPr>
          <a:xfrm>
            <a:off x="400050" y="7239000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Johnson et al., 2007; Leek et al., 2012; Zhang et al., 2020.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40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4" name="Google Shape;1664;p40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5" name="Google Shape;1665;p40"/>
          <p:cNvSpPr/>
          <p:nvPr/>
        </p:nvSpPr>
        <p:spPr>
          <a:xfrm>
            <a:off x="400050" y="3327050"/>
            <a:ext cx="5529300" cy="1711200"/>
          </a:xfrm>
          <a:prstGeom prst="roundRect">
            <a:avLst>
              <a:gd fmla="val 278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40"/>
          <p:cNvSpPr/>
          <p:nvPr/>
        </p:nvSpPr>
        <p:spPr>
          <a:xfrm>
            <a:off x="6262688" y="1925092"/>
            <a:ext cx="5529262" cy="178593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40"/>
          <p:cNvSpPr/>
          <p:nvPr/>
        </p:nvSpPr>
        <p:spPr>
          <a:xfrm>
            <a:off x="6262688" y="2115592"/>
            <a:ext cx="5548312" cy="1404938"/>
          </a:xfrm>
          <a:prstGeom prst="roundRect">
            <a:avLst>
              <a:gd fmla="val 3389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40"/>
          <p:cNvSpPr txBox="1"/>
          <p:nvPr/>
        </p:nvSpPr>
        <p:spPr>
          <a:xfrm>
            <a:off x="400050" y="161925"/>
            <a:ext cx="2895154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é o ComBat?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40"/>
          <p:cNvSpPr txBox="1"/>
          <p:nvPr/>
        </p:nvSpPr>
        <p:spPr>
          <a:xfrm>
            <a:off x="400050" y="974080"/>
            <a:ext cx="110117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40"/>
          <p:cNvSpPr txBox="1"/>
          <p:nvPr/>
        </p:nvSpPr>
        <p:spPr>
          <a:xfrm>
            <a:off x="400050" y="1483668"/>
            <a:ext cx="339194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Função do pacote Bioconductor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40"/>
          <p:cNvSpPr txBox="1"/>
          <p:nvPr/>
        </p:nvSpPr>
        <p:spPr>
          <a:xfrm>
            <a:off x="3819079" y="1521768"/>
            <a:ext cx="456754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40"/>
          <p:cNvSpPr txBox="1"/>
          <p:nvPr/>
        </p:nvSpPr>
        <p:spPr>
          <a:xfrm>
            <a:off x="4302919" y="1483668"/>
            <a:ext cx="13220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corrigir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40"/>
          <p:cNvSpPr txBox="1"/>
          <p:nvPr/>
        </p:nvSpPr>
        <p:spPr>
          <a:xfrm>
            <a:off x="400050" y="1821805"/>
            <a:ext cx="1638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efeitos de lote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40"/>
          <p:cNvSpPr txBox="1"/>
          <p:nvPr/>
        </p:nvSpPr>
        <p:spPr>
          <a:xfrm>
            <a:off x="2065437" y="1821805"/>
            <a:ext cx="32902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 dados de expressão de 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40"/>
          <p:cNvSpPr txBox="1"/>
          <p:nvPr/>
        </p:nvSpPr>
        <p:spPr>
          <a:xfrm>
            <a:off x="400050" y="2140893"/>
            <a:ext cx="11138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dimensão.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40"/>
          <p:cNvSpPr txBox="1"/>
          <p:nvPr/>
        </p:nvSpPr>
        <p:spPr>
          <a:xfrm>
            <a:off x="520898" y="3598959"/>
            <a:ext cx="169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 palavras simples: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40"/>
          <p:cNvSpPr txBox="1"/>
          <p:nvPr/>
        </p:nvSpPr>
        <p:spPr>
          <a:xfrm>
            <a:off x="2228404" y="3598959"/>
            <a:ext cx="340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ComBat tenta alinhar a média e a variância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40"/>
          <p:cNvSpPr txBox="1"/>
          <p:nvPr/>
        </p:nvSpPr>
        <p:spPr>
          <a:xfrm>
            <a:off x="520898" y="3828601"/>
            <a:ext cx="194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cada gene entre lotes.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40"/>
          <p:cNvSpPr txBox="1"/>
          <p:nvPr/>
        </p:nvSpPr>
        <p:spPr>
          <a:xfrm>
            <a:off x="2472035" y="3847651"/>
            <a:ext cx="339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40"/>
          <p:cNvSpPr txBox="1"/>
          <p:nvPr/>
        </p:nvSpPr>
        <p:spPr>
          <a:xfrm>
            <a:off x="2820293" y="3828601"/>
            <a:ext cx="2957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protege o efeito biológico que se 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40"/>
          <p:cNvSpPr txBox="1"/>
          <p:nvPr/>
        </p:nvSpPr>
        <p:spPr>
          <a:xfrm>
            <a:off x="520898" y="4067768"/>
            <a:ext cx="522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manter; sem ele, o método pode remover também tumor vs. 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40"/>
          <p:cNvSpPr txBox="1"/>
          <p:nvPr/>
        </p:nvSpPr>
        <p:spPr>
          <a:xfrm>
            <a:off x="520898" y="4297410"/>
            <a:ext cx="101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ComBat-seq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3" name="Google Shape;1683;p40"/>
          <p:cNvSpPr txBox="1"/>
          <p:nvPr/>
        </p:nvSpPr>
        <p:spPr>
          <a:xfrm>
            <a:off x="1541562" y="4297410"/>
            <a:ext cx="41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a versão para contagens brutas; aqui os dados já 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40"/>
          <p:cNvSpPr txBox="1"/>
          <p:nvPr/>
        </p:nvSpPr>
        <p:spPr>
          <a:xfrm>
            <a:off x="520898" y="4527052"/>
            <a:ext cx="186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log2(TPM), então usa-se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40"/>
          <p:cNvSpPr txBox="1"/>
          <p:nvPr/>
        </p:nvSpPr>
        <p:spPr>
          <a:xfrm>
            <a:off x="2398068" y="4546102"/>
            <a:ext cx="64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40"/>
          <p:cNvSpPr txBox="1"/>
          <p:nvPr/>
        </p:nvSpPr>
        <p:spPr>
          <a:xfrm>
            <a:off x="3047702" y="4527052"/>
            <a:ext cx="65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clássico.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40"/>
          <p:cNvSpPr txBox="1"/>
          <p:nvPr/>
        </p:nvSpPr>
        <p:spPr>
          <a:xfrm>
            <a:off x="6262688" y="1367879"/>
            <a:ext cx="25726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Argumentos principais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40"/>
          <p:cNvSpPr txBox="1"/>
          <p:nvPr/>
        </p:nvSpPr>
        <p:spPr>
          <a:xfrm>
            <a:off x="6355556" y="2208461"/>
            <a:ext cx="2475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40"/>
          <p:cNvSpPr txBox="1"/>
          <p:nvPr/>
        </p:nvSpPr>
        <p:spPr>
          <a:xfrm>
            <a:off x="6564957" y="2208461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40"/>
          <p:cNvSpPr txBox="1"/>
          <p:nvPr/>
        </p:nvSpPr>
        <p:spPr>
          <a:xfrm>
            <a:off x="6704558" y="22084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40"/>
          <p:cNvSpPr txBox="1"/>
          <p:nvPr/>
        </p:nvSpPr>
        <p:spPr>
          <a:xfrm>
            <a:off x="7123212" y="2208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40"/>
          <p:cNvSpPr txBox="1"/>
          <p:nvPr/>
        </p:nvSpPr>
        <p:spPr>
          <a:xfrm>
            <a:off x="6495157" y="23608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40"/>
          <p:cNvSpPr txBox="1"/>
          <p:nvPr/>
        </p:nvSpPr>
        <p:spPr>
          <a:xfrm>
            <a:off x="7332315" y="2360861"/>
            <a:ext cx="8754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matriz_log2,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40"/>
          <p:cNvSpPr txBox="1"/>
          <p:nvPr/>
        </p:nvSpPr>
        <p:spPr>
          <a:xfrm>
            <a:off x="6495157" y="25132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batch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40"/>
          <p:cNvSpPr txBox="1"/>
          <p:nvPr/>
        </p:nvSpPr>
        <p:spPr>
          <a:xfrm>
            <a:off x="7332315" y="2513261"/>
            <a:ext cx="101500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vetor_de_lote,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40"/>
          <p:cNvSpPr txBox="1"/>
          <p:nvPr/>
        </p:nvSpPr>
        <p:spPr>
          <a:xfrm>
            <a:off x="6495157" y="26656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40"/>
          <p:cNvSpPr txBox="1"/>
          <p:nvPr/>
        </p:nvSpPr>
        <p:spPr>
          <a:xfrm>
            <a:off x="7332464" y="2665661"/>
            <a:ext cx="87525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model.matrix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40"/>
          <p:cNvSpPr txBox="1"/>
          <p:nvPr/>
        </p:nvSpPr>
        <p:spPr>
          <a:xfrm>
            <a:off x="8169622" y="2665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40"/>
          <p:cNvSpPr txBox="1"/>
          <p:nvPr/>
        </p:nvSpPr>
        <p:spPr>
          <a:xfrm>
            <a:off x="8239423" y="2665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~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40"/>
          <p:cNvSpPr txBox="1"/>
          <p:nvPr/>
        </p:nvSpPr>
        <p:spPr>
          <a:xfrm>
            <a:off x="8378875" y="2665661"/>
            <a:ext cx="3871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40"/>
          <p:cNvSpPr txBox="1"/>
          <p:nvPr/>
        </p:nvSpPr>
        <p:spPr>
          <a:xfrm>
            <a:off x="8797677" y="2665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40"/>
          <p:cNvSpPr txBox="1"/>
          <p:nvPr/>
        </p:nvSpPr>
        <p:spPr>
          <a:xfrm>
            <a:off x="8937129" y="2665661"/>
            <a:ext cx="3173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sexo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40"/>
          <p:cNvSpPr txBox="1"/>
          <p:nvPr/>
        </p:nvSpPr>
        <p:spPr>
          <a:xfrm>
            <a:off x="9286131" y="2665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40"/>
          <p:cNvSpPr txBox="1"/>
          <p:nvPr/>
        </p:nvSpPr>
        <p:spPr>
          <a:xfrm>
            <a:off x="9425583" y="2665661"/>
            <a:ext cx="456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idade,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40"/>
          <p:cNvSpPr txBox="1"/>
          <p:nvPr/>
        </p:nvSpPr>
        <p:spPr>
          <a:xfrm>
            <a:off x="9914037" y="26656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data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40"/>
          <p:cNvSpPr txBox="1"/>
          <p:nvPr/>
        </p:nvSpPr>
        <p:spPr>
          <a:xfrm>
            <a:off x="10402342" y="2665661"/>
            <a:ext cx="456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meta),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40"/>
          <p:cNvSpPr txBox="1"/>
          <p:nvPr/>
        </p:nvSpPr>
        <p:spPr>
          <a:xfrm>
            <a:off x="6495157" y="28180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par.prior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40"/>
          <p:cNvSpPr txBox="1"/>
          <p:nvPr/>
        </p:nvSpPr>
        <p:spPr>
          <a:xfrm>
            <a:off x="7332464" y="28180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40"/>
          <p:cNvSpPr txBox="1"/>
          <p:nvPr/>
        </p:nvSpPr>
        <p:spPr>
          <a:xfrm>
            <a:off x="7611517" y="2818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40"/>
          <p:cNvSpPr txBox="1"/>
          <p:nvPr/>
        </p:nvSpPr>
        <p:spPr>
          <a:xfrm>
            <a:off x="6495157" y="29704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mean.only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40"/>
          <p:cNvSpPr txBox="1"/>
          <p:nvPr/>
        </p:nvSpPr>
        <p:spPr>
          <a:xfrm>
            <a:off x="7332464" y="2970461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40"/>
          <p:cNvSpPr txBox="1"/>
          <p:nvPr/>
        </p:nvSpPr>
        <p:spPr>
          <a:xfrm>
            <a:off x="7681317" y="29704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40"/>
          <p:cNvSpPr txBox="1"/>
          <p:nvPr/>
        </p:nvSpPr>
        <p:spPr>
          <a:xfrm>
            <a:off x="6495157" y="3122861"/>
            <a:ext cx="8056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ref.batch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40"/>
          <p:cNvSpPr txBox="1"/>
          <p:nvPr/>
        </p:nvSpPr>
        <p:spPr>
          <a:xfrm>
            <a:off x="7332464" y="3122861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40"/>
          <p:cNvSpPr txBox="1"/>
          <p:nvPr/>
        </p:nvSpPr>
        <p:spPr>
          <a:xfrm>
            <a:off x="6355556" y="32752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40"/>
          <p:cNvSpPr txBox="1"/>
          <p:nvPr/>
        </p:nvSpPr>
        <p:spPr>
          <a:xfrm>
            <a:off x="6262688" y="3949154"/>
            <a:ext cx="19783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ele não faz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40"/>
          <p:cNvSpPr txBox="1"/>
          <p:nvPr/>
        </p:nvSpPr>
        <p:spPr>
          <a:xfrm>
            <a:off x="6524625" y="4458742"/>
            <a:ext cx="40801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resolve confundimento estrutural.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40"/>
          <p:cNvSpPr txBox="1"/>
          <p:nvPr/>
        </p:nvSpPr>
        <p:spPr>
          <a:xfrm>
            <a:off x="6524625" y="4830217"/>
            <a:ext cx="44245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substitui bom desenho experimental.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40"/>
          <p:cNvSpPr txBox="1"/>
          <p:nvPr/>
        </p:nvSpPr>
        <p:spPr>
          <a:xfrm>
            <a:off x="6524625" y="5201692"/>
            <a:ext cx="31417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Pode remover sinal biológico.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40"/>
          <p:cNvSpPr txBox="1"/>
          <p:nvPr/>
        </p:nvSpPr>
        <p:spPr>
          <a:xfrm>
            <a:off x="6524625" y="5573167"/>
            <a:ext cx="45385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indicado para contagens brutas (use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40"/>
          <p:cNvSpPr txBox="1"/>
          <p:nvPr/>
        </p:nvSpPr>
        <p:spPr>
          <a:xfrm>
            <a:off x="6524625" y="5930354"/>
            <a:ext cx="1433364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ComBat-seq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40"/>
          <p:cNvSpPr txBox="1"/>
          <p:nvPr/>
        </p:nvSpPr>
        <p:spPr>
          <a:xfrm>
            <a:off x="7919889" y="5892254"/>
            <a:ext cx="1616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40"/>
          <p:cNvSpPr txBox="1"/>
          <p:nvPr/>
        </p:nvSpPr>
        <p:spPr>
          <a:xfrm>
            <a:off x="6524625" y="6282779"/>
            <a:ext cx="52380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sensível a lotes pequenos e efeitos não lineares.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40"/>
          <p:cNvSpPr/>
          <p:nvPr/>
        </p:nvSpPr>
        <p:spPr>
          <a:xfrm>
            <a:off x="6293644" y="4584948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40"/>
          <p:cNvSpPr/>
          <p:nvPr/>
        </p:nvSpPr>
        <p:spPr>
          <a:xfrm>
            <a:off x="6293644" y="495642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40"/>
          <p:cNvSpPr/>
          <p:nvPr/>
        </p:nvSpPr>
        <p:spPr>
          <a:xfrm>
            <a:off x="6293644" y="5327898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40"/>
          <p:cNvSpPr/>
          <p:nvPr/>
        </p:nvSpPr>
        <p:spPr>
          <a:xfrm>
            <a:off x="6293644" y="569937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40"/>
          <p:cNvSpPr/>
          <p:nvPr/>
        </p:nvSpPr>
        <p:spPr>
          <a:xfrm>
            <a:off x="6293644" y="640898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40"/>
          <p:cNvSpPr/>
          <p:nvPr/>
        </p:nvSpPr>
        <p:spPr>
          <a:xfrm>
            <a:off x="400050" y="7076777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Johnson et al., 2007; Leek et al., 2012; Zhang et al., 2020.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41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5" name="Google Shape;1735;p41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6" name="Google Shape;1736;p41"/>
          <p:cNvSpPr/>
          <p:nvPr/>
        </p:nvSpPr>
        <p:spPr>
          <a:xfrm>
            <a:off x="400050" y="1531293"/>
            <a:ext cx="5529262" cy="87153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41"/>
          <p:cNvSpPr/>
          <p:nvPr/>
        </p:nvSpPr>
        <p:spPr>
          <a:xfrm>
            <a:off x="400050" y="1721793"/>
            <a:ext cx="5548312" cy="490538"/>
          </a:xfrm>
          <a:prstGeom prst="roundRect">
            <a:avLst>
              <a:gd fmla="val 9708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41"/>
          <p:cNvSpPr/>
          <p:nvPr/>
        </p:nvSpPr>
        <p:spPr>
          <a:xfrm>
            <a:off x="400050" y="3150543"/>
            <a:ext cx="5548312" cy="490538"/>
          </a:xfrm>
          <a:prstGeom prst="roundRect">
            <a:avLst>
              <a:gd fmla="val 9708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41"/>
          <p:cNvSpPr/>
          <p:nvPr/>
        </p:nvSpPr>
        <p:spPr>
          <a:xfrm>
            <a:off x="400050" y="5217468"/>
            <a:ext cx="5529262" cy="71913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41"/>
          <p:cNvSpPr/>
          <p:nvPr/>
        </p:nvSpPr>
        <p:spPr>
          <a:xfrm>
            <a:off x="400050" y="5407968"/>
            <a:ext cx="5548312" cy="338138"/>
          </a:xfrm>
          <a:prstGeom prst="roundRect">
            <a:avLst>
              <a:gd fmla="val 14084" name="adj"/>
            </a:avLst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1" name="Google Shape;1741;p41"/>
          <p:cNvSpPr/>
          <p:nvPr/>
        </p:nvSpPr>
        <p:spPr>
          <a:xfrm>
            <a:off x="6262688" y="1826865"/>
            <a:ext cx="5529262" cy="1735485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41"/>
          <p:cNvSpPr/>
          <p:nvPr/>
        </p:nvSpPr>
        <p:spPr>
          <a:xfrm>
            <a:off x="6267450" y="1831628"/>
            <a:ext cx="2761506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3" name="Google Shape;1743;p41"/>
          <p:cNvCxnSpPr/>
          <p:nvPr/>
        </p:nvCxnSpPr>
        <p:spPr>
          <a:xfrm>
            <a:off x="6267450" y="1836390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4" name="Google Shape;1744;p41"/>
          <p:cNvCxnSpPr/>
          <p:nvPr/>
        </p:nvCxnSpPr>
        <p:spPr>
          <a:xfrm>
            <a:off x="6272212" y="1831628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5" name="Google Shape;1745;p41"/>
          <p:cNvSpPr/>
          <p:nvPr/>
        </p:nvSpPr>
        <p:spPr>
          <a:xfrm>
            <a:off x="9028956" y="1831628"/>
            <a:ext cx="635050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6" name="Google Shape;1746;p41"/>
          <p:cNvCxnSpPr/>
          <p:nvPr/>
        </p:nvCxnSpPr>
        <p:spPr>
          <a:xfrm>
            <a:off x="9028956" y="1836390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7" name="Google Shape;1747;p41"/>
          <p:cNvCxnSpPr/>
          <p:nvPr/>
        </p:nvCxnSpPr>
        <p:spPr>
          <a:xfrm>
            <a:off x="9033718" y="1831628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8" name="Google Shape;1748;p41"/>
          <p:cNvSpPr/>
          <p:nvPr/>
        </p:nvSpPr>
        <p:spPr>
          <a:xfrm>
            <a:off x="9664005" y="1831628"/>
            <a:ext cx="2123182" cy="260598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9" name="Google Shape;1749;p41"/>
          <p:cNvCxnSpPr/>
          <p:nvPr/>
        </p:nvCxnSpPr>
        <p:spPr>
          <a:xfrm>
            <a:off x="9664005" y="1836390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0" name="Google Shape;1750;p41"/>
          <p:cNvCxnSpPr/>
          <p:nvPr/>
        </p:nvCxnSpPr>
        <p:spPr>
          <a:xfrm>
            <a:off x="9668768" y="1831628"/>
            <a:ext cx="0" cy="26059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1" name="Google Shape;1751;p41"/>
          <p:cNvSpPr/>
          <p:nvPr/>
        </p:nvSpPr>
        <p:spPr>
          <a:xfrm>
            <a:off x="6267450" y="2092226"/>
            <a:ext cx="2761506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2" name="Google Shape;1752;p41"/>
          <p:cNvCxnSpPr/>
          <p:nvPr/>
        </p:nvCxnSpPr>
        <p:spPr>
          <a:xfrm>
            <a:off x="6267450" y="2096988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3" name="Google Shape;1753;p41"/>
          <p:cNvCxnSpPr/>
          <p:nvPr/>
        </p:nvCxnSpPr>
        <p:spPr>
          <a:xfrm>
            <a:off x="6272212" y="209222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4" name="Google Shape;1754;p41"/>
          <p:cNvSpPr/>
          <p:nvPr/>
        </p:nvSpPr>
        <p:spPr>
          <a:xfrm>
            <a:off x="9028956" y="2092226"/>
            <a:ext cx="63505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5" name="Google Shape;1755;p41"/>
          <p:cNvCxnSpPr/>
          <p:nvPr/>
        </p:nvCxnSpPr>
        <p:spPr>
          <a:xfrm>
            <a:off x="9028956" y="2096988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6" name="Google Shape;1756;p41"/>
          <p:cNvCxnSpPr/>
          <p:nvPr/>
        </p:nvCxnSpPr>
        <p:spPr>
          <a:xfrm>
            <a:off x="9033718" y="209222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7" name="Google Shape;1757;p41"/>
          <p:cNvSpPr/>
          <p:nvPr/>
        </p:nvSpPr>
        <p:spPr>
          <a:xfrm>
            <a:off x="9664005" y="2092226"/>
            <a:ext cx="2123182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8" name="Google Shape;1758;p41"/>
          <p:cNvCxnSpPr/>
          <p:nvPr/>
        </p:nvCxnSpPr>
        <p:spPr>
          <a:xfrm>
            <a:off x="9664005" y="2096988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9" name="Google Shape;1759;p41"/>
          <p:cNvCxnSpPr/>
          <p:nvPr/>
        </p:nvCxnSpPr>
        <p:spPr>
          <a:xfrm>
            <a:off x="9668768" y="2092226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0" name="Google Shape;1760;p41"/>
          <p:cNvSpPr/>
          <p:nvPr/>
        </p:nvSpPr>
        <p:spPr>
          <a:xfrm>
            <a:off x="6267450" y="2336453"/>
            <a:ext cx="2761506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1" name="Google Shape;1761;p41"/>
          <p:cNvCxnSpPr/>
          <p:nvPr/>
        </p:nvCxnSpPr>
        <p:spPr>
          <a:xfrm>
            <a:off x="6267450" y="2341215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2" name="Google Shape;1762;p41"/>
          <p:cNvCxnSpPr/>
          <p:nvPr/>
        </p:nvCxnSpPr>
        <p:spPr>
          <a:xfrm>
            <a:off x="6272212" y="233645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3" name="Google Shape;1763;p41"/>
          <p:cNvSpPr/>
          <p:nvPr/>
        </p:nvSpPr>
        <p:spPr>
          <a:xfrm>
            <a:off x="9028956" y="2336453"/>
            <a:ext cx="63505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4" name="Google Shape;1764;p41"/>
          <p:cNvCxnSpPr/>
          <p:nvPr/>
        </p:nvCxnSpPr>
        <p:spPr>
          <a:xfrm>
            <a:off x="9028956" y="2341215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5" name="Google Shape;1765;p41"/>
          <p:cNvCxnSpPr/>
          <p:nvPr/>
        </p:nvCxnSpPr>
        <p:spPr>
          <a:xfrm>
            <a:off x="9033718" y="233645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6" name="Google Shape;1766;p41"/>
          <p:cNvSpPr/>
          <p:nvPr/>
        </p:nvSpPr>
        <p:spPr>
          <a:xfrm>
            <a:off x="9664005" y="2336453"/>
            <a:ext cx="2123182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7" name="Google Shape;1767;p41"/>
          <p:cNvCxnSpPr/>
          <p:nvPr/>
        </p:nvCxnSpPr>
        <p:spPr>
          <a:xfrm>
            <a:off x="9664005" y="2341215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8" name="Google Shape;1768;p41"/>
          <p:cNvCxnSpPr/>
          <p:nvPr/>
        </p:nvCxnSpPr>
        <p:spPr>
          <a:xfrm>
            <a:off x="9668768" y="2336453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9" name="Google Shape;1769;p41"/>
          <p:cNvSpPr/>
          <p:nvPr/>
        </p:nvSpPr>
        <p:spPr>
          <a:xfrm>
            <a:off x="6267450" y="2580680"/>
            <a:ext cx="2761506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0" name="Google Shape;1770;p41"/>
          <p:cNvCxnSpPr/>
          <p:nvPr/>
        </p:nvCxnSpPr>
        <p:spPr>
          <a:xfrm>
            <a:off x="6267450" y="2585442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1" name="Google Shape;1771;p41"/>
          <p:cNvCxnSpPr/>
          <p:nvPr/>
        </p:nvCxnSpPr>
        <p:spPr>
          <a:xfrm>
            <a:off x="6272212" y="2580680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2" name="Google Shape;1772;p41"/>
          <p:cNvSpPr/>
          <p:nvPr/>
        </p:nvSpPr>
        <p:spPr>
          <a:xfrm>
            <a:off x="9028956" y="2580680"/>
            <a:ext cx="63505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3" name="Google Shape;1773;p41"/>
          <p:cNvCxnSpPr/>
          <p:nvPr/>
        </p:nvCxnSpPr>
        <p:spPr>
          <a:xfrm>
            <a:off x="9028956" y="2585442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4" name="Google Shape;1774;p41"/>
          <p:cNvCxnSpPr/>
          <p:nvPr/>
        </p:nvCxnSpPr>
        <p:spPr>
          <a:xfrm>
            <a:off x="9033718" y="2580680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5" name="Google Shape;1775;p41"/>
          <p:cNvSpPr/>
          <p:nvPr/>
        </p:nvSpPr>
        <p:spPr>
          <a:xfrm>
            <a:off x="9664005" y="2580680"/>
            <a:ext cx="2123182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6" name="Google Shape;1776;p41"/>
          <p:cNvCxnSpPr/>
          <p:nvPr/>
        </p:nvCxnSpPr>
        <p:spPr>
          <a:xfrm>
            <a:off x="9664005" y="2585442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7" name="Google Shape;1777;p41"/>
          <p:cNvCxnSpPr/>
          <p:nvPr/>
        </p:nvCxnSpPr>
        <p:spPr>
          <a:xfrm>
            <a:off x="9668768" y="2580680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8" name="Google Shape;1778;p41"/>
          <p:cNvSpPr/>
          <p:nvPr/>
        </p:nvSpPr>
        <p:spPr>
          <a:xfrm>
            <a:off x="6267450" y="2824907"/>
            <a:ext cx="2761506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9" name="Google Shape;1779;p41"/>
          <p:cNvCxnSpPr/>
          <p:nvPr/>
        </p:nvCxnSpPr>
        <p:spPr>
          <a:xfrm>
            <a:off x="6267450" y="2829669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0" name="Google Shape;1780;p41"/>
          <p:cNvCxnSpPr/>
          <p:nvPr/>
        </p:nvCxnSpPr>
        <p:spPr>
          <a:xfrm>
            <a:off x="6272212" y="2824907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1" name="Google Shape;1781;p41"/>
          <p:cNvSpPr/>
          <p:nvPr/>
        </p:nvSpPr>
        <p:spPr>
          <a:xfrm>
            <a:off x="9028956" y="2824907"/>
            <a:ext cx="63505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2" name="Google Shape;1782;p41"/>
          <p:cNvCxnSpPr/>
          <p:nvPr/>
        </p:nvCxnSpPr>
        <p:spPr>
          <a:xfrm>
            <a:off x="9028956" y="2829669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3" name="Google Shape;1783;p41"/>
          <p:cNvCxnSpPr/>
          <p:nvPr/>
        </p:nvCxnSpPr>
        <p:spPr>
          <a:xfrm>
            <a:off x="9033718" y="2824907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4" name="Google Shape;1784;p41"/>
          <p:cNvSpPr/>
          <p:nvPr/>
        </p:nvSpPr>
        <p:spPr>
          <a:xfrm>
            <a:off x="9664005" y="2824907"/>
            <a:ext cx="2123182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5" name="Google Shape;1785;p41"/>
          <p:cNvCxnSpPr/>
          <p:nvPr/>
        </p:nvCxnSpPr>
        <p:spPr>
          <a:xfrm>
            <a:off x="9664005" y="2829669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6" name="Google Shape;1786;p41"/>
          <p:cNvCxnSpPr/>
          <p:nvPr/>
        </p:nvCxnSpPr>
        <p:spPr>
          <a:xfrm>
            <a:off x="9668768" y="2824907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7" name="Google Shape;1787;p41"/>
          <p:cNvSpPr/>
          <p:nvPr/>
        </p:nvSpPr>
        <p:spPr>
          <a:xfrm>
            <a:off x="6267450" y="3069134"/>
            <a:ext cx="2761506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8" name="Google Shape;1788;p41"/>
          <p:cNvCxnSpPr/>
          <p:nvPr/>
        </p:nvCxnSpPr>
        <p:spPr>
          <a:xfrm>
            <a:off x="6267450" y="3073896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9" name="Google Shape;1789;p41"/>
          <p:cNvCxnSpPr/>
          <p:nvPr/>
        </p:nvCxnSpPr>
        <p:spPr>
          <a:xfrm>
            <a:off x="6272212" y="3069134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0" name="Google Shape;1790;p41"/>
          <p:cNvSpPr/>
          <p:nvPr/>
        </p:nvSpPr>
        <p:spPr>
          <a:xfrm>
            <a:off x="9028956" y="3069134"/>
            <a:ext cx="635050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1" name="Google Shape;1791;p41"/>
          <p:cNvCxnSpPr/>
          <p:nvPr/>
        </p:nvCxnSpPr>
        <p:spPr>
          <a:xfrm>
            <a:off x="9028956" y="3073896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2" name="Google Shape;1792;p41"/>
          <p:cNvCxnSpPr/>
          <p:nvPr/>
        </p:nvCxnSpPr>
        <p:spPr>
          <a:xfrm>
            <a:off x="9033718" y="3069134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3" name="Google Shape;1793;p41"/>
          <p:cNvSpPr/>
          <p:nvPr/>
        </p:nvSpPr>
        <p:spPr>
          <a:xfrm>
            <a:off x="9664005" y="3069134"/>
            <a:ext cx="2123182" cy="2442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4" name="Google Shape;1794;p41"/>
          <p:cNvCxnSpPr/>
          <p:nvPr/>
        </p:nvCxnSpPr>
        <p:spPr>
          <a:xfrm>
            <a:off x="9664005" y="3073896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5" name="Google Shape;1795;p41"/>
          <p:cNvCxnSpPr/>
          <p:nvPr/>
        </p:nvCxnSpPr>
        <p:spPr>
          <a:xfrm>
            <a:off x="9668768" y="3069134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6" name="Google Shape;1796;p41"/>
          <p:cNvSpPr/>
          <p:nvPr/>
        </p:nvSpPr>
        <p:spPr>
          <a:xfrm>
            <a:off x="6267450" y="3313361"/>
            <a:ext cx="2761506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7" name="Google Shape;1797;p41"/>
          <p:cNvCxnSpPr/>
          <p:nvPr/>
        </p:nvCxnSpPr>
        <p:spPr>
          <a:xfrm>
            <a:off x="6267450" y="3318123"/>
            <a:ext cx="276150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8" name="Google Shape;1798;p41"/>
          <p:cNvCxnSpPr/>
          <p:nvPr/>
        </p:nvCxnSpPr>
        <p:spPr>
          <a:xfrm>
            <a:off x="6272212" y="331336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9" name="Google Shape;1799;p41"/>
          <p:cNvSpPr/>
          <p:nvPr/>
        </p:nvSpPr>
        <p:spPr>
          <a:xfrm>
            <a:off x="9028956" y="3313361"/>
            <a:ext cx="635050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0" name="Google Shape;1800;p41"/>
          <p:cNvCxnSpPr/>
          <p:nvPr/>
        </p:nvCxnSpPr>
        <p:spPr>
          <a:xfrm>
            <a:off x="9028956" y="3318123"/>
            <a:ext cx="6350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1" name="Google Shape;1801;p41"/>
          <p:cNvCxnSpPr/>
          <p:nvPr/>
        </p:nvCxnSpPr>
        <p:spPr>
          <a:xfrm>
            <a:off x="9033718" y="331336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2" name="Google Shape;1802;p41"/>
          <p:cNvSpPr/>
          <p:nvPr/>
        </p:nvSpPr>
        <p:spPr>
          <a:xfrm>
            <a:off x="9664005" y="3313361"/>
            <a:ext cx="2123182" cy="24422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3" name="Google Shape;1803;p41"/>
          <p:cNvCxnSpPr/>
          <p:nvPr/>
        </p:nvCxnSpPr>
        <p:spPr>
          <a:xfrm>
            <a:off x="9664005" y="3318123"/>
            <a:ext cx="212318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4" name="Google Shape;1804;p41"/>
          <p:cNvCxnSpPr/>
          <p:nvPr/>
        </p:nvCxnSpPr>
        <p:spPr>
          <a:xfrm>
            <a:off x="9668768" y="3313361"/>
            <a:ext cx="0" cy="244227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5" name="Google Shape;1805;p41"/>
          <p:cNvSpPr/>
          <p:nvPr/>
        </p:nvSpPr>
        <p:spPr>
          <a:xfrm>
            <a:off x="6262688" y="3701653"/>
            <a:ext cx="5529262" cy="1478012"/>
          </a:xfrm>
          <a:prstGeom prst="roundRect">
            <a:avLst>
              <a:gd fmla="val 3222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6" name="Google Shape;1806;p41"/>
          <p:cNvCxnSpPr/>
          <p:nvPr/>
        </p:nvCxnSpPr>
        <p:spPr>
          <a:xfrm>
            <a:off x="6286500" y="3701653"/>
            <a:ext cx="0" cy="1478012"/>
          </a:xfrm>
          <a:prstGeom prst="straightConnector1">
            <a:avLst/>
          </a:prstGeom>
          <a:noFill/>
          <a:ln cap="flat" cmpd="sng" w="476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7" name="Google Shape;1807;p41"/>
          <p:cNvSpPr txBox="1"/>
          <p:nvPr/>
        </p:nvSpPr>
        <p:spPr>
          <a:xfrm>
            <a:off x="400050" y="161925"/>
            <a:ext cx="618038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Demonstração: confundimento estrutural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41"/>
          <p:cNvSpPr txBox="1"/>
          <p:nvPr/>
        </p:nvSpPr>
        <p:spPr>
          <a:xfrm>
            <a:off x="400050" y="974080"/>
            <a:ext cx="453791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Cenário 1 — tentar preservar a condição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41"/>
          <p:cNvSpPr txBox="1"/>
          <p:nvPr/>
        </p:nvSpPr>
        <p:spPr>
          <a:xfrm>
            <a:off x="492919" y="1814661"/>
            <a:ext cx="2475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41"/>
          <p:cNvSpPr txBox="1"/>
          <p:nvPr/>
        </p:nvSpPr>
        <p:spPr>
          <a:xfrm>
            <a:off x="771971" y="1814661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41"/>
          <p:cNvSpPr txBox="1"/>
          <p:nvPr/>
        </p:nvSpPr>
        <p:spPr>
          <a:xfrm>
            <a:off x="981373" y="1814661"/>
            <a:ext cx="87525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model.matrix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41"/>
          <p:cNvSpPr txBox="1"/>
          <p:nvPr/>
        </p:nvSpPr>
        <p:spPr>
          <a:xfrm>
            <a:off x="1818531" y="1814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41"/>
          <p:cNvSpPr txBox="1"/>
          <p:nvPr/>
        </p:nvSpPr>
        <p:spPr>
          <a:xfrm>
            <a:off x="1888331" y="18146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~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41"/>
          <p:cNvSpPr txBox="1"/>
          <p:nvPr/>
        </p:nvSpPr>
        <p:spPr>
          <a:xfrm>
            <a:off x="2027783" y="1814661"/>
            <a:ext cx="6661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group_tg,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41"/>
          <p:cNvSpPr txBox="1"/>
          <p:nvPr/>
        </p:nvSpPr>
        <p:spPr>
          <a:xfrm>
            <a:off x="2725638" y="18146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data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41"/>
          <p:cNvSpPr txBox="1"/>
          <p:nvPr/>
        </p:nvSpPr>
        <p:spPr>
          <a:xfrm>
            <a:off x="3213943" y="1814661"/>
            <a:ext cx="5963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meta_cb)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41"/>
          <p:cNvSpPr txBox="1"/>
          <p:nvPr/>
        </p:nvSpPr>
        <p:spPr>
          <a:xfrm>
            <a:off x="492919" y="1967061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41"/>
          <p:cNvSpPr txBox="1"/>
          <p:nvPr/>
        </p:nvSpPr>
        <p:spPr>
          <a:xfrm>
            <a:off x="911572" y="1967061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41"/>
          <p:cNvSpPr txBox="1"/>
          <p:nvPr/>
        </p:nvSpPr>
        <p:spPr>
          <a:xfrm>
            <a:off x="981373" y="1967061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41"/>
          <p:cNvSpPr txBox="1"/>
          <p:nvPr/>
        </p:nvSpPr>
        <p:spPr>
          <a:xfrm>
            <a:off x="1399877" y="1967061"/>
            <a:ext cx="177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X,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41"/>
          <p:cNvSpPr txBox="1"/>
          <p:nvPr/>
        </p:nvSpPr>
        <p:spPr>
          <a:xfrm>
            <a:off x="1609279" y="1967061"/>
            <a:ext cx="5265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batch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41"/>
          <p:cNvSpPr txBox="1"/>
          <p:nvPr/>
        </p:nvSpPr>
        <p:spPr>
          <a:xfrm>
            <a:off x="2167384" y="1967061"/>
            <a:ext cx="456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study,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41"/>
          <p:cNvSpPr txBox="1"/>
          <p:nvPr/>
        </p:nvSpPr>
        <p:spPr>
          <a:xfrm>
            <a:off x="2655838" y="1967061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41"/>
          <p:cNvSpPr txBox="1"/>
          <p:nvPr/>
        </p:nvSpPr>
        <p:spPr>
          <a:xfrm>
            <a:off x="3074343" y="1967061"/>
            <a:ext cx="3173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mod)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41"/>
          <p:cNvSpPr txBox="1"/>
          <p:nvPr/>
        </p:nvSpPr>
        <p:spPr>
          <a:xfrm>
            <a:off x="438150" y="2640955"/>
            <a:ext cx="5791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41"/>
          <p:cNvSpPr txBox="1"/>
          <p:nvPr/>
        </p:nvSpPr>
        <p:spPr>
          <a:xfrm>
            <a:off x="492919" y="3243411"/>
            <a:ext cx="32472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Error: The covariate is confounded with batch!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41"/>
          <p:cNvSpPr txBox="1"/>
          <p:nvPr/>
        </p:nvSpPr>
        <p:spPr>
          <a:xfrm>
            <a:off x="492919" y="3395811"/>
            <a:ext cx="2619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Remove the covariate and rerun 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41"/>
          <p:cNvSpPr txBox="1"/>
          <p:nvPr/>
        </p:nvSpPr>
        <p:spPr>
          <a:xfrm>
            <a:off x="400050" y="3831580"/>
            <a:ext cx="327258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próprio ComBat detecta 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41"/>
          <p:cNvSpPr txBox="1"/>
          <p:nvPr/>
        </p:nvSpPr>
        <p:spPr>
          <a:xfrm>
            <a:off x="3699867" y="3831580"/>
            <a:ext cx="16380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tumor/normal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41"/>
          <p:cNvSpPr txBox="1"/>
          <p:nvPr/>
        </p:nvSpPr>
        <p:spPr>
          <a:xfrm>
            <a:off x="5364956" y="3831580"/>
            <a:ext cx="16266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41"/>
          <p:cNvSpPr txBox="1"/>
          <p:nvPr/>
        </p:nvSpPr>
        <p:spPr>
          <a:xfrm>
            <a:off x="400050" y="4150668"/>
            <a:ext cx="330472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perfeitamente confundido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41"/>
          <p:cNvSpPr txBox="1"/>
          <p:nvPr/>
        </p:nvSpPr>
        <p:spPr>
          <a:xfrm>
            <a:off x="3731865" y="4150668"/>
            <a:ext cx="131549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TCGA/GTEx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41"/>
          <p:cNvSpPr txBox="1"/>
          <p:nvPr/>
        </p:nvSpPr>
        <p:spPr>
          <a:xfrm>
            <a:off x="5009257" y="4150668"/>
            <a:ext cx="897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41"/>
          <p:cNvSpPr txBox="1"/>
          <p:nvPr/>
        </p:nvSpPr>
        <p:spPr>
          <a:xfrm>
            <a:off x="400050" y="4660255"/>
            <a:ext cx="406598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Cenário 2 — ComBat sem covariável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41"/>
          <p:cNvSpPr txBox="1"/>
          <p:nvPr/>
        </p:nvSpPr>
        <p:spPr>
          <a:xfrm>
            <a:off x="492919" y="5500836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X_cor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41"/>
          <p:cNvSpPr txBox="1"/>
          <p:nvPr/>
        </p:nvSpPr>
        <p:spPr>
          <a:xfrm>
            <a:off x="911572" y="5500836"/>
            <a:ext cx="177701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&lt;-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41"/>
          <p:cNvSpPr txBox="1"/>
          <p:nvPr/>
        </p:nvSpPr>
        <p:spPr>
          <a:xfrm>
            <a:off x="1120973" y="5500836"/>
            <a:ext cx="4567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1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41"/>
          <p:cNvSpPr txBox="1"/>
          <p:nvPr/>
        </p:nvSpPr>
        <p:spPr>
          <a:xfrm>
            <a:off x="1539627" y="5500836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9" name="Google Shape;1839;p41"/>
          <p:cNvSpPr txBox="1"/>
          <p:nvPr/>
        </p:nvSpPr>
        <p:spPr>
          <a:xfrm>
            <a:off x="1609427" y="5500836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dat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0" name="Google Shape;1840;p41"/>
          <p:cNvSpPr txBox="1"/>
          <p:nvPr/>
        </p:nvSpPr>
        <p:spPr>
          <a:xfrm>
            <a:off x="2027932" y="5500836"/>
            <a:ext cx="177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X,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41"/>
          <p:cNvSpPr txBox="1"/>
          <p:nvPr/>
        </p:nvSpPr>
        <p:spPr>
          <a:xfrm>
            <a:off x="2237333" y="5500836"/>
            <a:ext cx="52655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batch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41"/>
          <p:cNvSpPr txBox="1"/>
          <p:nvPr/>
        </p:nvSpPr>
        <p:spPr>
          <a:xfrm>
            <a:off x="2795439" y="5500836"/>
            <a:ext cx="456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study,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41"/>
          <p:cNvSpPr txBox="1"/>
          <p:nvPr/>
        </p:nvSpPr>
        <p:spPr>
          <a:xfrm>
            <a:off x="3283893" y="5500836"/>
            <a:ext cx="3869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mod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41"/>
          <p:cNvSpPr txBox="1"/>
          <p:nvPr/>
        </p:nvSpPr>
        <p:spPr>
          <a:xfrm>
            <a:off x="3702546" y="5500836"/>
            <a:ext cx="317153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8F5902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41"/>
          <p:cNvSpPr txBox="1"/>
          <p:nvPr/>
        </p:nvSpPr>
        <p:spPr>
          <a:xfrm>
            <a:off x="3981599" y="5500836"/>
            <a:ext cx="107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41"/>
          <p:cNvSpPr txBox="1"/>
          <p:nvPr/>
        </p:nvSpPr>
        <p:spPr>
          <a:xfrm>
            <a:off x="6305550" y="1861393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7" name="Google Shape;1847;p41"/>
          <p:cNvSpPr txBox="1"/>
          <p:nvPr/>
        </p:nvSpPr>
        <p:spPr>
          <a:xfrm>
            <a:off x="9066847" y="1861393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8" name="Google Shape;1848;p41"/>
          <p:cNvSpPr txBox="1"/>
          <p:nvPr/>
        </p:nvSpPr>
        <p:spPr>
          <a:xfrm>
            <a:off x="9702165" y="1861393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Depois (sem covariável)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41"/>
          <p:cNvSpPr txBox="1"/>
          <p:nvPr/>
        </p:nvSpPr>
        <p:spPr>
          <a:xfrm>
            <a:off x="6305550" y="2113806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DEGs (FDR &lt; 0,05 e |logFC| &gt;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41"/>
          <p:cNvSpPr txBox="1"/>
          <p:nvPr/>
        </p:nvSpPr>
        <p:spPr>
          <a:xfrm>
            <a:off x="9066847" y="2113806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3.388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41"/>
          <p:cNvSpPr txBox="1"/>
          <p:nvPr/>
        </p:nvSpPr>
        <p:spPr>
          <a:xfrm>
            <a:off x="9702165" y="2113806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41"/>
          <p:cNvSpPr txBox="1"/>
          <p:nvPr/>
        </p:nvSpPr>
        <p:spPr>
          <a:xfrm>
            <a:off x="6305550" y="2358033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Up-regulados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41"/>
          <p:cNvSpPr txBox="1"/>
          <p:nvPr/>
        </p:nvSpPr>
        <p:spPr>
          <a:xfrm>
            <a:off x="9066847" y="2358033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2.245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41"/>
          <p:cNvSpPr txBox="1"/>
          <p:nvPr/>
        </p:nvSpPr>
        <p:spPr>
          <a:xfrm>
            <a:off x="9702165" y="2358033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41"/>
          <p:cNvSpPr txBox="1"/>
          <p:nvPr/>
        </p:nvSpPr>
        <p:spPr>
          <a:xfrm>
            <a:off x="6305550" y="2602260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Down-regulados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41"/>
          <p:cNvSpPr txBox="1"/>
          <p:nvPr/>
        </p:nvSpPr>
        <p:spPr>
          <a:xfrm>
            <a:off x="9066847" y="2602260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1.143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41"/>
          <p:cNvSpPr txBox="1"/>
          <p:nvPr/>
        </p:nvSpPr>
        <p:spPr>
          <a:xfrm>
            <a:off x="9702165" y="2602260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41"/>
          <p:cNvSpPr txBox="1"/>
          <p:nvPr/>
        </p:nvSpPr>
        <p:spPr>
          <a:xfrm>
            <a:off x="6305550" y="2846487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DEGs em comum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41"/>
          <p:cNvSpPr txBox="1"/>
          <p:nvPr/>
        </p:nvSpPr>
        <p:spPr>
          <a:xfrm>
            <a:off x="9066847" y="2846487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41"/>
          <p:cNvSpPr txBox="1"/>
          <p:nvPr/>
        </p:nvSpPr>
        <p:spPr>
          <a:xfrm>
            <a:off x="9702165" y="2846487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41"/>
          <p:cNvSpPr txBox="1"/>
          <p:nvPr/>
        </p:nvSpPr>
        <p:spPr>
          <a:xfrm>
            <a:off x="6305550" y="3090714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Jaccard dos DEGs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41"/>
          <p:cNvSpPr txBox="1"/>
          <p:nvPr/>
        </p:nvSpPr>
        <p:spPr>
          <a:xfrm>
            <a:off x="9066847" y="3090714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41"/>
          <p:cNvSpPr txBox="1"/>
          <p:nvPr/>
        </p:nvSpPr>
        <p:spPr>
          <a:xfrm>
            <a:off x="9702165" y="3090714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41"/>
          <p:cNvSpPr txBox="1"/>
          <p:nvPr/>
        </p:nvSpPr>
        <p:spPr>
          <a:xfrm>
            <a:off x="6305550" y="3334941"/>
            <a:ext cx="268509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Correlação de logFC (Spearman)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41"/>
          <p:cNvSpPr txBox="1"/>
          <p:nvPr/>
        </p:nvSpPr>
        <p:spPr>
          <a:xfrm>
            <a:off x="9066847" y="3334941"/>
            <a:ext cx="5591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41"/>
          <p:cNvSpPr txBox="1"/>
          <p:nvPr/>
        </p:nvSpPr>
        <p:spPr>
          <a:xfrm>
            <a:off x="9702165" y="3334941"/>
            <a:ext cx="204692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7"/>
              <a:buFont typeface="Arial"/>
              <a:buNone/>
            </a:pPr>
            <a:r>
              <a:rPr b="0" i="0" lang="en-US" sz="10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0,647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41"/>
          <p:cNvSpPr txBox="1"/>
          <p:nvPr/>
        </p:nvSpPr>
        <p:spPr>
          <a:xfrm>
            <a:off x="6481762" y="4010025"/>
            <a:ext cx="294620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ComBat removeu o lote —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41"/>
          <p:cNvSpPr txBox="1"/>
          <p:nvPr/>
        </p:nvSpPr>
        <p:spPr>
          <a:xfrm>
            <a:off x="9448651" y="4010025"/>
            <a:ext cx="199935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removeu também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41"/>
          <p:cNvSpPr txBox="1"/>
          <p:nvPr/>
        </p:nvSpPr>
        <p:spPr>
          <a:xfrm>
            <a:off x="6481762" y="4297114"/>
            <a:ext cx="8637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41"/>
          <p:cNvSpPr txBox="1"/>
          <p:nvPr/>
        </p:nvSpPr>
        <p:spPr>
          <a:xfrm>
            <a:off x="7307461" y="4297114"/>
            <a:ext cx="371445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A redução de 3.388 DEGs para 1 é 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41"/>
          <p:cNvSpPr txBox="1"/>
          <p:nvPr/>
        </p:nvSpPr>
        <p:spPr>
          <a:xfrm>
            <a:off x="6481762" y="4584204"/>
            <a:ext cx="11456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exemplo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41"/>
          <p:cNvSpPr txBox="1"/>
          <p:nvPr/>
        </p:nvSpPr>
        <p:spPr>
          <a:xfrm>
            <a:off x="7648129" y="4584204"/>
            <a:ext cx="14655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sobrecorreção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41"/>
          <p:cNvSpPr txBox="1"/>
          <p:nvPr/>
        </p:nvSpPr>
        <p:spPr>
          <a:xfrm>
            <a:off x="9075539" y="4584204"/>
            <a:ext cx="8468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41"/>
          <p:cNvSpPr/>
          <p:nvPr/>
        </p:nvSpPr>
        <p:spPr>
          <a:xfrm>
            <a:off x="400050" y="5965181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Johnson et al., 2007; Leek et al., 2012.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43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0" name="Google Shape;1880;p43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1" name="Google Shape;1881;p43"/>
          <p:cNvSpPr txBox="1"/>
          <p:nvPr/>
        </p:nvSpPr>
        <p:spPr>
          <a:xfrm>
            <a:off x="400050" y="161925"/>
            <a:ext cx="334818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Decisão metodológica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43"/>
          <p:cNvSpPr txBox="1"/>
          <p:nvPr/>
        </p:nvSpPr>
        <p:spPr>
          <a:xfrm>
            <a:off x="400050" y="1242120"/>
            <a:ext cx="3917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fazemos na análise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43"/>
          <p:cNvSpPr txBox="1"/>
          <p:nvPr/>
        </p:nvSpPr>
        <p:spPr>
          <a:xfrm>
            <a:off x="661988" y="1751707"/>
            <a:ext cx="50006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43"/>
          <p:cNvSpPr txBox="1"/>
          <p:nvPr/>
        </p:nvSpPr>
        <p:spPr>
          <a:xfrm>
            <a:off x="1189137" y="1751707"/>
            <a:ext cx="416614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aplicamos ComBat à comparação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43"/>
          <p:cNvSpPr txBox="1"/>
          <p:nvPr/>
        </p:nvSpPr>
        <p:spPr>
          <a:xfrm>
            <a:off x="661988" y="2070795"/>
            <a:ext cx="23444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× GTEx 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43"/>
          <p:cNvSpPr txBox="1"/>
          <p:nvPr/>
        </p:nvSpPr>
        <p:spPr>
          <a:xfrm>
            <a:off x="661988" y="2442270"/>
            <a:ext cx="8696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43"/>
          <p:cNvSpPr txBox="1"/>
          <p:nvPr/>
        </p:nvSpPr>
        <p:spPr>
          <a:xfrm>
            <a:off x="1558677" y="2480370"/>
            <a:ext cx="735806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limma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43"/>
          <p:cNvSpPr txBox="1"/>
          <p:nvPr/>
        </p:nvSpPr>
        <p:spPr>
          <a:xfrm>
            <a:off x="2321570" y="2442270"/>
            <a:ext cx="4927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43"/>
          <p:cNvSpPr txBox="1"/>
          <p:nvPr/>
        </p:nvSpPr>
        <p:spPr>
          <a:xfrm>
            <a:off x="2841575" y="2442270"/>
            <a:ext cx="142443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 e 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43"/>
          <p:cNvSpPr txBox="1"/>
          <p:nvPr/>
        </p:nvSpPr>
        <p:spPr>
          <a:xfrm>
            <a:off x="4293096" y="2442270"/>
            <a:ext cx="6323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43"/>
          <p:cNvSpPr txBox="1"/>
          <p:nvPr/>
        </p:nvSpPr>
        <p:spPr>
          <a:xfrm>
            <a:off x="661988" y="2780407"/>
            <a:ext cx="123348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covariáveis.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43"/>
          <p:cNvSpPr txBox="1"/>
          <p:nvPr/>
        </p:nvSpPr>
        <p:spPr>
          <a:xfrm>
            <a:off x="661988" y="3151882"/>
            <a:ext cx="993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Tratamos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43"/>
          <p:cNvSpPr txBox="1"/>
          <p:nvPr/>
        </p:nvSpPr>
        <p:spPr>
          <a:xfrm>
            <a:off x="1682800" y="3151882"/>
            <a:ext cx="34623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× TCGA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43"/>
          <p:cNvSpPr txBox="1"/>
          <p:nvPr/>
        </p:nvSpPr>
        <p:spPr>
          <a:xfrm>
            <a:off x="5172224" y="3151882"/>
            <a:ext cx="6323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43"/>
          <p:cNvSpPr txBox="1"/>
          <p:nvPr/>
        </p:nvSpPr>
        <p:spPr>
          <a:xfrm>
            <a:off x="661988" y="3470970"/>
            <a:ext cx="356517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comparação interna mais limpa.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43"/>
          <p:cNvSpPr txBox="1"/>
          <p:nvPr/>
        </p:nvSpPr>
        <p:spPr>
          <a:xfrm>
            <a:off x="661988" y="3842445"/>
            <a:ext cx="8696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43"/>
          <p:cNvSpPr txBox="1"/>
          <p:nvPr/>
        </p:nvSpPr>
        <p:spPr>
          <a:xfrm>
            <a:off x="1558677" y="3842445"/>
            <a:ext cx="35191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adjacente × GTEx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43"/>
          <p:cNvSpPr txBox="1"/>
          <p:nvPr/>
        </p:nvSpPr>
        <p:spPr>
          <a:xfrm>
            <a:off x="5104954" y="3842445"/>
            <a:ext cx="50333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43"/>
          <p:cNvSpPr txBox="1"/>
          <p:nvPr/>
        </p:nvSpPr>
        <p:spPr>
          <a:xfrm>
            <a:off x="661988" y="4161532"/>
            <a:ext cx="462736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estimar o componente não tumoral/estudo.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43"/>
          <p:cNvSpPr txBox="1"/>
          <p:nvPr/>
        </p:nvSpPr>
        <p:spPr>
          <a:xfrm>
            <a:off x="661988" y="4533007"/>
            <a:ext cx="43483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Interpretamos TCGA × GTEx com cautela.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43"/>
          <p:cNvSpPr txBox="1"/>
          <p:nvPr/>
        </p:nvSpPr>
        <p:spPr>
          <a:xfrm>
            <a:off x="6262688" y="974080"/>
            <a:ext cx="35863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que essa é a escolha correta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43"/>
          <p:cNvSpPr txBox="1"/>
          <p:nvPr/>
        </p:nvSpPr>
        <p:spPr>
          <a:xfrm>
            <a:off x="6524625" y="1483668"/>
            <a:ext cx="21297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Lote e condição 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43"/>
          <p:cNvSpPr txBox="1"/>
          <p:nvPr/>
        </p:nvSpPr>
        <p:spPr>
          <a:xfrm>
            <a:off x="8681591" y="1483668"/>
            <a:ext cx="30974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perfeitamente confundidos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43"/>
          <p:cNvSpPr txBox="1"/>
          <p:nvPr/>
        </p:nvSpPr>
        <p:spPr>
          <a:xfrm>
            <a:off x="6524625" y="1802755"/>
            <a:ext cx="17877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(Cramér’s V = 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43"/>
          <p:cNvSpPr txBox="1"/>
          <p:nvPr/>
        </p:nvSpPr>
        <p:spPr>
          <a:xfrm>
            <a:off x="6524625" y="2174230"/>
            <a:ext cx="26268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efeito tumor × 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43"/>
          <p:cNvSpPr txBox="1"/>
          <p:nvPr/>
        </p:nvSpPr>
        <p:spPr>
          <a:xfrm>
            <a:off x="9178677" y="2174230"/>
            <a:ext cx="2089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identificável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43"/>
          <p:cNvSpPr txBox="1"/>
          <p:nvPr/>
        </p:nvSpPr>
        <p:spPr>
          <a:xfrm>
            <a:off x="6524625" y="2493318"/>
            <a:ext cx="2524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separadamente do lote.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43"/>
          <p:cNvSpPr txBox="1"/>
          <p:nvPr/>
        </p:nvSpPr>
        <p:spPr>
          <a:xfrm>
            <a:off x="6524625" y="2864793"/>
            <a:ext cx="48840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conclusão honesta é reconhecer a limitação,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43"/>
          <p:cNvSpPr txBox="1"/>
          <p:nvPr/>
        </p:nvSpPr>
        <p:spPr>
          <a:xfrm>
            <a:off x="6524625" y="3183880"/>
            <a:ext cx="513948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“corrigir” o problema removendo a biologia.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43"/>
          <p:cNvSpPr/>
          <p:nvPr/>
        </p:nvSpPr>
        <p:spPr>
          <a:xfrm>
            <a:off x="431006" y="187791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43"/>
          <p:cNvSpPr/>
          <p:nvPr/>
        </p:nvSpPr>
        <p:spPr>
          <a:xfrm>
            <a:off x="431006" y="256847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43"/>
          <p:cNvSpPr/>
          <p:nvPr/>
        </p:nvSpPr>
        <p:spPr>
          <a:xfrm>
            <a:off x="431006" y="3278088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43"/>
          <p:cNvSpPr/>
          <p:nvPr/>
        </p:nvSpPr>
        <p:spPr>
          <a:xfrm>
            <a:off x="431006" y="3968651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43"/>
          <p:cNvSpPr/>
          <p:nvPr/>
        </p:nvSpPr>
        <p:spPr>
          <a:xfrm>
            <a:off x="431006" y="4659213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43"/>
          <p:cNvSpPr/>
          <p:nvPr/>
        </p:nvSpPr>
        <p:spPr>
          <a:xfrm>
            <a:off x="6293644" y="1609874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43"/>
          <p:cNvSpPr/>
          <p:nvPr/>
        </p:nvSpPr>
        <p:spPr>
          <a:xfrm>
            <a:off x="6293644" y="2300436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43"/>
          <p:cNvSpPr/>
          <p:nvPr/>
        </p:nvSpPr>
        <p:spPr>
          <a:xfrm>
            <a:off x="6293644" y="2990999"/>
            <a:ext cx="80962" cy="80962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43"/>
          <p:cNvSpPr/>
          <p:nvPr/>
        </p:nvSpPr>
        <p:spPr>
          <a:xfrm>
            <a:off x="400050" y="5201245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Johnson et al., 2007; Leek et al., 2012; Zhang et al., 2020.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44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4" name="Google Shape;1924;p44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5" name="Google Shape;1925;p44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6" name="Google Shape;1926;p44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7" name="Google Shape;1927;p44"/>
          <p:cNvSpPr/>
          <p:nvPr/>
        </p:nvSpPr>
        <p:spPr>
          <a:xfrm>
            <a:off x="800100" y="2433340"/>
            <a:ext cx="10668000" cy="1190923"/>
          </a:xfrm>
          <a:prstGeom prst="roundRect">
            <a:avLst>
              <a:gd fmla="val 3999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8" name="Google Shape;1928;p44"/>
          <p:cNvCxnSpPr/>
          <p:nvPr/>
        </p:nvCxnSpPr>
        <p:spPr>
          <a:xfrm>
            <a:off x="823912" y="2433340"/>
            <a:ext cx="0" cy="1190922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9" name="Google Shape;1929;p44"/>
          <p:cNvSpPr/>
          <p:nvPr/>
        </p:nvSpPr>
        <p:spPr>
          <a:xfrm>
            <a:off x="800100" y="3741390"/>
            <a:ext cx="10668000" cy="1979712"/>
          </a:xfrm>
          <a:prstGeom prst="roundRect">
            <a:avLst>
              <a:gd fmla="val 2405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0" name="Google Shape;1930;p44"/>
          <p:cNvCxnSpPr/>
          <p:nvPr/>
        </p:nvCxnSpPr>
        <p:spPr>
          <a:xfrm>
            <a:off x="823912" y="3741390"/>
            <a:ext cx="0" cy="1979712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1" name="Google Shape;1931;p44"/>
          <p:cNvSpPr/>
          <p:nvPr/>
        </p:nvSpPr>
        <p:spPr>
          <a:xfrm>
            <a:off x="994172" y="4061222"/>
            <a:ext cx="1813620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44"/>
          <p:cNvSpPr txBox="1"/>
          <p:nvPr/>
        </p:nvSpPr>
        <p:spPr>
          <a:xfrm>
            <a:off x="800100" y="852488"/>
            <a:ext cx="8693646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4 — Fenótipos avançados e sobrevida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44"/>
          <p:cNvSpPr txBox="1"/>
          <p:nvPr/>
        </p:nvSpPr>
        <p:spPr>
          <a:xfrm>
            <a:off x="800100" y="1655564"/>
            <a:ext cx="462736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MISSINGNESS, ASSOCIAÇÕES, KAPLAN-MEIER E COX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44"/>
          <p:cNvSpPr txBox="1"/>
          <p:nvPr/>
        </p:nvSpPr>
        <p:spPr>
          <a:xfrm>
            <a:off x="800100" y="1993999"/>
            <a:ext cx="34642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05_fenotipos_avancados.R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44"/>
          <p:cNvSpPr txBox="1"/>
          <p:nvPr/>
        </p:nvSpPr>
        <p:spPr>
          <a:xfrm>
            <a:off x="4291161" y="1955899"/>
            <a:ext cx="3485257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tabelas 13–20 e figuras 15–25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44"/>
          <p:cNvSpPr txBox="1"/>
          <p:nvPr/>
        </p:nvSpPr>
        <p:spPr>
          <a:xfrm>
            <a:off x="1019175" y="2741712"/>
            <a:ext cx="31425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Todas as análises desta parte 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44"/>
          <p:cNvSpPr txBox="1"/>
          <p:nvPr/>
        </p:nvSpPr>
        <p:spPr>
          <a:xfrm>
            <a:off x="4182368" y="2741712"/>
            <a:ext cx="30933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exploratórias e observacionais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44"/>
          <p:cNvSpPr txBox="1"/>
          <p:nvPr/>
        </p:nvSpPr>
        <p:spPr>
          <a:xfrm>
            <a:off x="7237661" y="2741712"/>
            <a:ext cx="36412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Missingness elevado limita o poder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44"/>
          <p:cNvSpPr txBox="1"/>
          <p:nvPr/>
        </p:nvSpPr>
        <p:spPr>
          <a:xfrm>
            <a:off x="1019175" y="3028801"/>
            <a:ext cx="26021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pode gerar viés de seleção.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44"/>
          <p:cNvSpPr txBox="1"/>
          <p:nvPr/>
        </p:nvSpPr>
        <p:spPr>
          <a:xfrm>
            <a:off x="1074093" y="4067621"/>
            <a:ext cx="1691878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44"/>
          <p:cNvSpPr txBox="1"/>
          <p:nvPr/>
        </p:nvSpPr>
        <p:spPr>
          <a:xfrm>
            <a:off x="2917329" y="4029521"/>
            <a:ext cx="195723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Qui-quadrado/Fisher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44"/>
          <p:cNvSpPr txBox="1"/>
          <p:nvPr/>
        </p:nvSpPr>
        <p:spPr>
          <a:xfrm>
            <a:off x="4889897" y="402952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44"/>
          <p:cNvSpPr txBox="1"/>
          <p:nvPr/>
        </p:nvSpPr>
        <p:spPr>
          <a:xfrm>
            <a:off x="4948982" y="4058096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44"/>
          <p:cNvSpPr txBox="1"/>
          <p:nvPr/>
        </p:nvSpPr>
        <p:spPr>
          <a:xfrm>
            <a:off x="6894016" y="402952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44"/>
          <p:cNvSpPr txBox="1"/>
          <p:nvPr/>
        </p:nvSpPr>
        <p:spPr>
          <a:xfrm>
            <a:off x="6989862" y="405809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stats::fisher.test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44"/>
          <p:cNvSpPr txBox="1"/>
          <p:nvPr/>
        </p:nvSpPr>
        <p:spPr>
          <a:xfrm>
            <a:off x="9049345" y="4029521"/>
            <a:ext cx="159127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associações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44"/>
          <p:cNvSpPr txBox="1"/>
          <p:nvPr/>
        </p:nvSpPr>
        <p:spPr>
          <a:xfrm>
            <a:off x="994172" y="4310211"/>
            <a:ext cx="10553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categóricas;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44"/>
          <p:cNvSpPr txBox="1"/>
          <p:nvPr/>
        </p:nvSpPr>
        <p:spPr>
          <a:xfrm>
            <a:off x="2064841" y="4310211"/>
            <a:ext cx="22865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Wilcoxon/Kruskal-Wallis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44"/>
          <p:cNvSpPr txBox="1"/>
          <p:nvPr/>
        </p:nvSpPr>
        <p:spPr>
          <a:xfrm>
            <a:off x="4366766" y="431021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44"/>
          <p:cNvSpPr txBox="1"/>
          <p:nvPr/>
        </p:nvSpPr>
        <p:spPr>
          <a:xfrm>
            <a:off x="4425851" y="433878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stats::wilcox.test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44"/>
          <p:cNvSpPr txBox="1"/>
          <p:nvPr/>
        </p:nvSpPr>
        <p:spPr>
          <a:xfrm>
            <a:off x="6485334" y="431021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44"/>
          <p:cNvSpPr txBox="1"/>
          <p:nvPr/>
        </p:nvSpPr>
        <p:spPr>
          <a:xfrm>
            <a:off x="6581180" y="4338786"/>
            <a:ext cx="221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44"/>
          <p:cNvSpPr txBox="1"/>
          <p:nvPr/>
        </p:nvSpPr>
        <p:spPr>
          <a:xfrm>
            <a:off x="8755112" y="4310211"/>
            <a:ext cx="22462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variáveis contínuas;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44"/>
          <p:cNvSpPr txBox="1"/>
          <p:nvPr/>
        </p:nvSpPr>
        <p:spPr>
          <a:xfrm>
            <a:off x="11016704" y="4310211"/>
            <a:ext cx="3129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44"/>
          <p:cNvSpPr txBox="1"/>
          <p:nvPr/>
        </p:nvSpPr>
        <p:spPr>
          <a:xfrm>
            <a:off x="994172" y="4590901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6" name="Google Shape;1956;p44"/>
          <p:cNvSpPr txBox="1"/>
          <p:nvPr/>
        </p:nvSpPr>
        <p:spPr>
          <a:xfrm>
            <a:off x="1053108" y="461947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44"/>
          <p:cNvSpPr txBox="1"/>
          <p:nvPr/>
        </p:nvSpPr>
        <p:spPr>
          <a:xfrm>
            <a:off x="2769394" y="4590901"/>
            <a:ext cx="19822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múltiplos testes;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44"/>
          <p:cNvSpPr txBox="1"/>
          <p:nvPr/>
        </p:nvSpPr>
        <p:spPr>
          <a:xfrm>
            <a:off x="4767114" y="4590901"/>
            <a:ext cx="12800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Kaplan-Meier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44"/>
          <p:cNvSpPr txBox="1"/>
          <p:nvPr/>
        </p:nvSpPr>
        <p:spPr>
          <a:xfrm>
            <a:off x="6062514" y="4590901"/>
            <a:ext cx="1403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44"/>
          <p:cNvSpPr txBox="1"/>
          <p:nvPr/>
        </p:nvSpPr>
        <p:spPr>
          <a:xfrm>
            <a:off x="6218188" y="4590901"/>
            <a:ext cx="8228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log-rank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44"/>
          <p:cNvSpPr txBox="1"/>
          <p:nvPr/>
        </p:nvSpPr>
        <p:spPr>
          <a:xfrm>
            <a:off x="7056388" y="459090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44"/>
          <p:cNvSpPr txBox="1"/>
          <p:nvPr/>
        </p:nvSpPr>
        <p:spPr>
          <a:xfrm>
            <a:off x="7115473" y="4619476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44"/>
          <p:cNvSpPr txBox="1"/>
          <p:nvPr/>
        </p:nvSpPr>
        <p:spPr>
          <a:xfrm>
            <a:off x="9060507" y="459090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44"/>
          <p:cNvSpPr txBox="1"/>
          <p:nvPr/>
        </p:nvSpPr>
        <p:spPr>
          <a:xfrm>
            <a:off x="9156353" y="461947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survival::survdiff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44"/>
          <p:cNvSpPr txBox="1"/>
          <p:nvPr/>
        </p:nvSpPr>
        <p:spPr>
          <a:xfrm>
            <a:off x="11215836" y="4590901"/>
            <a:ext cx="1394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44"/>
          <p:cNvSpPr txBox="1"/>
          <p:nvPr/>
        </p:nvSpPr>
        <p:spPr>
          <a:xfrm>
            <a:off x="994172" y="4871591"/>
            <a:ext cx="3833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44"/>
          <p:cNvSpPr txBox="1"/>
          <p:nvPr/>
        </p:nvSpPr>
        <p:spPr>
          <a:xfrm>
            <a:off x="1392882" y="4871591"/>
            <a:ext cx="1403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44"/>
          <p:cNvSpPr txBox="1"/>
          <p:nvPr/>
        </p:nvSpPr>
        <p:spPr>
          <a:xfrm>
            <a:off x="1548557" y="4871591"/>
            <a:ext cx="7402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cox.zph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44"/>
          <p:cNvSpPr txBox="1"/>
          <p:nvPr/>
        </p:nvSpPr>
        <p:spPr>
          <a:xfrm>
            <a:off x="2304157" y="487159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44"/>
          <p:cNvSpPr txBox="1"/>
          <p:nvPr/>
        </p:nvSpPr>
        <p:spPr>
          <a:xfrm>
            <a:off x="2363242" y="490016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survival::coxph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44"/>
          <p:cNvSpPr txBox="1"/>
          <p:nvPr/>
        </p:nvSpPr>
        <p:spPr>
          <a:xfrm>
            <a:off x="4079528" y="487159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44"/>
          <p:cNvSpPr txBox="1"/>
          <p:nvPr/>
        </p:nvSpPr>
        <p:spPr>
          <a:xfrm>
            <a:off x="4175373" y="4900166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survival::cox.zph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44"/>
          <p:cNvSpPr txBox="1"/>
          <p:nvPr/>
        </p:nvSpPr>
        <p:spPr>
          <a:xfrm>
            <a:off x="6120408" y="4871591"/>
            <a:ext cx="1394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44"/>
          <p:cNvSpPr txBox="1"/>
          <p:nvPr/>
        </p:nvSpPr>
        <p:spPr>
          <a:xfrm>
            <a:off x="6275189" y="4871591"/>
            <a:ext cx="9597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44"/>
          <p:cNvSpPr txBox="1"/>
          <p:nvPr/>
        </p:nvSpPr>
        <p:spPr>
          <a:xfrm>
            <a:off x="7250311" y="487159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44"/>
          <p:cNvSpPr txBox="1"/>
          <p:nvPr/>
        </p:nvSpPr>
        <p:spPr>
          <a:xfrm>
            <a:off x="7309396" y="490016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44"/>
          <p:cNvSpPr txBox="1"/>
          <p:nvPr/>
        </p:nvSpPr>
        <p:spPr>
          <a:xfrm>
            <a:off x="9025682" y="4871591"/>
            <a:ext cx="11941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 Curvas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44"/>
          <p:cNvSpPr txBox="1"/>
          <p:nvPr/>
        </p:nvSpPr>
        <p:spPr>
          <a:xfrm>
            <a:off x="10235208" y="4900166"/>
            <a:ext cx="106784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survminer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44"/>
          <p:cNvSpPr txBox="1"/>
          <p:nvPr/>
        </p:nvSpPr>
        <p:spPr>
          <a:xfrm>
            <a:off x="11264950" y="487159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44"/>
          <p:cNvSpPr txBox="1"/>
          <p:nvPr/>
        </p:nvSpPr>
        <p:spPr>
          <a:xfrm>
            <a:off x="994172" y="5152281"/>
            <a:ext cx="110564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floresta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44"/>
          <p:cNvSpPr txBox="1"/>
          <p:nvPr/>
        </p:nvSpPr>
        <p:spPr>
          <a:xfrm>
            <a:off x="2115145" y="5180856"/>
            <a:ext cx="8390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ggplot2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44"/>
          <p:cNvSpPr txBox="1"/>
          <p:nvPr/>
        </p:nvSpPr>
        <p:spPr>
          <a:xfrm>
            <a:off x="2916138" y="515228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45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8" name="Google Shape;1988;p45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9" name="Google Shape;1989;p45"/>
          <p:cNvSpPr/>
          <p:nvPr/>
        </p:nvSpPr>
        <p:spPr>
          <a:xfrm>
            <a:off x="400050" y="1116509"/>
            <a:ext cx="5549205" cy="3209925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45"/>
          <p:cNvSpPr/>
          <p:nvPr/>
        </p:nvSpPr>
        <p:spPr>
          <a:xfrm>
            <a:off x="404812" y="1121271"/>
            <a:ext cx="2092821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1" name="Google Shape;1991;p45"/>
          <p:cNvCxnSpPr/>
          <p:nvPr/>
        </p:nvCxnSpPr>
        <p:spPr>
          <a:xfrm>
            <a:off x="404812" y="1126034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2" name="Google Shape;1992;p45"/>
          <p:cNvCxnSpPr/>
          <p:nvPr/>
        </p:nvCxnSpPr>
        <p:spPr>
          <a:xfrm>
            <a:off x="409575" y="1121271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3" name="Google Shape;1993;p45"/>
          <p:cNvSpPr/>
          <p:nvPr/>
        </p:nvSpPr>
        <p:spPr>
          <a:xfrm>
            <a:off x="2497634" y="1121271"/>
            <a:ext cx="2768947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4" name="Google Shape;1994;p45"/>
          <p:cNvCxnSpPr/>
          <p:nvPr/>
        </p:nvCxnSpPr>
        <p:spPr>
          <a:xfrm>
            <a:off x="2497634" y="1126034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5" name="Google Shape;1995;p45"/>
          <p:cNvCxnSpPr/>
          <p:nvPr/>
        </p:nvCxnSpPr>
        <p:spPr>
          <a:xfrm>
            <a:off x="2502396" y="1121271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6" name="Google Shape;1996;p45"/>
          <p:cNvSpPr/>
          <p:nvPr/>
        </p:nvSpPr>
        <p:spPr>
          <a:xfrm>
            <a:off x="5266581" y="1121271"/>
            <a:ext cx="677912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7" name="Google Shape;1997;p45"/>
          <p:cNvCxnSpPr/>
          <p:nvPr/>
        </p:nvCxnSpPr>
        <p:spPr>
          <a:xfrm>
            <a:off x="5266581" y="1126034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8" name="Google Shape;1998;p45"/>
          <p:cNvCxnSpPr/>
          <p:nvPr/>
        </p:nvCxnSpPr>
        <p:spPr>
          <a:xfrm>
            <a:off x="5271343" y="1121271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9" name="Google Shape;1999;p45"/>
          <p:cNvSpPr/>
          <p:nvPr/>
        </p:nvSpPr>
        <p:spPr>
          <a:xfrm>
            <a:off x="404812" y="1321296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0" name="Google Shape;2000;p45"/>
          <p:cNvCxnSpPr/>
          <p:nvPr/>
        </p:nvCxnSpPr>
        <p:spPr>
          <a:xfrm>
            <a:off x="404812" y="1326059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1" name="Google Shape;2001;p45"/>
          <p:cNvCxnSpPr/>
          <p:nvPr/>
        </p:nvCxnSpPr>
        <p:spPr>
          <a:xfrm>
            <a:off x="409575" y="13212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2" name="Google Shape;2002;p45"/>
          <p:cNvSpPr/>
          <p:nvPr/>
        </p:nvSpPr>
        <p:spPr>
          <a:xfrm>
            <a:off x="2497634" y="1321296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3" name="Google Shape;2003;p45"/>
          <p:cNvCxnSpPr/>
          <p:nvPr/>
        </p:nvCxnSpPr>
        <p:spPr>
          <a:xfrm>
            <a:off x="2497634" y="1326059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4" name="Google Shape;2004;p45"/>
          <p:cNvCxnSpPr/>
          <p:nvPr/>
        </p:nvCxnSpPr>
        <p:spPr>
          <a:xfrm>
            <a:off x="2502396" y="13212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5" name="Google Shape;2005;p45"/>
          <p:cNvSpPr/>
          <p:nvPr/>
        </p:nvSpPr>
        <p:spPr>
          <a:xfrm>
            <a:off x="5266581" y="1321296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6" name="Google Shape;2006;p45"/>
          <p:cNvCxnSpPr/>
          <p:nvPr/>
        </p:nvCxnSpPr>
        <p:spPr>
          <a:xfrm>
            <a:off x="5266581" y="1326059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7" name="Google Shape;2007;p45"/>
          <p:cNvCxnSpPr/>
          <p:nvPr/>
        </p:nvCxnSpPr>
        <p:spPr>
          <a:xfrm>
            <a:off x="5271343" y="13212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8" name="Google Shape;2008;p45"/>
          <p:cNvSpPr/>
          <p:nvPr/>
        </p:nvSpPr>
        <p:spPr>
          <a:xfrm>
            <a:off x="404812" y="1508820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9" name="Google Shape;2009;p45"/>
          <p:cNvCxnSpPr/>
          <p:nvPr/>
        </p:nvCxnSpPr>
        <p:spPr>
          <a:xfrm>
            <a:off x="404812" y="1513582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0" name="Google Shape;2010;p45"/>
          <p:cNvCxnSpPr/>
          <p:nvPr/>
        </p:nvCxnSpPr>
        <p:spPr>
          <a:xfrm>
            <a:off x="409575" y="15088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1" name="Google Shape;2011;p45"/>
          <p:cNvSpPr/>
          <p:nvPr/>
        </p:nvSpPr>
        <p:spPr>
          <a:xfrm>
            <a:off x="2497634" y="1508820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2" name="Google Shape;2012;p45"/>
          <p:cNvCxnSpPr/>
          <p:nvPr/>
        </p:nvCxnSpPr>
        <p:spPr>
          <a:xfrm>
            <a:off x="2497634" y="1513582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3" name="Google Shape;2013;p45"/>
          <p:cNvCxnSpPr/>
          <p:nvPr/>
        </p:nvCxnSpPr>
        <p:spPr>
          <a:xfrm>
            <a:off x="2502396" y="15088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4" name="Google Shape;2014;p45"/>
          <p:cNvSpPr/>
          <p:nvPr/>
        </p:nvSpPr>
        <p:spPr>
          <a:xfrm>
            <a:off x="5266581" y="1508820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5" name="Google Shape;2015;p45"/>
          <p:cNvCxnSpPr/>
          <p:nvPr/>
        </p:nvCxnSpPr>
        <p:spPr>
          <a:xfrm>
            <a:off x="5266581" y="1513582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6" name="Google Shape;2016;p45"/>
          <p:cNvCxnSpPr/>
          <p:nvPr/>
        </p:nvCxnSpPr>
        <p:spPr>
          <a:xfrm>
            <a:off x="5271343" y="15088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7" name="Google Shape;2017;p45"/>
          <p:cNvSpPr/>
          <p:nvPr/>
        </p:nvSpPr>
        <p:spPr>
          <a:xfrm>
            <a:off x="404812" y="1696343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8" name="Google Shape;2018;p45"/>
          <p:cNvCxnSpPr/>
          <p:nvPr/>
        </p:nvCxnSpPr>
        <p:spPr>
          <a:xfrm>
            <a:off x="404812" y="1701105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9" name="Google Shape;2019;p45"/>
          <p:cNvCxnSpPr/>
          <p:nvPr/>
        </p:nvCxnSpPr>
        <p:spPr>
          <a:xfrm>
            <a:off x="409575" y="169634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0" name="Google Shape;2020;p45"/>
          <p:cNvSpPr/>
          <p:nvPr/>
        </p:nvSpPr>
        <p:spPr>
          <a:xfrm>
            <a:off x="2497634" y="1696343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1" name="Google Shape;2021;p45"/>
          <p:cNvCxnSpPr/>
          <p:nvPr/>
        </p:nvCxnSpPr>
        <p:spPr>
          <a:xfrm>
            <a:off x="2497634" y="1701105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2" name="Google Shape;2022;p45"/>
          <p:cNvCxnSpPr/>
          <p:nvPr/>
        </p:nvCxnSpPr>
        <p:spPr>
          <a:xfrm>
            <a:off x="2502396" y="169634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3" name="Google Shape;2023;p45"/>
          <p:cNvSpPr/>
          <p:nvPr/>
        </p:nvSpPr>
        <p:spPr>
          <a:xfrm>
            <a:off x="5266581" y="1696343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4" name="Google Shape;2024;p45"/>
          <p:cNvCxnSpPr/>
          <p:nvPr/>
        </p:nvCxnSpPr>
        <p:spPr>
          <a:xfrm>
            <a:off x="5266581" y="1701105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5" name="Google Shape;2025;p45"/>
          <p:cNvCxnSpPr/>
          <p:nvPr/>
        </p:nvCxnSpPr>
        <p:spPr>
          <a:xfrm>
            <a:off x="5271343" y="169634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6" name="Google Shape;2026;p45"/>
          <p:cNvSpPr/>
          <p:nvPr/>
        </p:nvSpPr>
        <p:spPr>
          <a:xfrm>
            <a:off x="404812" y="1883866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7" name="Google Shape;2027;p45"/>
          <p:cNvCxnSpPr/>
          <p:nvPr/>
        </p:nvCxnSpPr>
        <p:spPr>
          <a:xfrm>
            <a:off x="404812" y="1888629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8" name="Google Shape;2028;p45"/>
          <p:cNvCxnSpPr/>
          <p:nvPr/>
        </p:nvCxnSpPr>
        <p:spPr>
          <a:xfrm>
            <a:off x="409575" y="188386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9" name="Google Shape;2029;p45"/>
          <p:cNvSpPr/>
          <p:nvPr/>
        </p:nvSpPr>
        <p:spPr>
          <a:xfrm>
            <a:off x="2497634" y="1883866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0" name="Google Shape;2030;p45"/>
          <p:cNvCxnSpPr/>
          <p:nvPr/>
        </p:nvCxnSpPr>
        <p:spPr>
          <a:xfrm>
            <a:off x="2497634" y="1888629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1" name="Google Shape;2031;p45"/>
          <p:cNvCxnSpPr/>
          <p:nvPr/>
        </p:nvCxnSpPr>
        <p:spPr>
          <a:xfrm>
            <a:off x="2502396" y="188386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2" name="Google Shape;2032;p45"/>
          <p:cNvSpPr/>
          <p:nvPr/>
        </p:nvSpPr>
        <p:spPr>
          <a:xfrm>
            <a:off x="5266581" y="1883866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3" name="Google Shape;2033;p45"/>
          <p:cNvCxnSpPr/>
          <p:nvPr/>
        </p:nvCxnSpPr>
        <p:spPr>
          <a:xfrm>
            <a:off x="5266581" y="1888629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4" name="Google Shape;2034;p45"/>
          <p:cNvCxnSpPr/>
          <p:nvPr/>
        </p:nvCxnSpPr>
        <p:spPr>
          <a:xfrm>
            <a:off x="5271343" y="188386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5" name="Google Shape;2035;p45"/>
          <p:cNvSpPr/>
          <p:nvPr/>
        </p:nvSpPr>
        <p:spPr>
          <a:xfrm>
            <a:off x="404812" y="2071390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6" name="Google Shape;2036;p45"/>
          <p:cNvCxnSpPr/>
          <p:nvPr/>
        </p:nvCxnSpPr>
        <p:spPr>
          <a:xfrm>
            <a:off x="404812" y="2076152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7" name="Google Shape;2037;p45"/>
          <p:cNvCxnSpPr/>
          <p:nvPr/>
        </p:nvCxnSpPr>
        <p:spPr>
          <a:xfrm>
            <a:off x="409575" y="207139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8" name="Google Shape;2038;p45"/>
          <p:cNvSpPr/>
          <p:nvPr/>
        </p:nvSpPr>
        <p:spPr>
          <a:xfrm>
            <a:off x="2497634" y="2071390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9" name="Google Shape;2039;p45"/>
          <p:cNvCxnSpPr/>
          <p:nvPr/>
        </p:nvCxnSpPr>
        <p:spPr>
          <a:xfrm>
            <a:off x="2497634" y="2076152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0" name="Google Shape;2040;p45"/>
          <p:cNvCxnSpPr/>
          <p:nvPr/>
        </p:nvCxnSpPr>
        <p:spPr>
          <a:xfrm>
            <a:off x="2502396" y="207139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1" name="Google Shape;2041;p45"/>
          <p:cNvSpPr/>
          <p:nvPr/>
        </p:nvSpPr>
        <p:spPr>
          <a:xfrm>
            <a:off x="5266581" y="2071390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2" name="Google Shape;2042;p45"/>
          <p:cNvCxnSpPr/>
          <p:nvPr/>
        </p:nvCxnSpPr>
        <p:spPr>
          <a:xfrm>
            <a:off x="5266581" y="2076152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3" name="Google Shape;2043;p45"/>
          <p:cNvCxnSpPr/>
          <p:nvPr/>
        </p:nvCxnSpPr>
        <p:spPr>
          <a:xfrm>
            <a:off x="5271343" y="207139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4" name="Google Shape;2044;p45"/>
          <p:cNvSpPr/>
          <p:nvPr/>
        </p:nvSpPr>
        <p:spPr>
          <a:xfrm>
            <a:off x="404812" y="2258913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5" name="Google Shape;2045;p45"/>
          <p:cNvCxnSpPr/>
          <p:nvPr/>
        </p:nvCxnSpPr>
        <p:spPr>
          <a:xfrm>
            <a:off x="404812" y="2263676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6" name="Google Shape;2046;p45"/>
          <p:cNvCxnSpPr/>
          <p:nvPr/>
        </p:nvCxnSpPr>
        <p:spPr>
          <a:xfrm>
            <a:off x="409575" y="225891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7" name="Google Shape;2047;p45"/>
          <p:cNvSpPr/>
          <p:nvPr/>
        </p:nvSpPr>
        <p:spPr>
          <a:xfrm>
            <a:off x="2497634" y="2258913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8" name="Google Shape;2048;p45"/>
          <p:cNvCxnSpPr/>
          <p:nvPr/>
        </p:nvCxnSpPr>
        <p:spPr>
          <a:xfrm>
            <a:off x="2497634" y="2263676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9" name="Google Shape;2049;p45"/>
          <p:cNvCxnSpPr/>
          <p:nvPr/>
        </p:nvCxnSpPr>
        <p:spPr>
          <a:xfrm>
            <a:off x="2502396" y="225891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0" name="Google Shape;2050;p45"/>
          <p:cNvSpPr/>
          <p:nvPr/>
        </p:nvSpPr>
        <p:spPr>
          <a:xfrm>
            <a:off x="5266581" y="2258913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1" name="Google Shape;2051;p45"/>
          <p:cNvCxnSpPr/>
          <p:nvPr/>
        </p:nvCxnSpPr>
        <p:spPr>
          <a:xfrm>
            <a:off x="5266581" y="2263676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2" name="Google Shape;2052;p45"/>
          <p:cNvCxnSpPr/>
          <p:nvPr/>
        </p:nvCxnSpPr>
        <p:spPr>
          <a:xfrm>
            <a:off x="5271343" y="225891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3" name="Google Shape;2053;p45"/>
          <p:cNvSpPr/>
          <p:nvPr/>
        </p:nvSpPr>
        <p:spPr>
          <a:xfrm>
            <a:off x="404812" y="2446437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4" name="Google Shape;2054;p45"/>
          <p:cNvCxnSpPr/>
          <p:nvPr/>
        </p:nvCxnSpPr>
        <p:spPr>
          <a:xfrm>
            <a:off x="404812" y="2451199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5" name="Google Shape;2055;p45"/>
          <p:cNvCxnSpPr/>
          <p:nvPr/>
        </p:nvCxnSpPr>
        <p:spPr>
          <a:xfrm>
            <a:off x="409575" y="244643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6" name="Google Shape;2056;p45"/>
          <p:cNvSpPr/>
          <p:nvPr/>
        </p:nvSpPr>
        <p:spPr>
          <a:xfrm>
            <a:off x="2497634" y="2446437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7" name="Google Shape;2057;p45"/>
          <p:cNvCxnSpPr/>
          <p:nvPr/>
        </p:nvCxnSpPr>
        <p:spPr>
          <a:xfrm>
            <a:off x="2497634" y="2451199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8" name="Google Shape;2058;p45"/>
          <p:cNvCxnSpPr/>
          <p:nvPr/>
        </p:nvCxnSpPr>
        <p:spPr>
          <a:xfrm>
            <a:off x="2502396" y="244643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9" name="Google Shape;2059;p45"/>
          <p:cNvSpPr/>
          <p:nvPr/>
        </p:nvSpPr>
        <p:spPr>
          <a:xfrm>
            <a:off x="5266581" y="2446437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0" name="Google Shape;2060;p45"/>
          <p:cNvCxnSpPr/>
          <p:nvPr/>
        </p:nvCxnSpPr>
        <p:spPr>
          <a:xfrm>
            <a:off x="5266581" y="2451199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1" name="Google Shape;2061;p45"/>
          <p:cNvCxnSpPr/>
          <p:nvPr/>
        </p:nvCxnSpPr>
        <p:spPr>
          <a:xfrm>
            <a:off x="5271343" y="244643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2" name="Google Shape;2062;p45"/>
          <p:cNvSpPr/>
          <p:nvPr/>
        </p:nvSpPr>
        <p:spPr>
          <a:xfrm>
            <a:off x="404812" y="2633960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3" name="Google Shape;2063;p45"/>
          <p:cNvCxnSpPr/>
          <p:nvPr/>
        </p:nvCxnSpPr>
        <p:spPr>
          <a:xfrm>
            <a:off x="404812" y="2638723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4" name="Google Shape;2064;p45"/>
          <p:cNvCxnSpPr/>
          <p:nvPr/>
        </p:nvCxnSpPr>
        <p:spPr>
          <a:xfrm>
            <a:off x="409575" y="263396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5" name="Google Shape;2065;p45"/>
          <p:cNvSpPr/>
          <p:nvPr/>
        </p:nvSpPr>
        <p:spPr>
          <a:xfrm>
            <a:off x="2497634" y="2633960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6" name="Google Shape;2066;p45"/>
          <p:cNvCxnSpPr/>
          <p:nvPr/>
        </p:nvCxnSpPr>
        <p:spPr>
          <a:xfrm>
            <a:off x="2497634" y="2638723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7" name="Google Shape;2067;p45"/>
          <p:cNvCxnSpPr/>
          <p:nvPr/>
        </p:nvCxnSpPr>
        <p:spPr>
          <a:xfrm>
            <a:off x="2502396" y="263396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8" name="Google Shape;2068;p45"/>
          <p:cNvSpPr/>
          <p:nvPr/>
        </p:nvSpPr>
        <p:spPr>
          <a:xfrm>
            <a:off x="5266581" y="2633960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9" name="Google Shape;2069;p45"/>
          <p:cNvCxnSpPr/>
          <p:nvPr/>
        </p:nvCxnSpPr>
        <p:spPr>
          <a:xfrm>
            <a:off x="5266581" y="2638723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0" name="Google Shape;2070;p45"/>
          <p:cNvCxnSpPr/>
          <p:nvPr/>
        </p:nvCxnSpPr>
        <p:spPr>
          <a:xfrm>
            <a:off x="5271343" y="263396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1" name="Google Shape;2071;p45"/>
          <p:cNvSpPr/>
          <p:nvPr/>
        </p:nvSpPr>
        <p:spPr>
          <a:xfrm>
            <a:off x="404812" y="2821484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2" name="Google Shape;2072;p45"/>
          <p:cNvCxnSpPr/>
          <p:nvPr/>
        </p:nvCxnSpPr>
        <p:spPr>
          <a:xfrm>
            <a:off x="404812" y="2826246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3" name="Google Shape;2073;p45"/>
          <p:cNvCxnSpPr/>
          <p:nvPr/>
        </p:nvCxnSpPr>
        <p:spPr>
          <a:xfrm>
            <a:off x="409575" y="282148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4" name="Google Shape;2074;p45"/>
          <p:cNvSpPr/>
          <p:nvPr/>
        </p:nvSpPr>
        <p:spPr>
          <a:xfrm>
            <a:off x="2497634" y="2821484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5" name="Google Shape;2075;p45"/>
          <p:cNvCxnSpPr/>
          <p:nvPr/>
        </p:nvCxnSpPr>
        <p:spPr>
          <a:xfrm>
            <a:off x="2497634" y="2826246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6" name="Google Shape;2076;p45"/>
          <p:cNvCxnSpPr/>
          <p:nvPr/>
        </p:nvCxnSpPr>
        <p:spPr>
          <a:xfrm>
            <a:off x="2502396" y="282148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7" name="Google Shape;2077;p45"/>
          <p:cNvSpPr/>
          <p:nvPr/>
        </p:nvSpPr>
        <p:spPr>
          <a:xfrm>
            <a:off x="5266581" y="2821484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8" name="Google Shape;2078;p45"/>
          <p:cNvCxnSpPr/>
          <p:nvPr/>
        </p:nvCxnSpPr>
        <p:spPr>
          <a:xfrm>
            <a:off x="5266581" y="2826246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9" name="Google Shape;2079;p45"/>
          <p:cNvCxnSpPr/>
          <p:nvPr/>
        </p:nvCxnSpPr>
        <p:spPr>
          <a:xfrm>
            <a:off x="5271343" y="282148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0" name="Google Shape;2080;p45"/>
          <p:cNvSpPr/>
          <p:nvPr/>
        </p:nvSpPr>
        <p:spPr>
          <a:xfrm>
            <a:off x="404812" y="3009007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1" name="Google Shape;2081;p45"/>
          <p:cNvCxnSpPr/>
          <p:nvPr/>
        </p:nvCxnSpPr>
        <p:spPr>
          <a:xfrm>
            <a:off x="404812" y="3013770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2" name="Google Shape;2082;p45"/>
          <p:cNvCxnSpPr/>
          <p:nvPr/>
        </p:nvCxnSpPr>
        <p:spPr>
          <a:xfrm>
            <a:off x="409575" y="300900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3" name="Google Shape;2083;p45"/>
          <p:cNvSpPr/>
          <p:nvPr/>
        </p:nvSpPr>
        <p:spPr>
          <a:xfrm>
            <a:off x="2497634" y="3009007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4" name="Google Shape;2084;p45"/>
          <p:cNvCxnSpPr/>
          <p:nvPr/>
        </p:nvCxnSpPr>
        <p:spPr>
          <a:xfrm>
            <a:off x="2497634" y="3013770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5" name="Google Shape;2085;p45"/>
          <p:cNvCxnSpPr/>
          <p:nvPr/>
        </p:nvCxnSpPr>
        <p:spPr>
          <a:xfrm>
            <a:off x="2502396" y="300900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6" name="Google Shape;2086;p45"/>
          <p:cNvSpPr/>
          <p:nvPr/>
        </p:nvSpPr>
        <p:spPr>
          <a:xfrm>
            <a:off x="5266581" y="3009007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7" name="Google Shape;2087;p45"/>
          <p:cNvCxnSpPr/>
          <p:nvPr/>
        </p:nvCxnSpPr>
        <p:spPr>
          <a:xfrm>
            <a:off x="5266581" y="3013770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8" name="Google Shape;2088;p45"/>
          <p:cNvCxnSpPr/>
          <p:nvPr/>
        </p:nvCxnSpPr>
        <p:spPr>
          <a:xfrm>
            <a:off x="5271343" y="300900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9" name="Google Shape;2089;p45"/>
          <p:cNvSpPr/>
          <p:nvPr/>
        </p:nvSpPr>
        <p:spPr>
          <a:xfrm>
            <a:off x="404812" y="3196530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0" name="Google Shape;2090;p45"/>
          <p:cNvCxnSpPr/>
          <p:nvPr/>
        </p:nvCxnSpPr>
        <p:spPr>
          <a:xfrm>
            <a:off x="404812" y="3201293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1" name="Google Shape;2091;p45"/>
          <p:cNvCxnSpPr/>
          <p:nvPr/>
        </p:nvCxnSpPr>
        <p:spPr>
          <a:xfrm>
            <a:off x="409575" y="319653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2" name="Google Shape;2092;p45"/>
          <p:cNvSpPr/>
          <p:nvPr/>
        </p:nvSpPr>
        <p:spPr>
          <a:xfrm>
            <a:off x="2497634" y="3196530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3" name="Google Shape;2093;p45"/>
          <p:cNvCxnSpPr/>
          <p:nvPr/>
        </p:nvCxnSpPr>
        <p:spPr>
          <a:xfrm>
            <a:off x="2497634" y="3201293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4" name="Google Shape;2094;p45"/>
          <p:cNvCxnSpPr/>
          <p:nvPr/>
        </p:nvCxnSpPr>
        <p:spPr>
          <a:xfrm>
            <a:off x="2502396" y="319653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5" name="Google Shape;2095;p45"/>
          <p:cNvSpPr/>
          <p:nvPr/>
        </p:nvSpPr>
        <p:spPr>
          <a:xfrm>
            <a:off x="5266581" y="3196530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6" name="Google Shape;2096;p45"/>
          <p:cNvCxnSpPr/>
          <p:nvPr/>
        </p:nvCxnSpPr>
        <p:spPr>
          <a:xfrm>
            <a:off x="5266581" y="3201293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7" name="Google Shape;2097;p45"/>
          <p:cNvCxnSpPr/>
          <p:nvPr/>
        </p:nvCxnSpPr>
        <p:spPr>
          <a:xfrm>
            <a:off x="5271343" y="319653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8" name="Google Shape;2098;p45"/>
          <p:cNvSpPr/>
          <p:nvPr/>
        </p:nvSpPr>
        <p:spPr>
          <a:xfrm>
            <a:off x="404812" y="3384054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9" name="Google Shape;2099;p45"/>
          <p:cNvCxnSpPr/>
          <p:nvPr/>
        </p:nvCxnSpPr>
        <p:spPr>
          <a:xfrm>
            <a:off x="404812" y="3388816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0" name="Google Shape;2100;p45"/>
          <p:cNvCxnSpPr/>
          <p:nvPr/>
        </p:nvCxnSpPr>
        <p:spPr>
          <a:xfrm>
            <a:off x="409575" y="338405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1" name="Google Shape;2101;p45"/>
          <p:cNvSpPr/>
          <p:nvPr/>
        </p:nvSpPr>
        <p:spPr>
          <a:xfrm>
            <a:off x="2497634" y="3384054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2" name="Google Shape;2102;p45"/>
          <p:cNvCxnSpPr/>
          <p:nvPr/>
        </p:nvCxnSpPr>
        <p:spPr>
          <a:xfrm>
            <a:off x="2497634" y="3388816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3" name="Google Shape;2103;p45"/>
          <p:cNvCxnSpPr/>
          <p:nvPr/>
        </p:nvCxnSpPr>
        <p:spPr>
          <a:xfrm>
            <a:off x="2502396" y="338405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4" name="Google Shape;2104;p45"/>
          <p:cNvSpPr/>
          <p:nvPr/>
        </p:nvSpPr>
        <p:spPr>
          <a:xfrm>
            <a:off x="5266581" y="3384054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5" name="Google Shape;2105;p45"/>
          <p:cNvCxnSpPr/>
          <p:nvPr/>
        </p:nvCxnSpPr>
        <p:spPr>
          <a:xfrm>
            <a:off x="5266581" y="3388816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6" name="Google Shape;2106;p45"/>
          <p:cNvCxnSpPr/>
          <p:nvPr/>
        </p:nvCxnSpPr>
        <p:spPr>
          <a:xfrm>
            <a:off x="5271343" y="3384054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7" name="Google Shape;2107;p45"/>
          <p:cNvSpPr/>
          <p:nvPr/>
        </p:nvSpPr>
        <p:spPr>
          <a:xfrm>
            <a:off x="404812" y="3571577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8" name="Google Shape;2108;p45"/>
          <p:cNvCxnSpPr/>
          <p:nvPr/>
        </p:nvCxnSpPr>
        <p:spPr>
          <a:xfrm>
            <a:off x="404812" y="3576340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9" name="Google Shape;2109;p45"/>
          <p:cNvCxnSpPr/>
          <p:nvPr/>
        </p:nvCxnSpPr>
        <p:spPr>
          <a:xfrm>
            <a:off x="409575" y="357157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0" name="Google Shape;2110;p45"/>
          <p:cNvSpPr/>
          <p:nvPr/>
        </p:nvSpPr>
        <p:spPr>
          <a:xfrm>
            <a:off x="2497634" y="3571577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1" name="Google Shape;2111;p45"/>
          <p:cNvCxnSpPr/>
          <p:nvPr/>
        </p:nvCxnSpPr>
        <p:spPr>
          <a:xfrm>
            <a:off x="2497634" y="3576340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2" name="Google Shape;2112;p45"/>
          <p:cNvCxnSpPr/>
          <p:nvPr/>
        </p:nvCxnSpPr>
        <p:spPr>
          <a:xfrm>
            <a:off x="2502396" y="357157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3" name="Google Shape;2113;p45"/>
          <p:cNvSpPr/>
          <p:nvPr/>
        </p:nvSpPr>
        <p:spPr>
          <a:xfrm>
            <a:off x="5266581" y="3571577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4" name="Google Shape;2114;p45"/>
          <p:cNvCxnSpPr/>
          <p:nvPr/>
        </p:nvCxnSpPr>
        <p:spPr>
          <a:xfrm>
            <a:off x="5266581" y="3576340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5" name="Google Shape;2115;p45"/>
          <p:cNvCxnSpPr/>
          <p:nvPr/>
        </p:nvCxnSpPr>
        <p:spPr>
          <a:xfrm>
            <a:off x="5271343" y="357157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6" name="Google Shape;2116;p45"/>
          <p:cNvSpPr/>
          <p:nvPr/>
        </p:nvSpPr>
        <p:spPr>
          <a:xfrm>
            <a:off x="404812" y="3759101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7" name="Google Shape;2117;p45"/>
          <p:cNvCxnSpPr/>
          <p:nvPr/>
        </p:nvCxnSpPr>
        <p:spPr>
          <a:xfrm>
            <a:off x="404812" y="3763863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8" name="Google Shape;2118;p45"/>
          <p:cNvCxnSpPr/>
          <p:nvPr/>
        </p:nvCxnSpPr>
        <p:spPr>
          <a:xfrm>
            <a:off x="409575" y="375910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9" name="Google Shape;2119;p45"/>
          <p:cNvSpPr/>
          <p:nvPr/>
        </p:nvSpPr>
        <p:spPr>
          <a:xfrm>
            <a:off x="2497634" y="3759101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0" name="Google Shape;2120;p45"/>
          <p:cNvCxnSpPr/>
          <p:nvPr/>
        </p:nvCxnSpPr>
        <p:spPr>
          <a:xfrm>
            <a:off x="2497634" y="3763863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1" name="Google Shape;2121;p45"/>
          <p:cNvCxnSpPr/>
          <p:nvPr/>
        </p:nvCxnSpPr>
        <p:spPr>
          <a:xfrm>
            <a:off x="2502396" y="375910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2" name="Google Shape;2122;p45"/>
          <p:cNvSpPr/>
          <p:nvPr/>
        </p:nvSpPr>
        <p:spPr>
          <a:xfrm>
            <a:off x="5266581" y="3759101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3" name="Google Shape;2123;p45"/>
          <p:cNvCxnSpPr/>
          <p:nvPr/>
        </p:nvCxnSpPr>
        <p:spPr>
          <a:xfrm>
            <a:off x="5266581" y="3763863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4" name="Google Shape;2124;p45"/>
          <p:cNvCxnSpPr/>
          <p:nvPr/>
        </p:nvCxnSpPr>
        <p:spPr>
          <a:xfrm>
            <a:off x="5271343" y="375910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5" name="Google Shape;2125;p45"/>
          <p:cNvSpPr/>
          <p:nvPr/>
        </p:nvSpPr>
        <p:spPr>
          <a:xfrm>
            <a:off x="404812" y="3946624"/>
            <a:ext cx="209282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6" name="Google Shape;2126;p45"/>
          <p:cNvCxnSpPr/>
          <p:nvPr/>
        </p:nvCxnSpPr>
        <p:spPr>
          <a:xfrm>
            <a:off x="404812" y="3951387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7" name="Google Shape;2127;p45"/>
          <p:cNvCxnSpPr/>
          <p:nvPr/>
        </p:nvCxnSpPr>
        <p:spPr>
          <a:xfrm>
            <a:off x="409575" y="394662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8" name="Google Shape;2128;p45"/>
          <p:cNvSpPr/>
          <p:nvPr/>
        </p:nvSpPr>
        <p:spPr>
          <a:xfrm>
            <a:off x="2497634" y="3946624"/>
            <a:ext cx="276894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9" name="Google Shape;2129;p45"/>
          <p:cNvCxnSpPr/>
          <p:nvPr/>
        </p:nvCxnSpPr>
        <p:spPr>
          <a:xfrm>
            <a:off x="2497634" y="3951387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0" name="Google Shape;2130;p45"/>
          <p:cNvCxnSpPr/>
          <p:nvPr/>
        </p:nvCxnSpPr>
        <p:spPr>
          <a:xfrm>
            <a:off x="2502396" y="394662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1" name="Google Shape;2131;p45"/>
          <p:cNvSpPr/>
          <p:nvPr/>
        </p:nvSpPr>
        <p:spPr>
          <a:xfrm>
            <a:off x="5266581" y="3946624"/>
            <a:ext cx="677912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2" name="Google Shape;2132;p45"/>
          <p:cNvCxnSpPr/>
          <p:nvPr/>
        </p:nvCxnSpPr>
        <p:spPr>
          <a:xfrm>
            <a:off x="5266581" y="3951387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3" name="Google Shape;2133;p45"/>
          <p:cNvCxnSpPr/>
          <p:nvPr/>
        </p:nvCxnSpPr>
        <p:spPr>
          <a:xfrm>
            <a:off x="5271343" y="394662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4" name="Google Shape;2134;p45"/>
          <p:cNvSpPr/>
          <p:nvPr/>
        </p:nvSpPr>
        <p:spPr>
          <a:xfrm>
            <a:off x="404812" y="4134148"/>
            <a:ext cx="209282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5" name="Google Shape;2135;p45"/>
          <p:cNvCxnSpPr/>
          <p:nvPr/>
        </p:nvCxnSpPr>
        <p:spPr>
          <a:xfrm>
            <a:off x="404812" y="4138910"/>
            <a:ext cx="20928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6" name="Google Shape;2136;p45"/>
          <p:cNvCxnSpPr/>
          <p:nvPr/>
        </p:nvCxnSpPr>
        <p:spPr>
          <a:xfrm>
            <a:off x="409575" y="413414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7" name="Google Shape;2137;p45"/>
          <p:cNvSpPr/>
          <p:nvPr/>
        </p:nvSpPr>
        <p:spPr>
          <a:xfrm>
            <a:off x="2497634" y="4134148"/>
            <a:ext cx="276894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8" name="Google Shape;2138;p45"/>
          <p:cNvCxnSpPr/>
          <p:nvPr/>
        </p:nvCxnSpPr>
        <p:spPr>
          <a:xfrm>
            <a:off x="2497634" y="4138910"/>
            <a:ext cx="276894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9" name="Google Shape;2139;p45"/>
          <p:cNvCxnSpPr/>
          <p:nvPr/>
        </p:nvCxnSpPr>
        <p:spPr>
          <a:xfrm>
            <a:off x="2502396" y="413414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0" name="Google Shape;2140;p45"/>
          <p:cNvSpPr/>
          <p:nvPr/>
        </p:nvSpPr>
        <p:spPr>
          <a:xfrm>
            <a:off x="5266581" y="4134148"/>
            <a:ext cx="677912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1" name="Google Shape;2141;p45"/>
          <p:cNvCxnSpPr/>
          <p:nvPr/>
        </p:nvCxnSpPr>
        <p:spPr>
          <a:xfrm>
            <a:off x="5266581" y="4138910"/>
            <a:ext cx="67791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2" name="Google Shape;2142;p45"/>
          <p:cNvCxnSpPr/>
          <p:nvPr/>
        </p:nvCxnSpPr>
        <p:spPr>
          <a:xfrm>
            <a:off x="5271343" y="413414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3" name="Google Shape;2143;p45"/>
          <p:cNvSpPr/>
          <p:nvPr/>
        </p:nvSpPr>
        <p:spPr>
          <a:xfrm>
            <a:off x="400050" y="4829026"/>
            <a:ext cx="11391900" cy="1059359"/>
          </a:xfrm>
          <a:prstGeom prst="roundRect">
            <a:avLst>
              <a:gd fmla="val 4495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4" name="Google Shape;2144;p45"/>
          <p:cNvCxnSpPr/>
          <p:nvPr/>
        </p:nvCxnSpPr>
        <p:spPr>
          <a:xfrm>
            <a:off x="423862" y="4829026"/>
            <a:ext cx="0" cy="1059359"/>
          </a:xfrm>
          <a:prstGeom prst="straightConnector1">
            <a:avLst/>
          </a:prstGeom>
          <a:noFill/>
          <a:ln cap="flat" cmpd="sng" w="476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5" name="Google Shape;2145;p45"/>
          <p:cNvSpPr/>
          <p:nvPr/>
        </p:nvSpPr>
        <p:spPr>
          <a:xfrm>
            <a:off x="400050" y="5963692"/>
            <a:ext cx="11391900" cy="1280815"/>
          </a:xfrm>
          <a:prstGeom prst="roundRect">
            <a:avLst>
              <a:gd fmla="val 3718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a0cfed95df09636cd41374768f8acd2.png" id="2146" name="Google Shape;214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6316" y="715566"/>
            <a:ext cx="5541764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7" name="Google Shape;2147;p45"/>
          <p:cNvSpPr txBox="1"/>
          <p:nvPr/>
        </p:nvSpPr>
        <p:spPr>
          <a:xfrm>
            <a:off x="400050" y="161925"/>
            <a:ext cx="4399359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 clínico (TCGA tumor)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45"/>
          <p:cNvSpPr txBox="1"/>
          <p:nvPr/>
        </p:nvSpPr>
        <p:spPr>
          <a:xfrm>
            <a:off x="461962" y="1140470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45"/>
          <p:cNvSpPr txBox="1"/>
          <p:nvPr/>
        </p:nvSpPr>
        <p:spPr>
          <a:xfrm>
            <a:off x="2535555" y="1140470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Ausente/desconhecido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45"/>
          <p:cNvSpPr txBox="1"/>
          <p:nvPr/>
        </p:nvSpPr>
        <p:spPr>
          <a:xfrm>
            <a:off x="5304472" y="1140470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p45"/>
          <p:cNvSpPr txBox="1"/>
          <p:nvPr/>
        </p:nvSpPr>
        <p:spPr>
          <a:xfrm>
            <a:off x="461962" y="1334244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Invasão vascular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2" name="Google Shape;2152;p45"/>
          <p:cNvSpPr txBox="1"/>
          <p:nvPr/>
        </p:nvSpPr>
        <p:spPr>
          <a:xfrm>
            <a:off x="2535555" y="1334244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45"/>
          <p:cNvSpPr txBox="1"/>
          <p:nvPr/>
        </p:nvSpPr>
        <p:spPr>
          <a:xfrm>
            <a:off x="5304472" y="1334244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p45"/>
          <p:cNvSpPr txBox="1"/>
          <p:nvPr/>
        </p:nvSpPr>
        <p:spPr>
          <a:xfrm>
            <a:off x="461962" y="1521768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Sorologia viral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5" name="Google Shape;2155;p45"/>
          <p:cNvSpPr txBox="1"/>
          <p:nvPr/>
        </p:nvSpPr>
        <p:spPr>
          <a:xfrm>
            <a:off x="2535555" y="1521768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6" name="Google Shape;2156;p45"/>
          <p:cNvSpPr txBox="1"/>
          <p:nvPr/>
        </p:nvSpPr>
        <p:spPr>
          <a:xfrm>
            <a:off x="5304472" y="1521768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55.8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7" name="Google Shape;2157;p45"/>
          <p:cNvSpPr txBox="1"/>
          <p:nvPr/>
        </p:nvSpPr>
        <p:spPr>
          <a:xfrm>
            <a:off x="461962" y="1709291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(Ishak)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45"/>
          <p:cNvSpPr txBox="1"/>
          <p:nvPr/>
        </p:nvSpPr>
        <p:spPr>
          <a:xfrm>
            <a:off x="2535555" y="1709291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45"/>
          <p:cNvSpPr txBox="1"/>
          <p:nvPr/>
        </p:nvSpPr>
        <p:spPr>
          <a:xfrm>
            <a:off x="5304472" y="1709291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45"/>
          <p:cNvSpPr txBox="1"/>
          <p:nvPr/>
        </p:nvSpPr>
        <p:spPr>
          <a:xfrm>
            <a:off x="461962" y="1896814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avançada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45"/>
          <p:cNvSpPr txBox="1"/>
          <p:nvPr/>
        </p:nvSpPr>
        <p:spPr>
          <a:xfrm>
            <a:off x="2535555" y="1896814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45"/>
          <p:cNvSpPr txBox="1"/>
          <p:nvPr/>
        </p:nvSpPr>
        <p:spPr>
          <a:xfrm>
            <a:off x="5304472" y="1896814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45"/>
          <p:cNvSpPr txBox="1"/>
          <p:nvPr/>
        </p:nvSpPr>
        <p:spPr>
          <a:xfrm>
            <a:off x="461962" y="2084338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Child-Pugh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45"/>
          <p:cNvSpPr txBox="1"/>
          <p:nvPr/>
        </p:nvSpPr>
        <p:spPr>
          <a:xfrm>
            <a:off x="2535555" y="2084338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45"/>
          <p:cNvSpPr txBox="1"/>
          <p:nvPr/>
        </p:nvSpPr>
        <p:spPr>
          <a:xfrm>
            <a:off x="5304472" y="2084338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45"/>
          <p:cNvSpPr txBox="1"/>
          <p:nvPr/>
        </p:nvSpPr>
        <p:spPr>
          <a:xfrm>
            <a:off x="461962" y="2271861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45"/>
          <p:cNvSpPr txBox="1"/>
          <p:nvPr/>
        </p:nvSpPr>
        <p:spPr>
          <a:xfrm>
            <a:off x="2535555" y="2271861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45"/>
          <p:cNvSpPr txBox="1"/>
          <p:nvPr/>
        </p:nvSpPr>
        <p:spPr>
          <a:xfrm>
            <a:off x="5304472" y="2271861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45"/>
          <p:cNvSpPr txBox="1"/>
          <p:nvPr/>
        </p:nvSpPr>
        <p:spPr>
          <a:xfrm>
            <a:off x="461962" y="2459385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≥400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45"/>
          <p:cNvSpPr txBox="1"/>
          <p:nvPr/>
        </p:nvSpPr>
        <p:spPr>
          <a:xfrm>
            <a:off x="2535555" y="2459385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45"/>
          <p:cNvSpPr txBox="1"/>
          <p:nvPr/>
        </p:nvSpPr>
        <p:spPr>
          <a:xfrm>
            <a:off x="5304472" y="2459385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45"/>
          <p:cNvSpPr txBox="1"/>
          <p:nvPr/>
        </p:nvSpPr>
        <p:spPr>
          <a:xfrm>
            <a:off x="461962" y="2646908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45"/>
          <p:cNvSpPr txBox="1"/>
          <p:nvPr/>
        </p:nvSpPr>
        <p:spPr>
          <a:xfrm>
            <a:off x="2535555" y="2646908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45"/>
          <p:cNvSpPr txBox="1"/>
          <p:nvPr/>
        </p:nvSpPr>
        <p:spPr>
          <a:xfrm>
            <a:off x="5304472" y="2646908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45"/>
          <p:cNvSpPr txBox="1"/>
          <p:nvPr/>
        </p:nvSpPr>
        <p:spPr>
          <a:xfrm>
            <a:off x="461962" y="2834432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45"/>
          <p:cNvSpPr txBox="1"/>
          <p:nvPr/>
        </p:nvSpPr>
        <p:spPr>
          <a:xfrm>
            <a:off x="2535555" y="2834432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45"/>
          <p:cNvSpPr txBox="1"/>
          <p:nvPr/>
        </p:nvSpPr>
        <p:spPr>
          <a:xfrm>
            <a:off x="5304472" y="2834432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45"/>
          <p:cNvSpPr txBox="1"/>
          <p:nvPr/>
        </p:nvSpPr>
        <p:spPr>
          <a:xfrm>
            <a:off x="461962" y="3021955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45"/>
          <p:cNvSpPr txBox="1"/>
          <p:nvPr/>
        </p:nvSpPr>
        <p:spPr>
          <a:xfrm>
            <a:off x="2535555" y="3021955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45"/>
          <p:cNvSpPr txBox="1"/>
          <p:nvPr/>
        </p:nvSpPr>
        <p:spPr>
          <a:xfrm>
            <a:off x="5304472" y="3021955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45"/>
          <p:cNvSpPr txBox="1"/>
          <p:nvPr/>
        </p:nvSpPr>
        <p:spPr>
          <a:xfrm>
            <a:off x="461962" y="3209479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45"/>
          <p:cNvSpPr txBox="1"/>
          <p:nvPr/>
        </p:nvSpPr>
        <p:spPr>
          <a:xfrm>
            <a:off x="2535555" y="3209479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45"/>
          <p:cNvSpPr txBox="1"/>
          <p:nvPr/>
        </p:nvSpPr>
        <p:spPr>
          <a:xfrm>
            <a:off x="5304472" y="3209479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45"/>
          <p:cNvSpPr txBox="1"/>
          <p:nvPr/>
        </p:nvSpPr>
        <p:spPr>
          <a:xfrm>
            <a:off x="461962" y="3397002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45"/>
          <p:cNvSpPr txBox="1"/>
          <p:nvPr/>
        </p:nvSpPr>
        <p:spPr>
          <a:xfrm>
            <a:off x="2535555" y="3397002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45"/>
          <p:cNvSpPr txBox="1"/>
          <p:nvPr/>
        </p:nvSpPr>
        <p:spPr>
          <a:xfrm>
            <a:off x="5304472" y="3397002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45"/>
          <p:cNvSpPr txBox="1"/>
          <p:nvPr/>
        </p:nvSpPr>
        <p:spPr>
          <a:xfrm>
            <a:off x="461962" y="3584525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OS/tempo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8" name="Google Shape;2188;p45"/>
          <p:cNvSpPr txBox="1"/>
          <p:nvPr/>
        </p:nvSpPr>
        <p:spPr>
          <a:xfrm>
            <a:off x="2535555" y="3584525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45"/>
          <p:cNvSpPr txBox="1"/>
          <p:nvPr/>
        </p:nvSpPr>
        <p:spPr>
          <a:xfrm>
            <a:off x="5304472" y="3584525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45"/>
          <p:cNvSpPr txBox="1"/>
          <p:nvPr/>
        </p:nvSpPr>
        <p:spPr>
          <a:xfrm>
            <a:off x="461962" y="3772049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45"/>
          <p:cNvSpPr txBox="1"/>
          <p:nvPr/>
        </p:nvSpPr>
        <p:spPr>
          <a:xfrm>
            <a:off x="2535555" y="3772049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45"/>
          <p:cNvSpPr txBox="1"/>
          <p:nvPr/>
        </p:nvSpPr>
        <p:spPr>
          <a:xfrm>
            <a:off x="5304472" y="3772049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45"/>
          <p:cNvSpPr txBox="1"/>
          <p:nvPr/>
        </p:nvSpPr>
        <p:spPr>
          <a:xfrm>
            <a:off x="461962" y="3959572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45"/>
          <p:cNvSpPr txBox="1"/>
          <p:nvPr/>
        </p:nvSpPr>
        <p:spPr>
          <a:xfrm>
            <a:off x="2535555" y="3959572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45"/>
          <p:cNvSpPr txBox="1"/>
          <p:nvPr/>
        </p:nvSpPr>
        <p:spPr>
          <a:xfrm>
            <a:off x="5304472" y="3959572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45"/>
          <p:cNvSpPr txBox="1"/>
          <p:nvPr/>
        </p:nvSpPr>
        <p:spPr>
          <a:xfrm>
            <a:off x="461962" y="4147096"/>
            <a:ext cx="199739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45"/>
          <p:cNvSpPr txBox="1"/>
          <p:nvPr/>
        </p:nvSpPr>
        <p:spPr>
          <a:xfrm>
            <a:off x="2535555" y="4147096"/>
            <a:ext cx="26927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45"/>
          <p:cNvSpPr txBox="1"/>
          <p:nvPr/>
        </p:nvSpPr>
        <p:spPr>
          <a:xfrm>
            <a:off x="5304472" y="4147096"/>
            <a:ext cx="6019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45"/>
          <p:cNvSpPr txBox="1"/>
          <p:nvPr/>
        </p:nvSpPr>
        <p:spPr>
          <a:xfrm>
            <a:off x="5982652" y="4555629"/>
            <a:ext cx="577119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16. Percentual de valores ausentes/desconhecidos nos 369 tumores primários.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45"/>
          <p:cNvSpPr txBox="1"/>
          <p:nvPr/>
        </p:nvSpPr>
        <p:spPr>
          <a:xfrm>
            <a:off x="598438" y="5113586"/>
            <a:ext cx="1071116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Invasão vascular (70,7%), sorologia viral (55,8%), fibrose (43,1%), Child-Pugh (35,8%) e AFP (25,2%) têm poder limitado. Amostras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45"/>
          <p:cNvSpPr txBox="1"/>
          <p:nvPr/>
        </p:nvSpPr>
        <p:spPr>
          <a:xfrm>
            <a:off x="598438" y="5349180"/>
            <a:ext cx="494258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 informação disponível podem não ser representativas.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45"/>
          <p:cNvSpPr txBox="1"/>
          <p:nvPr/>
        </p:nvSpPr>
        <p:spPr>
          <a:xfrm>
            <a:off x="507504" y="6217444"/>
            <a:ext cx="8914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45"/>
          <p:cNvSpPr txBox="1"/>
          <p:nvPr/>
        </p:nvSpPr>
        <p:spPr>
          <a:xfrm>
            <a:off x="1402110" y="6217444"/>
            <a:ext cx="42475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proporção de valores ausentes ou “desconhecidos”. Ausência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45"/>
          <p:cNvSpPr txBox="1"/>
          <p:nvPr/>
        </p:nvSpPr>
        <p:spPr>
          <a:xfrm>
            <a:off x="5652939" y="6217444"/>
            <a:ext cx="108957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aleatória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45"/>
          <p:cNvSpPr txBox="1"/>
          <p:nvPr/>
        </p:nvSpPr>
        <p:spPr>
          <a:xfrm>
            <a:off x="6745635" y="6217444"/>
            <a:ext cx="4798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definição: pacientes com sorologia desconhecida podem diferir 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45"/>
          <p:cNvSpPr txBox="1"/>
          <p:nvPr/>
        </p:nvSpPr>
        <p:spPr>
          <a:xfrm>
            <a:off x="507504" y="6406009"/>
            <a:ext cx="57423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demais. Por isso os testes usam apenas os casos completos e os n variam entre linhas.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45"/>
          <p:cNvSpPr txBox="1"/>
          <p:nvPr/>
        </p:nvSpPr>
        <p:spPr>
          <a:xfrm>
            <a:off x="507504" y="6594574"/>
            <a:ext cx="8315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Child-Pugh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45"/>
          <p:cNvSpPr txBox="1"/>
          <p:nvPr/>
        </p:nvSpPr>
        <p:spPr>
          <a:xfrm>
            <a:off x="1342132" y="6594574"/>
            <a:ext cx="313506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escore de função hepática A/B/C (A melhor).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45"/>
          <p:cNvSpPr txBox="1"/>
          <p:nvPr/>
        </p:nvSpPr>
        <p:spPr>
          <a:xfrm>
            <a:off x="4480471" y="6594574"/>
            <a:ext cx="119419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Invasão vascular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45"/>
          <p:cNvSpPr txBox="1"/>
          <p:nvPr/>
        </p:nvSpPr>
        <p:spPr>
          <a:xfrm>
            <a:off x="5677793" y="6594574"/>
            <a:ext cx="330815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presença de tumor em vasos (micro ou macro).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45"/>
          <p:cNvSpPr txBox="1"/>
          <p:nvPr/>
        </p:nvSpPr>
        <p:spPr>
          <a:xfrm>
            <a:off x="8989219" y="6594574"/>
            <a:ext cx="3153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45"/>
          <p:cNvSpPr txBox="1"/>
          <p:nvPr/>
        </p:nvSpPr>
        <p:spPr>
          <a:xfrm>
            <a:off x="9307711" y="6594574"/>
            <a:ext cx="127679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alfafetoproteína.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45"/>
          <p:cNvSpPr txBox="1"/>
          <p:nvPr/>
        </p:nvSpPr>
        <p:spPr>
          <a:xfrm>
            <a:off x="10587633" y="6594574"/>
            <a:ext cx="4086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Ishak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45"/>
          <p:cNvSpPr txBox="1"/>
          <p:nvPr/>
        </p:nvSpPr>
        <p:spPr>
          <a:xfrm>
            <a:off x="10999440" y="6594574"/>
            <a:ext cx="6390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fibrose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45"/>
          <p:cNvSpPr txBox="1"/>
          <p:nvPr/>
        </p:nvSpPr>
        <p:spPr>
          <a:xfrm>
            <a:off x="507504" y="6783139"/>
            <a:ext cx="60201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0 a 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48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1" name="Google Shape;2221;p48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2" name="Google Shape;2222;p48"/>
          <p:cNvSpPr/>
          <p:nvPr/>
        </p:nvSpPr>
        <p:spPr>
          <a:xfrm>
            <a:off x="7705130" y="825252"/>
            <a:ext cx="4086820" cy="1507331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48"/>
          <p:cNvSpPr/>
          <p:nvPr/>
        </p:nvSpPr>
        <p:spPr>
          <a:xfrm>
            <a:off x="7709892" y="830014"/>
            <a:ext cx="2080320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4" name="Google Shape;2224;p48"/>
          <p:cNvCxnSpPr/>
          <p:nvPr/>
        </p:nvCxnSpPr>
        <p:spPr>
          <a:xfrm>
            <a:off x="7709892" y="834777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5" name="Google Shape;2225;p48"/>
          <p:cNvCxnSpPr/>
          <p:nvPr/>
        </p:nvCxnSpPr>
        <p:spPr>
          <a:xfrm>
            <a:off x="7714655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6" name="Google Shape;2226;p48"/>
          <p:cNvSpPr/>
          <p:nvPr/>
        </p:nvSpPr>
        <p:spPr>
          <a:xfrm>
            <a:off x="9790212" y="830014"/>
            <a:ext cx="400943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7" name="Google Shape;2227;p48"/>
          <p:cNvCxnSpPr/>
          <p:nvPr/>
        </p:nvCxnSpPr>
        <p:spPr>
          <a:xfrm>
            <a:off x="9790212" y="834777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8" name="Google Shape;2228;p48"/>
          <p:cNvCxnSpPr/>
          <p:nvPr/>
        </p:nvCxnSpPr>
        <p:spPr>
          <a:xfrm>
            <a:off x="9794974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9" name="Google Shape;2229;p48"/>
          <p:cNvSpPr/>
          <p:nvPr/>
        </p:nvSpPr>
        <p:spPr>
          <a:xfrm>
            <a:off x="10191155" y="830014"/>
            <a:ext cx="701129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0" name="Google Shape;2230;p48"/>
          <p:cNvCxnSpPr/>
          <p:nvPr/>
        </p:nvCxnSpPr>
        <p:spPr>
          <a:xfrm>
            <a:off x="10191155" y="834777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1" name="Google Shape;2231;p48"/>
          <p:cNvCxnSpPr/>
          <p:nvPr/>
        </p:nvCxnSpPr>
        <p:spPr>
          <a:xfrm>
            <a:off x="10195917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2" name="Google Shape;2232;p48"/>
          <p:cNvSpPr/>
          <p:nvPr/>
        </p:nvSpPr>
        <p:spPr>
          <a:xfrm>
            <a:off x="10892284" y="830014"/>
            <a:ext cx="894904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3" name="Google Shape;2233;p48"/>
          <p:cNvCxnSpPr/>
          <p:nvPr/>
        </p:nvCxnSpPr>
        <p:spPr>
          <a:xfrm>
            <a:off x="10892284" y="834777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4" name="Google Shape;2234;p48"/>
          <p:cNvCxnSpPr/>
          <p:nvPr/>
        </p:nvCxnSpPr>
        <p:spPr>
          <a:xfrm>
            <a:off x="10897046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5" name="Google Shape;2235;p48"/>
          <p:cNvSpPr/>
          <p:nvPr/>
        </p:nvSpPr>
        <p:spPr>
          <a:xfrm>
            <a:off x="7709892" y="1056233"/>
            <a:ext cx="208032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6" name="Google Shape;2236;p48"/>
          <p:cNvCxnSpPr/>
          <p:nvPr/>
        </p:nvCxnSpPr>
        <p:spPr>
          <a:xfrm>
            <a:off x="7709892" y="1060996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7" name="Google Shape;2237;p48"/>
          <p:cNvCxnSpPr/>
          <p:nvPr/>
        </p:nvCxnSpPr>
        <p:spPr>
          <a:xfrm>
            <a:off x="7714655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8" name="Google Shape;2238;p48"/>
          <p:cNvSpPr/>
          <p:nvPr/>
        </p:nvSpPr>
        <p:spPr>
          <a:xfrm>
            <a:off x="9790212" y="1056233"/>
            <a:ext cx="400943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9" name="Google Shape;2239;p48"/>
          <p:cNvCxnSpPr/>
          <p:nvPr/>
        </p:nvCxnSpPr>
        <p:spPr>
          <a:xfrm>
            <a:off x="9790212" y="1060996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0" name="Google Shape;2240;p48"/>
          <p:cNvCxnSpPr/>
          <p:nvPr/>
        </p:nvCxnSpPr>
        <p:spPr>
          <a:xfrm>
            <a:off x="9794974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1" name="Google Shape;2241;p48"/>
          <p:cNvSpPr/>
          <p:nvPr/>
        </p:nvSpPr>
        <p:spPr>
          <a:xfrm>
            <a:off x="10191155" y="1056233"/>
            <a:ext cx="701129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2" name="Google Shape;2242;p48"/>
          <p:cNvCxnSpPr/>
          <p:nvPr/>
        </p:nvCxnSpPr>
        <p:spPr>
          <a:xfrm>
            <a:off x="10191155" y="1060996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3" name="Google Shape;2243;p48"/>
          <p:cNvCxnSpPr/>
          <p:nvPr/>
        </p:nvCxnSpPr>
        <p:spPr>
          <a:xfrm>
            <a:off x="10195917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4" name="Google Shape;2244;p48"/>
          <p:cNvSpPr/>
          <p:nvPr/>
        </p:nvSpPr>
        <p:spPr>
          <a:xfrm>
            <a:off x="10892284" y="1056233"/>
            <a:ext cx="89490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5" name="Google Shape;2245;p48"/>
          <p:cNvCxnSpPr/>
          <p:nvPr/>
        </p:nvCxnSpPr>
        <p:spPr>
          <a:xfrm>
            <a:off x="10892284" y="1060996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6" name="Google Shape;2246;p48"/>
          <p:cNvCxnSpPr/>
          <p:nvPr/>
        </p:nvCxnSpPr>
        <p:spPr>
          <a:xfrm>
            <a:off x="10897046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7" name="Google Shape;2247;p48"/>
          <p:cNvSpPr/>
          <p:nvPr/>
        </p:nvSpPr>
        <p:spPr>
          <a:xfrm>
            <a:off x="7709892" y="1268164"/>
            <a:ext cx="208032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8" name="Google Shape;2248;p48"/>
          <p:cNvCxnSpPr/>
          <p:nvPr/>
        </p:nvCxnSpPr>
        <p:spPr>
          <a:xfrm>
            <a:off x="7709892" y="1272927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9" name="Google Shape;2249;p48"/>
          <p:cNvCxnSpPr/>
          <p:nvPr/>
        </p:nvCxnSpPr>
        <p:spPr>
          <a:xfrm>
            <a:off x="7714655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0" name="Google Shape;2250;p48"/>
          <p:cNvSpPr/>
          <p:nvPr/>
        </p:nvSpPr>
        <p:spPr>
          <a:xfrm>
            <a:off x="9790212" y="1268164"/>
            <a:ext cx="400943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1" name="Google Shape;2251;p48"/>
          <p:cNvCxnSpPr/>
          <p:nvPr/>
        </p:nvCxnSpPr>
        <p:spPr>
          <a:xfrm>
            <a:off x="9790212" y="1272927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2" name="Google Shape;2252;p48"/>
          <p:cNvCxnSpPr/>
          <p:nvPr/>
        </p:nvCxnSpPr>
        <p:spPr>
          <a:xfrm>
            <a:off x="9794974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3" name="Google Shape;2253;p48"/>
          <p:cNvSpPr/>
          <p:nvPr/>
        </p:nvSpPr>
        <p:spPr>
          <a:xfrm>
            <a:off x="10191155" y="1268164"/>
            <a:ext cx="701129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4" name="Google Shape;2254;p48"/>
          <p:cNvCxnSpPr/>
          <p:nvPr/>
        </p:nvCxnSpPr>
        <p:spPr>
          <a:xfrm>
            <a:off x="10191155" y="1272927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5" name="Google Shape;2255;p48"/>
          <p:cNvCxnSpPr/>
          <p:nvPr/>
        </p:nvCxnSpPr>
        <p:spPr>
          <a:xfrm>
            <a:off x="10195917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6" name="Google Shape;2256;p48"/>
          <p:cNvSpPr/>
          <p:nvPr/>
        </p:nvSpPr>
        <p:spPr>
          <a:xfrm>
            <a:off x="10892284" y="1268164"/>
            <a:ext cx="89490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7" name="Google Shape;2257;p48"/>
          <p:cNvCxnSpPr/>
          <p:nvPr/>
        </p:nvCxnSpPr>
        <p:spPr>
          <a:xfrm>
            <a:off x="10892284" y="1272927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8" name="Google Shape;2258;p48"/>
          <p:cNvCxnSpPr/>
          <p:nvPr/>
        </p:nvCxnSpPr>
        <p:spPr>
          <a:xfrm>
            <a:off x="10897046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9" name="Google Shape;2259;p48"/>
          <p:cNvSpPr/>
          <p:nvPr/>
        </p:nvSpPr>
        <p:spPr>
          <a:xfrm>
            <a:off x="7709892" y="1480096"/>
            <a:ext cx="208032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0" name="Google Shape;2260;p48"/>
          <p:cNvCxnSpPr/>
          <p:nvPr/>
        </p:nvCxnSpPr>
        <p:spPr>
          <a:xfrm>
            <a:off x="7709892" y="1484858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1" name="Google Shape;2261;p48"/>
          <p:cNvCxnSpPr/>
          <p:nvPr/>
        </p:nvCxnSpPr>
        <p:spPr>
          <a:xfrm>
            <a:off x="7714655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2" name="Google Shape;2262;p48"/>
          <p:cNvSpPr/>
          <p:nvPr/>
        </p:nvSpPr>
        <p:spPr>
          <a:xfrm>
            <a:off x="9790212" y="1480096"/>
            <a:ext cx="400943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3" name="Google Shape;2263;p48"/>
          <p:cNvCxnSpPr/>
          <p:nvPr/>
        </p:nvCxnSpPr>
        <p:spPr>
          <a:xfrm>
            <a:off x="9790212" y="1484858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4" name="Google Shape;2264;p48"/>
          <p:cNvCxnSpPr/>
          <p:nvPr/>
        </p:nvCxnSpPr>
        <p:spPr>
          <a:xfrm>
            <a:off x="9794974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5" name="Google Shape;2265;p48"/>
          <p:cNvSpPr/>
          <p:nvPr/>
        </p:nvSpPr>
        <p:spPr>
          <a:xfrm>
            <a:off x="10191155" y="1480096"/>
            <a:ext cx="701129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6" name="Google Shape;2266;p48"/>
          <p:cNvCxnSpPr/>
          <p:nvPr/>
        </p:nvCxnSpPr>
        <p:spPr>
          <a:xfrm>
            <a:off x="10191155" y="1484858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7" name="Google Shape;2267;p48"/>
          <p:cNvCxnSpPr/>
          <p:nvPr/>
        </p:nvCxnSpPr>
        <p:spPr>
          <a:xfrm>
            <a:off x="10195917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8" name="Google Shape;2268;p48"/>
          <p:cNvSpPr/>
          <p:nvPr/>
        </p:nvSpPr>
        <p:spPr>
          <a:xfrm>
            <a:off x="10892284" y="1480096"/>
            <a:ext cx="89490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9" name="Google Shape;2269;p48"/>
          <p:cNvCxnSpPr/>
          <p:nvPr/>
        </p:nvCxnSpPr>
        <p:spPr>
          <a:xfrm>
            <a:off x="10892284" y="1484858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0" name="Google Shape;2270;p48"/>
          <p:cNvCxnSpPr/>
          <p:nvPr/>
        </p:nvCxnSpPr>
        <p:spPr>
          <a:xfrm>
            <a:off x="10897046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1" name="Google Shape;2271;p48"/>
          <p:cNvSpPr/>
          <p:nvPr/>
        </p:nvSpPr>
        <p:spPr>
          <a:xfrm>
            <a:off x="7709892" y="1692027"/>
            <a:ext cx="208032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2" name="Google Shape;2272;p48"/>
          <p:cNvCxnSpPr/>
          <p:nvPr/>
        </p:nvCxnSpPr>
        <p:spPr>
          <a:xfrm>
            <a:off x="7709892" y="1696789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3" name="Google Shape;2273;p48"/>
          <p:cNvCxnSpPr/>
          <p:nvPr/>
        </p:nvCxnSpPr>
        <p:spPr>
          <a:xfrm>
            <a:off x="7714655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4" name="Google Shape;2274;p48"/>
          <p:cNvSpPr/>
          <p:nvPr/>
        </p:nvSpPr>
        <p:spPr>
          <a:xfrm>
            <a:off x="9790212" y="1692027"/>
            <a:ext cx="400943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5" name="Google Shape;2275;p48"/>
          <p:cNvCxnSpPr/>
          <p:nvPr/>
        </p:nvCxnSpPr>
        <p:spPr>
          <a:xfrm>
            <a:off x="9790212" y="1696789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6" name="Google Shape;2276;p48"/>
          <p:cNvCxnSpPr/>
          <p:nvPr/>
        </p:nvCxnSpPr>
        <p:spPr>
          <a:xfrm>
            <a:off x="9794974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7" name="Google Shape;2277;p48"/>
          <p:cNvSpPr/>
          <p:nvPr/>
        </p:nvSpPr>
        <p:spPr>
          <a:xfrm>
            <a:off x="10191155" y="1692027"/>
            <a:ext cx="701129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8" name="Google Shape;2278;p48"/>
          <p:cNvCxnSpPr/>
          <p:nvPr/>
        </p:nvCxnSpPr>
        <p:spPr>
          <a:xfrm>
            <a:off x="10191155" y="1696789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9" name="Google Shape;2279;p48"/>
          <p:cNvCxnSpPr/>
          <p:nvPr/>
        </p:nvCxnSpPr>
        <p:spPr>
          <a:xfrm>
            <a:off x="10195917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0" name="Google Shape;2280;p48"/>
          <p:cNvSpPr/>
          <p:nvPr/>
        </p:nvSpPr>
        <p:spPr>
          <a:xfrm>
            <a:off x="10892284" y="1692027"/>
            <a:ext cx="89490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1" name="Google Shape;2281;p48"/>
          <p:cNvCxnSpPr/>
          <p:nvPr/>
        </p:nvCxnSpPr>
        <p:spPr>
          <a:xfrm>
            <a:off x="10892284" y="1696789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2" name="Google Shape;2282;p48"/>
          <p:cNvCxnSpPr/>
          <p:nvPr/>
        </p:nvCxnSpPr>
        <p:spPr>
          <a:xfrm>
            <a:off x="10897046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3" name="Google Shape;2283;p48"/>
          <p:cNvSpPr/>
          <p:nvPr/>
        </p:nvSpPr>
        <p:spPr>
          <a:xfrm>
            <a:off x="7709892" y="1903958"/>
            <a:ext cx="208032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4" name="Google Shape;2284;p48"/>
          <p:cNvCxnSpPr/>
          <p:nvPr/>
        </p:nvCxnSpPr>
        <p:spPr>
          <a:xfrm>
            <a:off x="7709892" y="1908721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5" name="Google Shape;2285;p48"/>
          <p:cNvCxnSpPr/>
          <p:nvPr/>
        </p:nvCxnSpPr>
        <p:spPr>
          <a:xfrm>
            <a:off x="7714655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6" name="Google Shape;2286;p48"/>
          <p:cNvSpPr/>
          <p:nvPr/>
        </p:nvSpPr>
        <p:spPr>
          <a:xfrm>
            <a:off x="9790212" y="1903958"/>
            <a:ext cx="400943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7" name="Google Shape;2287;p48"/>
          <p:cNvCxnSpPr/>
          <p:nvPr/>
        </p:nvCxnSpPr>
        <p:spPr>
          <a:xfrm>
            <a:off x="9790212" y="1908721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8" name="Google Shape;2288;p48"/>
          <p:cNvCxnSpPr/>
          <p:nvPr/>
        </p:nvCxnSpPr>
        <p:spPr>
          <a:xfrm>
            <a:off x="9794974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9" name="Google Shape;2289;p48"/>
          <p:cNvSpPr/>
          <p:nvPr/>
        </p:nvSpPr>
        <p:spPr>
          <a:xfrm>
            <a:off x="10191155" y="1903958"/>
            <a:ext cx="701129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0" name="Google Shape;2290;p48"/>
          <p:cNvCxnSpPr/>
          <p:nvPr/>
        </p:nvCxnSpPr>
        <p:spPr>
          <a:xfrm>
            <a:off x="10191155" y="1908721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1" name="Google Shape;2291;p48"/>
          <p:cNvCxnSpPr/>
          <p:nvPr/>
        </p:nvCxnSpPr>
        <p:spPr>
          <a:xfrm>
            <a:off x="10195917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2" name="Google Shape;2292;p48"/>
          <p:cNvSpPr/>
          <p:nvPr/>
        </p:nvSpPr>
        <p:spPr>
          <a:xfrm>
            <a:off x="10892284" y="1903958"/>
            <a:ext cx="89490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3" name="Google Shape;2293;p48"/>
          <p:cNvCxnSpPr/>
          <p:nvPr/>
        </p:nvCxnSpPr>
        <p:spPr>
          <a:xfrm>
            <a:off x="10892284" y="1908721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4" name="Google Shape;2294;p48"/>
          <p:cNvCxnSpPr/>
          <p:nvPr/>
        </p:nvCxnSpPr>
        <p:spPr>
          <a:xfrm>
            <a:off x="10897046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5" name="Google Shape;2295;p48"/>
          <p:cNvSpPr/>
          <p:nvPr/>
        </p:nvSpPr>
        <p:spPr>
          <a:xfrm>
            <a:off x="7709892" y="2115889"/>
            <a:ext cx="208032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6" name="Google Shape;2296;p48"/>
          <p:cNvCxnSpPr/>
          <p:nvPr/>
        </p:nvCxnSpPr>
        <p:spPr>
          <a:xfrm>
            <a:off x="7709892" y="2120652"/>
            <a:ext cx="208032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7" name="Google Shape;2297;p48"/>
          <p:cNvCxnSpPr/>
          <p:nvPr/>
        </p:nvCxnSpPr>
        <p:spPr>
          <a:xfrm>
            <a:off x="7714655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8" name="Google Shape;2298;p48"/>
          <p:cNvSpPr/>
          <p:nvPr/>
        </p:nvSpPr>
        <p:spPr>
          <a:xfrm>
            <a:off x="9790212" y="2115889"/>
            <a:ext cx="400943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9" name="Google Shape;2299;p48"/>
          <p:cNvCxnSpPr/>
          <p:nvPr/>
        </p:nvCxnSpPr>
        <p:spPr>
          <a:xfrm>
            <a:off x="9790212" y="2120652"/>
            <a:ext cx="400943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0" name="Google Shape;2300;p48"/>
          <p:cNvCxnSpPr/>
          <p:nvPr/>
        </p:nvCxnSpPr>
        <p:spPr>
          <a:xfrm>
            <a:off x="9794974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1" name="Google Shape;2301;p48"/>
          <p:cNvSpPr/>
          <p:nvPr/>
        </p:nvSpPr>
        <p:spPr>
          <a:xfrm>
            <a:off x="10191155" y="2115889"/>
            <a:ext cx="701129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2" name="Google Shape;2302;p48"/>
          <p:cNvCxnSpPr/>
          <p:nvPr/>
        </p:nvCxnSpPr>
        <p:spPr>
          <a:xfrm>
            <a:off x="10191155" y="2120652"/>
            <a:ext cx="70112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3" name="Google Shape;2303;p48"/>
          <p:cNvCxnSpPr/>
          <p:nvPr/>
        </p:nvCxnSpPr>
        <p:spPr>
          <a:xfrm>
            <a:off x="10195917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4" name="Google Shape;2304;p48"/>
          <p:cNvSpPr/>
          <p:nvPr/>
        </p:nvSpPr>
        <p:spPr>
          <a:xfrm>
            <a:off x="10892284" y="2115889"/>
            <a:ext cx="89490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5" name="Google Shape;2305;p48"/>
          <p:cNvCxnSpPr/>
          <p:nvPr/>
        </p:nvCxnSpPr>
        <p:spPr>
          <a:xfrm>
            <a:off x="10892284" y="2120652"/>
            <a:ext cx="89490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6" name="Google Shape;2306;p48"/>
          <p:cNvCxnSpPr/>
          <p:nvPr/>
        </p:nvCxnSpPr>
        <p:spPr>
          <a:xfrm>
            <a:off x="10897046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7" name="Google Shape;2307;p48"/>
          <p:cNvSpPr/>
          <p:nvPr/>
        </p:nvSpPr>
        <p:spPr>
          <a:xfrm>
            <a:off x="7705130" y="2471886"/>
            <a:ext cx="4086820" cy="1478012"/>
          </a:xfrm>
          <a:prstGeom prst="roundRect">
            <a:avLst>
              <a:gd fmla="val 3222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8" name="Google Shape;2308;p48"/>
          <p:cNvCxnSpPr/>
          <p:nvPr/>
        </p:nvCxnSpPr>
        <p:spPr>
          <a:xfrm>
            <a:off x="7728942" y="2471886"/>
            <a:ext cx="0" cy="1478012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9" name="Google Shape;2309;p48"/>
          <p:cNvSpPr/>
          <p:nvPr/>
        </p:nvSpPr>
        <p:spPr>
          <a:xfrm>
            <a:off x="7705130" y="4067026"/>
            <a:ext cx="4086820" cy="3492401"/>
          </a:xfrm>
          <a:prstGeom prst="roundRect">
            <a:avLst>
              <a:gd fmla="val 1363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0" name="Google Shape;2310;p48"/>
          <p:cNvCxnSpPr/>
          <p:nvPr/>
        </p:nvCxnSpPr>
        <p:spPr>
          <a:xfrm>
            <a:off x="7728942" y="4067026"/>
            <a:ext cx="0" cy="3492401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1" name="Google Shape;2311;p48"/>
          <p:cNvSpPr/>
          <p:nvPr/>
        </p:nvSpPr>
        <p:spPr>
          <a:xfrm>
            <a:off x="7899202" y="4386858"/>
            <a:ext cx="1008162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7985edcab8310825f72a438979f0b8d1.png" id="2312" name="Google Shape;231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03" y="1520726"/>
            <a:ext cx="6794450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3" name="Google Shape;2313;p48"/>
          <p:cNvSpPr txBox="1"/>
          <p:nvPr/>
        </p:nvSpPr>
        <p:spPr>
          <a:xfrm>
            <a:off x="400050" y="161925"/>
            <a:ext cx="3787229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Sobrevida global: 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48"/>
          <p:cNvSpPr txBox="1"/>
          <p:nvPr/>
        </p:nvSpPr>
        <p:spPr>
          <a:xfrm>
            <a:off x="1956495" y="6652022"/>
            <a:ext cx="3896916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17. Curva de Kaplan-Meier para sobrevida global por estágio.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5" name="Google Shape;2315;p48"/>
          <p:cNvSpPr txBox="1"/>
          <p:nvPr/>
        </p:nvSpPr>
        <p:spPr>
          <a:xfrm>
            <a:off x="7747635" y="863352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6" name="Google Shape;2316;p48"/>
          <p:cNvSpPr txBox="1"/>
          <p:nvPr/>
        </p:nvSpPr>
        <p:spPr>
          <a:xfrm>
            <a:off x="9827895" y="863352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48"/>
          <p:cNvSpPr txBox="1"/>
          <p:nvPr/>
        </p:nvSpPr>
        <p:spPr>
          <a:xfrm>
            <a:off x="10228897" y="863352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8" name="Google Shape;2318;p48"/>
          <p:cNvSpPr txBox="1"/>
          <p:nvPr/>
        </p:nvSpPr>
        <p:spPr>
          <a:xfrm>
            <a:off x="10929937" y="86335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 log-rank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48"/>
          <p:cNvSpPr txBox="1"/>
          <p:nvPr/>
        </p:nvSpPr>
        <p:spPr>
          <a:xfrm>
            <a:off x="7747635" y="1082427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(I–II vs. III–IV)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48"/>
          <p:cNvSpPr txBox="1"/>
          <p:nvPr/>
        </p:nvSpPr>
        <p:spPr>
          <a:xfrm>
            <a:off x="9827895" y="1082427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48"/>
          <p:cNvSpPr txBox="1"/>
          <p:nvPr/>
        </p:nvSpPr>
        <p:spPr>
          <a:xfrm>
            <a:off x="10228897" y="1082427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p48"/>
          <p:cNvSpPr txBox="1"/>
          <p:nvPr/>
        </p:nvSpPr>
        <p:spPr>
          <a:xfrm>
            <a:off x="10929937" y="1082427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5.18e-07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3" name="Google Shape;2323;p48"/>
          <p:cNvSpPr txBox="1"/>
          <p:nvPr/>
        </p:nvSpPr>
        <p:spPr>
          <a:xfrm>
            <a:off x="7747635" y="1294358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(G1–G2 vs. G3–G4)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4" name="Google Shape;2324;p48"/>
          <p:cNvSpPr txBox="1"/>
          <p:nvPr/>
        </p:nvSpPr>
        <p:spPr>
          <a:xfrm>
            <a:off x="9827895" y="1294358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5" name="Google Shape;2325;p48"/>
          <p:cNvSpPr txBox="1"/>
          <p:nvPr/>
        </p:nvSpPr>
        <p:spPr>
          <a:xfrm>
            <a:off x="10228897" y="1294358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48"/>
          <p:cNvSpPr txBox="1"/>
          <p:nvPr/>
        </p:nvSpPr>
        <p:spPr>
          <a:xfrm>
            <a:off x="10929937" y="1294358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0.682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p48"/>
          <p:cNvSpPr txBox="1"/>
          <p:nvPr/>
        </p:nvSpPr>
        <p:spPr>
          <a:xfrm>
            <a:off x="7747635" y="1506289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p48"/>
          <p:cNvSpPr txBox="1"/>
          <p:nvPr/>
        </p:nvSpPr>
        <p:spPr>
          <a:xfrm>
            <a:off x="9827895" y="1506289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48"/>
          <p:cNvSpPr txBox="1"/>
          <p:nvPr/>
        </p:nvSpPr>
        <p:spPr>
          <a:xfrm>
            <a:off x="10228897" y="1506289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48"/>
          <p:cNvSpPr txBox="1"/>
          <p:nvPr/>
        </p:nvSpPr>
        <p:spPr>
          <a:xfrm>
            <a:off x="10929937" y="1506289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0.288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1" name="Google Shape;2331;p48"/>
          <p:cNvSpPr txBox="1"/>
          <p:nvPr/>
        </p:nvSpPr>
        <p:spPr>
          <a:xfrm>
            <a:off x="7747635" y="1718221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(≥65 vs. &lt;65)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2" name="Google Shape;2332;p48"/>
          <p:cNvSpPr txBox="1"/>
          <p:nvPr/>
        </p:nvSpPr>
        <p:spPr>
          <a:xfrm>
            <a:off x="9827895" y="1718221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48"/>
          <p:cNvSpPr txBox="1"/>
          <p:nvPr/>
        </p:nvSpPr>
        <p:spPr>
          <a:xfrm>
            <a:off x="10228897" y="1718221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48"/>
          <p:cNvSpPr txBox="1"/>
          <p:nvPr/>
        </p:nvSpPr>
        <p:spPr>
          <a:xfrm>
            <a:off x="10929937" y="1718221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0.244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48"/>
          <p:cNvSpPr txBox="1"/>
          <p:nvPr/>
        </p:nvSpPr>
        <p:spPr>
          <a:xfrm>
            <a:off x="7747635" y="1930152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(≥400 vs. &lt;400)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48"/>
          <p:cNvSpPr txBox="1"/>
          <p:nvPr/>
        </p:nvSpPr>
        <p:spPr>
          <a:xfrm>
            <a:off x="9827895" y="1930152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274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7" name="Google Shape;2337;p48"/>
          <p:cNvSpPr txBox="1"/>
          <p:nvPr/>
        </p:nvSpPr>
        <p:spPr>
          <a:xfrm>
            <a:off x="10228897" y="1930152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8" name="Google Shape;2338;p48"/>
          <p:cNvSpPr txBox="1"/>
          <p:nvPr/>
        </p:nvSpPr>
        <p:spPr>
          <a:xfrm>
            <a:off x="10929937" y="1930152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9" name="Google Shape;2339;p48"/>
          <p:cNvSpPr txBox="1"/>
          <p:nvPr/>
        </p:nvSpPr>
        <p:spPr>
          <a:xfrm>
            <a:off x="7747635" y="2142083"/>
            <a:ext cx="200405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avançada (Ishak ≥5)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0" name="Google Shape;2340;p48"/>
          <p:cNvSpPr txBox="1"/>
          <p:nvPr/>
        </p:nvSpPr>
        <p:spPr>
          <a:xfrm>
            <a:off x="9827895" y="2142083"/>
            <a:ext cx="3248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48"/>
          <p:cNvSpPr txBox="1"/>
          <p:nvPr/>
        </p:nvSpPr>
        <p:spPr>
          <a:xfrm>
            <a:off x="10228897" y="2142083"/>
            <a:ext cx="62483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48"/>
          <p:cNvSpPr txBox="1"/>
          <p:nvPr/>
        </p:nvSpPr>
        <p:spPr>
          <a:xfrm>
            <a:off x="10929937" y="2142083"/>
            <a:ext cx="819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0.428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p48"/>
          <p:cNvSpPr txBox="1"/>
          <p:nvPr/>
        </p:nvSpPr>
        <p:spPr>
          <a:xfrm>
            <a:off x="7924205" y="2780258"/>
            <a:ext cx="9200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Apenas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4" name="Google Shape;2344;p48"/>
          <p:cNvSpPr txBox="1"/>
          <p:nvPr/>
        </p:nvSpPr>
        <p:spPr>
          <a:xfrm>
            <a:off x="8864798" y="2780258"/>
            <a:ext cx="77167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5" name="Google Shape;2345;p48"/>
          <p:cNvSpPr txBox="1"/>
          <p:nvPr/>
        </p:nvSpPr>
        <p:spPr>
          <a:xfrm>
            <a:off x="9657011" y="2780258"/>
            <a:ext cx="19024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separou claramente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6" name="Google Shape;2346;p48"/>
          <p:cNvSpPr txBox="1"/>
          <p:nvPr/>
        </p:nvSpPr>
        <p:spPr>
          <a:xfrm>
            <a:off x="7924205" y="3067348"/>
            <a:ext cx="2190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 curvas: log-rank 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7" name="Google Shape;2347;p48"/>
          <p:cNvSpPr txBox="1"/>
          <p:nvPr/>
        </p:nvSpPr>
        <p:spPr>
          <a:xfrm>
            <a:off x="10135046" y="3067348"/>
            <a:ext cx="11534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5,18 × 10⁻⁷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48"/>
          <p:cNvSpPr txBox="1"/>
          <p:nvPr/>
        </p:nvSpPr>
        <p:spPr>
          <a:xfrm>
            <a:off x="11309003" y="3067348"/>
            <a:ext cx="2241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48"/>
          <p:cNvSpPr txBox="1"/>
          <p:nvPr/>
        </p:nvSpPr>
        <p:spPr>
          <a:xfrm>
            <a:off x="7924205" y="3354437"/>
            <a:ext cx="19489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339; 114 eventos).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p48"/>
          <p:cNvSpPr txBox="1"/>
          <p:nvPr/>
        </p:nvSpPr>
        <p:spPr>
          <a:xfrm>
            <a:off x="7979122" y="4393257"/>
            <a:ext cx="8864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COMO 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p48"/>
          <p:cNvSpPr txBox="1"/>
          <p:nvPr/>
        </p:nvSpPr>
        <p:spPr>
          <a:xfrm>
            <a:off x="9016901" y="4355157"/>
            <a:ext cx="12800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Kaplan-Meier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48"/>
          <p:cNvSpPr txBox="1"/>
          <p:nvPr/>
        </p:nvSpPr>
        <p:spPr>
          <a:xfrm>
            <a:off x="7899202" y="4616797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48"/>
          <p:cNvSpPr txBox="1"/>
          <p:nvPr/>
        </p:nvSpPr>
        <p:spPr>
          <a:xfrm>
            <a:off x="7958138" y="4645372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survival::survfit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48"/>
          <p:cNvSpPr txBox="1"/>
          <p:nvPr/>
        </p:nvSpPr>
        <p:spPr>
          <a:xfrm>
            <a:off x="9903172" y="4616797"/>
            <a:ext cx="86930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estima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48"/>
          <p:cNvSpPr txBox="1"/>
          <p:nvPr/>
        </p:nvSpPr>
        <p:spPr>
          <a:xfrm>
            <a:off x="7899202" y="4897487"/>
            <a:ext cx="350400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probabilidade de sobrevida ao longo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48"/>
          <p:cNvSpPr txBox="1"/>
          <p:nvPr/>
        </p:nvSpPr>
        <p:spPr>
          <a:xfrm>
            <a:off x="7899202" y="5159127"/>
            <a:ext cx="35690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tempo, incorporando censura (quem 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48"/>
          <p:cNvSpPr txBox="1"/>
          <p:nvPr/>
        </p:nvSpPr>
        <p:spPr>
          <a:xfrm>
            <a:off x="7899202" y="5420767"/>
            <a:ext cx="149363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foi até o evento).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48"/>
          <p:cNvSpPr txBox="1"/>
          <p:nvPr/>
        </p:nvSpPr>
        <p:spPr>
          <a:xfrm>
            <a:off x="9408170" y="5420767"/>
            <a:ext cx="82287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log-rank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48"/>
          <p:cNvSpPr txBox="1"/>
          <p:nvPr/>
        </p:nvSpPr>
        <p:spPr>
          <a:xfrm>
            <a:off x="7899202" y="5682407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48"/>
          <p:cNvSpPr txBox="1"/>
          <p:nvPr/>
        </p:nvSpPr>
        <p:spPr>
          <a:xfrm>
            <a:off x="7958138" y="5710982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survival::survdiff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1" name="Google Shape;2361;p48"/>
          <p:cNvSpPr txBox="1"/>
          <p:nvPr/>
        </p:nvSpPr>
        <p:spPr>
          <a:xfrm>
            <a:off x="10017621" y="5682407"/>
            <a:ext cx="1639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testa se as curvas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2" name="Google Shape;2362;p48"/>
          <p:cNvSpPr txBox="1"/>
          <p:nvPr/>
        </p:nvSpPr>
        <p:spPr>
          <a:xfrm>
            <a:off x="7899202" y="5963096"/>
            <a:ext cx="311348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são iguais. A curva não mostra risco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48"/>
          <p:cNvSpPr txBox="1"/>
          <p:nvPr/>
        </p:nvSpPr>
        <p:spPr>
          <a:xfrm>
            <a:off x="7899202" y="6224736"/>
            <a:ext cx="36863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individual nem ajuste por covariáveis;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48"/>
          <p:cNvSpPr txBox="1"/>
          <p:nvPr/>
        </p:nvSpPr>
        <p:spPr>
          <a:xfrm>
            <a:off x="7899202" y="6486376"/>
            <a:ext cx="210145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isso, use Cox. Na tabela,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48"/>
          <p:cNvSpPr txBox="1"/>
          <p:nvPr/>
        </p:nvSpPr>
        <p:spPr>
          <a:xfrm>
            <a:off x="10015984" y="6486376"/>
            <a:ext cx="15627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48"/>
          <p:cNvSpPr txBox="1"/>
          <p:nvPr/>
        </p:nvSpPr>
        <p:spPr>
          <a:xfrm>
            <a:off x="10187583" y="6486376"/>
            <a:ext cx="146699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pacientes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48"/>
          <p:cNvSpPr txBox="1"/>
          <p:nvPr/>
        </p:nvSpPr>
        <p:spPr>
          <a:xfrm>
            <a:off x="7899202" y="6748016"/>
            <a:ext cx="16207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dado disponível;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48"/>
          <p:cNvSpPr txBox="1"/>
          <p:nvPr/>
        </p:nvSpPr>
        <p:spPr>
          <a:xfrm>
            <a:off x="9535269" y="6748016"/>
            <a:ext cx="75202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p48"/>
          <p:cNvSpPr txBox="1"/>
          <p:nvPr/>
        </p:nvSpPr>
        <p:spPr>
          <a:xfrm>
            <a:off x="10302627" y="6748016"/>
            <a:ext cx="76527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óbitos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48"/>
          <p:cNvSpPr txBox="1"/>
          <p:nvPr/>
        </p:nvSpPr>
        <p:spPr>
          <a:xfrm>
            <a:off x="7899202" y="7009656"/>
            <a:ext cx="10676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observados.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49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6" name="Google Shape;2376;p49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7" name="Google Shape;2377;p49"/>
          <p:cNvSpPr/>
          <p:nvPr/>
        </p:nvSpPr>
        <p:spPr>
          <a:xfrm>
            <a:off x="400050" y="4938564"/>
            <a:ext cx="11391900" cy="903833"/>
          </a:xfrm>
          <a:prstGeom prst="roundRect">
            <a:avLst>
              <a:gd fmla="val 5269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8" name="Google Shape;2378;p49"/>
          <p:cNvCxnSpPr/>
          <p:nvPr/>
        </p:nvCxnSpPr>
        <p:spPr>
          <a:xfrm>
            <a:off x="423862" y="4938564"/>
            <a:ext cx="0" cy="903833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72a6d9e15038d85fe466b261b1b475ab.png" id="2379" name="Google Shape;237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632" y="783580"/>
            <a:ext cx="50799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599ca038e543a01a5fac2d00f77bb6.png" id="2380" name="Google Shape;238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7269" y="783580"/>
            <a:ext cx="50799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1" name="Google Shape;2381;p49"/>
          <p:cNvSpPr txBox="1"/>
          <p:nvPr/>
        </p:nvSpPr>
        <p:spPr>
          <a:xfrm>
            <a:off x="400050" y="161925"/>
            <a:ext cx="4409777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Sobrevida global: grau e sexo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2" name="Google Shape;2382;p49"/>
          <p:cNvSpPr txBox="1"/>
          <p:nvPr/>
        </p:nvSpPr>
        <p:spPr>
          <a:xfrm>
            <a:off x="1985070" y="4629001"/>
            <a:ext cx="239732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18. Sobrevida por grau (p = 0,682).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49"/>
          <p:cNvSpPr txBox="1"/>
          <p:nvPr/>
        </p:nvSpPr>
        <p:spPr>
          <a:xfrm>
            <a:off x="7848898" y="4629001"/>
            <a:ext cx="239494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19. Sobrevida por sexo (p = 0,288).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49"/>
          <p:cNvSpPr txBox="1"/>
          <p:nvPr/>
        </p:nvSpPr>
        <p:spPr>
          <a:xfrm>
            <a:off x="619125" y="5246936"/>
            <a:ext cx="71135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Nem grau nem sexo separaram as curvas de sobrevida global nesta coorte.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53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0" name="Google Shape;2390;p53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1" name="Google Shape;2391;p53"/>
          <p:cNvSpPr/>
          <p:nvPr/>
        </p:nvSpPr>
        <p:spPr>
          <a:xfrm>
            <a:off x="7705130" y="820192"/>
            <a:ext cx="4086820" cy="2084784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p53"/>
          <p:cNvSpPr/>
          <p:nvPr/>
        </p:nvSpPr>
        <p:spPr>
          <a:xfrm>
            <a:off x="7709892" y="824954"/>
            <a:ext cx="596950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3" name="Google Shape;2393;p53"/>
          <p:cNvCxnSpPr/>
          <p:nvPr/>
        </p:nvCxnSpPr>
        <p:spPr>
          <a:xfrm>
            <a:off x="7709892" y="829717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4" name="Google Shape;2394;p53"/>
          <p:cNvCxnSpPr/>
          <p:nvPr/>
        </p:nvCxnSpPr>
        <p:spPr>
          <a:xfrm>
            <a:off x="7714655" y="824954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5" name="Google Shape;2395;p53"/>
          <p:cNvSpPr/>
          <p:nvPr/>
        </p:nvSpPr>
        <p:spPr>
          <a:xfrm>
            <a:off x="8306842" y="824954"/>
            <a:ext cx="1790700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6" name="Google Shape;2396;p53"/>
          <p:cNvCxnSpPr/>
          <p:nvPr/>
        </p:nvCxnSpPr>
        <p:spPr>
          <a:xfrm>
            <a:off x="8306842" y="829717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7" name="Google Shape;2397;p53"/>
          <p:cNvCxnSpPr/>
          <p:nvPr/>
        </p:nvCxnSpPr>
        <p:spPr>
          <a:xfrm>
            <a:off x="8311604" y="824954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8" name="Google Shape;2398;p53"/>
          <p:cNvSpPr/>
          <p:nvPr/>
        </p:nvSpPr>
        <p:spPr>
          <a:xfrm>
            <a:off x="10097542" y="824954"/>
            <a:ext cx="1049238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9" name="Google Shape;2399;p53"/>
          <p:cNvCxnSpPr/>
          <p:nvPr/>
        </p:nvCxnSpPr>
        <p:spPr>
          <a:xfrm>
            <a:off x="10097542" y="829717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0" name="Google Shape;2400;p53"/>
          <p:cNvCxnSpPr/>
          <p:nvPr/>
        </p:nvCxnSpPr>
        <p:spPr>
          <a:xfrm>
            <a:off x="10102304" y="824954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1" name="Google Shape;2401;p53"/>
          <p:cNvSpPr/>
          <p:nvPr/>
        </p:nvSpPr>
        <p:spPr>
          <a:xfrm>
            <a:off x="11146780" y="824954"/>
            <a:ext cx="640407" cy="200025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2" name="Google Shape;2402;p53"/>
          <p:cNvCxnSpPr/>
          <p:nvPr/>
        </p:nvCxnSpPr>
        <p:spPr>
          <a:xfrm>
            <a:off x="11146780" y="829717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3" name="Google Shape;2403;p53"/>
          <p:cNvCxnSpPr/>
          <p:nvPr/>
        </p:nvCxnSpPr>
        <p:spPr>
          <a:xfrm>
            <a:off x="11151543" y="824954"/>
            <a:ext cx="0" cy="200025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4" name="Google Shape;2404;p53"/>
          <p:cNvSpPr/>
          <p:nvPr/>
        </p:nvSpPr>
        <p:spPr>
          <a:xfrm>
            <a:off x="7709892" y="1024979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5" name="Google Shape;2405;p53"/>
          <p:cNvCxnSpPr/>
          <p:nvPr/>
        </p:nvCxnSpPr>
        <p:spPr>
          <a:xfrm>
            <a:off x="7709892" y="1029742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6" name="Google Shape;2406;p53"/>
          <p:cNvCxnSpPr/>
          <p:nvPr/>
        </p:nvCxnSpPr>
        <p:spPr>
          <a:xfrm>
            <a:off x="7714655" y="1024979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7" name="Google Shape;2407;p53"/>
          <p:cNvSpPr/>
          <p:nvPr/>
        </p:nvSpPr>
        <p:spPr>
          <a:xfrm>
            <a:off x="8306842" y="1024979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8" name="Google Shape;2408;p53"/>
          <p:cNvCxnSpPr/>
          <p:nvPr/>
        </p:nvCxnSpPr>
        <p:spPr>
          <a:xfrm>
            <a:off x="8306842" y="1029742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9" name="Google Shape;2409;p53"/>
          <p:cNvCxnSpPr/>
          <p:nvPr/>
        </p:nvCxnSpPr>
        <p:spPr>
          <a:xfrm>
            <a:off x="8311604" y="1024979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0" name="Google Shape;2410;p53"/>
          <p:cNvSpPr/>
          <p:nvPr/>
        </p:nvSpPr>
        <p:spPr>
          <a:xfrm>
            <a:off x="10097542" y="1024979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1" name="Google Shape;2411;p53"/>
          <p:cNvCxnSpPr/>
          <p:nvPr/>
        </p:nvCxnSpPr>
        <p:spPr>
          <a:xfrm>
            <a:off x="10097542" y="1029742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2" name="Google Shape;2412;p53"/>
          <p:cNvCxnSpPr/>
          <p:nvPr/>
        </p:nvCxnSpPr>
        <p:spPr>
          <a:xfrm>
            <a:off x="10102304" y="1024979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3" name="Google Shape;2413;p53"/>
          <p:cNvSpPr/>
          <p:nvPr/>
        </p:nvSpPr>
        <p:spPr>
          <a:xfrm>
            <a:off x="11146780" y="1024979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4" name="Google Shape;2414;p53"/>
          <p:cNvCxnSpPr/>
          <p:nvPr/>
        </p:nvCxnSpPr>
        <p:spPr>
          <a:xfrm>
            <a:off x="11146780" y="1029742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5" name="Google Shape;2415;p53"/>
          <p:cNvCxnSpPr/>
          <p:nvPr/>
        </p:nvCxnSpPr>
        <p:spPr>
          <a:xfrm>
            <a:off x="11151543" y="1024979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6" name="Google Shape;2416;p53"/>
          <p:cNvSpPr/>
          <p:nvPr/>
        </p:nvSpPr>
        <p:spPr>
          <a:xfrm>
            <a:off x="7709892" y="1212503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7" name="Google Shape;2417;p53"/>
          <p:cNvCxnSpPr/>
          <p:nvPr/>
        </p:nvCxnSpPr>
        <p:spPr>
          <a:xfrm>
            <a:off x="7709892" y="1217265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8" name="Google Shape;2418;p53"/>
          <p:cNvCxnSpPr/>
          <p:nvPr/>
        </p:nvCxnSpPr>
        <p:spPr>
          <a:xfrm>
            <a:off x="7714655" y="121250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9" name="Google Shape;2419;p53"/>
          <p:cNvSpPr/>
          <p:nvPr/>
        </p:nvSpPr>
        <p:spPr>
          <a:xfrm>
            <a:off x="8306842" y="1212503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0" name="Google Shape;2420;p53"/>
          <p:cNvCxnSpPr/>
          <p:nvPr/>
        </p:nvCxnSpPr>
        <p:spPr>
          <a:xfrm>
            <a:off x="8306842" y="1217265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1" name="Google Shape;2421;p53"/>
          <p:cNvCxnSpPr/>
          <p:nvPr/>
        </p:nvCxnSpPr>
        <p:spPr>
          <a:xfrm>
            <a:off x="8311604" y="121250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2" name="Google Shape;2422;p53"/>
          <p:cNvSpPr/>
          <p:nvPr/>
        </p:nvSpPr>
        <p:spPr>
          <a:xfrm>
            <a:off x="10097542" y="1212503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3" name="Google Shape;2423;p53"/>
          <p:cNvCxnSpPr/>
          <p:nvPr/>
        </p:nvCxnSpPr>
        <p:spPr>
          <a:xfrm>
            <a:off x="10097542" y="1217265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4" name="Google Shape;2424;p53"/>
          <p:cNvCxnSpPr/>
          <p:nvPr/>
        </p:nvCxnSpPr>
        <p:spPr>
          <a:xfrm>
            <a:off x="10102304" y="121250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5" name="Google Shape;2425;p53"/>
          <p:cNvSpPr/>
          <p:nvPr/>
        </p:nvSpPr>
        <p:spPr>
          <a:xfrm>
            <a:off x="11146780" y="1212503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6" name="Google Shape;2426;p53"/>
          <p:cNvCxnSpPr/>
          <p:nvPr/>
        </p:nvCxnSpPr>
        <p:spPr>
          <a:xfrm>
            <a:off x="11146780" y="1217265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7" name="Google Shape;2427;p53"/>
          <p:cNvCxnSpPr/>
          <p:nvPr/>
        </p:nvCxnSpPr>
        <p:spPr>
          <a:xfrm>
            <a:off x="11151543" y="121250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8" name="Google Shape;2428;p53"/>
          <p:cNvSpPr/>
          <p:nvPr/>
        </p:nvSpPr>
        <p:spPr>
          <a:xfrm>
            <a:off x="7709892" y="1400026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9" name="Google Shape;2429;p53"/>
          <p:cNvCxnSpPr/>
          <p:nvPr/>
        </p:nvCxnSpPr>
        <p:spPr>
          <a:xfrm>
            <a:off x="7709892" y="1404789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0" name="Google Shape;2430;p53"/>
          <p:cNvCxnSpPr/>
          <p:nvPr/>
        </p:nvCxnSpPr>
        <p:spPr>
          <a:xfrm>
            <a:off x="7714655" y="140002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1" name="Google Shape;2431;p53"/>
          <p:cNvSpPr/>
          <p:nvPr/>
        </p:nvSpPr>
        <p:spPr>
          <a:xfrm>
            <a:off x="8306842" y="1400026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2" name="Google Shape;2432;p53"/>
          <p:cNvCxnSpPr/>
          <p:nvPr/>
        </p:nvCxnSpPr>
        <p:spPr>
          <a:xfrm>
            <a:off x="8306842" y="1404789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3" name="Google Shape;2433;p53"/>
          <p:cNvCxnSpPr/>
          <p:nvPr/>
        </p:nvCxnSpPr>
        <p:spPr>
          <a:xfrm>
            <a:off x="8311604" y="140002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4" name="Google Shape;2434;p53"/>
          <p:cNvSpPr/>
          <p:nvPr/>
        </p:nvSpPr>
        <p:spPr>
          <a:xfrm>
            <a:off x="10097542" y="1400026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5" name="Google Shape;2435;p53"/>
          <p:cNvCxnSpPr/>
          <p:nvPr/>
        </p:nvCxnSpPr>
        <p:spPr>
          <a:xfrm>
            <a:off x="10097542" y="1404789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6" name="Google Shape;2436;p53"/>
          <p:cNvCxnSpPr/>
          <p:nvPr/>
        </p:nvCxnSpPr>
        <p:spPr>
          <a:xfrm>
            <a:off x="10102304" y="140002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7" name="Google Shape;2437;p53"/>
          <p:cNvSpPr/>
          <p:nvPr/>
        </p:nvSpPr>
        <p:spPr>
          <a:xfrm>
            <a:off x="11146780" y="1400026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8" name="Google Shape;2438;p53"/>
          <p:cNvCxnSpPr/>
          <p:nvPr/>
        </p:nvCxnSpPr>
        <p:spPr>
          <a:xfrm>
            <a:off x="11146780" y="1404789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9" name="Google Shape;2439;p53"/>
          <p:cNvCxnSpPr/>
          <p:nvPr/>
        </p:nvCxnSpPr>
        <p:spPr>
          <a:xfrm>
            <a:off x="11151543" y="140002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0" name="Google Shape;2440;p53"/>
          <p:cNvSpPr/>
          <p:nvPr/>
        </p:nvSpPr>
        <p:spPr>
          <a:xfrm>
            <a:off x="7709892" y="1587550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1" name="Google Shape;2441;p53"/>
          <p:cNvCxnSpPr/>
          <p:nvPr/>
        </p:nvCxnSpPr>
        <p:spPr>
          <a:xfrm>
            <a:off x="7709892" y="1592312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2" name="Google Shape;2442;p53"/>
          <p:cNvCxnSpPr/>
          <p:nvPr/>
        </p:nvCxnSpPr>
        <p:spPr>
          <a:xfrm>
            <a:off x="7714655" y="158755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3" name="Google Shape;2443;p53"/>
          <p:cNvSpPr/>
          <p:nvPr/>
        </p:nvSpPr>
        <p:spPr>
          <a:xfrm>
            <a:off x="8306842" y="1587550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4" name="Google Shape;2444;p53"/>
          <p:cNvCxnSpPr/>
          <p:nvPr/>
        </p:nvCxnSpPr>
        <p:spPr>
          <a:xfrm>
            <a:off x="8306842" y="1592312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5" name="Google Shape;2445;p53"/>
          <p:cNvCxnSpPr/>
          <p:nvPr/>
        </p:nvCxnSpPr>
        <p:spPr>
          <a:xfrm>
            <a:off x="8311604" y="158755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6" name="Google Shape;2446;p53"/>
          <p:cNvSpPr/>
          <p:nvPr/>
        </p:nvSpPr>
        <p:spPr>
          <a:xfrm>
            <a:off x="10097542" y="1587550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7" name="Google Shape;2447;p53"/>
          <p:cNvCxnSpPr/>
          <p:nvPr/>
        </p:nvCxnSpPr>
        <p:spPr>
          <a:xfrm>
            <a:off x="10097542" y="1592312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8" name="Google Shape;2448;p53"/>
          <p:cNvCxnSpPr/>
          <p:nvPr/>
        </p:nvCxnSpPr>
        <p:spPr>
          <a:xfrm>
            <a:off x="10102304" y="158755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9" name="Google Shape;2449;p53"/>
          <p:cNvSpPr/>
          <p:nvPr/>
        </p:nvSpPr>
        <p:spPr>
          <a:xfrm>
            <a:off x="11146780" y="1587550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0" name="Google Shape;2450;p53"/>
          <p:cNvCxnSpPr/>
          <p:nvPr/>
        </p:nvCxnSpPr>
        <p:spPr>
          <a:xfrm>
            <a:off x="11146780" y="1592312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1" name="Google Shape;2451;p53"/>
          <p:cNvCxnSpPr/>
          <p:nvPr/>
        </p:nvCxnSpPr>
        <p:spPr>
          <a:xfrm>
            <a:off x="11151543" y="158755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2" name="Google Shape;2452;p53"/>
          <p:cNvSpPr/>
          <p:nvPr/>
        </p:nvSpPr>
        <p:spPr>
          <a:xfrm>
            <a:off x="7709892" y="1775073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3" name="Google Shape;2453;p53"/>
          <p:cNvCxnSpPr/>
          <p:nvPr/>
        </p:nvCxnSpPr>
        <p:spPr>
          <a:xfrm>
            <a:off x="7709892" y="1779836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4" name="Google Shape;2454;p53"/>
          <p:cNvCxnSpPr/>
          <p:nvPr/>
        </p:nvCxnSpPr>
        <p:spPr>
          <a:xfrm>
            <a:off x="7714655" y="177507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5" name="Google Shape;2455;p53"/>
          <p:cNvSpPr/>
          <p:nvPr/>
        </p:nvSpPr>
        <p:spPr>
          <a:xfrm>
            <a:off x="8306842" y="1775073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6" name="Google Shape;2456;p53"/>
          <p:cNvCxnSpPr/>
          <p:nvPr/>
        </p:nvCxnSpPr>
        <p:spPr>
          <a:xfrm>
            <a:off x="8306842" y="1779836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7" name="Google Shape;2457;p53"/>
          <p:cNvCxnSpPr/>
          <p:nvPr/>
        </p:nvCxnSpPr>
        <p:spPr>
          <a:xfrm>
            <a:off x="8311604" y="177507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8" name="Google Shape;2458;p53"/>
          <p:cNvSpPr/>
          <p:nvPr/>
        </p:nvSpPr>
        <p:spPr>
          <a:xfrm>
            <a:off x="10097542" y="1775073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9" name="Google Shape;2459;p53"/>
          <p:cNvCxnSpPr/>
          <p:nvPr/>
        </p:nvCxnSpPr>
        <p:spPr>
          <a:xfrm>
            <a:off x="10097542" y="1779836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0" name="Google Shape;2460;p53"/>
          <p:cNvCxnSpPr/>
          <p:nvPr/>
        </p:nvCxnSpPr>
        <p:spPr>
          <a:xfrm>
            <a:off x="10102304" y="177507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1" name="Google Shape;2461;p53"/>
          <p:cNvSpPr/>
          <p:nvPr/>
        </p:nvSpPr>
        <p:spPr>
          <a:xfrm>
            <a:off x="11146780" y="1775073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2" name="Google Shape;2462;p53"/>
          <p:cNvCxnSpPr/>
          <p:nvPr/>
        </p:nvCxnSpPr>
        <p:spPr>
          <a:xfrm>
            <a:off x="11146780" y="1779836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3" name="Google Shape;2463;p53"/>
          <p:cNvCxnSpPr/>
          <p:nvPr/>
        </p:nvCxnSpPr>
        <p:spPr>
          <a:xfrm>
            <a:off x="11151543" y="1775073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4" name="Google Shape;2464;p53"/>
          <p:cNvSpPr/>
          <p:nvPr/>
        </p:nvSpPr>
        <p:spPr>
          <a:xfrm>
            <a:off x="7709892" y="1962596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5" name="Google Shape;2465;p53"/>
          <p:cNvCxnSpPr/>
          <p:nvPr/>
        </p:nvCxnSpPr>
        <p:spPr>
          <a:xfrm>
            <a:off x="7709892" y="1967359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6" name="Google Shape;2466;p53"/>
          <p:cNvCxnSpPr/>
          <p:nvPr/>
        </p:nvCxnSpPr>
        <p:spPr>
          <a:xfrm>
            <a:off x="7714655" y="19625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7" name="Google Shape;2467;p53"/>
          <p:cNvSpPr/>
          <p:nvPr/>
        </p:nvSpPr>
        <p:spPr>
          <a:xfrm>
            <a:off x="8306842" y="1962596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8" name="Google Shape;2468;p53"/>
          <p:cNvCxnSpPr/>
          <p:nvPr/>
        </p:nvCxnSpPr>
        <p:spPr>
          <a:xfrm>
            <a:off x="8306842" y="1967359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9" name="Google Shape;2469;p53"/>
          <p:cNvCxnSpPr/>
          <p:nvPr/>
        </p:nvCxnSpPr>
        <p:spPr>
          <a:xfrm>
            <a:off x="8311604" y="19625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0" name="Google Shape;2470;p53"/>
          <p:cNvSpPr/>
          <p:nvPr/>
        </p:nvSpPr>
        <p:spPr>
          <a:xfrm>
            <a:off x="10097542" y="1962596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1" name="Google Shape;2471;p53"/>
          <p:cNvCxnSpPr/>
          <p:nvPr/>
        </p:nvCxnSpPr>
        <p:spPr>
          <a:xfrm>
            <a:off x="10097542" y="1967359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2" name="Google Shape;2472;p53"/>
          <p:cNvCxnSpPr/>
          <p:nvPr/>
        </p:nvCxnSpPr>
        <p:spPr>
          <a:xfrm>
            <a:off x="10102304" y="19625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3" name="Google Shape;2473;p53"/>
          <p:cNvSpPr/>
          <p:nvPr/>
        </p:nvSpPr>
        <p:spPr>
          <a:xfrm>
            <a:off x="11146780" y="1962596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4" name="Google Shape;2474;p53"/>
          <p:cNvCxnSpPr/>
          <p:nvPr/>
        </p:nvCxnSpPr>
        <p:spPr>
          <a:xfrm>
            <a:off x="11146780" y="1967359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5" name="Google Shape;2475;p53"/>
          <p:cNvCxnSpPr/>
          <p:nvPr/>
        </p:nvCxnSpPr>
        <p:spPr>
          <a:xfrm>
            <a:off x="11151543" y="1962596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6" name="Google Shape;2476;p53"/>
          <p:cNvSpPr/>
          <p:nvPr/>
        </p:nvSpPr>
        <p:spPr>
          <a:xfrm>
            <a:off x="7709892" y="2150120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7" name="Google Shape;2477;p53"/>
          <p:cNvCxnSpPr/>
          <p:nvPr/>
        </p:nvCxnSpPr>
        <p:spPr>
          <a:xfrm>
            <a:off x="7709892" y="2154882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8" name="Google Shape;2478;p53"/>
          <p:cNvCxnSpPr/>
          <p:nvPr/>
        </p:nvCxnSpPr>
        <p:spPr>
          <a:xfrm>
            <a:off x="7714655" y="21501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9" name="Google Shape;2479;p53"/>
          <p:cNvSpPr/>
          <p:nvPr/>
        </p:nvSpPr>
        <p:spPr>
          <a:xfrm>
            <a:off x="8306842" y="2150120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0" name="Google Shape;2480;p53"/>
          <p:cNvCxnSpPr/>
          <p:nvPr/>
        </p:nvCxnSpPr>
        <p:spPr>
          <a:xfrm>
            <a:off x="8306842" y="2154882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1" name="Google Shape;2481;p53"/>
          <p:cNvCxnSpPr/>
          <p:nvPr/>
        </p:nvCxnSpPr>
        <p:spPr>
          <a:xfrm>
            <a:off x="8311604" y="21501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2" name="Google Shape;2482;p53"/>
          <p:cNvSpPr/>
          <p:nvPr/>
        </p:nvSpPr>
        <p:spPr>
          <a:xfrm>
            <a:off x="10097542" y="2150120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3" name="Google Shape;2483;p53"/>
          <p:cNvCxnSpPr/>
          <p:nvPr/>
        </p:nvCxnSpPr>
        <p:spPr>
          <a:xfrm>
            <a:off x="10097542" y="2154882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4" name="Google Shape;2484;p53"/>
          <p:cNvCxnSpPr/>
          <p:nvPr/>
        </p:nvCxnSpPr>
        <p:spPr>
          <a:xfrm>
            <a:off x="10102304" y="21501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5" name="Google Shape;2485;p53"/>
          <p:cNvSpPr/>
          <p:nvPr/>
        </p:nvSpPr>
        <p:spPr>
          <a:xfrm>
            <a:off x="11146780" y="2150120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6" name="Google Shape;2486;p53"/>
          <p:cNvCxnSpPr/>
          <p:nvPr/>
        </p:nvCxnSpPr>
        <p:spPr>
          <a:xfrm>
            <a:off x="11146780" y="2154882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7" name="Google Shape;2487;p53"/>
          <p:cNvCxnSpPr/>
          <p:nvPr/>
        </p:nvCxnSpPr>
        <p:spPr>
          <a:xfrm>
            <a:off x="11151543" y="2150120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8" name="Google Shape;2488;p53"/>
          <p:cNvSpPr/>
          <p:nvPr/>
        </p:nvSpPr>
        <p:spPr>
          <a:xfrm>
            <a:off x="7709892" y="2337643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9" name="Google Shape;2489;p53"/>
          <p:cNvCxnSpPr/>
          <p:nvPr/>
        </p:nvCxnSpPr>
        <p:spPr>
          <a:xfrm>
            <a:off x="7709892" y="2342406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0" name="Google Shape;2490;p53"/>
          <p:cNvCxnSpPr/>
          <p:nvPr/>
        </p:nvCxnSpPr>
        <p:spPr>
          <a:xfrm>
            <a:off x="7714655" y="233764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1" name="Google Shape;2491;p53"/>
          <p:cNvSpPr/>
          <p:nvPr/>
        </p:nvSpPr>
        <p:spPr>
          <a:xfrm>
            <a:off x="8306842" y="2337643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2" name="Google Shape;2492;p53"/>
          <p:cNvCxnSpPr/>
          <p:nvPr/>
        </p:nvCxnSpPr>
        <p:spPr>
          <a:xfrm>
            <a:off x="8306842" y="2342406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3" name="Google Shape;2493;p53"/>
          <p:cNvCxnSpPr/>
          <p:nvPr/>
        </p:nvCxnSpPr>
        <p:spPr>
          <a:xfrm>
            <a:off x="8311604" y="233764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4" name="Google Shape;2494;p53"/>
          <p:cNvSpPr/>
          <p:nvPr/>
        </p:nvSpPr>
        <p:spPr>
          <a:xfrm>
            <a:off x="10097542" y="2337643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5" name="Google Shape;2495;p53"/>
          <p:cNvCxnSpPr/>
          <p:nvPr/>
        </p:nvCxnSpPr>
        <p:spPr>
          <a:xfrm>
            <a:off x="10097542" y="2342406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6" name="Google Shape;2496;p53"/>
          <p:cNvCxnSpPr/>
          <p:nvPr/>
        </p:nvCxnSpPr>
        <p:spPr>
          <a:xfrm>
            <a:off x="10102304" y="233764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7" name="Google Shape;2497;p53"/>
          <p:cNvSpPr/>
          <p:nvPr/>
        </p:nvSpPr>
        <p:spPr>
          <a:xfrm>
            <a:off x="11146780" y="2337643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8" name="Google Shape;2498;p53"/>
          <p:cNvCxnSpPr/>
          <p:nvPr/>
        </p:nvCxnSpPr>
        <p:spPr>
          <a:xfrm>
            <a:off x="11146780" y="2342406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9" name="Google Shape;2499;p53"/>
          <p:cNvCxnSpPr/>
          <p:nvPr/>
        </p:nvCxnSpPr>
        <p:spPr>
          <a:xfrm>
            <a:off x="11151543" y="2337643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0" name="Google Shape;2500;p53"/>
          <p:cNvSpPr/>
          <p:nvPr/>
        </p:nvSpPr>
        <p:spPr>
          <a:xfrm>
            <a:off x="7709892" y="2525167"/>
            <a:ext cx="59695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1" name="Google Shape;2501;p53"/>
          <p:cNvCxnSpPr/>
          <p:nvPr/>
        </p:nvCxnSpPr>
        <p:spPr>
          <a:xfrm>
            <a:off x="7709892" y="2529929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2" name="Google Shape;2502;p53"/>
          <p:cNvCxnSpPr/>
          <p:nvPr/>
        </p:nvCxnSpPr>
        <p:spPr>
          <a:xfrm>
            <a:off x="7714655" y="252516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3" name="Google Shape;2503;p53"/>
          <p:cNvSpPr/>
          <p:nvPr/>
        </p:nvSpPr>
        <p:spPr>
          <a:xfrm>
            <a:off x="8306842" y="2525167"/>
            <a:ext cx="179070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4" name="Google Shape;2504;p53"/>
          <p:cNvCxnSpPr/>
          <p:nvPr/>
        </p:nvCxnSpPr>
        <p:spPr>
          <a:xfrm>
            <a:off x="8306842" y="2529929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5" name="Google Shape;2505;p53"/>
          <p:cNvCxnSpPr/>
          <p:nvPr/>
        </p:nvCxnSpPr>
        <p:spPr>
          <a:xfrm>
            <a:off x="8311604" y="252516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6" name="Google Shape;2506;p53"/>
          <p:cNvSpPr/>
          <p:nvPr/>
        </p:nvSpPr>
        <p:spPr>
          <a:xfrm>
            <a:off x="10097542" y="2525167"/>
            <a:ext cx="104923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7" name="Google Shape;2507;p53"/>
          <p:cNvCxnSpPr/>
          <p:nvPr/>
        </p:nvCxnSpPr>
        <p:spPr>
          <a:xfrm>
            <a:off x="10097542" y="2529929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8" name="Google Shape;2508;p53"/>
          <p:cNvCxnSpPr/>
          <p:nvPr/>
        </p:nvCxnSpPr>
        <p:spPr>
          <a:xfrm>
            <a:off x="10102304" y="252516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9" name="Google Shape;2509;p53"/>
          <p:cNvSpPr/>
          <p:nvPr/>
        </p:nvSpPr>
        <p:spPr>
          <a:xfrm>
            <a:off x="11146780" y="2525167"/>
            <a:ext cx="64040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0" name="Google Shape;2510;p53"/>
          <p:cNvCxnSpPr/>
          <p:nvPr/>
        </p:nvCxnSpPr>
        <p:spPr>
          <a:xfrm>
            <a:off x="11146780" y="2529929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1" name="Google Shape;2511;p53"/>
          <p:cNvCxnSpPr/>
          <p:nvPr/>
        </p:nvCxnSpPr>
        <p:spPr>
          <a:xfrm>
            <a:off x="11151543" y="2525167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2" name="Google Shape;2512;p53"/>
          <p:cNvSpPr/>
          <p:nvPr/>
        </p:nvSpPr>
        <p:spPr>
          <a:xfrm>
            <a:off x="7709892" y="2712690"/>
            <a:ext cx="59695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3" name="Google Shape;2513;p53"/>
          <p:cNvCxnSpPr/>
          <p:nvPr/>
        </p:nvCxnSpPr>
        <p:spPr>
          <a:xfrm>
            <a:off x="7709892" y="2717453"/>
            <a:ext cx="59695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4" name="Google Shape;2514;p53"/>
          <p:cNvCxnSpPr/>
          <p:nvPr/>
        </p:nvCxnSpPr>
        <p:spPr>
          <a:xfrm>
            <a:off x="7714655" y="271269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5" name="Google Shape;2515;p53"/>
          <p:cNvSpPr/>
          <p:nvPr/>
        </p:nvSpPr>
        <p:spPr>
          <a:xfrm>
            <a:off x="8306842" y="2712690"/>
            <a:ext cx="179070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6" name="Google Shape;2516;p53"/>
          <p:cNvCxnSpPr/>
          <p:nvPr/>
        </p:nvCxnSpPr>
        <p:spPr>
          <a:xfrm>
            <a:off x="8306842" y="2717453"/>
            <a:ext cx="179070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7" name="Google Shape;2517;p53"/>
          <p:cNvCxnSpPr/>
          <p:nvPr/>
        </p:nvCxnSpPr>
        <p:spPr>
          <a:xfrm>
            <a:off x="8311604" y="271269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8" name="Google Shape;2518;p53"/>
          <p:cNvSpPr/>
          <p:nvPr/>
        </p:nvSpPr>
        <p:spPr>
          <a:xfrm>
            <a:off x="10097542" y="2712690"/>
            <a:ext cx="104923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9" name="Google Shape;2519;p53"/>
          <p:cNvCxnSpPr/>
          <p:nvPr/>
        </p:nvCxnSpPr>
        <p:spPr>
          <a:xfrm>
            <a:off x="10097542" y="2717453"/>
            <a:ext cx="104923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0" name="Google Shape;2520;p53"/>
          <p:cNvCxnSpPr/>
          <p:nvPr/>
        </p:nvCxnSpPr>
        <p:spPr>
          <a:xfrm>
            <a:off x="10102304" y="271269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1" name="Google Shape;2521;p53"/>
          <p:cNvSpPr/>
          <p:nvPr/>
        </p:nvSpPr>
        <p:spPr>
          <a:xfrm>
            <a:off x="11146780" y="2712690"/>
            <a:ext cx="64040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2" name="Google Shape;2522;p53"/>
          <p:cNvCxnSpPr/>
          <p:nvPr/>
        </p:nvCxnSpPr>
        <p:spPr>
          <a:xfrm>
            <a:off x="11146780" y="2717453"/>
            <a:ext cx="64040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3" name="Google Shape;2523;p53"/>
          <p:cNvCxnSpPr/>
          <p:nvPr/>
        </p:nvCxnSpPr>
        <p:spPr>
          <a:xfrm>
            <a:off x="11151543" y="2712690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4" name="Google Shape;2524;p53"/>
          <p:cNvSpPr/>
          <p:nvPr/>
        </p:nvSpPr>
        <p:spPr>
          <a:xfrm>
            <a:off x="7705130" y="3044279"/>
            <a:ext cx="4086820" cy="2052191"/>
          </a:xfrm>
          <a:prstGeom prst="roundRect">
            <a:avLst>
              <a:gd fmla="val 232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5" name="Google Shape;2525;p53"/>
          <p:cNvCxnSpPr/>
          <p:nvPr/>
        </p:nvCxnSpPr>
        <p:spPr>
          <a:xfrm>
            <a:off x="7728942" y="3044279"/>
            <a:ext cx="0" cy="2052191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6" name="Google Shape;2526;p53"/>
          <p:cNvSpPr/>
          <p:nvPr/>
        </p:nvSpPr>
        <p:spPr>
          <a:xfrm>
            <a:off x="7705130" y="5182195"/>
            <a:ext cx="4086820" cy="1692027"/>
          </a:xfrm>
          <a:prstGeom prst="roundRect">
            <a:avLst>
              <a:gd fmla="val 281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5f97e77edf1f83473fa2a71a4284404f.png" id="2527" name="Google Shape;252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808857"/>
            <a:ext cx="6971556" cy="383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528" name="Google Shape;2528;p53"/>
          <p:cNvSpPr txBox="1"/>
          <p:nvPr/>
        </p:nvSpPr>
        <p:spPr>
          <a:xfrm>
            <a:off x="400050" y="161925"/>
            <a:ext cx="255969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Cox multivariado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9" name="Google Shape;2529;p53"/>
          <p:cNvSpPr txBox="1"/>
          <p:nvPr/>
        </p:nvSpPr>
        <p:spPr>
          <a:xfrm>
            <a:off x="2143423" y="5678686"/>
            <a:ext cx="352291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24. Hazard ratios do Cox multivariado (Modelos A e B).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53"/>
          <p:cNvSpPr txBox="1"/>
          <p:nvPr/>
        </p:nvSpPr>
        <p:spPr>
          <a:xfrm>
            <a:off x="7747635" y="844153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53"/>
          <p:cNvSpPr txBox="1"/>
          <p:nvPr/>
        </p:nvSpPr>
        <p:spPr>
          <a:xfrm>
            <a:off x="8344852" y="844153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Termo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53"/>
          <p:cNvSpPr txBox="1"/>
          <p:nvPr/>
        </p:nvSpPr>
        <p:spPr>
          <a:xfrm>
            <a:off x="10135552" y="844153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HR (IC 95%)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53"/>
          <p:cNvSpPr txBox="1"/>
          <p:nvPr/>
        </p:nvSpPr>
        <p:spPr>
          <a:xfrm>
            <a:off x="11185207" y="844153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4" name="Google Shape;2534;p53"/>
          <p:cNvSpPr txBox="1"/>
          <p:nvPr/>
        </p:nvSpPr>
        <p:spPr>
          <a:xfrm>
            <a:off x="7747635" y="1037927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5" name="Google Shape;2535;p53"/>
          <p:cNvSpPr txBox="1"/>
          <p:nvPr/>
        </p:nvSpPr>
        <p:spPr>
          <a:xfrm>
            <a:off x="8344852" y="1037927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vs. I–II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6" name="Google Shape;2536;p53"/>
          <p:cNvSpPr txBox="1"/>
          <p:nvPr/>
        </p:nvSpPr>
        <p:spPr>
          <a:xfrm>
            <a:off x="10135552" y="1037927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2.61 (1.79–3.81)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7" name="Google Shape;2537;p53"/>
          <p:cNvSpPr txBox="1"/>
          <p:nvPr/>
        </p:nvSpPr>
        <p:spPr>
          <a:xfrm>
            <a:off x="11185207" y="1037927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5.97e-07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8" name="Google Shape;2538;p53"/>
          <p:cNvSpPr txBox="1"/>
          <p:nvPr/>
        </p:nvSpPr>
        <p:spPr>
          <a:xfrm>
            <a:off x="7747635" y="1225451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9" name="Google Shape;2539;p53"/>
          <p:cNvSpPr txBox="1"/>
          <p:nvPr/>
        </p:nvSpPr>
        <p:spPr>
          <a:xfrm>
            <a:off x="8344852" y="1225451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vs. G1–G2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0" name="Google Shape;2540;p53"/>
          <p:cNvSpPr txBox="1"/>
          <p:nvPr/>
        </p:nvSpPr>
        <p:spPr>
          <a:xfrm>
            <a:off x="10135552" y="1225451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1.16 (0.79–1.71)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53"/>
          <p:cNvSpPr txBox="1"/>
          <p:nvPr/>
        </p:nvSpPr>
        <p:spPr>
          <a:xfrm>
            <a:off x="11185207" y="1225451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0.450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2" name="Google Shape;2542;p53"/>
          <p:cNvSpPr txBox="1"/>
          <p:nvPr/>
        </p:nvSpPr>
        <p:spPr>
          <a:xfrm>
            <a:off x="7747635" y="1412974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3" name="Google Shape;2543;p53"/>
          <p:cNvSpPr txBox="1"/>
          <p:nvPr/>
        </p:nvSpPr>
        <p:spPr>
          <a:xfrm>
            <a:off x="8344852" y="1412974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 masculino vs. 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4" name="Google Shape;2544;p53"/>
          <p:cNvSpPr txBox="1"/>
          <p:nvPr/>
        </p:nvSpPr>
        <p:spPr>
          <a:xfrm>
            <a:off x="10135552" y="1412974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0.88 (0.59–1.29)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5" name="Google Shape;2545;p53"/>
          <p:cNvSpPr txBox="1"/>
          <p:nvPr/>
        </p:nvSpPr>
        <p:spPr>
          <a:xfrm>
            <a:off x="11185207" y="1412974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6" name="Google Shape;2546;p53"/>
          <p:cNvSpPr txBox="1"/>
          <p:nvPr/>
        </p:nvSpPr>
        <p:spPr>
          <a:xfrm>
            <a:off x="7747635" y="1600498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7" name="Google Shape;2547;p53"/>
          <p:cNvSpPr txBox="1"/>
          <p:nvPr/>
        </p:nvSpPr>
        <p:spPr>
          <a:xfrm>
            <a:off x="8344852" y="1600498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(por ano)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53"/>
          <p:cNvSpPr txBox="1"/>
          <p:nvPr/>
        </p:nvSpPr>
        <p:spPr>
          <a:xfrm>
            <a:off x="10135552" y="1600498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1.01 (1.00–1.03)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53"/>
          <p:cNvSpPr txBox="1"/>
          <p:nvPr/>
        </p:nvSpPr>
        <p:spPr>
          <a:xfrm>
            <a:off x="11185207" y="1600498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0.155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0" name="Google Shape;2550;p53"/>
          <p:cNvSpPr txBox="1"/>
          <p:nvPr/>
        </p:nvSpPr>
        <p:spPr>
          <a:xfrm>
            <a:off x="7747635" y="1788021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1" name="Google Shape;2551;p53"/>
          <p:cNvSpPr txBox="1"/>
          <p:nvPr/>
        </p:nvSpPr>
        <p:spPr>
          <a:xfrm>
            <a:off x="8344852" y="1788021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vs. I–II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53"/>
          <p:cNvSpPr txBox="1"/>
          <p:nvPr/>
        </p:nvSpPr>
        <p:spPr>
          <a:xfrm>
            <a:off x="10135552" y="1788021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2.23 (1.24–4.03)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53"/>
          <p:cNvSpPr txBox="1"/>
          <p:nvPr/>
        </p:nvSpPr>
        <p:spPr>
          <a:xfrm>
            <a:off x="11185207" y="1788021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4" name="Google Shape;2554;p53"/>
          <p:cNvSpPr txBox="1"/>
          <p:nvPr/>
        </p:nvSpPr>
        <p:spPr>
          <a:xfrm>
            <a:off x="7747635" y="1975545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5" name="Google Shape;2555;p53"/>
          <p:cNvSpPr txBox="1"/>
          <p:nvPr/>
        </p:nvSpPr>
        <p:spPr>
          <a:xfrm>
            <a:off x="8344852" y="1975545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vs. G1–G2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6" name="Google Shape;2556;p53"/>
          <p:cNvSpPr txBox="1"/>
          <p:nvPr/>
        </p:nvSpPr>
        <p:spPr>
          <a:xfrm>
            <a:off x="10135552" y="1975545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1.47 (0.84–2.58)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53"/>
          <p:cNvSpPr txBox="1"/>
          <p:nvPr/>
        </p:nvSpPr>
        <p:spPr>
          <a:xfrm>
            <a:off x="11185207" y="1975545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0.176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53"/>
          <p:cNvSpPr txBox="1"/>
          <p:nvPr/>
        </p:nvSpPr>
        <p:spPr>
          <a:xfrm>
            <a:off x="7747635" y="2163068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53"/>
          <p:cNvSpPr txBox="1"/>
          <p:nvPr/>
        </p:nvSpPr>
        <p:spPr>
          <a:xfrm>
            <a:off x="8344852" y="2163068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 masculino vs. feminino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0" name="Google Shape;2560;p53"/>
          <p:cNvSpPr txBox="1"/>
          <p:nvPr/>
        </p:nvSpPr>
        <p:spPr>
          <a:xfrm>
            <a:off x="10135552" y="2163068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0.99 (0.54–1.84)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1" name="Google Shape;2561;p53"/>
          <p:cNvSpPr txBox="1"/>
          <p:nvPr/>
        </p:nvSpPr>
        <p:spPr>
          <a:xfrm>
            <a:off x="11185207" y="2163068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0.983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2" name="Google Shape;2562;p53"/>
          <p:cNvSpPr txBox="1"/>
          <p:nvPr/>
        </p:nvSpPr>
        <p:spPr>
          <a:xfrm>
            <a:off x="7747635" y="2350591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3" name="Google Shape;2563;p53"/>
          <p:cNvSpPr txBox="1"/>
          <p:nvPr/>
        </p:nvSpPr>
        <p:spPr>
          <a:xfrm>
            <a:off x="8344852" y="2350591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(por ano)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4" name="Google Shape;2564;p53"/>
          <p:cNvSpPr txBox="1"/>
          <p:nvPr/>
        </p:nvSpPr>
        <p:spPr>
          <a:xfrm>
            <a:off x="10135552" y="2350591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1.03 (1.01–1.06)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5" name="Google Shape;2565;p53"/>
          <p:cNvSpPr txBox="1"/>
          <p:nvPr/>
        </p:nvSpPr>
        <p:spPr>
          <a:xfrm>
            <a:off x="11185207" y="2350591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53"/>
          <p:cNvSpPr txBox="1"/>
          <p:nvPr/>
        </p:nvSpPr>
        <p:spPr>
          <a:xfrm>
            <a:off x="7747635" y="2538115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53"/>
          <p:cNvSpPr txBox="1"/>
          <p:nvPr/>
        </p:nvSpPr>
        <p:spPr>
          <a:xfrm>
            <a:off x="8344852" y="2538115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≥400 vs. &lt;400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53"/>
          <p:cNvSpPr txBox="1"/>
          <p:nvPr/>
        </p:nvSpPr>
        <p:spPr>
          <a:xfrm>
            <a:off x="10135552" y="2538115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1.04 (0.51–2.12)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9" name="Google Shape;2569;p53"/>
          <p:cNvSpPr txBox="1"/>
          <p:nvPr/>
        </p:nvSpPr>
        <p:spPr>
          <a:xfrm>
            <a:off x="11185207" y="2538115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0" name="Google Shape;2570;p53"/>
          <p:cNvSpPr txBox="1"/>
          <p:nvPr/>
        </p:nvSpPr>
        <p:spPr>
          <a:xfrm>
            <a:off x="7747635" y="2725638"/>
            <a:ext cx="5210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1" name="Google Shape;2571;p53"/>
          <p:cNvSpPr txBox="1"/>
          <p:nvPr/>
        </p:nvSpPr>
        <p:spPr>
          <a:xfrm>
            <a:off x="8344852" y="2725638"/>
            <a:ext cx="171449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avançada vs. 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2" name="Google Shape;2572;p53"/>
          <p:cNvSpPr txBox="1"/>
          <p:nvPr/>
        </p:nvSpPr>
        <p:spPr>
          <a:xfrm>
            <a:off x="10135552" y="2725638"/>
            <a:ext cx="9734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1.16 (0.62–2.17)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3" name="Google Shape;2573;p53"/>
          <p:cNvSpPr txBox="1"/>
          <p:nvPr/>
        </p:nvSpPr>
        <p:spPr>
          <a:xfrm>
            <a:off x="11185207" y="2725638"/>
            <a:ext cx="563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0.645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4" name="Google Shape;2574;p53"/>
          <p:cNvSpPr txBox="1"/>
          <p:nvPr/>
        </p:nvSpPr>
        <p:spPr>
          <a:xfrm>
            <a:off x="7924205" y="3352651"/>
            <a:ext cx="7698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5" name="Google Shape;2575;p53"/>
          <p:cNvSpPr txBox="1"/>
          <p:nvPr/>
        </p:nvSpPr>
        <p:spPr>
          <a:xfrm>
            <a:off x="8714631" y="3352651"/>
            <a:ext cx="2530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o preditor independente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6" name="Google Shape;2576;p53"/>
          <p:cNvSpPr txBox="1"/>
          <p:nvPr/>
        </p:nvSpPr>
        <p:spPr>
          <a:xfrm>
            <a:off x="7924205" y="3639741"/>
            <a:ext cx="34083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mais forte. No Modelo A: HR = 2,61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7" name="Google Shape;2577;p53"/>
          <p:cNvSpPr txBox="1"/>
          <p:nvPr/>
        </p:nvSpPr>
        <p:spPr>
          <a:xfrm>
            <a:off x="7924205" y="3926830"/>
            <a:ext cx="32419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(1,79–3,81; p = 6,0 × 10⁻⁷). O 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8" name="Google Shape;2578;p53"/>
          <p:cNvSpPr txBox="1"/>
          <p:nvPr/>
        </p:nvSpPr>
        <p:spPr>
          <a:xfrm>
            <a:off x="7924205" y="4213920"/>
            <a:ext cx="339923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perde significância após ajuste pelo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9" name="Google Shape;2579;p53"/>
          <p:cNvSpPr txBox="1"/>
          <p:nvPr/>
        </p:nvSpPr>
        <p:spPr>
          <a:xfrm>
            <a:off x="7924205" y="4501009"/>
            <a:ext cx="7730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0" name="Google Shape;2580;p53"/>
          <p:cNvSpPr txBox="1"/>
          <p:nvPr/>
        </p:nvSpPr>
        <p:spPr>
          <a:xfrm>
            <a:off x="7825978" y="5454104"/>
            <a:ext cx="7564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Ajustado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1" name="Google Shape;2581;p53"/>
          <p:cNvSpPr txBox="1"/>
          <p:nvPr/>
        </p:nvSpPr>
        <p:spPr>
          <a:xfrm>
            <a:off x="8591252" y="5454104"/>
            <a:ext cx="2800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significa que o HR de cada variável 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53"/>
          <p:cNvSpPr txBox="1"/>
          <p:nvPr/>
        </p:nvSpPr>
        <p:spPr>
          <a:xfrm>
            <a:off x="7825978" y="5683746"/>
            <a:ext cx="37151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estimado controlando as demais. HR = 2,61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53"/>
          <p:cNvSpPr txBox="1"/>
          <p:nvPr/>
        </p:nvSpPr>
        <p:spPr>
          <a:xfrm>
            <a:off x="7825978" y="5913388"/>
            <a:ext cx="33163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III–IV vs. I–II: risco instantâneo ~2,6× maior,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4" name="Google Shape;2584;p53"/>
          <p:cNvSpPr txBox="1"/>
          <p:nvPr/>
        </p:nvSpPr>
        <p:spPr>
          <a:xfrm>
            <a:off x="7825978" y="6143030"/>
            <a:ext cx="353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mantidos grau, sexo e idade constantes. Isso 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5" name="Google Shape;2585;p53"/>
          <p:cNvSpPr txBox="1"/>
          <p:nvPr/>
        </p:nvSpPr>
        <p:spPr>
          <a:xfrm>
            <a:off x="7825978" y="6372671"/>
            <a:ext cx="21844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associação, não causalidade.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p56"/>
          <p:cNvSpPr/>
          <p:nvPr/>
        </p:nvSpPr>
        <p:spPr>
          <a:xfrm>
            <a:off x="0" y="0"/>
            <a:ext cx="12192000" cy="7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1" name="Google Shape;2591;p56"/>
          <p:cNvCxnSpPr/>
          <p:nvPr/>
        </p:nvCxnSpPr>
        <p:spPr>
          <a:xfrm>
            <a:off x="38100" y="0"/>
            <a:ext cx="0" cy="7620000"/>
          </a:xfrm>
          <a:prstGeom prst="straightConnector1">
            <a:avLst/>
          </a:prstGeom>
          <a:noFill/>
          <a:ln cap="flat" cmpd="sng" w="762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2" name="Google Shape;2592;p56"/>
          <p:cNvSpPr/>
          <p:nvPr/>
        </p:nvSpPr>
        <p:spPr>
          <a:xfrm>
            <a:off x="800100" y="881062"/>
            <a:ext cx="10668000" cy="625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3" name="Google Shape;2593;p56"/>
          <p:cNvCxnSpPr/>
          <p:nvPr/>
        </p:nvCxnSpPr>
        <p:spPr>
          <a:xfrm>
            <a:off x="800100" y="1492448"/>
            <a:ext cx="106680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4" name="Google Shape;2594;p56"/>
          <p:cNvSpPr/>
          <p:nvPr/>
        </p:nvSpPr>
        <p:spPr>
          <a:xfrm>
            <a:off x="800100" y="2433340"/>
            <a:ext cx="10668000" cy="1190923"/>
          </a:xfrm>
          <a:prstGeom prst="roundRect">
            <a:avLst>
              <a:gd fmla="val 3999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5" name="Google Shape;2595;p56"/>
          <p:cNvCxnSpPr/>
          <p:nvPr/>
        </p:nvCxnSpPr>
        <p:spPr>
          <a:xfrm>
            <a:off x="823912" y="2433340"/>
            <a:ext cx="0" cy="1190922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6" name="Google Shape;2596;p56"/>
          <p:cNvSpPr/>
          <p:nvPr/>
        </p:nvSpPr>
        <p:spPr>
          <a:xfrm>
            <a:off x="800100" y="3741390"/>
            <a:ext cx="10668000" cy="1699022"/>
          </a:xfrm>
          <a:prstGeom prst="roundRect">
            <a:avLst>
              <a:gd fmla="val 2803" name="adj"/>
            </a:avLst>
          </a:prstGeom>
          <a:solidFill>
            <a:srgbClr val="EE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7" name="Google Shape;2597;p56"/>
          <p:cNvCxnSpPr/>
          <p:nvPr/>
        </p:nvCxnSpPr>
        <p:spPr>
          <a:xfrm>
            <a:off x="823912" y="3741390"/>
            <a:ext cx="0" cy="1699022"/>
          </a:xfrm>
          <a:prstGeom prst="straightConnector1">
            <a:avLst/>
          </a:prstGeom>
          <a:noFill/>
          <a:ln cap="flat" cmpd="sng" w="47625">
            <a:solidFill>
              <a:srgbClr val="1F5F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8" name="Google Shape;2598;p56"/>
          <p:cNvSpPr/>
          <p:nvPr/>
        </p:nvSpPr>
        <p:spPr>
          <a:xfrm>
            <a:off x="994172" y="4061222"/>
            <a:ext cx="1813620" cy="227261"/>
          </a:xfrm>
          <a:prstGeom prst="roundRect">
            <a:avLst>
              <a:gd fmla="val 50000" name="adj"/>
            </a:avLst>
          </a:prstGeom>
          <a:solidFill>
            <a:srgbClr val="1F5F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p56"/>
          <p:cNvSpPr txBox="1"/>
          <p:nvPr/>
        </p:nvSpPr>
        <p:spPr>
          <a:xfrm>
            <a:off x="800100" y="852488"/>
            <a:ext cx="7149257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2"/>
              <a:buFont typeface="Arial"/>
              <a:buNone/>
            </a:pPr>
            <a:r>
              <a:rPr b="0" i="0" lang="en-US" sz="35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Parte 5 — Outros grupos nos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0" name="Google Shape;2600;p56"/>
          <p:cNvSpPr txBox="1"/>
          <p:nvPr/>
        </p:nvSpPr>
        <p:spPr>
          <a:xfrm>
            <a:off x="800100" y="1655564"/>
            <a:ext cx="553209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0F76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RECIDIVAS, SUBTIPOS HISTOLÓGICOS, VÍRUS E CENTROS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1" name="Google Shape;2601;p56"/>
          <p:cNvSpPr txBox="1"/>
          <p:nvPr/>
        </p:nvSpPr>
        <p:spPr>
          <a:xfrm>
            <a:off x="800100" y="1993999"/>
            <a:ext cx="34642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06_grupos_alternativos.R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2" name="Google Shape;2602;p56"/>
          <p:cNvSpPr txBox="1"/>
          <p:nvPr/>
        </p:nvSpPr>
        <p:spPr>
          <a:xfrm>
            <a:off x="4291161" y="1955899"/>
            <a:ext cx="1672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1F5F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3" name="Google Shape;2603;p56"/>
          <p:cNvSpPr txBox="1"/>
          <p:nvPr/>
        </p:nvSpPr>
        <p:spPr>
          <a:xfrm>
            <a:off x="4485382" y="1993999"/>
            <a:ext cx="303594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8"/>
              <a:buFont typeface="Arial"/>
              <a:buNone/>
            </a:pPr>
            <a:r>
              <a:rPr b="0" i="0" lang="en-US" sz="196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07_grupos_separados.R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p56"/>
          <p:cNvSpPr txBox="1"/>
          <p:nvPr/>
        </p:nvSpPr>
        <p:spPr>
          <a:xfrm>
            <a:off x="1019175" y="2741712"/>
            <a:ext cx="72058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Além de tumor primário, adjacente e GTEx normal, os dados contêm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56"/>
          <p:cNvSpPr txBox="1"/>
          <p:nvPr/>
        </p:nvSpPr>
        <p:spPr>
          <a:xfrm>
            <a:off x="8095130" y="2741712"/>
            <a:ext cx="509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6" name="Google Shape;2606;p56"/>
          <p:cNvSpPr txBox="1"/>
          <p:nvPr/>
        </p:nvSpPr>
        <p:spPr>
          <a:xfrm>
            <a:off x="8537079" y="2741712"/>
            <a:ext cx="2463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mas pequenos ou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p56"/>
          <p:cNvSpPr txBox="1"/>
          <p:nvPr/>
        </p:nvSpPr>
        <p:spPr>
          <a:xfrm>
            <a:off x="1019175" y="3028801"/>
            <a:ext cx="79137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 elevado. Eles são mantidos separados e analisados de forma descritiva.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8" name="Google Shape;2608;p56"/>
          <p:cNvSpPr txBox="1"/>
          <p:nvPr/>
        </p:nvSpPr>
        <p:spPr>
          <a:xfrm>
            <a:off x="1074093" y="4067621"/>
            <a:ext cx="1691878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MÉTODOS DA ETAPA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p56"/>
          <p:cNvSpPr txBox="1"/>
          <p:nvPr/>
        </p:nvSpPr>
        <p:spPr>
          <a:xfrm>
            <a:off x="2917329" y="4029521"/>
            <a:ext cx="13416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Kruskal-Wallis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0" name="Google Shape;2610;p56"/>
          <p:cNvSpPr txBox="1"/>
          <p:nvPr/>
        </p:nvSpPr>
        <p:spPr>
          <a:xfrm>
            <a:off x="4274344" y="402952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56"/>
          <p:cNvSpPr txBox="1"/>
          <p:nvPr/>
        </p:nvSpPr>
        <p:spPr>
          <a:xfrm>
            <a:off x="4333429" y="4058096"/>
            <a:ext cx="2212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stats::kruskal.test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56"/>
          <p:cNvSpPr txBox="1"/>
          <p:nvPr/>
        </p:nvSpPr>
        <p:spPr>
          <a:xfrm>
            <a:off x="6507361" y="4029521"/>
            <a:ext cx="443909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comparar marcadores entre subtipos/grupos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3" name="Google Shape;2613;p56"/>
          <p:cNvSpPr txBox="1"/>
          <p:nvPr/>
        </p:nvSpPr>
        <p:spPr>
          <a:xfrm>
            <a:off x="994172" y="4310211"/>
            <a:ext cx="90070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virais/TSS;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4" name="Google Shape;2614;p56"/>
          <p:cNvSpPr txBox="1"/>
          <p:nvPr/>
        </p:nvSpPr>
        <p:spPr>
          <a:xfrm>
            <a:off x="1910358" y="4310211"/>
            <a:ext cx="193000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Fisher/qui-quadrado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56"/>
          <p:cNvSpPr txBox="1"/>
          <p:nvPr/>
        </p:nvSpPr>
        <p:spPr>
          <a:xfrm>
            <a:off x="3855690" y="431021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6" name="Google Shape;2616;p56"/>
          <p:cNvSpPr txBox="1"/>
          <p:nvPr/>
        </p:nvSpPr>
        <p:spPr>
          <a:xfrm>
            <a:off x="3914775" y="433878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stats::fisher.test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7" name="Google Shape;2617;p56"/>
          <p:cNvSpPr txBox="1"/>
          <p:nvPr/>
        </p:nvSpPr>
        <p:spPr>
          <a:xfrm>
            <a:off x="5974259" y="4310211"/>
            <a:ext cx="8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8" name="Google Shape;2618;p56"/>
          <p:cNvSpPr txBox="1"/>
          <p:nvPr/>
        </p:nvSpPr>
        <p:spPr>
          <a:xfrm>
            <a:off x="6070104" y="4338786"/>
            <a:ext cx="19831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stats::chisq.test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9" name="Google Shape;2619;p56"/>
          <p:cNvSpPr txBox="1"/>
          <p:nvPr/>
        </p:nvSpPr>
        <p:spPr>
          <a:xfrm>
            <a:off x="8015139" y="4310211"/>
            <a:ext cx="238928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variáveis categóricas;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0" name="Google Shape;2620;p56"/>
          <p:cNvSpPr txBox="1"/>
          <p:nvPr/>
        </p:nvSpPr>
        <p:spPr>
          <a:xfrm>
            <a:off x="10419755" y="4310211"/>
            <a:ext cx="31298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56"/>
          <p:cNvSpPr txBox="1"/>
          <p:nvPr/>
        </p:nvSpPr>
        <p:spPr>
          <a:xfrm>
            <a:off x="994172" y="4590901"/>
            <a:ext cx="970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2" name="Google Shape;2622;p56"/>
          <p:cNvSpPr txBox="1"/>
          <p:nvPr/>
        </p:nvSpPr>
        <p:spPr>
          <a:xfrm>
            <a:off x="1053108" y="461947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stats::p.adjust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3" name="Google Shape;2623;p56"/>
          <p:cNvSpPr txBox="1"/>
          <p:nvPr/>
        </p:nvSpPr>
        <p:spPr>
          <a:xfrm>
            <a:off x="2769394" y="4590901"/>
            <a:ext cx="19822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múltiplos testes;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4" name="Google Shape;2624;p56"/>
          <p:cNvSpPr txBox="1"/>
          <p:nvPr/>
        </p:nvSpPr>
        <p:spPr>
          <a:xfrm>
            <a:off x="4767114" y="4590901"/>
            <a:ext cx="9597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5" name="Google Shape;2625;p56"/>
          <p:cNvSpPr txBox="1"/>
          <p:nvPr/>
        </p:nvSpPr>
        <p:spPr>
          <a:xfrm>
            <a:off x="5742236" y="459090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6" name="Google Shape;2626;p56"/>
          <p:cNvSpPr txBox="1"/>
          <p:nvPr/>
        </p:nvSpPr>
        <p:spPr>
          <a:xfrm>
            <a:off x="5801320" y="4619476"/>
            <a:ext cx="17543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stats::cor.test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7" name="Google Shape;2627;p56"/>
          <p:cNvSpPr txBox="1"/>
          <p:nvPr/>
        </p:nvSpPr>
        <p:spPr>
          <a:xfrm>
            <a:off x="7517606" y="4590901"/>
            <a:ext cx="225816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similaridade global;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8" name="Google Shape;2628;p56"/>
          <p:cNvSpPr txBox="1"/>
          <p:nvPr/>
        </p:nvSpPr>
        <p:spPr>
          <a:xfrm>
            <a:off x="9791254" y="4590901"/>
            <a:ext cx="692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56"/>
          <p:cNvSpPr txBox="1"/>
          <p:nvPr/>
        </p:nvSpPr>
        <p:spPr>
          <a:xfrm>
            <a:off x="10498782" y="4590901"/>
            <a:ext cx="1403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56"/>
          <p:cNvSpPr txBox="1"/>
          <p:nvPr/>
        </p:nvSpPr>
        <p:spPr>
          <a:xfrm>
            <a:off x="994172" y="4871591"/>
            <a:ext cx="96857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1" name="Google Shape;2631;p56"/>
          <p:cNvSpPr txBox="1"/>
          <p:nvPr/>
        </p:nvSpPr>
        <p:spPr>
          <a:xfrm>
            <a:off x="1978075" y="487159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2" name="Google Shape;2632;p56"/>
          <p:cNvSpPr txBox="1"/>
          <p:nvPr/>
        </p:nvSpPr>
        <p:spPr>
          <a:xfrm>
            <a:off x="2037159" y="4900166"/>
            <a:ext cx="2097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pheatmap::pheatmap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3" name="Google Shape;2633;p56"/>
          <p:cNvSpPr txBox="1"/>
          <p:nvPr/>
        </p:nvSpPr>
        <p:spPr>
          <a:xfrm>
            <a:off x="4096643" y="4871591"/>
            <a:ext cx="14710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heatmaps;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4" name="Google Shape;2634;p56"/>
          <p:cNvSpPr txBox="1"/>
          <p:nvPr/>
        </p:nvSpPr>
        <p:spPr>
          <a:xfrm>
            <a:off x="5583138" y="4871591"/>
            <a:ext cx="6234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1" i="0" lang="en-US" sz="153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5" name="Google Shape;2635;p56"/>
          <p:cNvSpPr txBox="1"/>
          <p:nvPr/>
        </p:nvSpPr>
        <p:spPr>
          <a:xfrm>
            <a:off x="6221909" y="4871591"/>
            <a:ext cx="97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6" name="Google Shape;2636;p56"/>
          <p:cNvSpPr txBox="1"/>
          <p:nvPr/>
        </p:nvSpPr>
        <p:spPr>
          <a:xfrm>
            <a:off x="6280993" y="4900166"/>
            <a:ext cx="118229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uwot::umap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7" name="Google Shape;2637;p56"/>
          <p:cNvSpPr txBox="1"/>
          <p:nvPr/>
        </p:nvSpPr>
        <p:spPr>
          <a:xfrm>
            <a:off x="7425184" y="4871591"/>
            <a:ext cx="93374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7"/>
              <a:buFont typeface="Arial"/>
              <a:buNone/>
            </a:pPr>
            <a:r>
              <a:rPr b="0" i="0" lang="en-US" sz="15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 para TSS.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57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3" name="Google Shape;2643;p57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4" name="Google Shape;2644;p57"/>
          <p:cNvSpPr/>
          <p:nvPr/>
        </p:nvSpPr>
        <p:spPr>
          <a:xfrm>
            <a:off x="473668" y="1075108"/>
            <a:ext cx="5762700" cy="5940900"/>
          </a:xfrm>
          <a:prstGeom prst="rect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5" name="Google Shape;2645;p57"/>
          <p:cNvSpPr/>
          <p:nvPr/>
        </p:nvSpPr>
        <p:spPr>
          <a:xfrm>
            <a:off x="482721" y="1084162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6" name="Google Shape;2646;p57"/>
          <p:cNvCxnSpPr/>
          <p:nvPr/>
        </p:nvCxnSpPr>
        <p:spPr>
          <a:xfrm>
            <a:off x="8230195" y="725091"/>
            <a:ext cx="2441675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47" name="Google Shape;2647;p57"/>
          <p:cNvCxnSpPr/>
          <p:nvPr/>
        </p:nvCxnSpPr>
        <p:spPr>
          <a:xfrm>
            <a:off x="491651" y="847137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48" name="Google Shape;2648;p57"/>
          <p:cNvSpPr/>
          <p:nvPr/>
        </p:nvSpPr>
        <p:spPr>
          <a:xfrm>
            <a:off x="5124759" y="1084162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9" name="Google Shape;2649;p57"/>
          <p:cNvCxnSpPr/>
          <p:nvPr/>
        </p:nvCxnSpPr>
        <p:spPr>
          <a:xfrm>
            <a:off x="10671870" y="725091"/>
            <a:ext cx="580132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0" name="Google Shape;2650;p57"/>
          <p:cNvCxnSpPr/>
          <p:nvPr/>
        </p:nvCxnSpPr>
        <p:spPr>
          <a:xfrm>
            <a:off x="5133812" y="1084162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51" name="Google Shape;2651;p57"/>
          <p:cNvSpPr/>
          <p:nvPr/>
        </p:nvSpPr>
        <p:spPr>
          <a:xfrm>
            <a:off x="482721" y="1576207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2" name="Google Shape;2652;p57"/>
          <p:cNvCxnSpPr/>
          <p:nvPr/>
        </p:nvCxnSpPr>
        <p:spPr>
          <a:xfrm>
            <a:off x="482721" y="1585262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3" name="Google Shape;2653;p57"/>
          <p:cNvCxnSpPr/>
          <p:nvPr/>
        </p:nvCxnSpPr>
        <p:spPr>
          <a:xfrm>
            <a:off x="491651" y="1339182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54" name="Google Shape;2654;p57"/>
          <p:cNvSpPr/>
          <p:nvPr/>
        </p:nvSpPr>
        <p:spPr>
          <a:xfrm>
            <a:off x="5124759" y="1576207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5" name="Google Shape;2655;p57"/>
          <p:cNvCxnSpPr/>
          <p:nvPr/>
        </p:nvCxnSpPr>
        <p:spPr>
          <a:xfrm>
            <a:off x="5124759" y="1585262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6" name="Google Shape;2656;p57"/>
          <p:cNvCxnSpPr/>
          <p:nvPr/>
        </p:nvCxnSpPr>
        <p:spPr>
          <a:xfrm>
            <a:off x="5133812" y="1576207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57" name="Google Shape;2657;p57"/>
          <p:cNvSpPr/>
          <p:nvPr/>
        </p:nvSpPr>
        <p:spPr>
          <a:xfrm>
            <a:off x="482721" y="2068253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8" name="Google Shape;2658;p57"/>
          <p:cNvCxnSpPr/>
          <p:nvPr/>
        </p:nvCxnSpPr>
        <p:spPr>
          <a:xfrm>
            <a:off x="482721" y="2077308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9" name="Google Shape;2659;p57"/>
          <p:cNvCxnSpPr/>
          <p:nvPr/>
        </p:nvCxnSpPr>
        <p:spPr>
          <a:xfrm>
            <a:off x="491651" y="1831228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60" name="Google Shape;2660;p57"/>
          <p:cNvSpPr/>
          <p:nvPr/>
        </p:nvSpPr>
        <p:spPr>
          <a:xfrm>
            <a:off x="5124759" y="2068253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1" name="Google Shape;2661;p57"/>
          <p:cNvCxnSpPr/>
          <p:nvPr/>
        </p:nvCxnSpPr>
        <p:spPr>
          <a:xfrm>
            <a:off x="5124759" y="2077308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62" name="Google Shape;2662;p57"/>
          <p:cNvCxnSpPr/>
          <p:nvPr/>
        </p:nvCxnSpPr>
        <p:spPr>
          <a:xfrm>
            <a:off x="5133812" y="2068253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63" name="Google Shape;2663;p57"/>
          <p:cNvSpPr/>
          <p:nvPr/>
        </p:nvSpPr>
        <p:spPr>
          <a:xfrm>
            <a:off x="482721" y="2560298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4" name="Google Shape;2664;p57"/>
          <p:cNvCxnSpPr/>
          <p:nvPr/>
        </p:nvCxnSpPr>
        <p:spPr>
          <a:xfrm>
            <a:off x="482721" y="2569353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65" name="Google Shape;2665;p57"/>
          <p:cNvCxnSpPr/>
          <p:nvPr/>
        </p:nvCxnSpPr>
        <p:spPr>
          <a:xfrm>
            <a:off x="491651" y="2323273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66" name="Google Shape;2666;p57"/>
          <p:cNvSpPr/>
          <p:nvPr/>
        </p:nvSpPr>
        <p:spPr>
          <a:xfrm>
            <a:off x="5124759" y="2560298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7" name="Google Shape;2667;p57"/>
          <p:cNvCxnSpPr/>
          <p:nvPr/>
        </p:nvCxnSpPr>
        <p:spPr>
          <a:xfrm>
            <a:off x="5124759" y="2569353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68" name="Google Shape;2668;p57"/>
          <p:cNvCxnSpPr/>
          <p:nvPr/>
        </p:nvCxnSpPr>
        <p:spPr>
          <a:xfrm>
            <a:off x="5133812" y="2560298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69" name="Google Shape;2669;p57"/>
          <p:cNvSpPr/>
          <p:nvPr/>
        </p:nvSpPr>
        <p:spPr>
          <a:xfrm>
            <a:off x="482721" y="3052345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0" name="Google Shape;2670;p57"/>
          <p:cNvCxnSpPr/>
          <p:nvPr/>
        </p:nvCxnSpPr>
        <p:spPr>
          <a:xfrm>
            <a:off x="482721" y="3061399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71" name="Google Shape;2671;p57"/>
          <p:cNvCxnSpPr/>
          <p:nvPr/>
        </p:nvCxnSpPr>
        <p:spPr>
          <a:xfrm>
            <a:off x="491651" y="2815320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72" name="Google Shape;2672;p57"/>
          <p:cNvSpPr/>
          <p:nvPr/>
        </p:nvSpPr>
        <p:spPr>
          <a:xfrm>
            <a:off x="5124759" y="3052345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3" name="Google Shape;2673;p57"/>
          <p:cNvCxnSpPr/>
          <p:nvPr/>
        </p:nvCxnSpPr>
        <p:spPr>
          <a:xfrm>
            <a:off x="5124759" y="3061399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74" name="Google Shape;2674;p57"/>
          <p:cNvCxnSpPr/>
          <p:nvPr/>
        </p:nvCxnSpPr>
        <p:spPr>
          <a:xfrm>
            <a:off x="5133812" y="3052345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75" name="Google Shape;2675;p57"/>
          <p:cNvSpPr/>
          <p:nvPr/>
        </p:nvSpPr>
        <p:spPr>
          <a:xfrm>
            <a:off x="482721" y="3544391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6" name="Google Shape;2676;p57"/>
          <p:cNvCxnSpPr/>
          <p:nvPr/>
        </p:nvCxnSpPr>
        <p:spPr>
          <a:xfrm>
            <a:off x="482721" y="3553444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77" name="Google Shape;2677;p57"/>
          <p:cNvCxnSpPr/>
          <p:nvPr/>
        </p:nvCxnSpPr>
        <p:spPr>
          <a:xfrm>
            <a:off x="491651" y="3307366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78" name="Google Shape;2678;p57"/>
          <p:cNvSpPr/>
          <p:nvPr/>
        </p:nvSpPr>
        <p:spPr>
          <a:xfrm>
            <a:off x="5124759" y="3544391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9" name="Google Shape;2679;p57"/>
          <p:cNvCxnSpPr/>
          <p:nvPr/>
        </p:nvCxnSpPr>
        <p:spPr>
          <a:xfrm>
            <a:off x="5124759" y="3553444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80" name="Google Shape;2680;p57"/>
          <p:cNvCxnSpPr/>
          <p:nvPr/>
        </p:nvCxnSpPr>
        <p:spPr>
          <a:xfrm>
            <a:off x="5133812" y="3544391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81" name="Google Shape;2681;p57"/>
          <p:cNvSpPr/>
          <p:nvPr/>
        </p:nvSpPr>
        <p:spPr>
          <a:xfrm>
            <a:off x="482721" y="4036436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2" name="Google Shape;2682;p57"/>
          <p:cNvCxnSpPr/>
          <p:nvPr/>
        </p:nvCxnSpPr>
        <p:spPr>
          <a:xfrm>
            <a:off x="482721" y="4045490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83" name="Google Shape;2683;p57"/>
          <p:cNvCxnSpPr/>
          <p:nvPr/>
        </p:nvCxnSpPr>
        <p:spPr>
          <a:xfrm>
            <a:off x="491651" y="3799411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84" name="Google Shape;2684;p57"/>
          <p:cNvSpPr/>
          <p:nvPr/>
        </p:nvSpPr>
        <p:spPr>
          <a:xfrm>
            <a:off x="5124759" y="4036436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5" name="Google Shape;2685;p57"/>
          <p:cNvCxnSpPr/>
          <p:nvPr/>
        </p:nvCxnSpPr>
        <p:spPr>
          <a:xfrm>
            <a:off x="5124759" y="4045490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86" name="Google Shape;2686;p57"/>
          <p:cNvCxnSpPr/>
          <p:nvPr/>
        </p:nvCxnSpPr>
        <p:spPr>
          <a:xfrm>
            <a:off x="5133812" y="4036436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87" name="Google Shape;2687;p57"/>
          <p:cNvSpPr/>
          <p:nvPr/>
        </p:nvSpPr>
        <p:spPr>
          <a:xfrm>
            <a:off x="482721" y="4528482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8" name="Google Shape;2688;p57"/>
          <p:cNvCxnSpPr/>
          <p:nvPr/>
        </p:nvCxnSpPr>
        <p:spPr>
          <a:xfrm>
            <a:off x="482721" y="4537535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89" name="Google Shape;2689;p57"/>
          <p:cNvCxnSpPr/>
          <p:nvPr/>
        </p:nvCxnSpPr>
        <p:spPr>
          <a:xfrm>
            <a:off x="491651" y="4291457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90" name="Google Shape;2690;p57"/>
          <p:cNvSpPr/>
          <p:nvPr/>
        </p:nvSpPr>
        <p:spPr>
          <a:xfrm>
            <a:off x="5124759" y="4528482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1" name="Google Shape;2691;p57"/>
          <p:cNvCxnSpPr/>
          <p:nvPr/>
        </p:nvCxnSpPr>
        <p:spPr>
          <a:xfrm>
            <a:off x="5124759" y="4537535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92" name="Google Shape;2692;p57"/>
          <p:cNvCxnSpPr/>
          <p:nvPr/>
        </p:nvCxnSpPr>
        <p:spPr>
          <a:xfrm>
            <a:off x="5133812" y="4528482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93" name="Google Shape;2693;p57"/>
          <p:cNvSpPr/>
          <p:nvPr/>
        </p:nvSpPr>
        <p:spPr>
          <a:xfrm>
            <a:off x="482721" y="5020527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4" name="Google Shape;2694;p57"/>
          <p:cNvCxnSpPr/>
          <p:nvPr/>
        </p:nvCxnSpPr>
        <p:spPr>
          <a:xfrm>
            <a:off x="482721" y="5029583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95" name="Google Shape;2695;p57"/>
          <p:cNvCxnSpPr/>
          <p:nvPr/>
        </p:nvCxnSpPr>
        <p:spPr>
          <a:xfrm>
            <a:off x="491651" y="4783502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96" name="Google Shape;2696;p57"/>
          <p:cNvSpPr/>
          <p:nvPr/>
        </p:nvSpPr>
        <p:spPr>
          <a:xfrm>
            <a:off x="5124759" y="5020527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7" name="Google Shape;2697;p57"/>
          <p:cNvCxnSpPr/>
          <p:nvPr/>
        </p:nvCxnSpPr>
        <p:spPr>
          <a:xfrm>
            <a:off x="5124759" y="5029583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98" name="Google Shape;2698;p57"/>
          <p:cNvCxnSpPr/>
          <p:nvPr/>
        </p:nvCxnSpPr>
        <p:spPr>
          <a:xfrm>
            <a:off x="5133812" y="5020527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99" name="Google Shape;2699;p57"/>
          <p:cNvSpPr/>
          <p:nvPr/>
        </p:nvSpPr>
        <p:spPr>
          <a:xfrm>
            <a:off x="482721" y="5512573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0" name="Google Shape;2700;p57"/>
          <p:cNvCxnSpPr/>
          <p:nvPr/>
        </p:nvCxnSpPr>
        <p:spPr>
          <a:xfrm>
            <a:off x="482721" y="5521628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01" name="Google Shape;2701;p57"/>
          <p:cNvCxnSpPr/>
          <p:nvPr/>
        </p:nvCxnSpPr>
        <p:spPr>
          <a:xfrm>
            <a:off x="491651" y="5275548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02" name="Google Shape;2702;p57"/>
          <p:cNvSpPr/>
          <p:nvPr/>
        </p:nvSpPr>
        <p:spPr>
          <a:xfrm>
            <a:off x="5124759" y="5512573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3" name="Google Shape;2703;p57"/>
          <p:cNvCxnSpPr/>
          <p:nvPr/>
        </p:nvCxnSpPr>
        <p:spPr>
          <a:xfrm>
            <a:off x="5124759" y="5521628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04" name="Google Shape;2704;p57"/>
          <p:cNvCxnSpPr/>
          <p:nvPr/>
        </p:nvCxnSpPr>
        <p:spPr>
          <a:xfrm>
            <a:off x="5133812" y="5512573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05" name="Google Shape;2705;p57"/>
          <p:cNvSpPr/>
          <p:nvPr/>
        </p:nvSpPr>
        <p:spPr>
          <a:xfrm>
            <a:off x="482721" y="6004618"/>
            <a:ext cx="4642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6" name="Google Shape;2706;p57"/>
          <p:cNvCxnSpPr/>
          <p:nvPr/>
        </p:nvCxnSpPr>
        <p:spPr>
          <a:xfrm>
            <a:off x="482721" y="6013674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07" name="Google Shape;2707;p57"/>
          <p:cNvCxnSpPr/>
          <p:nvPr/>
        </p:nvCxnSpPr>
        <p:spPr>
          <a:xfrm>
            <a:off x="491651" y="5767593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08" name="Google Shape;2708;p57"/>
          <p:cNvSpPr/>
          <p:nvPr/>
        </p:nvSpPr>
        <p:spPr>
          <a:xfrm>
            <a:off x="5124759" y="6004618"/>
            <a:ext cx="11031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9" name="Google Shape;2709;p57"/>
          <p:cNvCxnSpPr/>
          <p:nvPr/>
        </p:nvCxnSpPr>
        <p:spPr>
          <a:xfrm>
            <a:off x="5124759" y="6013674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10" name="Google Shape;2710;p57"/>
          <p:cNvCxnSpPr/>
          <p:nvPr/>
        </p:nvCxnSpPr>
        <p:spPr>
          <a:xfrm>
            <a:off x="5133812" y="6004618"/>
            <a:ext cx="0" cy="4923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11" name="Google Shape;2711;p57"/>
          <p:cNvSpPr/>
          <p:nvPr/>
        </p:nvSpPr>
        <p:spPr>
          <a:xfrm>
            <a:off x="482721" y="6496664"/>
            <a:ext cx="46422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2" name="Google Shape;2712;p57"/>
          <p:cNvCxnSpPr/>
          <p:nvPr/>
        </p:nvCxnSpPr>
        <p:spPr>
          <a:xfrm>
            <a:off x="482721" y="6505719"/>
            <a:ext cx="46422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13" name="Google Shape;2713;p57"/>
          <p:cNvCxnSpPr/>
          <p:nvPr/>
        </p:nvCxnSpPr>
        <p:spPr>
          <a:xfrm>
            <a:off x="491651" y="6259639"/>
            <a:ext cx="0" cy="5100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14" name="Google Shape;2714;p57"/>
          <p:cNvSpPr/>
          <p:nvPr/>
        </p:nvSpPr>
        <p:spPr>
          <a:xfrm>
            <a:off x="5124759" y="6496664"/>
            <a:ext cx="11031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875" lIns="173825" spcFirstLastPara="1" rIns="173825" wrap="square" tIns="86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2"/>
              <a:buFont typeface="Arial"/>
              <a:buNone/>
            </a:pPr>
            <a:r>
              <a:t/>
            </a:r>
            <a:endParaRPr b="0" i="0" sz="34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5" name="Google Shape;2715;p57"/>
          <p:cNvCxnSpPr/>
          <p:nvPr/>
        </p:nvCxnSpPr>
        <p:spPr>
          <a:xfrm>
            <a:off x="5124759" y="6505719"/>
            <a:ext cx="1103100" cy="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16" name="Google Shape;2716;p57"/>
          <p:cNvCxnSpPr/>
          <p:nvPr/>
        </p:nvCxnSpPr>
        <p:spPr>
          <a:xfrm>
            <a:off x="5133812" y="6496664"/>
            <a:ext cx="0" cy="510000"/>
          </a:xfrm>
          <a:prstGeom prst="straightConnector1">
            <a:avLst/>
          </a:prstGeom>
          <a:noFill/>
          <a:ln cap="flat" cmpd="sng" w="18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17" name="Google Shape;2717;p57"/>
          <p:cNvSpPr/>
          <p:nvPr/>
        </p:nvSpPr>
        <p:spPr>
          <a:xfrm>
            <a:off x="7690247" y="3962846"/>
            <a:ext cx="4101703" cy="1314004"/>
          </a:xfrm>
          <a:prstGeom prst="roundRect">
            <a:avLst>
              <a:gd fmla="val 3624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8" name="Google Shape;2718;p57"/>
          <p:cNvCxnSpPr/>
          <p:nvPr/>
        </p:nvCxnSpPr>
        <p:spPr>
          <a:xfrm>
            <a:off x="7714059" y="3962846"/>
            <a:ext cx="0" cy="1314004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9" name="Google Shape;2719;p57"/>
          <p:cNvSpPr/>
          <p:nvPr/>
        </p:nvSpPr>
        <p:spPr>
          <a:xfrm>
            <a:off x="7690247" y="5352157"/>
            <a:ext cx="4101703" cy="1478905"/>
          </a:xfrm>
          <a:prstGeom prst="roundRect">
            <a:avLst>
              <a:gd fmla="val 322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57"/>
          <p:cNvSpPr txBox="1"/>
          <p:nvPr/>
        </p:nvSpPr>
        <p:spPr>
          <a:xfrm>
            <a:off x="400050" y="161925"/>
            <a:ext cx="27673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Inventário de grupos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1" name="Google Shape;2721;p57"/>
          <p:cNvSpPr txBox="1"/>
          <p:nvPr/>
        </p:nvSpPr>
        <p:spPr>
          <a:xfrm>
            <a:off x="555834" y="1130849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1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57"/>
          <p:cNvSpPr txBox="1"/>
          <p:nvPr/>
        </p:nvSpPr>
        <p:spPr>
          <a:xfrm>
            <a:off x="5197080" y="1130849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1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3" name="Google Shape;2723;p57"/>
          <p:cNvSpPr txBox="1"/>
          <p:nvPr/>
        </p:nvSpPr>
        <p:spPr>
          <a:xfrm>
            <a:off x="555834" y="1622894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primário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57"/>
          <p:cNvSpPr txBox="1"/>
          <p:nvPr/>
        </p:nvSpPr>
        <p:spPr>
          <a:xfrm>
            <a:off x="5197080" y="1622894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369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57"/>
          <p:cNvSpPr txBox="1"/>
          <p:nvPr/>
        </p:nvSpPr>
        <p:spPr>
          <a:xfrm>
            <a:off x="555834" y="2114940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Tecido adjacente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57"/>
          <p:cNvSpPr txBox="1"/>
          <p:nvPr/>
        </p:nvSpPr>
        <p:spPr>
          <a:xfrm>
            <a:off x="5197080" y="2114940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7" name="Google Shape;2727;p57"/>
          <p:cNvSpPr txBox="1"/>
          <p:nvPr/>
        </p:nvSpPr>
        <p:spPr>
          <a:xfrm>
            <a:off x="555834" y="2606985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normal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8" name="Google Shape;2728;p57"/>
          <p:cNvSpPr txBox="1"/>
          <p:nvPr/>
        </p:nvSpPr>
        <p:spPr>
          <a:xfrm>
            <a:off x="5197080" y="2606985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110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9" name="Google Shape;2729;p57"/>
          <p:cNvSpPr txBox="1"/>
          <p:nvPr/>
        </p:nvSpPr>
        <p:spPr>
          <a:xfrm>
            <a:off x="555834" y="3099031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1" i="0" lang="en-US" sz="219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Recidiva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57"/>
          <p:cNvSpPr txBox="1"/>
          <p:nvPr/>
        </p:nvSpPr>
        <p:spPr>
          <a:xfrm>
            <a:off x="5197080" y="3099031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1" i="0" lang="en-US" sz="2196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1" name="Google Shape;2731;p57"/>
          <p:cNvSpPr txBox="1"/>
          <p:nvPr/>
        </p:nvSpPr>
        <p:spPr>
          <a:xfrm>
            <a:off x="555834" y="3591076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 clássico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57"/>
          <p:cNvSpPr txBox="1"/>
          <p:nvPr/>
        </p:nvSpPr>
        <p:spPr>
          <a:xfrm>
            <a:off x="5197080" y="3591076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359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3" name="Google Shape;2733;p57"/>
          <p:cNvSpPr txBox="1"/>
          <p:nvPr/>
        </p:nvSpPr>
        <p:spPr>
          <a:xfrm>
            <a:off x="555834" y="4083121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Hepatocolangiocarcinoma misto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p57"/>
          <p:cNvSpPr txBox="1"/>
          <p:nvPr/>
        </p:nvSpPr>
        <p:spPr>
          <a:xfrm>
            <a:off x="5197080" y="4083121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5" name="Google Shape;2735;p57"/>
          <p:cNvSpPr txBox="1"/>
          <p:nvPr/>
        </p:nvSpPr>
        <p:spPr>
          <a:xfrm>
            <a:off x="555834" y="4575169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6" name="Google Shape;2736;p57"/>
          <p:cNvSpPr txBox="1"/>
          <p:nvPr/>
        </p:nvSpPr>
        <p:spPr>
          <a:xfrm>
            <a:off x="5197080" y="4575169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7" name="Google Shape;2737;p57"/>
          <p:cNvSpPr txBox="1"/>
          <p:nvPr/>
        </p:nvSpPr>
        <p:spPr>
          <a:xfrm>
            <a:off x="555834" y="5067214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 (marcador)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57"/>
          <p:cNvSpPr txBox="1"/>
          <p:nvPr/>
        </p:nvSpPr>
        <p:spPr>
          <a:xfrm>
            <a:off x="5197080" y="5067214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9" name="Google Shape;2739;p57"/>
          <p:cNvSpPr txBox="1"/>
          <p:nvPr/>
        </p:nvSpPr>
        <p:spPr>
          <a:xfrm>
            <a:off x="555834" y="5559260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HCV (marcador)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0" name="Google Shape;2740;p57"/>
          <p:cNvSpPr txBox="1"/>
          <p:nvPr/>
        </p:nvSpPr>
        <p:spPr>
          <a:xfrm>
            <a:off x="5197080" y="5559260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1" name="Google Shape;2741;p57"/>
          <p:cNvSpPr txBox="1"/>
          <p:nvPr/>
        </p:nvSpPr>
        <p:spPr>
          <a:xfrm>
            <a:off x="555834" y="6051305"/>
            <a:ext cx="4496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HBV+HCV (marcadores)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57"/>
          <p:cNvSpPr txBox="1"/>
          <p:nvPr/>
        </p:nvSpPr>
        <p:spPr>
          <a:xfrm>
            <a:off x="5197080" y="6051305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57"/>
          <p:cNvSpPr txBox="1"/>
          <p:nvPr/>
        </p:nvSpPr>
        <p:spPr>
          <a:xfrm>
            <a:off x="5197080" y="6543351"/>
            <a:ext cx="95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206</a:t>
            </a:r>
            <a:endParaRPr b="0" i="0" sz="26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57"/>
          <p:cNvSpPr txBox="1"/>
          <p:nvPr/>
        </p:nvSpPr>
        <p:spPr>
          <a:xfrm>
            <a:off x="7888635" y="4247406"/>
            <a:ext cx="2006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 centros TCGA (TSS)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57"/>
          <p:cNvSpPr txBox="1"/>
          <p:nvPr/>
        </p:nvSpPr>
        <p:spPr>
          <a:xfrm>
            <a:off x="9857184" y="4247406"/>
            <a:ext cx="7902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p57"/>
          <p:cNvSpPr txBox="1"/>
          <p:nvPr/>
        </p:nvSpPr>
        <p:spPr>
          <a:xfrm>
            <a:off x="9949755" y="4275981"/>
            <a:ext cx="2591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57"/>
          <p:cNvSpPr txBox="1"/>
          <p:nvPr/>
        </p:nvSpPr>
        <p:spPr>
          <a:xfrm>
            <a:off x="10222260" y="4247406"/>
            <a:ext cx="121667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concentra 144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8" name="Google Shape;2748;p57"/>
          <p:cNvSpPr txBox="1"/>
          <p:nvPr/>
        </p:nvSpPr>
        <p:spPr>
          <a:xfrm>
            <a:off x="7888635" y="4502051"/>
            <a:ext cx="356309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tumores (39,0%). É uma fonte potencial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9" name="Google Shape;2749;p57"/>
          <p:cNvSpPr txBox="1"/>
          <p:nvPr/>
        </p:nvSpPr>
        <p:spPr>
          <a:xfrm>
            <a:off x="7888635" y="4737646"/>
            <a:ext cx="1837581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efeito de lote técnico.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0" name="Google Shape;2750;p57"/>
          <p:cNvSpPr txBox="1"/>
          <p:nvPr/>
        </p:nvSpPr>
        <p:spPr>
          <a:xfrm>
            <a:off x="7797701" y="5605909"/>
            <a:ext cx="14899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Códigos de amostra: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1" name="Google Shape;2751;p57"/>
          <p:cNvSpPr txBox="1"/>
          <p:nvPr/>
        </p:nvSpPr>
        <p:spPr>
          <a:xfrm>
            <a:off x="9290745" y="5605909"/>
            <a:ext cx="10931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TCGA-XX-YYYY-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p57"/>
          <p:cNvSpPr txBox="1"/>
          <p:nvPr/>
        </p:nvSpPr>
        <p:spPr>
          <a:xfrm>
            <a:off x="10345787" y="5605909"/>
            <a:ext cx="2117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57"/>
          <p:cNvSpPr txBox="1"/>
          <p:nvPr/>
        </p:nvSpPr>
        <p:spPr>
          <a:xfrm>
            <a:off x="10560695" y="5605909"/>
            <a:ext cx="59010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57"/>
          <p:cNvSpPr txBox="1"/>
          <p:nvPr/>
        </p:nvSpPr>
        <p:spPr>
          <a:xfrm>
            <a:off x="7797701" y="5794474"/>
            <a:ext cx="6326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primário;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5" name="Google Shape;2755;p57"/>
          <p:cNvSpPr txBox="1"/>
          <p:nvPr/>
        </p:nvSpPr>
        <p:spPr>
          <a:xfrm>
            <a:off x="8433643" y="5794474"/>
            <a:ext cx="27280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p57"/>
          <p:cNvSpPr txBox="1"/>
          <p:nvPr/>
        </p:nvSpPr>
        <p:spPr>
          <a:xfrm>
            <a:off x="8709571" y="5794474"/>
            <a:ext cx="72747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recidiva;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7" name="Google Shape;2757;p57"/>
          <p:cNvSpPr txBox="1"/>
          <p:nvPr/>
        </p:nvSpPr>
        <p:spPr>
          <a:xfrm>
            <a:off x="9440317" y="5794474"/>
            <a:ext cx="27280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57"/>
          <p:cNvSpPr txBox="1"/>
          <p:nvPr/>
        </p:nvSpPr>
        <p:spPr>
          <a:xfrm>
            <a:off x="9716244" y="5794474"/>
            <a:ext cx="131325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tecido adjacente.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57"/>
          <p:cNvSpPr txBox="1"/>
          <p:nvPr/>
        </p:nvSpPr>
        <p:spPr>
          <a:xfrm>
            <a:off x="11032778" y="5794474"/>
            <a:ext cx="295721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57"/>
          <p:cNvSpPr txBox="1"/>
          <p:nvPr/>
        </p:nvSpPr>
        <p:spPr>
          <a:xfrm>
            <a:off x="11331625" y="5794474"/>
            <a:ext cx="14153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57"/>
          <p:cNvSpPr txBox="1"/>
          <p:nvPr/>
        </p:nvSpPr>
        <p:spPr>
          <a:xfrm>
            <a:off x="7797701" y="5983039"/>
            <a:ext cx="118377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Tissue Source Site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2" name="Google Shape;2762;p57"/>
          <p:cNvSpPr txBox="1"/>
          <p:nvPr/>
        </p:nvSpPr>
        <p:spPr>
          <a:xfrm>
            <a:off x="8943380" y="5983039"/>
            <a:ext cx="2501503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o centro que coletou a amostra (ex.: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3" name="Google Shape;2763;p57"/>
          <p:cNvSpPr txBox="1"/>
          <p:nvPr/>
        </p:nvSpPr>
        <p:spPr>
          <a:xfrm>
            <a:off x="7797701" y="6190655"/>
            <a:ext cx="21490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57"/>
          <p:cNvSpPr txBox="1"/>
          <p:nvPr/>
        </p:nvSpPr>
        <p:spPr>
          <a:xfrm>
            <a:off x="7974509" y="6171605"/>
            <a:ext cx="1163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5" name="Google Shape;2765;p57"/>
          <p:cNvSpPr txBox="1"/>
          <p:nvPr/>
        </p:nvSpPr>
        <p:spPr>
          <a:xfrm>
            <a:off x="8094166" y="6171605"/>
            <a:ext cx="7179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57"/>
          <p:cNvSpPr txBox="1"/>
          <p:nvPr/>
        </p:nvSpPr>
        <p:spPr>
          <a:xfrm>
            <a:off x="8815239" y="6171605"/>
            <a:ext cx="18514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sorologia não informada;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57"/>
          <p:cNvSpPr txBox="1"/>
          <p:nvPr/>
        </p:nvSpPr>
        <p:spPr>
          <a:xfrm>
            <a:off x="10669935" y="6171605"/>
            <a:ext cx="3028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57"/>
          <p:cNvSpPr txBox="1"/>
          <p:nvPr/>
        </p:nvSpPr>
        <p:spPr>
          <a:xfrm>
            <a:off x="10975925" y="6171605"/>
            <a:ext cx="57983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significa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9" name="Google Shape;2769;p57"/>
          <p:cNvSpPr txBox="1"/>
          <p:nvPr/>
        </p:nvSpPr>
        <p:spPr>
          <a:xfrm>
            <a:off x="7797701" y="6369695"/>
            <a:ext cx="80947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“sem vírus”.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57"/>
          <p:cNvSpPr txBox="1"/>
          <p:nvPr/>
        </p:nvSpPr>
        <p:spPr>
          <a:xfrm>
            <a:off x="555825" y="6543350"/>
            <a:ext cx="29991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6"/>
              <a:buFont typeface="Arial"/>
              <a:buNone/>
            </a:pP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Viral</a:t>
            </a:r>
            <a:r>
              <a:rPr lang="en-US" sz="2662"/>
              <a:t> </a:t>
            </a:r>
            <a:r>
              <a:rPr b="0" i="0" lang="en-US" sz="2196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(não informado)</a:t>
            </a:r>
            <a:endParaRPr sz="2662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58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6" name="Google Shape;2776;p58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7" name="Google Shape;2777;p58"/>
          <p:cNvSpPr/>
          <p:nvPr/>
        </p:nvSpPr>
        <p:spPr>
          <a:xfrm>
            <a:off x="7705130" y="825252"/>
            <a:ext cx="4086820" cy="1507331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8" name="Google Shape;2778;p58"/>
          <p:cNvSpPr/>
          <p:nvPr/>
        </p:nvSpPr>
        <p:spPr>
          <a:xfrm>
            <a:off x="7709892" y="830014"/>
            <a:ext cx="559445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9" name="Google Shape;2779;p58"/>
          <p:cNvCxnSpPr/>
          <p:nvPr/>
        </p:nvCxnSpPr>
        <p:spPr>
          <a:xfrm>
            <a:off x="7709892" y="834777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0" name="Google Shape;2780;p58"/>
          <p:cNvCxnSpPr/>
          <p:nvPr/>
        </p:nvCxnSpPr>
        <p:spPr>
          <a:xfrm>
            <a:off x="7714655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1" name="Google Shape;2781;p58"/>
          <p:cNvSpPr/>
          <p:nvPr/>
        </p:nvSpPr>
        <p:spPr>
          <a:xfrm>
            <a:off x="8269337" y="830014"/>
            <a:ext cx="1412230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2" name="Google Shape;2782;p58"/>
          <p:cNvCxnSpPr/>
          <p:nvPr/>
        </p:nvCxnSpPr>
        <p:spPr>
          <a:xfrm>
            <a:off x="8269337" y="834777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3" name="Google Shape;2783;p58"/>
          <p:cNvCxnSpPr/>
          <p:nvPr/>
        </p:nvCxnSpPr>
        <p:spPr>
          <a:xfrm>
            <a:off x="8274100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4" name="Google Shape;2784;p58"/>
          <p:cNvSpPr/>
          <p:nvPr/>
        </p:nvSpPr>
        <p:spPr>
          <a:xfrm>
            <a:off x="9681567" y="830014"/>
            <a:ext cx="841772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5" name="Google Shape;2785;p58"/>
          <p:cNvCxnSpPr/>
          <p:nvPr/>
        </p:nvCxnSpPr>
        <p:spPr>
          <a:xfrm>
            <a:off x="9681567" y="834777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6" name="Google Shape;2786;p58"/>
          <p:cNvCxnSpPr/>
          <p:nvPr/>
        </p:nvCxnSpPr>
        <p:spPr>
          <a:xfrm>
            <a:off x="9686330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7" name="Google Shape;2787;p58"/>
          <p:cNvSpPr/>
          <p:nvPr/>
        </p:nvSpPr>
        <p:spPr>
          <a:xfrm>
            <a:off x="10523339" y="830014"/>
            <a:ext cx="1263848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8" name="Google Shape;2788;p58"/>
          <p:cNvCxnSpPr/>
          <p:nvPr/>
        </p:nvCxnSpPr>
        <p:spPr>
          <a:xfrm>
            <a:off x="10523339" y="834777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9" name="Google Shape;2789;p58"/>
          <p:cNvCxnSpPr/>
          <p:nvPr/>
        </p:nvCxnSpPr>
        <p:spPr>
          <a:xfrm>
            <a:off x="10528102" y="830014"/>
            <a:ext cx="0" cy="226219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0" name="Google Shape;2790;p58"/>
          <p:cNvSpPr/>
          <p:nvPr/>
        </p:nvSpPr>
        <p:spPr>
          <a:xfrm>
            <a:off x="7709892" y="1056233"/>
            <a:ext cx="559445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1" name="Google Shape;2791;p58"/>
          <p:cNvCxnSpPr/>
          <p:nvPr/>
        </p:nvCxnSpPr>
        <p:spPr>
          <a:xfrm>
            <a:off x="7709892" y="1060996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2" name="Google Shape;2792;p58"/>
          <p:cNvCxnSpPr/>
          <p:nvPr/>
        </p:nvCxnSpPr>
        <p:spPr>
          <a:xfrm>
            <a:off x="7714655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3" name="Google Shape;2793;p58"/>
          <p:cNvSpPr/>
          <p:nvPr/>
        </p:nvSpPr>
        <p:spPr>
          <a:xfrm>
            <a:off x="8269337" y="1056233"/>
            <a:ext cx="141223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4" name="Google Shape;2794;p58"/>
          <p:cNvCxnSpPr/>
          <p:nvPr/>
        </p:nvCxnSpPr>
        <p:spPr>
          <a:xfrm>
            <a:off x="8269337" y="1060996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5" name="Google Shape;2795;p58"/>
          <p:cNvCxnSpPr/>
          <p:nvPr/>
        </p:nvCxnSpPr>
        <p:spPr>
          <a:xfrm>
            <a:off x="8274100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6" name="Google Shape;2796;p58"/>
          <p:cNvSpPr/>
          <p:nvPr/>
        </p:nvSpPr>
        <p:spPr>
          <a:xfrm>
            <a:off x="9681567" y="1056233"/>
            <a:ext cx="841772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7" name="Google Shape;2797;p58"/>
          <p:cNvCxnSpPr/>
          <p:nvPr/>
        </p:nvCxnSpPr>
        <p:spPr>
          <a:xfrm>
            <a:off x="9681567" y="1060996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8" name="Google Shape;2798;p58"/>
          <p:cNvCxnSpPr/>
          <p:nvPr/>
        </p:nvCxnSpPr>
        <p:spPr>
          <a:xfrm>
            <a:off x="9686330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9" name="Google Shape;2799;p58"/>
          <p:cNvSpPr/>
          <p:nvPr/>
        </p:nvSpPr>
        <p:spPr>
          <a:xfrm>
            <a:off x="10523339" y="1056233"/>
            <a:ext cx="126384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0" name="Google Shape;2800;p58"/>
          <p:cNvCxnSpPr/>
          <p:nvPr/>
        </p:nvCxnSpPr>
        <p:spPr>
          <a:xfrm>
            <a:off x="10523339" y="1060996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1" name="Google Shape;2801;p58"/>
          <p:cNvCxnSpPr/>
          <p:nvPr/>
        </p:nvCxnSpPr>
        <p:spPr>
          <a:xfrm>
            <a:off x="10528102" y="105623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2" name="Google Shape;2802;p58"/>
          <p:cNvSpPr/>
          <p:nvPr/>
        </p:nvSpPr>
        <p:spPr>
          <a:xfrm>
            <a:off x="7709892" y="1268164"/>
            <a:ext cx="559445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3" name="Google Shape;2803;p58"/>
          <p:cNvCxnSpPr/>
          <p:nvPr/>
        </p:nvCxnSpPr>
        <p:spPr>
          <a:xfrm>
            <a:off x="7709892" y="1272927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4" name="Google Shape;2804;p58"/>
          <p:cNvCxnSpPr/>
          <p:nvPr/>
        </p:nvCxnSpPr>
        <p:spPr>
          <a:xfrm>
            <a:off x="7714655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5" name="Google Shape;2805;p58"/>
          <p:cNvSpPr/>
          <p:nvPr/>
        </p:nvSpPr>
        <p:spPr>
          <a:xfrm>
            <a:off x="8269337" y="1268164"/>
            <a:ext cx="141223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6" name="Google Shape;2806;p58"/>
          <p:cNvCxnSpPr/>
          <p:nvPr/>
        </p:nvCxnSpPr>
        <p:spPr>
          <a:xfrm>
            <a:off x="8269337" y="1272927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7" name="Google Shape;2807;p58"/>
          <p:cNvCxnSpPr/>
          <p:nvPr/>
        </p:nvCxnSpPr>
        <p:spPr>
          <a:xfrm>
            <a:off x="8274100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8" name="Google Shape;2808;p58"/>
          <p:cNvSpPr/>
          <p:nvPr/>
        </p:nvSpPr>
        <p:spPr>
          <a:xfrm>
            <a:off x="9681567" y="1268164"/>
            <a:ext cx="841772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9" name="Google Shape;2809;p58"/>
          <p:cNvCxnSpPr/>
          <p:nvPr/>
        </p:nvCxnSpPr>
        <p:spPr>
          <a:xfrm>
            <a:off x="9681567" y="1272927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0" name="Google Shape;2810;p58"/>
          <p:cNvCxnSpPr/>
          <p:nvPr/>
        </p:nvCxnSpPr>
        <p:spPr>
          <a:xfrm>
            <a:off x="9686330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1" name="Google Shape;2811;p58"/>
          <p:cNvSpPr/>
          <p:nvPr/>
        </p:nvSpPr>
        <p:spPr>
          <a:xfrm>
            <a:off x="10523339" y="1268164"/>
            <a:ext cx="1263848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2" name="Google Shape;2812;p58"/>
          <p:cNvCxnSpPr/>
          <p:nvPr/>
        </p:nvCxnSpPr>
        <p:spPr>
          <a:xfrm>
            <a:off x="10523339" y="1272927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3" name="Google Shape;2813;p58"/>
          <p:cNvCxnSpPr/>
          <p:nvPr/>
        </p:nvCxnSpPr>
        <p:spPr>
          <a:xfrm>
            <a:off x="10528102" y="1268164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4" name="Google Shape;2814;p58"/>
          <p:cNvSpPr/>
          <p:nvPr/>
        </p:nvSpPr>
        <p:spPr>
          <a:xfrm>
            <a:off x="7709892" y="1480096"/>
            <a:ext cx="559445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5" name="Google Shape;2815;p58"/>
          <p:cNvCxnSpPr/>
          <p:nvPr/>
        </p:nvCxnSpPr>
        <p:spPr>
          <a:xfrm>
            <a:off x="7709892" y="1484858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6" name="Google Shape;2816;p58"/>
          <p:cNvCxnSpPr/>
          <p:nvPr/>
        </p:nvCxnSpPr>
        <p:spPr>
          <a:xfrm>
            <a:off x="7714655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7" name="Google Shape;2817;p58"/>
          <p:cNvSpPr/>
          <p:nvPr/>
        </p:nvSpPr>
        <p:spPr>
          <a:xfrm>
            <a:off x="8269337" y="1480096"/>
            <a:ext cx="141223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8" name="Google Shape;2818;p58"/>
          <p:cNvCxnSpPr/>
          <p:nvPr/>
        </p:nvCxnSpPr>
        <p:spPr>
          <a:xfrm>
            <a:off x="8269337" y="1484858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9" name="Google Shape;2819;p58"/>
          <p:cNvCxnSpPr/>
          <p:nvPr/>
        </p:nvCxnSpPr>
        <p:spPr>
          <a:xfrm>
            <a:off x="8274100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0" name="Google Shape;2820;p58"/>
          <p:cNvSpPr/>
          <p:nvPr/>
        </p:nvSpPr>
        <p:spPr>
          <a:xfrm>
            <a:off x="9681567" y="1480096"/>
            <a:ext cx="841772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1" name="Google Shape;2821;p58"/>
          <p:cNvCxnSpPr/>
          <p:nvPr/>
        </p:nvCxnSpPr>
        <p:spPr>
          <a:xfrm>
            <a:off x="9681567" y="1484858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2" name="Google Shape;2822;p58"/>
          <p:cNvCxnSpPr/>
          <p:nvPr/>
        </p:nvCxnSpPr>
        <p:spPr>
          <a:xfrm>
            <a:off x="9686330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3" name="Google Shape;2823;p58"/>
          <p:cNvSpPr/>
          <p:nvPr/>
        </p:nvSpPr>
        <p:spPr>
          <a:xfrm>
            <a:off x="10523339" y="1480096"/>
            <a:ext cx="126384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4" name="Google Shape;2824;p58"/>
          <p:cNvCxnSpPr/>
          <p:nvPr/>
        </p:nvCxnSpPr>
        <p:spPr>
          <a:xfrm>
            <a:off x="10523339" y="1484858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5" name="Google Shape;2825;p58"/>
          <p:cNvCxnSpPr/>
          <p:nvPr/>
        </p:nvCxnSpPr>
        <p:spPr>
          <a:xfrm>
            <a:off x="10528102" y="1480096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6" name="Google Shape;2826;p58"/>
          <p:cNvSpPr/>
          <p:nvPr/>
        </p:nvSpPr>
        <p:spPr>
          <a:xfrm>
            <a:off x="7709892" y="1692027"/>
            <a:ext cx="559445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7" name="Google Shape;2827;p58"/>
          <p:cNvCxnSpPr/>
          <p:nvPr/>
        </p:nvCxnSpPr>
        <p:spPr>
          <a:xfrm>
            <a:off x="7709892" y="1696789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8" name="Google Shape;2828;p58"/>
          <p:cNvCxnSpPr/>
          <p:nvPr/>
        </p:nvCxnSpPr>
        <p:spPr>
          <a:xfrm>
            <a:off x="7714655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9" name="Google Shape;2829;p58"/>
          <p:cNvSpPr/>
          <p:nvPr/>
        </p:nvSpPr>
        <p:spPr>
          <a:xfrm>
            <a:off x="8269337" y="1692027"/>
            <a:ext cx="141223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0" name="Google Shape;2830;p58"/>
          <p:cNvCxnSpPr/>
          <p:nvPr/>
        </p:nvCxnSpPr>
        <p:spPr>
          <a:xfrm>
            <a:off x="8269337" y="1696789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1" name="Google Shape;2831;p58"/>
          <p:cNvCxnSpPr/>
          <p:nvPr/>
        </p:nvCxnSpPr>
        <p:spPr>
          <a:xfrm>
            <a:off x="8274100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2" name="Google Shape;2832;p58"/>
          <p:cNvSpPr/>
          <p:nvPr/>
        </p:nvSpPr>
        <p:spPr>
          <a:xfrm>
            <a:off x="9681567" y="1692027"/>
            <a:ext cx="841772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3" name="Google Shape;2833;p58"/>
          <p:cNvCxnSpPr/>
          <p:nvPr/>
        </p:nvCxnSpPr>
        <p:spPr>
          <a:xfrm>
            <a:off x="9681567" y="1696789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4" name="Google Shape;2834;p58"/>
          <p:cNvCxnSpPr/>
          <p:nvPr/>
        </p:nvCxnSpPr>
        <p:spPr>
          <a:xfrm>
            <a:off x="9686330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5" name="Google Shape;2835;p58"/>
          <p:cNvSpPr/>
          <p:nvPr/>
        </p:nvSpPr>
        <p:spPr>
          <a:xfrm>
            <a:off x="10523339" y="1692027"/>
            <a:ext cx="1263848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6" name="Google Shape;2836;p58"/>
          <p:cNvCxnSpPr/>
          <p:nvPr/>
        </p:nvCxnSpPr>
        <p:spPr>
          <a:xfrm>
            <a:off x="10523339" y="1696789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7" name="Google Shape;2837;p58"/>
          <p:cNvCxnSpPr/>
          <p:nvPr/>
        </p:nvCxnSpPr>
        <p:spPr>
          <a:xfrm>
            <a:off x="10528102" y="1692027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8" name="Google Shape;2838;p58"/>
          <p:cNvSpPr/>
          <p:nvPr/>
        </p:nvSpPr>
        <p:spPr>
          <a:xfrm>
            <a:off x="7709892" y="1903958"/>
            <a:ext cx="559445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9" name="Google Shape;2839;p58"/>
          <p:cNvCxnSpPr/>
          <p:nvPr/>
        </p:nvCxnSpPr>
        <p:spPr>
          <a:xfrm>
            <a:off x="7709892" y="1908721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0" name="Google Shape;2840;p58"/>
          <p:cNvCxnSpPr/>
          <p:nvPr/>
        </p:nvCxnSpPr>
        <p:spPr>
          <a:xfrm>
            <a:off x="7714655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1" name="Google Shape;2841;p58"/>
          <p:cNvSpPr/>
          <p:nvPr/>
        </p:nvSpPr>
        <p:spPr>
          <a:xfrm>
            <a:off x="8269337" y="1903958"/>
            <a:ext cx="1412230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2" name="Google Shape;2842;p58"/>
          <p:cNvCxnSpPr/>
          <p:nvPr/>
        </p:nvCxnSpPr>
        <p:spPr>
          <a:xfrm>
            <a:off x="8269337" y="1908721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3" name="Google Shape;2843;p58"/>
          <p:cNvCxnSpPr/>
          <p:nvPr/>
        </p:nvCxnSpPr>
        <p:spPr>
          <a:xfrm>
            <a:off x="8274100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4" name="Google Shape;2844;p58"/>
          <p:cNvSpPr/>
          <p:nvPr/>
        </p:nvSpPr>
        <p:spPr>
          <a:xfrm>
            <a:off x="9681567" y="1903958"/>
            <a:ext cx="841772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5" name="Google Shape;2845;p58"/>
          <p:cNvCxnSpPr/>
          <p:nvPr/>
        </p:nvCxnSpPr>
        <p:spPr>
          <a:xfrm>
            <a:off x="9681567" y="1908721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6" name="Google Shape;2846;p58"/>
          <p:cNvCxnSpPr/>
          <p:nvPr/>
        </p:nvCxnSpPr>
        <p:spPr>
          <a:xfrm>
            <a:off x="9686330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7" name="Google Shape;2847;p58"/>
          <p:cNvSpPr/>
          <p:nvPr/>
        </p:nvSpPr>
        <p:spPr>
          <a:xfrm>
            <a:off x="10523339" y="1903958"/>
            <a:ext cx="126384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8" name="Google Shape;2848;p58"/>
          <p:cNvCxnSpPr/>
          <p:nvPr/>
        </p:nvCxnSpPr>
        <p:spPr>
          <a:xfrm>
            <a:off x="10523339" y="1908721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9" name="Google Shape;2849;p58"/>
          <p:cNvCxnSpPr/>
          <p:nvPr/>
        </p:nvCxnSpPr>
        <p:spPr>
          <a:xfrm>
            <a:off x="10528102" y="1903958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0" name="Google Shape;2850;p58"/>
          <p:cNvSpPr/>
          <p:nvPr/>
        </p:nvSpPr>
        <p:spPr>
          <a:xfrm>
            <a:off x="7709892" y="2115889"/>
            <a:ext cx="559445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1" name="Google Shape;2851;p58"/>
          <p:cNvCxnSpPr/>
          <p:nvPr/>
        </p:nvCxnSpPr>
        <p:spPr>
          <a:xfrm>
            <a:off x="7709892" y="2120652"/>
            <a:ext cx="559445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2" name="Google Shape;2852;p58"/>
          <p:cNvCxnSpPr/>
          <p:nvPr/>
        </p:nvCxnSpPr>
        <p:spPr>
          <a:xfrm>
            <a:off x="7714655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3" name="Google Shape;2853;p58"/>
          <p:cNvSpPr/>
          <p:nvPr/>
        </p:nvSpPr>
        <p:spPr>
          <a:xfrm>
            <a:off x="8269337" y="2115889"/>
            <a:ext cx="1412230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4" name="Google Shape;2854;p58"/>
          <p:cNvCxnSpPr/>
          <p:nvPr/>
        </p:nvCxnSpPr>
        <p:spPr>
          <a:xfrm>
            <a:off x="8269337" y="2120652"/>
            <a:ext cx="141223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5" name="Google Shape;2855;p58"/>
          <p:cNvCxnSpPr/>
          <p:nvPr/>
        </p:nvCxnSpPr>
        <p:spPr>
          <a:xfrm>
            <a:off x="8274100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6" name="Google Shape;2856;p58"/>
          <p:cNvSpPr/>
          <p:nvPr/>
        </p:nvSpPr>
        <p:spPr>
          <a:xfrm>
            <a:off x="9681567" y="2115889"/>
            <a:ext cx="841772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7" name="Google Shape;2857;p58"/>
          <p:cNvCxnSpPr/>
          <p:nvPr/>
        </p:nvCxnSpPr>
        <p:spPr>
          <a:xfrm>
            <a:off x="9681567" y="2120652"/>
            <a:ext cx="84177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8" name="Google Shape;2858;p58"/>
          <p:cNvCxnSpPr/>
          <p:nvPr/>
        </p:nvCxnSpPr>
        <p:spPr>
          <a:xfrm>
            <a:off x="9686330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9" name="Google Shape;2859;p58"/>
          <p:cNvSpPr/>
          <p:nvPr/>
        </p:nvSpPr>
        <p:spPr>
          <a:xfrm>
            <a:off x="10523339" y="2115889"/>
            <a:ext cx="1263848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0" name="Google Shape;2860;p58"/>
          <p:cNvCxnSpPr/>
          <p:nvPr/>
        </p:nvCxnSpPr>
        <p:spPr>
          <a:xfrm>
            <a:off x="10523339" y="2120652"/>
            <a:ext cx="126384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1" name="Google Shape;2861;p58"/>
          <p:cNvCxnSpPr/>
          <p:nvPr/>
        </p:nvCxnSpPr>
        <p:spPr>
          <a:xfrm>
            <a:off x="10528102" y="2115889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2" name="Google Shape;2862;p58"/>
          <p:cNvSpPr/>
          <p:nvPr/>
        </p:nvSpPr>
        <p:spPr>
          <a:xfrm>
            <a:off x="7705130" y="2471886"/>
            <a:ext cx="4086820" cy="2339280"/>
          </a:xfrm>
          <a:prstGeom prst="roundRect">
            <a:avLst>
              <a:gd fmla="val 2035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3" name="Google Shape;2863;p58"/>
          <p:cNvCxnSpPr/>
          <p:nvPr/>
        </p:nvCxnSpPr>
        <p:spPr>
          <a:xfrm>
            <a:off x="7728942" y="2471886"/>
            <a:ext cx="0" cy="2339281"/>
          </a:xfrm>
          <a:prstGeom prst="straightConnector1">
            <a:avLst/>
          </a:prstGeom>
          <a:noFill/>
          <a:ln cap="flat" cmpd="sng" w="4762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4" name="Google Shape;2864;p58"/>
          <p:cNvSpPr/>
          <p:nvPr/>
        </p:nvSpPr>
        <p:spPr>
          <a:xfrm>
            <a:off x="7705130" y="4896892"/>
            <a:ext cx="4086820" cy="1692027"/>
          </a:xfrm>
          <a:prstGeom prst="roundRect">
            <a:avLst>
              <a:gd fmla="val 281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e6c6b872cbebc658a4bdd3b8702ecd2.png" id="2865" name="Google Shape;286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206698"/>
            <a:ext cx="6971556" cy="4753421"/>
          </a:xfrm>
          <a:prstGeom prst="rect">
            <a:avLst/>
          </a:prstGeom>
          <a:noFill/>
          <a:ln>
            <a:noFill/>
          </a:ln>
        </p:spPr>
      </p:pic>
      <p:sp>
        <p:nvSpPr>
          <p:cNvPr id="2866" name="Google Shape;2866;p58"/>
          <p:cNvSpPr txBox="1"/>
          <p:nvPr/>
        </p:nvSpPr>
        <p:spPr>
          <a:xfrm>
            <a:off x="400050" y="161925"/>
            <a:ext cx="3637657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Histologia e marcadores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7" name="Google Shape;2867;p58"/>
          <p:cNvSpPr txBox="1"/>
          <p:nvPr/>
        </p:nvSpPr>
        <p:spPr>
          <a:xfrm>
            <a:off x="707082" y="5995541"/>
            <a:ext cx="63955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27. Expressão de marcadores por subtipo histológico. Cada ponto é uma amostra; barra preta = mediana.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8" name="Google Shape;2868;p58"/>
          <p:cNvSpPr txBox="1"/>
          <p:nvPr/>
        </p:nvSpPr>
        <p:spPr>
          <a:xfrm>
            <a:off x="7747635" y="863352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9" name="Google Shape;2869;p58"/>
          <p:cNvSpPr txBox="1"/>
          <p:nvPr/>
        </p:nvSpPr>
        <p:spPr>
          <a:xfrm>
            <a:off x="8307705" y="863352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 clássico (n=359)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0" name="Google Shape;2870;p58"/>
          <p:cNvSpPr txBox="1"/>
          <p:nvPr/>
        </p:nvSpPr>
        <p:spPr>
          <a:xfrm>
            <a:off x="9719310" y="863352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Misto (n=7)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1" name="Google Shape;2871;p58"/>
          <p:cNvSpPr txBox="1"/>
          <p:nvPr/>
        </p:nvSpPr>
        <p:spPr>
          <a:xfrm>
            <a:off x="10561320" y="863352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 (n=3)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2" name="Google Shape;2872;p58"/>
          <p:cNvSpPr txBox="1"/>
          <p:nvPr/>
        </p:nvSpPr>
        <p:spPr>
          <a:xfrm>
            <a:off x="7747635" y="1082427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3" name="Google Shape;2873;p58"/>
          <p:cNvSpPr txBox="1"/>
          <p:nvPr/>
        </p:nvSpPr>
        <p:spPr>
          <a:xfrm>
            <a:off x="8307705" y="1082427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58"/>
          <p:cNvSpPr txBox="1"/>
          <p:nvPr/>
        </p:nvSpPr>
        <p:spPr>
          <a:xfrm>
            <a:off x="9719310" y="1082427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58"/>
          <p:cNvSpPr txBox="1"/>
          <p:nvPr/>
        </p:nvSpPr>
        <p:spPr>
          <a:xfrm>
            <a:off x="10561320" y="1082427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58"/>
          <p:cNvSpPr txBox="1"/>
          <p:nvPr/>
        </p:nvSpPr>
        <p:spPr>
          <a:xfrm>
            <a:off x="7747635" y="1294358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58"/>
          <p:cNvSpPr txBox="1"/>
          <p:nvPr/>
        </p:nvSpPr>
        <p:spPr>
          <a:xfrm>
            <a:off x="8307705" y="1294358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58"/>
          <p:cNvSpPr txBox="1"/>
          <p:nvPr/>
        </p:nvSpPr>
        <p:spPr>
          <a:xfrm>
            <a:off x="9719310" y="1294358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58"/>
          <p:cNvSpPr txBox="1"/>
          <p:nvPr/>
        </p:nvSpPr>
        <p:spPr>
          <a:xfrm>
            <a:off x="10561320" y="1294358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0" name="Google Shape;2880;p58"/>
          <p:cNvSpPr txBox="1"/>
          <p:nvPr/>
        </p:nvSpPr>
        <p:spPr>
          <a:xfrm>
            <a:off x="7747635" y="1506289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KRT19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1" name="Google Shape;2881;p58"/>
          <p:cNvSpPr txBox="1"/>
          <p:nvPr/>
        </p:nvSpPr>
        <p:spPr>
          <a:xfrm>
            <a:off x="8307705" y="1506289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-0.28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2" name="Google Shape;2882;p58"/>
          <p:cNvSpPr txBox="1"/>
          <p:nvPr/>
        </p:nvSpPr>
        <p:spPr>
          <a:xfrm>
            <a:off x="9719310" y="1506289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3" name="Google Shape;2883;p58"/>
          <p:cNvSpPr txBox="1"/>
          <p:nvPr/>
        </p:nvSpPr>
        <p:spPr>
          <a:xfrm>
            <a:off x="10561320" y="1506289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-0.81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58"/>
          <p:cNvSpPr txBox="1"/>
          <p:nvPr/>
        </p:nvSpPr>
        <p:spPr>
          <a:xfrm>
            <a:off x="7747635" y="1718221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EPCAM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p58"/>
          <p:cNvSpPr txBox="1"/>
          <p:nvPr/>
        </p:nvSpPr>
        <p:spPr>
          <a:xfrm>
            <a:off x="8307705" y="1718221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-0.23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6" name="Google Shape;2886;p58"/>
          <p:cNvSpPr txBox="1"/>
          <p:nvPr/>
        </p:nvSpPr>
        <p:spPr>
          <a:xfrm>
            <a:off x="9719310" y="1718221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7" name="Google Shape;2887;p58"/>
          <p:cNvSpPr txBox="1"/>
          <p:nvPr/>
        </p:nvSpPr>
        <p:spPr>
          <a:xfrm>
            <a:off x="10561320" y="1718221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58"/>
          <p:cNvSpPr txBox="1"/>
          <p:nvPr/>
        </p:nvSpPr>
        <p:spPr>
          <a:xfrm>
            <a:off x="7747635" y="1930152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9" name="Google Shape;2889;p58"/>
          <p:cNvSpPr txBox="1"/>
          <p:nvPr/>
        </p:nvSpPr>
        <p:spPr>
          <a:xfrm>
            <a:off x="8307705" y="1930152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2.77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58"/>
          <p:cNvSpPr txBox="1"/>
          <p:nvPr/>
        </p:nvSpPr>
        <p:spPr>
          <a:xfrm>
            <a:off x="9719310" y="1930152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3.79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1" name="Google Shape;2891;p58"/>
          <p:cNvSpPr txBox="1"/>
          <p:nvPr/>
        </p:nvSpPr>
        <p:spPr>
          <a:xfrm>
            <a:off x="10561320" y="1930152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2" name="Google Shape;2892;p58"/>
          <p:cNvSpPr txBox="1"/>
          <p:nvPr/>
        </p:nvSpPr>
        <p:spPr>
          <a:xfrm>
            <a:off x="7747635" y="2142083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3" name="Google Shape;2893;p58"/>
          <p:cNvSpPr txBox="1"/>
          <p:nvPr/>
        </p:nvSpPr>
        <p:spPr>
          <a:xfrm>
            <a:off x="8307705" y="2142083"/>
            <a:ext cx="13354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58"/>
          <p:cNvSpPr txBox="1"/>
          <p:nvPr/>
        </p:nvSpPr>
        <p:spPr>
          <a:xfrm>
            <a:off x="9719310" y="2142083"/>
            <a:ext cx="765809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5" name="Google Shape;2895;p58"/>
          <p:cNvSpPr txBox="1"/>
          <p:nvPr/>
        </p:nvSpPr>
        <p:spPr>
          <a:xfrm>
            <a:off x="10561320" y="2142083"/>
            <a:ext cx="118776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58"/>
          <p:cNvSpPr txBox="1"/>
          <p:nvPr/>
        </p:nvSpPr>
        <p:spPr>
          <a:xfrm>
            <a:off x="7924205" y="2780258"/>
            <a:ext cx="8319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7" name="Google Shape;2897;p58"/>
          <p:cNvSpPr txBox="1"/>
          <p:nvPr/>
        </p:nvSpPr>
        <p:spPr>
          <a:xfrm>
            <a:off x="8776841" y="2780258"/>
            <a:ext cx="603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8" name="Google Shape;2898;p58"/>
          <p:cNvSpPr txBox="1"/>
          <p:nvPr/>
        </p:nvSpPr>
        <p:spPr>
          <a:xfrm>
            <a:off x="9400580" y="2780258"/>
            <a:ext cx="197375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 KRT19 e EPCAM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Google Shape;2899;p58"/>
          <p:cNvSpPr txBox="1"/>
          <p:nvPr/>
        </p:nvSpPr>
        <p:spPr>
          <a:xfrm>
            <a:off x="7924205" y="3067348"/>
            <a:ext cx="2746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muito altos, consistente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0" name="Google Shape;2900;p58"/>
          <p:cNvSpPr txBox="1"/>
          <p:nvPr/>
        </p:nvSpPr>
        <p:spPr>
          <a:xfrm>
            <a:off x="7924205" y="3354437"/>
            <a:ext cx="36574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componente colangiocelular/ductal. 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1" name="Google Shape;2901;p58"/>
          <p:cNvSpPr txBox="1"/>
          <p:nvPr/>
        </p:nvSpPr>
        <p:spPr>
          <a:xfrm>
            <a:off x="7924205" y="3641527"/>
            <a:ext cx="127962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2" name="Google Shape;2902;p58"/>
          <p:cNvSpPr txBox="1"/>
          <p:nvPr/>
        </p:nvSpPr>
        <p:spPr>
          <a:xfrm>
            <a:off x="9224367" y="3641527"/>
            <a:ext cx="21349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 AFP/GPC3 baixos.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3" name="Google Shape;2903;p58"/>
          <p:cNvSpPr txBox="1"/>
          <p:nvPr/>
        </p:nvSpPr>
        <p:spPr>
          <a:xfrm>
            <a:off x="7924197" y="3928625"/>
            <a:ext cx="3397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 n = 7 e n = 3</a:t>
            </a:r>
            <a:r>
              <a:rPr lang="en-US" sz="1687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; pouco poder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4" name="Google Shape;2904;p58"/>
          <p:cNvSpPr txBox="1"/>
          <p:nvPr/>
        </p:nvSpPr>
        <p:spPr>
          <a:xfrm>
            <a:off x="7825978" y="5168801"/>
            <a:ext cx="9117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Histologia: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p58"/>
          <p:cNvSpPr txBox="1"/>
          <p:nvPr/>
        </p:nvSpPr>
        <p:spPr>
          <a:xfrm>
            <a:off x="8746480" y="5168801"/>
            <a:ext cx="19795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 clássico = carcinoma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58"/>
          <p:cNvSpPr txBox="1"/>
          <p:nvPr/>
        </p:nvSpPr>
        <p:spPr>
          <a:xfrm>
            <a:off x="7825978" y="5398443"/>
            <a:ext cx="1104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hepatocelular;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7" name="Google Shape;2907;p58"/>
          <p:cNvSpPr txBox="1"/>
          <p:nvPr/>
        </p:nvSpPr>
        <p:spPr>
          <a:xfrm>
            <a:off x="8939212" y="5398443"/>
            <a:ext cx="49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p58"/>
          <p:cNvSpPr txBox="1"/>
          <p:nvPr/>
        </p:nvSpPr>
        <p:spPr>
          <a:xfrm>
            <a:off x="9438233" y="5398443"/>
            <a:ext cx="18838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carcinoma combinado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9" name="Google Shape;2909;p58"/>
          <p:cNvSpPr txBox="1"/>
          <p:nvPr/>
        </p:nvSpPr>
        <p:spPr>
          <a:xfrm>
            <a:off x="7825978" y="5628084"/>
            <a:ext cx="182135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hepato-colangiocelular;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0" name="Google Shape;2910;p58"/>
          <p:cNvSpPr txBox="1"/>
          <p:nvPr/>
        </p:nvSpPr>
        <p:spPr>
          <a:xfrm>
            <a:off x="9656118" y="5628084"/>
            <a:ext cx="10312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1" name="Google Shape;2911;p58"/>
          <p:cNvSpPr txBox="1"/>
          <p:nvPr/>
        </p:nvSpPr>
        <p:spPr>
          <a:xfrm>
            <a:off x="10696129" y="5628084"/>
            <a:ext cx="8050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variante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p58"/>
          <p:cNvSpPr txBox="1"/>
          <p:nvPr/>
        </p:nvSpPr>
        <p:spPr>
          <a:xfrm>
            <a:off x="7825978" y="5857726"/>
            <a:ext cx="37101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rara, típica de adultos jovens. Cada ponto = uma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3" name="Google Shape;2913;p58"/>
          <p:cNvSpPr txBox="1"/>
          <p:nvPr/>
        </p:nvSpPr>
        <p:spPr>
          <a:xfrm>
            <a:off x="7825978" y="6087368"/>
            <a:ext cx="36714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amostra; barra preta = mediana (não é boxplot).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59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9" name="Google Shape;2919;p59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0" name="Google Shape;2920;p59"/>
          <p:cNvSpPr/>
          <p:nvPr/>
        </p:nvSpPr>
        <p:spPr>
          <a:xfrm>
            <a:off x="400050" y="783575"/>
            <a:ext cx="11081400" cy="1322700"/>
          </a:xfrm>
          <a:prstGeom prst="rect">
            <a:avLst/>
          </a:prstGeom>
          <a:noFill/>
          <a:ln cap="flat" cmpd="sng" w="19100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59"/>
          <p:cNvSpPr/>
          <p:nvPr/>
        </p:nvSpPr>
        <p:spPr>
          <a:xfrm>
            <a:off x="404682" y="793125"/>
            <a:ext cx="23766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2" name="Google Shape;2922;p59"/>
          <p:cNvCxnSpPr/>
          <p:nvPr/>
        </p:nvCxnSpPr>
        <p:spPr>
          <a:xfrm>
            <a:off x="404682" y="802674"/>
            <a:ext cx="23766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3" name="Google Shape;2923;p59"/>
          <p:cNvCxnSpPr/>
          <p:nvPr/>
        </p:nvCxnSpPr>
        <p:spPr>
          <a:xfrm>
            <a:off x="409575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4" name="Google Shape;2924;p59"/>
          <p:cNvSpPr/>
          <p:nvPr/>
        </p:nvSpPr>
        <p:spPr>
          <a:xfrm>
            <a:off x="2781570" y="793125"/>
            <a:ext cx="8649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5" name="Google Shape;2925;p59"/>
          <p:cNvCxnSpPr/>
          <p:nvPr/>
        </p:nvCxnSpPr>
        <p:spPr>
          <a:xfrm>
            <a:off x="2781570" y="802674"/>
            <a:ext cx="8649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6" name="Google Shape;2926;p59"/>
          <p:cNvCxnSpPr/>
          <p:nvPr/>
        </p:nvCxnSpPr>
        <p:spPr>
          <a:xfrm>
            <a:off x="2786203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7" name="Google Shape;2927;p59"/>
          <p:cNvSpPr/>
          <p:nvPr/>
        </p:nvSpPr>
        <p:spPr>
          <a:xfrm>
            <a:off x="3646446" y="793125"/>
            <a:ext cx="7683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8" name="Google Shape;2928;p59"/>
          <p:cNvCxnSpPr/>
          <p:nvPr/>
        </p:nvCxnSpPr>
        <p:spPr>
          <a:xfrm>
            <a:off x="3646446" y="802674"/>
            <a:ext cx="7683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9" name="Google Shape;2929;p59"/>
          <p:cNvCxnSpPr/>
          <p:nvPr/>
        </p:nvCxnSpPr>
        <p:spPr>
          <a:xfrm>
            <a:off x="3651078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0" name="Google Shape;2930;p59"/>
          <p:cNvSpPr/>
          <p:nvPr/>
        </p:nvSpPr>
        <p:spPr>
          <a:xfrm>
            <a:off x="4414757" y="793125"/>
            <a:ext cx="10503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1" name="Google Shape;2931;p59"/>
          <p:cNvCxnSpPr/>
          <p:nvPr/>
        </p:nvCxnSpPr>
        <p:spPr>
          <a:xfrm>
            <a:off x="4414757" y="802674"/>
            <a:ext cx="10503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2" name="Google Shape;2932;p59"/>
          <p:cNvCxnSpPr/>
          <p:nvPr/>
        </p:nvCxnSpPr>
        <p:spPr>
          <a:xfrm>
            <a:off x="4419390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3" name="Google Shape;2933;p59"/>
          <p:cNvSpPr/>
          <p:nvPr/>
        </p:nvSpPr>
        <p:spPr>
          <a:xfrm>
            <a:off x="5464942" y="793125"/>
            <a:ext cx="7713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4" name="Google Shape;2934;p59"/>
          <p:cNvCxnSpPr/>
          <p:nvPr/>
        </p:nvCxnSpPr>
        <p:spPr>
          <a:xfrm>
            <a:off x="5464942" y="802674"/>
            <a:ext cx="7713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5" name="Google Shape;2935;p59"/>
          <p:cNvCxnSpPr/>
          <p:nvPr/>
        </p:nvCxnSpPr>
        <p:spPr>
          <a:xfrm>
            <a:off x="5469575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6" name="Google Shape;2936;p59"/>
          <p:cNvSpPr/>
          <p:nvPr/>
        </p:nvSpPr>
        <p:spPr>
          <a:xfrm>
            <a:off x="6236005" y="793125"/>
            <a:ext cx="6678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7" name="Google Shape;2937;p59"/>
          <p:cNvCxnSpPr/>
          <p:nvPr/>
        </p:nvCxnSpPr>
        <p:spPr>
          <a:xfrm>
            <a:off x="6236005" y="802674"/>
            <a:ext cx="6678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8" name="Google Shape;2938;p59"/>
          <p:cNvCxnSpPr/>
          <p:nvPr/>
        </p:nvCxnSpPr>
        <p:spPr>
          <a:xfrm>
            <a:off x="6240637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9" name="Google Shape;2939;p59"/>
          <p:cNvSpPr/>
          <p:nvPr/>
        </p:nvSpPr>
        <p:spPr>
          <a:xfrm>
            <a:off x="6903554" y="793125"/>
            <a:ext cx="17034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0" name="Google Shape;2940;p59"/>
          <p:cNvCxnSpPr/>
          <p:nvPr/>
        </p:nvCxnSpPr>
        <p:spPr>
          <a:xfrm>
            <a:off x="6903554" y="802674"/>
            <a:ext cx="17034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1" name="Google Shape;2941;p59"/>
          <p:cNvCxnSpPr/>
          <p:nvPr/>
        </p:nvCxnSpPr>
        <p:spPr>
          <a:xfrm>
            <a:off x="6908187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2" name="Google Shape;2942;p59"/>
          <p:cNvSpPr/>
          <p:nvPr/>
        </p:nvSpPr>
        <p:spPr>
          <a:xfrm>
            <a:off x="8606812" y="793125"/>
            <a:ext cx="13608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3" name="Google Shape;2943;p59"/>
          <p:cNvCxnSpPr/>
          <p:nvPr/>
        </p:nvCxnSpPr>
        <p:spPr>
          <a:xfrm>
            <a:off x="8606812" y="802674"/>
            <a:ext cx="13608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4" name="Google Shape;2944;p59"/>
          <p:cNvCxnSpPr/>
          <p:nvPr/>
        </p:nvCxnSpPr>
        <p:spPr>
          <a:xfrm>
            <a:off x="8611444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5" name="Google Shape;2945;p59"/>
          <p:cNvSpPr/>
          <p:nvPr/>
        </p:nvSpPr>
        <p:spPr>
          <a:xfrm>
            <a:off x="9967391" y="793125"/>
            <a:ext cx="8703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6" name="Google Shape;2946;p59"/>
          <p:cNvCxnSpPr/>
          <p:nvPr/>
        </p:nvCxnSpPr>
        <p:spPr>
          <a:xfrm>
            <a:off x="9967391" y="802674"/>
            <a:ext cx="8703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7" name="Google Shape;2947;p59"/>
          <p:cNvCxnSpPr/>
          <p:nvPr/>
        </p:nvCxnSpPr>
        <p:spPr>
          <a:xfrm>
            <a:off x="9972023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8" name="Google Shape;2948;p59"/>
          <p:cNvSpPr/>
          <p:nvPr/>
        </p:nvSpPr>
        <p:spPr>
          <a:xfrm>
            <a:off x="10837912" y="793125"/>
            <a:ext cx="638700" cy="453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9" name="Google Shape;2949;p59"/>
          <p:cNvCxnSpPr/>
          <p:nvPr/>
        </p:nvCxnSpPr>
        <p:spPr>
          <a:xfrm>
            <a:off x="10837912" y="802674"/>
            <a:ext cx="638700" cy="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0" name="Google Shape;2950;p59"/>
          <p:cNvCxnSpPr/>
          <p:nvPr/>
        </p:nvCxnSpPr>
        <p:spPr>
          <a:xfrm>
            <a:off x="10842545" y="793125"/>
            <a:ext cx="0" cy="453600"/>
          </a:xfrm>
          <a:prstGeom prst="straightConnector1">
            <a:avLst/>
          </a:prstGeom>
          <a:noFill/>
          <a:ln cap="flat" cmpd="sng" w="19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1" name="Google Shape;2951;p59"/>
          <p:cNvSpPr/>
          <p:nvPr/>
        </p:nvSpPr>
        <p:spPr>
          <a:xfrm>
            <a:off x="404682" y="1246714"/>
            <a:ext cx="2376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2" name="Google Shape;2952;p59"/>
          <p:cNvCxnSpPr/>
          <p:nvPr/>
        </p:nvCxnSpPr>
        <p:spPr>
          <a:xfrm>
            <a:off x="404682" y="1256265"/>
            <a:ext cx="23766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3" name="Google Shape;2953;p59"/>
          <p:cNvCxnSpPr/>
          <p:nvPr/>
        </p:nvCxnSpPr>
        <p:spPr>
          <a:xfrm>
            <a:off x="409575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4" name="Google Shape;2954;p59"/>
          <p:cNvSpPr/>
          <p:nvPr/>
        </p:nvSpPr>
        <p:spPr>
          <a:xfrm>
            <a:off x="2781570" y="1246714"/>
            <a:ext cx="864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5" name="Google Shape;2955;p59"/>
          <p:cNvCxnSpPr/>
          <p:nvPr/>
        </p:nvCxnSpPr>
        <p:spPr>
          <a:xfrm>
            <a:off x="2781570" y="1256265"/>
            <a:ext cx="8649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6" name="Google Shape;2956;p59"/>
          <p:cNvCxnSpPr/>
          <p:nvPr/>
        </p:nvCxnSpPr>
        <p:spPr>
          <a:xfrm>
            <a:off x="2786203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7" name="Google Shape;2957;p59"/>
          <p:cNvSpPr/>
          <p:nvPr/>
        </p:nvSpPr>
        <p:spPr>
          <a:xfrm>
            <a:off x="3646446" y="1246714"/>
            <a:ext cx="768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8" name="Google Shape;2958;p59"/>
          <p:cNvCxnSpPr/>
          <p:nvPr/>
        </p:nvCxnSpPr>
        <p:spPr>
          <a:xfrm>
            <a:off x="3646446" y="1256265"/>
            <a:ext cx="768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9" name="Google Shape;2959;p59"/>
          <p:cNvCxnSpPr/>
          <p:nvPr/>
        </p:nvCxnSpPr>
        <p:spPr>
          <a:xfrm>
            <a:off x="3651078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0" name="Google Shape;2960;p59"/>
          <p:cNvSpPr/>
          <p:nvPr/>
        </p:nvSpPr>
        <p:spPr>
          <a:xfrm>
            <a:off x="4414757" y="1246714"/>
            <a:ext cx="1050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1" name="Google Shape;2961;p59"/>
          <p:cNvCxnSpPr/>
          <p:nvPr/>
        </p:nvCxnSpPr>
        <p:spPr>
          <a:xfrm>
            <a:off x="4414757" y="1256265"/>
            <a:ext cx="1050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2" name="Google Shape;2962;p59"/>
          <p:cNvCxnSpPr/>
          <p:nvPr/>
        </p:nvCxnSpPr>
        <p:spPr>
          <a:xfrm>
            <a:off x="4419390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3" name="Google Shape;2963;p59"/>
          <p:cNvSpPr/>
          <p:nvPr/>
        </p:nvSpPr>
        <p:spPr>
          <a:xfrm>
            <a:off x="5464942" y="1246714"/>
            <a:ext cx="771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4" name="Google Shape;2964;p59"/>
          <p:cNvCxnSpPr/>
          <p:nvPr/>
        </p:nvCxnSpPr>
        <p:spPr>
          <a:xfrm>
            <a:off x="5464942" y="1256265"/>
            <a:ext cx="771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5" name="Google Shape;2965;p59"/>
          <p:cNvCxnSpPr/>
          <p:nvPr/>
        </p:nvCxnSpPr>
        <p:spPr>
          <a:xfrm>
            <a:off x="5469575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6" name="Google Shape;2966;p59"/>
          <p:cNvSpPr/>
          <p:nvPr/>
        </p:nvSpPr>
        <p:spPr>
          <a:xfrm>
            <a:off x="6236005" y="1246714"/>
            <a:ext cx="667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7" name="Google Shape;2967;p59"/>
          <p:cNvCxnSpPr/>
          <p:nvPr/>
        </p:nvCxnSpPr>
        <p:spPr>
          <a:xfrm>
            <a:off x="6236005" y="1256265"/>
            <a:ext cx="6678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8" name="Google Shape;2968;p59"/>
          <p:cNvCxnSpPr/>
          <p:nvPr/>
        </p:nvCxnSpPr>
        <p:spPr>
          <a:xfrm>
            <a:off x="6240637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9" name="Google Shape;2969;p59"/>
          <p:cNvSpPr/>
          <p:nvPr/>
        </p:nvSpPr>
        <p:spPr>
          <a:xfrm>
            <a:off x="6903554" y="1246714"/>
            <a:ext cx="1703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0" name="Google Shape;2970;p59"/>
          <p:cNvCxnSpPr/>
          <p:nvPr/>
        </p:nvCxnSpPr>
        <p:spPr>
          <a:xfrm>
            <a:off x="6903554" y="1256265"/>
            <a:ext cx="17034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1" name="Google Shape;2971;p59"/>
          <p:cNvCxnSpPr/>
          <p:nvPr/>
        </p:nvCxnSpPr>
        <p:spPr>
          <a:xfrm>
            <a:off x="6908187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2" name="Google Shape;2972;p59"/>
          <p:cNvSpPr/>
          <p:nvPr/>
        </p:nvSpPr>
        <p:spPr>
          <a:xfrm>
            <a:off x="8606812" y="1246714"/>
            <a:ext cx="1360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3" name="Google Shape;2973;p59"/>
          <p:cNvCxnSpPr/>
          <p:nvPr/>
        </p:nvCxnSpPr>
        <p:spPr>
          <a:xfrm>
            <a:off x="8606812" y="1256265"/>
            <a:ext cx="13608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4" name="Google Shape;2974;p59"/>
          <p:cNvCxnSpPr/>
          <p:nvPr/>
        </p:nvCxnSpPr>
        <p:spPr>
          <a:xfrm>
            <a:off x="8611444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5" name="Google Shape;2975;p59"/>
          <p:cNvSpPr/>
          <p:nvPr/>
        </p:nvSpPr>
        <p:spPr>
          <a:xfrm>
            <a:off x="9967391" y="1246714"/>
            <a:ext cx="870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6" name="Google Shape;2976;p59"/>
          <p:cNvCxnSpPr/>
          <p:nvPr/>
        </p:nvCxnSpPr>
        <p:spPr>
          <a:xfrm>
            <a:off x="9967391" y="1256265"/>
            <a:ext cx="870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7" name="Google Shape;2977;p59"/>
          <p:cNvCxnSpPr/>
          <p:nvPr/>
        </p:nvCxnSpPr>
        <p:spPr>
          <a:xfrm>
            <a:off x="9972023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8" name="Google Shape;2978;p59"/>
          <p:cNvSpPr/>
          <p:nvPr/>
        </p:nvSpPr>
        <p:spPr>
          <a:xfrm>
            <a:off x="10837912" y="1246714"/>
            <a:ext cx="6387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9" name="Google Shape;2979;p59"/>
          <p:cNvCxnSpPr/>
          <p:nvPr/>
        </p:nvCxnSpPr>
        <p:spPr>
          <a:xfrm>
            <a:off x="10837912" y="1256265"/>
            <a:ext cx="6387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0" name="Google Shape;2980;p59"/>
          <p:cNvCxnSpPr/>
          <p:nvPr/>
        </p:nvCxnSpPr>
        <p:spPr>
          <a:xfrm>
            <a:off x="10842545" y="1246714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1" name="Google Shape;2981;p59"/>
          <p:cNvSpPr/>
          <p:nvPr/>
        </p:nvSpPr>
        <p:spPr>
          <a:xfrm>
            <a:off x="404682" y="1671659"/>
            <a:ext cx="23766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2" name="Google Shape;2982;p59"/>
          <p:cNvCxnSpPr/>
          <p:nvPr/>
        </p:nvCxnSpPr>
        <p:spPr>
          <a:xfrm>
            <a:off x="404682" y="1681207"/>
            <a:ext cx="23766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3" name="Google Shape;2983;p59"/>
          <p:cNvCxnSpPr/>
          <p:nvPr/>
        </p:nvCxnSpPr>
        <p:spPr>
          <a:xfrm>
            <a:off x="409575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4" name="Google Shape;2984;p59"/>
          <p:cNvSpPr/>
          <p:nvPr/>
        </p:nvSpPr>
        <p:spPr>
          <a:xfrm>
            <a:off x="2781570" y="1671659"/>
            <a:ext cx="8649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5" name="Google Shape;2985;p59"/>
          <p:cNvCxnSpPr/>
          <p:nvPr/>
        </p:nvCxnSpPr>
        <p:spPr>
          <a:xfrm>
            <a:off x="2781570" y="1681207"/>
            <a:ext cx="8649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6" name="Google Shape;2986;p59"/>
          <p:cNvCxnSpPr/>
          <p:nvPr/>
        </p:nvCxnSpPr>
        <p:spPr>
          <a:xfrm>
            <a:off x="2786203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7" name="Google Shape;2987;p59"/>
          <p:cNvSpPr/>
          <p:nvPr/>
        </p:nvSpPr>
        <p:spPr>
          <a:xfrm>
            <a:off x="3646446" y="1671659"/>
            <a:ext cx="7683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8" name="Google Shape;2988;p59"/>
          <p:cNvCxnSpPr/>
          <p:nvPr/>
        </p:nvCxnSpPr>
        <p:spPr>
          <a:xfrm>
            <a:off x="3646446" y="1681207"/>
            <a:ext cx="768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9" name="Google Shape;2989;p59"/>
          <p:cNvCxnSpPr/>
          <p:nvPr/>
        </p:nvCxnSpPr>
        <p:spPr>
          <a:xfrm>
            <a:off x="3651078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0" name="Google Shape;2990;p59"/>
          <p:cNvSpPr/>
          <p:nvPr/>
        </p:nvSpPr>
        <p:spPr>
          <a:xfrm>
            <a:off x="4414757" y="1671659"/>
            <a:ext cx="10503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1" name="Google Shape;2991;p59"/>
          <p:cNvCxnSpPr/>
          <p:nvPr/>
        </p:nvCxnSpPr>
        <p:spPr>
          <a:xfrm>
            <a:off x="4414757" y="1681207"/>
            <a:ext cx="1050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2" name="Google Shape;2992;p59"/>
          <p:cNvCxnSpPr/>
          <p:nvPr/>
        </p:nvCxnSpPr>
        <p:spPr>
          <a:xfrm>
            <a:off x="4419390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3" name="Google Shape;2993;p59"/>
          <p:cNvSpPr/>
          <p:nvPr/>
        </p:nvSpPr>
        <p:spPr>
          <a:xfrm>
            <a:off x="5464942" y="1671659"/>
            <a:ext cx="7713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4" name="Google Shape;2994;p59"/>
          <p:cNvCxnSpPr/>
          <p:nvPr/>
        </p:nvCxnSpPr>
        <p:spPr>
          <a:xfrm>
            <a:off x="5464942" y="1681207"/>
            <a:ext cx="771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5" name="Google Shape;2995;p59"/>
          <p:cNvCxnSpPr/>
          <p:nvPr/>
        </p:nvCxnSpPr>
        <p:spPr>
          <a:xfrm>
            <a:off x="5469575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6" name="Google Shape;2996;p59"/>
          <p:cNvSpPr/>
          <p:nvPr/>
        </p:nvSpPr>
        <p:spPr>
          <a:xfrm>
            <a:off x="6236005" y="1671659"/>
            <a:ext cx="6678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7" name="Google Shape;2997;p59"/>
          <p:cNvCxnSpPr/>
          <p:nvPr/>
        </p:nvCxnSpPr>
        <p:spPr>
          <a:xfrm>
            <a:off x="6236005" y="1681207"/>
            <a:ext cx="6678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8" name="Google Shape;2998;p59"/>
          <p:cNvCxnSpPr/>
          <p:nvPr/>
        </p:nvCxnSpPr>
        <p:spPr>
          <a:xfrm>
            <a:off x="6240637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9" name="Google Shape;2999;p59"/>
          <p:cNvSpPr/>
          <p:nvPr/>
        </p:nvSpPr>
        <p:spPr>
          <a:xfrm>
            <a:off x="6903554" y="1671659"/>
            <a:ext cx="17034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0" name="Google Shape;3000;p59"/>
          <p:cNvCxnSpPr/>
          <p:nvPr/>
        </p:nvCxnSpPr>
        <p:spPr>
          <a:xfrm>
            <a:off x="6903554" y="1681207"/>
            <a:ext cx="17034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1" name="Google Shape;3001;p59"/>
          <p:cNvCxnSpPr/>
          <p:nvPr/>
        </p:nvCxnSpPr>
        <p:spPr>
          <a:xfrm>
            <a:off x="6908187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2" name="Google Shape;3002;p59"/>
          <p:cNvSpPr/>
          <p:nvPr/>
        </p:nvSpPr>
        <p:spPr>
          <a:xfrm>
            <a:off x="8606812" y="1671659"/>
            <a:ext cx="13608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3" name="Google Shape;3003;p59"/>
          <p:cNvCxnSpPr/>
          <p:nvPr/>
        </p:nvCxnSpPr>
        <p:spPr>
          <a:xfrm>
            <a:off x="8606812" y="1681207"/>
            <a:ext cx="13608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4" name="Google Shape;3004;p59"/>
          <p:cNvCxnSpPr/>
          <p:nvPr/>
        </p:nvCxnSpPr>
        <p:spPr>
          <a:xfrm>
            <a:off x="8611444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5" name="Google Shape;3005;p59"/>
          <p:cNvSpPr/>
          <p:nvPr/>
        </p:nvSpPr>
        <p:spPr>
          <a:xfrm>
            <a:off x="9967391" y="1671659"/>
            <a:ext cx="8703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6" name="Google Shape;3006;p59"/>
          <p:cNvCxnSpPr/>
          <p:nvPr/>
        </p:nvCxnSpPr>
        <p:spPr>
          <a:xfrm>
            <a:off x="9967391" y="1681207"/>
            <a:ext cx="8703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7" name="Google Shape;3007;p59"/>
          <p:cNvCxnSpPr/>
          <p:nvPr/>
        </p:nvCxnSpPr>
        <p:spPr>
          <a:xfrm>
            <a:off x="9972023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8" name="Google Shape;3008;p59"/>
          <p:cNvSpPr/>
          <p:nvPr/>
        </p:nvSpPr>
        <p:spPr>
          <a:xfrm>
            <a:off x="10837912" y="1671659"/>
            <a:ext cx="638700" cy="42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625" lIns="183325" spcFirstLastPara="1" rIns="183325" wrap="square" tIns="91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9"/>
              <a:buFont typeface="Arial"/>
              <a:buNone/>
            </a:pPr>
            <a:r>
              <a:t/>
            </a:r>
            <a:endParaRPr b="0" i="0" sz="3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9" name="Google Shape;3009;p59"/>
          <p:cNvCxnSpPr/>
          <p:nvPr/>
        </p:nvCxnSpPr>
        <p:spPr>
          <a:xfrm>
            <a:off x="10837912" y="1681207"/>
            <a:ext cx="638700" cy="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0" name="Google Shape;3010;p59"/>
          <p:cNvCxnSpPr/>
          <p:nvPr/>
        </p:nvCxnSpPr>
        <p:spPr>
          <a:xfrm>
            <a:off x="10842545" y="1671659"/>
            <a:ext cx="0" cy="424800"/>
          </a:xfrm>
          <a:prstGeom prst="straightConnector1">
            <a:avLst/>
          </a:prstGeom>
          <a:noFill/>
          <a:ln cap="flat" cmpd="sng" w="191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1" name="Google Shape;3011;p59"/>
          <p:cNvSpPr/>
          <p:nvPr/>
        </p:nvSpPr>
        <p:spPr>
          <a:xfrm>
            <a:off x="444000" y="2511825"/>
            <a:ext cx="5539800" cy="3457200"/>
          </a:xfrm>
          <a:prstGeom prst="roundRect">
            <a:avLst>
              <a:gd fmla="val 380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 de Ishak (0 a 6):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Pontuação histológica que mede a gravidade da fibrose no fígado, variando de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(ausência de fibrose) a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(cirrose estabelecida).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(Alfafetoproteína):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Marcador tumoral em sangue. O valor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 ng/mL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é considerado dentro do intervalo normal (corte clínico de alerta costuma ser &gt;- 400(ng/mL), enquanto 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aponta falta do registro clínico.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 Viral (Unknown):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Indica ausência de registro sorológico no banco de dados. É um alerta metodológico para não classificar a amostra como "vírus-negativa".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Tempo de Seguimento: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Janela de tempo (em dias) em que o paciente foi acompanhado no estudo de sobrevida global (</a:t>
            </a:r>
            <a:r>
              <a:rPr i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Overall Survival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 (</a:t>
            </a:r>
            <a:r>
              <a:rPr b="1" i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Tissue Source Site</a:t>
            </a:r>
            <a:r>
              <a:rPr b="1"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):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Código de dois caracteres presente nos identificadores do TCGA (ex.: </a:t>
            </a:r>
            <a:r>
              <a:rPr lang="en-US" sz="1200">
                <a:solidFill>
                  <a:srgbClr val="1880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TCGA-DD-AACA</a:t>
            </a: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), indicando a instituição participante que coletou e enviou o tecido.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12" name="Google Shape;3012;p59"/>
          <p:cNvSpPr txBox="1"/>
          <p:nvPr/>
        </p:nvSpPr>
        <p:spPr>
          <a:xfrm>
            <a:off x="400050" y="161925"/>
            <a:ext cx="2487067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Recidivas: clínica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3" name="Google Shape;3013;p59"/>
          <p:cNvSpPr txBox="1"/>
          <p:nvPr/>
        </p:nvSpPr>
        <p:spPr>
          <a:xfrm>
            <a:off x="437112" y="859969"/>
            <a:ext cx="2307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Amostra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59"/>
          <p:cNvSpPr txBox="1"/>
          <p:nvPr/>
        </p:nvSpPr>
        <p:spPr>
          <a:xfrm>
            <a:off x="2818342" y="859969"/>
            <a:ext cx="791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59"/>
          <p:cNvSpPr txBox="1"/>
          <p:nvPr/>
        </p:nvSpPr>
        <p:spPr>
          <a:xfrm>
            <a:off x="3683739" y="859969"/>
            <a:ext cx="694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Sexo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59"/>
          <p:cNvSpPr txBox="1"/>
          <p:nvPr/>
        </p:nvSpPr>
        <p:spPr>
          <a:xfrm>
            <a:off x="4451848" y="859969"/>
            <a:ext cx="975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7" name="Google Shape;3017;p59"/>
          <p:cNvSpPr txBox="1"/>
          <p:nvPr/>
        </p:nvSpPr>
        <p:spPr>
          <a:xfrm>
            <a:off x="5501628" y="859969"/>
            <a:ext cx="697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8" name="Google Shape;3018;p59"/>
          <p:cNvSpPr txBox="1"/>
          <p:nvPr/>
        </p:nvSpPr>
        <p:spPr>
          <a:xfrm>
            <a:off x="6273443" y="859969"/>
            <a:ext cx="593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p59"/>
          <p:cNvSpPr txBox="1"/>
          <p:nvPr/>
        </p:nvSpPr>
        <p:spPr>
          <a:xfrm>
            <a:off x="6940558" y="859969"/>
            <a:ext cx="1629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Ishak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0" name="Google Shape;3020;p59"/>
          <p:cNvSpPr txBox="1"/>
          <p:nvPr/>
        </p:nvSpPr>
        <p:spPr>
          <a:xfrm>
            <a:off x="8643554" y="859969"/>
            <a:ext cx="1286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Vírus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1" name="Google Shape;3021;p59"/>
          <p:cNvSpPr txBox="1"/>
          <p:nvPr/>
        </p:nvSpPr>
        <p:spPr>
          <a:xfrm>
            <a:off x="10004655" y="859969"/>
            <a:ext cx="795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Óbito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2" name="Google Shape;3022;p59"/>
          <p:cNvSpPr txBox="1"/>
          <p:nvPr/>
        </p:nvSpPr>
        <p:spPr>
          <a:xfrm>
            <a:off x="10874684" y="859969"/>
            <a:ext cx="5655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3" name="Google Shape;3023;p59"/>
          <p:cNvSpPr txBox="1"/>
          <p:nvPr/>
        </p:nvSpPr>
        <p:spPr>
          <a:xfrm>
            <a:off x="437112" y="1299236"/>
            <a:ext cx="2307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TCGA-DD-AACA-02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4" name="Google Shape;3024;p59"/>
          <p:cNvSpPr txBox="1"/>
          <p:nvPr/>
        </p:nvSpPr>
        <p:spPr>
          <a:xfrm>
            <a:off x="2818342" y="1299236"/>
            <a:ext cx="791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65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5" name="Google Shape;3025;p59"/>
          <p:cNvSpPr txBox="1"/>
          <p:nvPr/>
        </p:nvSpPr>
        <p:spPr>
          <a:xfrm>
            <a:off x="3683739" y="1299236"/>
            <a:ext cx="694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male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6" name="Google Shape;3026;p59"/>
          <p:cNvSpPr txBox="1"/>
          <p:nvPr/>
        </p:nvSpPr>
        <p:spPr>
          <a:xfrm>
            <a:off x="4451848" y="1299236"/>
            <a:ext cx="975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7" name="Google Shape;3027;p59"/>
          <p:cNvSpPr txBox="1"/>
          <p:nvPr/>
        </p:nvSpPr>
        <p:spPr>
          <a:xfrm>
            <a:off x="5501628" y="1299236"/>
            <a:ext cx="697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G3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8" name="Google Shape;3028;p59"/>
          <p:cNvSpPr txBox="1"/>
          <p:nvPr/>
        </p:nvSpPr>
        <p:spPr>
          <a:xfrm>
            <a:off x="6273443" y="1299236"/>
            <a:ext cx="593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9" name="Google Shape;3029;p59"/>
          <p:cNvSpPr txBox="1"/>
          <p:nvPr/>
        </p:nvSpPr>
        <p:spPr>
          <a:xfrm>
            <a:off x="6940558" y="1299236"/>
            <a:ext cx="1629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0" name="Google Shape;3030;p59"/>
          <p:cNvSpPr txBox="1"/>
          <p:nvPr/>
        </p:nvSpPr>
        <p:spPr>
          <a:xfrm>
            <a:off x="8643554" y="1299236"/>
            <a:ext cx="1286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Unknown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1" name="Google Shape;3031;p59"/>
          <p:cNvSpPr txBox="1"/>
          <p:nvPr/>
        </p:nvSpPr>
        <p:spPr>
          <a:xfrm>
            <a:off x="10004655" y="1299236"/>
            <a:ext cx="795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2" name="Google Shape;3032;p59"/>
          <p:cNvSpPr txBox="1"/>
          <p:nvPr/>
        </p:nvSpPr>
        <p:spPr>
          <a:xfrm>
            <a:off x="10874684" y="1299236"/>
            <a:ext cx="5655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3" name="Google Shape;3033;p59"/>
          <p:cNvSpPr txBox="1"/>
          <p:nvPr/>
        </p:nvSpPr>
        <p:spPr>
          <a:xfrm>
            <a:off x="437112" y="1724178"/>
            <a:ext cx="2307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TCGA-ZS-A9CF-02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4" name="Google Shape;3034;p59"/>
          <p:cNvSpPr txBox="1"/>
          <p:nvPr/>
        </p:nvSpPr>
        <p:spPr>
          <a:xfrm>
            <a:off x="2818342" y="1724178"/>
            <a:ext cx="791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5" name="Google Shape;3035;p59"/>
          <p:cNvSpPr txBox="1"/>
          <p:nvPr/>
        </p:nvSpPr>
        <p:spPr>
          <a:xfrm>
            <a:off x="3683739" y="1724178"/>
            <a:ext cx="6942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male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6" name="Google Shape;3036;p59"/>
          <p:cNvSpPr txBox="1"/>
          <p:nvPr/>
        </p:nvSpPr>
        <p:spPr>
          <a:xfrm>
            <a:off x="4451848" y="1724178"/>
            <a:ext cx="9756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7" name="Google Shape;3037;p59"/>
          <p:cNvSpPr txBox="1"/>
          <p:nvPr/>
        </p:nvSpPr>
        <p:spPr>
          <a:xfrm>
            <a:off x="5501628" y="1724178"/>
            <a:ext cx="6978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8" name="Google Shape;3038;p59"/>
          <p:cNvSpPr txBox="1"/>
          <p:nvPr/>
        </p:nvSpPr>
        <p:spPr>
          <a:xfrm>
            <a:off x="6273443" y="1724178"/>
            <a:ext cx="5931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9" name="Google Shape;3039;p59"/>
          <p:cNvSpPr txBox="1"/>
          <p:nvPr/>
        </p:nvSpPr>
        <p:spPr>
          <a:xfrm>
            <a:off x="6940558" y="1724178"/>
            <a:ext cx="16290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0" name="Google Shape;3040;p59"/>
          <p:cNvSpPr txBox="1"/>
          <p:nvPr/>
        </p:nvSpPr>
        <p:spPr>
          <a:xfrm>
            <a:off x="8643554" y="1724178"/>
            <a:ext cx="12867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HBV+HCV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1" name="Google Shape;3041;p59"/>
          <p:cNvSpPr txBox="1"/>
          <p:nvPr/>
        </p:nvSpPr>
        <p:spPr>
          <a:xfrm>
            <a:off x="10004655" y="1724178"/>
            <a:ext cx="795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2" name="Google Shape;3042;p59"/>
          <p:cNvSpPr txBox="1"/>
          <p:nvPr/>
        </p:nvSpPr>
        <p:spPr>
          <a:xfrm>
            <a:off x="10874684" y="1724178"/>
            <a:ext cx="5655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9"/>
              <a:buFont typeface="Arial"/>
              <a:buNone/>
            </a:pPr>
            <a:r>
              <a:rPr b="0" i="0" lang="en-US" sz="1879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ZS</a:t>
            </a:r>
            <a:endParaRPr b="0" i="0" sz="28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3" name="Google Shape;3043;p59"/>
          <p:cNvSpPr txBox="1"/>
          <p:nvPr/>
        </p:nvSpPr>
        <p:spPr>
          <a:xfrm>
            <a:off x="6276963" y="2992096"/>
            <a:ext cx="2743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 que foram excluídas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4" name="Google Shape;3044;p59"/>
          <p:cNvSpPr txBox="1"/>
          <p:nvPr/>
        </p:nvSpPr>
        <p:spPr>
          <a:xfrm>
            <a:off x="6538900" y="3501683"/>
            <a:ext cx="3047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desenho principal é tumor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5" name="Google Shape;3045;p59"/>
          <p:cNvSpPr txBox="1"/>
          <p:nvPr/>
        </p:nvSpPr>
        <p:spPr>
          <a:xfrm>
            <a:off x="9613094" y="3501683"/>
            <a:ext cx="10044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6" name="Google Shape;3046;p59"/>
          <p:cNvSpPr txBox="1"/>
          <p:nvPr/>
        </p:nvSpPr>
        <p:spPr>
          <a:xfrm>
            <a:off x="6538900" y="3820771"/>
            <a:ext cx="2270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vs. adjacente/normal.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7" name="Google Shape;3047;p59"/>
          <p:cNvSpPr txBox="1"/>
          <p:nvPr/>
        </p:nvSpPr>
        <p:spPr>
          <a:xfrm>
            <a:off x="6538900" y="4192246"/>
            <a:ext cx="4737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 = 2 não permite análise estatística robusta.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8" name="Google Shape;3048;p59"/>
          <p:cNvSpPr txBox="1"/>
          <p:nvPr/>
        </p:nvSpPr>
        <p:spPr>
          <a:xfrm>
            <a:off x="6538900" y="4563721"/>
            <a:ext cx="5210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Recidivas podem ter biologia distinta (resistência,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9" name="Google Shape;3049;p59"/>
          <p:cNvSpPr txBox="1"/>
          <p:nvPr/>
        </p:nvSpPr>
        <p:spPr>
          <a:xfrm>
            <a:off x="6538900" y="4882808"/>
            <a:ext cx="178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evolução clonal).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0" name="Google Shape;3050;p59"/>
          <p:cNvSpPr txBox="1"/>
          <p:nvPr/>
        </p:nvSpPr>
        <p:spPr>
          <a:xfrm>
            <a:off x="6538900" y="5254283"/>
            <a:ext cx="1790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Permanecem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p59"/>
          <p:cNvSpPr txBox="1"/>
          <p:nvPr/>
        </p:nvSpPr>
        <p:spPr>
          <a:xfrm>
            <a:off x="8356091" y="5292383"/>
            <a:ext cx="29682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metadata_amostras.tsv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p59"/>
          <p:cNvSpPr txBox="1"/>
          <p:nvPr/>
        </p:nvSpPr>
        <p:spPr>
          <a:xfrm>
            <a:off x="6538900" y="5592421"/>
            <a:ext cx="1555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auditoria.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3" name="Google Shape;3053;p59"/>
          <p:cNvSpPr txBox="1"/>
          <p:nvPr/>
        </p:nvSpPr>
        <p:spPr>
          <a:xfrm>
            <a:off x="11167914" y="4980980"/>
            <a:ext cx="155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4" name="Google Shape;3054;p59"/>
          <p:cNvSpPr/>
          <p:nvPr/>
        </p:nvSpPr>
        <p:spPr>
          <a:xfrm>
            <a:off x="6307919" y="3627889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5" name="Google Shape;3055;p59"/>
          <p:cNvSpPr/>
          <p:nvPr/>
        </p:nvSpPr>
        <p:spPr>
          <a:xfrm>
            <a:off x="6307919" y="4318452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59"/>
          <p:cNvSpPr/>
          <p:nvPr/>
        </p:nvSpPr>
        <p:spPr>
          <a:xfrm>
            <a:off x="6307919" y="4689927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7" name="Google Shape;3057;p59"/>
          <p:cNvSpPr/>
          <p:nvPr/>
        </p:nvSpPr>
        <p:spPr>
          <a:xfrm>
            <a:off x="6307919" y="5380489"/>
            <a:ext cx="81000" cy="81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p62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3" name="Google Shape;3063;p62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4" name="Google Shape;3064;p62"/>
          <p:cNvSpPr/>
          <p:nvPr/>
        </p:nvSpPr>
        <p:spPr>
          <a:xfrm>
            <a:off x="400050" y="783580"/>
            <a:ext cx="11391900" cy="871538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62"/>
          <p:cNvSpPr/>
          <p:nvPr/>
        </p:nvSpPr>
        <p:spPr>
          <a:xfrm>
            <a:off x="404812" y="788343"/>
            <a:ext cx="1428601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6" name="Google Shape;3066;p62"/>
          <p:cNvCxnSpPr/>
          <p:nvPr/>
        </p:nvCxnSpPr>
        <p:spPr>
          <a:xfrm>
            <a:off x="404812" y="793105"/>
            <a:ext cx="142860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7" name="Google Shape;3067;p62"/>
          <p:cNvCxnSpPr/>
          <p:nvPr/>
        </p:nvCxnSpPr>
        <p:spPr>
          <a:xfrm>
            <a:off x="409575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8" name="Google Shape;3068;p62"/>
          <p:cNvSpPr/>
          <p:nvPr/>
        </p:nvSpPr>
        <p:spPr>
          <a:xfrm>
            <a:off x="1833414" y="788343"/>
            <a:ext cx="560487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9" name="Google Shape;3069;p62"/>
          <p:cNvCxnSpPr/>
          <p:nvPr/>
        </p:nvCxnSpPr>
        <p:spPr>
          <a:xfrm>
            <a:off x="1833414" y="793105"/>
            <a:ext cx="56048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0" name="Google Shape;3070;p62"/>
          <p:cNvCxnSpPr/>
          <p:nvPr/>
        </p:nvCxnSpPr>
        <p:spPr>
          <a:xfrm>
            <a:off x="1838176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1" name="Google Shape;3071;p62"/>
          <p:cNvSpPr/>
          <p:nvPr/>
        </p:nvSpPr>
        <p:spPr>
          <a:xfrm>
            <a:off x="2393900" y="788343"/>
            <a:ext cx="1690688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2" name="Google Shape;3072;p62"/>
          <p:cNvCxnSpPr/>
          <p:nvPr/>
        </p:nvCxnSpPr>
        <p:spPr>
          <a:xfrm>
            <a:off x="2393900" y="793105"/>
            <a:ext cx="169068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3" name="Google Shape;3073;p62"/>
          <p:cNvCxnSpPr/>
          <p:nvPr/>
        </p:nvCxnSpPr>
        <p:spPr>
          <a:xfrm>
            <a:off x="2398663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4" name="Google Shape;3074;p62"/>
          <p:cNvSpPr/>
          <p:nvPr/>
        </p:nvSpPr>
        <p:spPr>
          <a:xfrm>
            <a:off x="4084588" y="788343"/>
            <a:ext cx="1619994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5" name="Google Shape;3075;p62"/>
          <p:cNvCxnSpPr/>
          <p:nvPr/>
        </p:nvCxnSpPr>
        <p:spPr>
          <a:xfrm>
            <a:off x="4084588" y="793105"/>
            <a:ext cx="161999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6" name="Google Shape;3076;p62"/>
          <p:cNvCxnSpPr/>
          <p:nvPr/>
        </p:nvCxnSpPr>
        <p:spPr>
          <a:xfrm>
            <a:off x="4089350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7" name="Google Shape;3077;p62"/>
          <p:cNvSpPr/>
          <p:nvPr/>
        </p:nvSpPr>
        <p:spPr>
          <a:xfrm>
            <a:off x="5704582" y="788343"/>
            <a:ext cx="1894136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8" name="Google Shape;3078;p62"/>
          <p:cNvCxnSpPr/>
          <p:nvPr/>
        </p:nvCxnSpPr>
        <p:spPr>
          <a:xfrm>
            <a:off x="5704582" y="793105"/>
            <a:ext cx="189413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9" name="Google Shape;3079;p62"/>
          <p:cNvCxnSpPr/>
          <p:nvPr/>
        </p:nvCxnSpPr>
        <p:spPr>
          <a:xfrm>
            <a:off x="5709345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0" name="Google Shape;3080;p62"/>
          <p:cNvSpPr/>
          <p:nvPr/>
        </p:nvSpPr>
        <p:spPr>
          <a:xfrm>
            <a:off x="7598718" y="788343"/>
            <a:ext cx="1805434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1" name="Google Shape;3081;p62"/>
          <p:cNvCxnSpPr/>
          <p:nvPr/>
        </p:nvCxnSpPr>
        <p:spPr>
          <a:xfrm>
            <a:off x="7598718" y="793105"/>
            <a:ext cx="180543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2" name="Google Shape;3082;p62"/>
          <p:cNvCxnSpPr/>
          <p:nvPr/>
        </p:nvCxnSpPr>
        <p:spPr>
          <a:xfrm>
            <a:off x="7603480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3" name="Google Shape;3083;p62"/>
          <p:cNvSpPr/>
          <p:nvPr/>
        </p:nvSpPr>
        <p:spPr>
          <a:xfrm>
            <a:off x="9404152" y="788343"/>
            <a:ext cx="1515814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4" name="Google Shape;3084;p62"/>
          <p:cNvCxnSpPr/>
          <p:nvPr/>
        </p:nvCxnSpPr>
        <p:spPr>
          <a:xfrm>
            <a:off x="9404152" y="793105"/>
            <a:ext cx="151581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5" name="Google Shape;3085;p62"/>
          <p:cNvCxnSpPr/>
          <p:nvPr/>
        </p:nvCxnSpPr>
        <p:spPr>
          <a:xfrm>
            <a:off x="9408914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6" name="Google Shape;3086;p62"/>
          <p:cNvSpPr/>
          <p:nvPr/>
        </p:nvSpPr>
        <p:spPr>
          <a:xfrm>
            <a:off x="10919966" y="788343"/>
            <a:ext cx="867221" cy="226219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7" name="Google Shape;3087;p62"/>
          <p:cNvCxnSpPr/>
          <p:nvPr/>
        </p:nvCxnSpPr>
        <p:spPr>
          <a:xfrm>
            <a:off x="10919966" y="793105"/>
            <a:ext cx="86722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8" name="Google Shape;3088;p62"/>
          <p:cNvCxnSpPr/>
          <p:nvPr/>
        </p:nvCxnSpPr>
        <p:spPr>
          <a:xfrm>
            <a:off x="10924729" y="788343"/>
            <a:ext cx="0" cy="226218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9" name="Google Shape;3089;p62"/>
          <p:cNvSpPr/>
          <p:nvPr/>
        </p:nvSpPr>
        <p:spPr>
          <a:xfrm>
            <a:off x="404812" y="1014561"/>
            <a:ext cx="1428601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0" name="Google Shape;3090;p62"/>
          <p:cNvCxnSpPr/>
          <p:nvPr/>
        </p:nvCxnSpPr>
        <p:spPr>
          <a:xfrm>
            <a:off x="404812" y="1019324"/>
            <a:ext cx="142860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1" name="Google Shape;3091;p62"/>
          <p:cNvCxnSpPr/>
          <p:nvPr/>
        </p:nvCxnSpPr>
        <p:spPr>
          <a:xfrm>
            <a:off x="409575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2" name="Google Shape;3092;p62"/>
          <p:cNvSpPr/>
          <p:nvPr/>
        </p:nvSpPr>
        <p:spPr>
          <a:xfrm>
            <a:off x="1833414" y="1014561"/>
            <a:ext cx="560487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3" name="Google Shape;3093;p62"/>
          <p:cNvCxnSpPr/>
          <p:nvPr/>
        </p:nvCxnSpPr>
        <p:spPr>
          <a:xfrm>
            <a:off x="1833414" y="1019324"/>
            <a:ext cx="56048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4" name="Google Shape;3094;p62"/>
          <p:cNvCxnSpPr/>
          <p:nvPr/>
        </p:nvCxnSpPr>
        <p:spPr>
          <a:xfrm>
            <a:off x="1838176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5" name="Google Shape;3095;p62"/>
          <p:cNvSpPr/>
          <p:nvPr/>
        </p:nvSpPr>
        <p:spPr>
          <a:xfrm>
            <a:off x="2393900" y="1014561"/>
            <a:ext cx="169068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6" name="Google Shape;3096;p62"/>
          <p:cNvCxnSpPr/>
          <p:nvPr/>
        </p:nvCxnSpPr>
        <p:spPr>
          <a:xfrm>
            <a:off x="2393900" y="1019324"/>
            <a:ext cx="169068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7" name="Google Shape;3097;p62"/>
          <p:cNvCxnSpPr/>
          <p:nvPr/>
        </p:nvCxnSpPr>
        <p:spPr>
          <a:xfrm>
            <a:off x="2398663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8" name="Google Shape;3098;p62"/>
          <p:cNvSpPr/>
          <p:nvPr/>
        </p:nvSpPr>
        <p:spPr>
          <a:xfrm>
            <a:off x="4084588" y="1014561"/>
            <a:ext cx="161999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9" name="Google Shape;3099;p62"/>
          <p:cNvCxnSpPr/>
          <p:nvPr/>
        </p:nvCxnSpPr>
        <p:spPr>
          <a:xfrm>
            <a:off x="4084588" y="1019324"/>
            <a:ext cx="16199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0" name="Google Shape;3100;p62"/>
          <p:cNvCxnSpPr/>
          <p:nvPr/>
        </p:nvCxnSpPr>
        <p:spPr>
          <a:xfrm>
            <a:off x="4089350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1" name="Google Shape;3101;p62"/>
          <p:cNvSpPr/>
          <p:nvPr/>
        </p:nvSpPr>
        <p:spPr>
          <a:xfrm>
            <a:off x="5704582" y="1014561"/>
            <a:ext cx="1894136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2" name="Google Shape;3102;p62"/>
          <p:cNvCxnSpPr/>
          <p:nvPr/>
        </p:nvCxnSpPr>
        <p:spPr>
          <a:xfrm>
            <a:off x="5704582" y="1019324"/>
            <a:ext cx="18941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3" name="Google Shape;3103;p62"/>
          <p:cNvCxnSpPr/>
          <p:nvPr/>
        </p:nvCxnSpPr>
        <p:spPr>
          <a:xfrm>
            <a:off x="5709345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4" name="Google Shape;3104;p62"/>
          <p:cNvSpPr/>
          <p:nvPr/>
        </p:nvSpPr>
        <p:spPr>
          <a:xfrm>
            <a:off x="7598718" y="1014561"/>
            <a:ext cx="180543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5" name="Google Shape;3105;p62"/>
          <p:cNvCxnSpPr/>
          <p:nvPr/>
        </p:nvCxnSpPr>
        <p:spPr>
          <a:xfrm>
            <a:off x="7598718" y="1019324"/>
            <a:ext cx="180543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6" name="Google Shape;3106;p62"/>
          <p:cNvCxnSpPr/>
          <p:nvPr/>
        </p:nvCxnSpPr>
        <p:spPr>
          <a:xfrm>
            <a:off x="7603480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7" name="Google Shape;3107;p62"/>
          <p:cNvSpPr/>
          <p:nvPr/>
        </p:nvSpPr>
        <p:spPr>
          <a:xfrm>
            <a:off x="9404152" y="1014561"/>
            <a:ext cx="151581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8" name="Google Shape;3108;p62"/>
          <p:cNvCxnSpPr/>
          <p:nvPr/>
        </p:nvCxnSpPr>
        <p:spPr>
          <a:xfrm>
            <a:off x="9404152" y="1019324"/>
            <a:ext cx="151581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9" name="Google Shape;3109;p62"/>
          <p:cNvCxnSpPr/>
          <p:nvPr/>
        </p:nvCxnSpPr>
        <p:spPr>
          <a:xfrm>
            <a:off x="9408914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0" name="Google Shape;3110;p62"/>
          <p:cNvSpPr/>
          <p:nvPr/>
        </p:nvSpPr>
        <p:spPr>
          <a:xfrm>
            <a:off x="10919966" y="1014561"/>
            <a:ext cx="867221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1" name="Google Shape;3111;p62"/>
          <p:cNvCxnSpPr/>
          <p:nvPr/>
        </p:nvCxnSpPr>
        <p:spPr>
          <a:xfrm>
            <a:off x="10919966" y="1019324"/>
            <a:ext cx="8672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2" name="Google Shape;3112;p62"/>
          <p:cNvCxnSpPr/>
          <p:nvPr/>
        </p:nvCxnSpPr>
        <p:spPr>
          <a:xfrm>
            <a:off x="10924729" y="1014561"/>
            <a:ext cx="0" cy="211932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3" name="Google Shape;3113;p62"/>
          <p:cNvSpPr/>
          <p:nvPr/>
        </p:nvSpPr>
        <p:spPr>
          <a:xfrm>
            <a:off x="404812" y="1226493"/>
            <a:ext cx="1428601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4" name="Google Shape;3114;p62"/>
          <p:cNvCxnSpPr/>
          <p:nvPr/>
        </p:nvCxnSpPr>
        <p:spPr>
          <a:xfrm>
            <a:off x="404812" y="1231255"/>
            <a:ext cx="142860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5" name="Google Shape;3115;p62"/>
          <p:cNvCxnSpPr/>
          <p:nvPr/>
        </p:nvCxnSpPr>
        <p:spPr>
          <a:xfrm>
            <a:off x="409575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6" name="Google Shape;3116;p62"/>
          <p:cNvSpPr/>
          <p:nvPr/>
        </p:nvSpPr>
        <p:spPr>
          <a:xfrm>
            <a:off x="1833414" y="1226493"/>
            <a:ext cx="560487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7" name="Google Shape;3117;p62"/>
          <p:cNvCxnSpPr/>
          <p:nvPr/>
        </p:nvCxnSpPr>
        <p:spPr>
          <a:xfrm>
            <a:off x="1833414" y="1231255"/>
            <a:ext cx="56048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8" name="Google Shape;3118;p62"/>
          <p:cNvCxnSpPr/>
          <p:nvPr/>
        </p:nvCxnSpPr>
        <p:spPr>
          <a:xfrm>
            <a:off x="1838176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9" name="Google Shape;3119;p62"/>
          <p:cNvSpPr/>
          <p:nvPr/>
        </p:nvSpPr>
        <p:spPr>
          <a:xfrm>
            <a:off x="2393900" y="1226493"/>
            <a:ext cx="1690688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0" name="Google Shape;3120;p62"/>
          <p:cNvCxnSpPr/>
          <p:nvPr/>
        </p:nvCxnSpPr>
        <p:spPr>
          <a:xfrm>
            <a:off x="2393900" y="1231255"/>
            <a:ext cx="169068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1" name="Google Shape;3121;p62"/>
          <p:cNvCxnSpPr/>
          <p:nvPr/>
        </p:nvCxnSpPr>
        <p:spPr>
          <a:xfrm>
            <a:off x="2398663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2" name="Google Shape;3122;p62"/>
          <p:cNvSpPr/>
          <p:nvPr/>
        </p:nvSpPr>
        <p:spPr>
          <a:xfrm>
            <a:off x="4084588" y="1226493"/>
            <a:ext cx="161999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3" name="Google Shape;3123;p62"/>
          <p:cNvCxnSpPr/>
          <p:nvPr/>
        </p:nvCxnSpPr>
        <p:spPr>
          <a:xfrm>
            <a:off x="4084588" y="1231255"/>
            <a:ext cx="16199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4" name="Google Shape;3124;p62"/>
          <p:cNvCxnSpPr/>
          <p:nvPr/>
        </p:nvCxnSpPr>
        <p:spPr>
          <a:xfrm>
            <a:off x="4089350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5" name="Google Shape;3125;p62"/>
          <p:cNvSpPr/>
          <p:nvPr/>
        </p:nvSpPr>
        <p:spPr>
          <a:xfrm>
            <a:off x="5704582" y="1226493"/>
            <a:ext cx="1894136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6" name="Google Shape;3126;p62"/>
          <p:cNvCxnSpPr/>
          <p:nvPr/>
        </p:nvCxnSpPr>
        <p:spPr>
          <a:xfrm>
            <a:off x="5704582" y="1231255"/>
            <a:ext cx="18941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7" name="Google Shape;3127;p62"/>
          <p:cNvCxnSpPr/>
          <p:nvPr/>
        </p:nvCxnSpPr>
        <p:spPr>
          <a:xfrm>
            <a:off x="5709345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8" name="Google Shape;3128;p62"/>
          <p:cNvSpPr/>
          <p:nvPr/>
        </p:nvSpPr>
        <p:spPr>
          <a:xfrm>
            <a:off x="7598718" y="1226493"/>
            <a:ext cx="180543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9" name="Google Shape;3129;p62"/>
          <p:cNvCxnSpPr/>
          <p:nvPr/>
        </p:nvCxnSpPr>
        <p:spPr>
          <a:xfrm>
            <a:off x="7598718" y="1231255"/>
            <a:ext cx="180543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0" name="Google Shape;3130;p62"/>
          <p:cNvCxnSpPr/>
          <p:nvPr/>
        </p:nvCxnSpPr>
        <p:spPr>
          <a:xfrm>
            <a:off x="7603480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1" name="Google Shape;3131;p62"/>
          <p:cNvSpPr/>
          <p:nvPr/>
        </p:nvSpPr>
        <p:spPr>
          <a:xfrm>
            <a:off x="9404152" y="1226493"/>
            <a:ext cx="1515814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2" name="Google Shape;3132;p62"/>
          <p:cNvCxnSpPr/>
          <p:nvPr/>
        </p:nvCxnSpPr>
        <p:spPr>
          <a:xfrm>
            <a:off x="9404152" y="1231255"/>
            <a:ext cx="151581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3" name="Google Shape;3133;p62"/>
          <p:cNvCxnSpPr/>
          <p:nvPr/>
        </p:nvCxnSpPr>
        <p:spPr>
          <a:xfrm>
            <a:off x="9408914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4" name="Google Shape;3134;p62"/>
          <p:cNvSpPr/>
          <p:nvPr/>
        </p:nvSpPr>
        <p:spPr>
          <a:xfrm>
            <a:off x="10919966" y="1226493"/>
            <a:ext cx="867221" cy="2119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5" name="Google Shape;3135;p62"/>
          <p:cNvCxnSpPr/>
          <p:nvPr/>
        </p:nvCxnSpPr>
        <p:spPr>
          <a:xfrm>
            <a:off x="10919966" y="1231255"/>
            <a:ext cx="8672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6" name="Google Shape;3136;p62"/>
          <p:cNvCxnSpPr/>
          <p:nvPr/>
        </p:nvCxnSpPr>
        <p:spPr>
          <a:xfrm>
            <a:off x="10924729" y="1226493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7" name="Google Shape;3137;p62"/>
          <p:cNvSpPr/>
          <p:nvPr/>
        </p:nvSpPr>
        <p:spPr>
          <a:xfrm>
            <a:off x="404812" y="1438424"/>
            <a:ext cx="1428601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8" name="Google Shape;3138;p62"/>
          <p:cNvCxnSpPr/>
          <p:nvPr/>
        </p:nvCxnSpPr>
        <p:spPr>
          <a:xfrm>
            <a:off x="404812" y="1443186"/>
            <a:ext cx="142860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9" name="Google Shape;3139;p62"/>
          <p:cNvCxnSpPr/>
          <p:nvPr/>
        </p:nvCxnSpPr>
        <p:spPr>
          <a:xfrm>
            <a:off x="409575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0" name="Google Shape;3140;p62"/>
          <p:cNvSpPr/>
          <p:nvPr/>
        </p:nvSpPr>
        <p:spPr>
          <a:xfrm>
            <a:off x="1833414" y="1438424"/>
            <a:ext cx="560487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1" name="Google Shape;3141;p62"/>
          <p:cNvCxnSpPr/>
          <p:nvPr/>
        </p:nvCxnSpPr>
        <p:spPr>
          <a:xfrm>
            <a:off x="1833414" y="1443186"/>
            <a:ext cx="56048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2" name="Google Shape;3142;p62"/>
          <p:cNvCxnSpPr/>
          <p:nvPr/>
        </p:nvCxnSpPr>
        <p:spPr>
          <a:xfrm>
            <a:off x="1838176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3" name="Google Shape;3143;p62"/>
          <p:cNvSpPr/>
          <p:nvPr/>
        </p:nvSpPr>
        <p:spPr>
          <a:xfrm>
            <a:off x="2393900" y="1438424"/>
            <a:ext cx="1690688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4" name="Google Shape;3144;p62"/>
          <p:cNvCxnSpPr/>
          <p:nvPr/>
        </p:nvCxnSpPr>
        <p:spPr>
          <a:xfrm>
            <a:off x="2393900" y="1443186"/>
            <a:ext cx="1690688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5" name="Google Shape;3145;p62"/>
          <p:cNvCxnSpPr/>
          <p:nvPr/>
        </p:nvCxnSpPr>
        <p:spPr>
          <a:xfrm>
            <a:off x="2398663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6" name="Google Shape;3146;p62"/>
          <p:cNvSpPr/>
          <p:nvPr/>
        </p:nvSpPr>
        <p:spPr>
          <a:xfrm>
            <a:off x="4084588" y="1438424"/>
            <a:ext cx="161999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7" name="Google Shape;3147;p62"/>
          <p:cNvCxnSpPr/>
          <p:nvPr/>
        </p:nvCxnSpPr>
        <p:spPr>
          <a:xfrm>
            <a:off x="4084588" y="1443186"/>
            <a:ext cx="16199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8" name="Google Shape;3148;p62"/>
          <p:cNvCxnSpPr/>
          <p:nvPr/>
        </p:nvCxnSpPr>
        <p:spPr>
          <a:xfrm>
            <a:off x="4089350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9" name="Google Shape;3149;p62"/>
          <p:cNvSpPr/>
          <p:nvPr/>
        </p:nvSpPr>
        <p:spPr>
          <a:xfrm>
            <a:off x="5704582" y="1438424"/>
            <a:ext cx="1894136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0" name="Google Shape;3150;p62"/>
          <p:cNvCxnSpPr/>
          <p:nvPr/>
        </p:nvCxnSpPr>
        <p:spPr>
          <a:xfrm>
            <a:off x="5704582" y="1443186"/>
            <a:ext cx="189413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1" name="Google Shape;3151;p62"/>
          <p:cNvCxnSpPr/>
          <p:nvPr/>
        </p:nvCxnSpPr>
        <p:spPr>
          <a:xfrm>
            <a:off x="5709345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2" name="Google Shape;3152;p62"/>
          <p:cNvSpPr/>
          <p:nvPr/>
        </p:nvSpPr>
        <p:spPr>
          <a:xfrm>
            <a:off x="7598718" y="1438424"/>
            <a:ext cx="180543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3" name="Google Shape;3153;p62"/>
          <p:cNvCxnSpPr/>
          <p:nvPr/>
        </p:nvCxnSpPr>
        <p:spPr>
          <a:xfrm>
            <a:off x="7598718" y="1443186"/>
            <a:ext cx="180543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4" name="Google Shape;3154;p62"/>
          <p:cNvCxnSpPr/>
          <p:nvPr/>
        </p:nvCxnSpPr>
        <p:spPr>
          <a:xfrm>
            <a:off x="7603480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5" name="Google Shape;3155;p62"/>
          <p:cNvSpPr/>
          <p:nvPr/>
        </p:nvSpPr>
        <p:spPr>
          <a:xfrm>
            <a:off x="9404152" y="1438424"/>
            <a:ext cx="1515814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6" name="Google Shape;3156;p62"/>
          <p:cNvCxnSpPr/>
          <p:nvPr/>
        </p:nvCxnSpPr>
        <p:spPr>
          <a:xfrm>
            <a:off x="9404152" y="1443186"/>
            <a:ext cx="151581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7" name="Google Shape;3157;p62"/>
          <p:cNvCxnSpPr/>
          <p:nvPr/>
        </p:nvCxnSpPr>
        <p:spPr>
          <a:xfrm>
            <a:off x="9408914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8" name="Google Shape;3158;p62"/>
          <p:cNvSpPr/>
          <p:nvPr/>
        </p:nvSpPr>
        <p:spPr>
          <a:xfrm>
            <a:off x="10919966" y="1438424"/>
            <a:ext cx="867221" cy="211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9" name="Google Shape;3159;p62"/>
          <p:cNvCxnSpPr/>
          <p:nvPr/>
        </p:nvCxnSpPr>
        <p:spPr>
          <a:xfrm>
            <a:off x="10919966" y="1443186"/>
            <a:ext cx="867222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0" name="Google Shape;3160;p62"/>
          <p:cNvCxnSpPr/>
          <p:nvPr/>
        </p:nvCxnSpPr>
        <p:spPr>
          <a:xfrm>
            <a:off x="10924729" y="1438424"/>
            <a:ext cx="0" cy="211931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1" name="Google Shape;3161;p62"/>
          <p:cNvSpPr/>
          <p:nvPr/>
        </p:nvSpPr>
        <p:spPr>
          <a:xfrm>
            <a:off x="6942088" y="2373064"/>
            <a:ext cx="4170462" cy="2352675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62"/>
          <p:cNvSpPr/>
          <p:nvPr/>
        </p:nvSpPr>
        <p:spPr>
          <a:xfrm>
            <a:off x="6946850" y="2377827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3" name="Google Shape;3163;p62"/>
          <p:cNvCxnSpPr/>
          <p:nvPr/>
        </p:nvCxnSpPr>
        <p:spPr>
          <a:xfrm>
            <a:off x="6946850" y="2382589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64" name="Google Shape;3164;p62"/>
          <p:cNvCxnSpPr/>
          <p:nvPr/>
        </p:nvCxnSpPr>
        <p:spPr>
          <a:xfrm>
            <a:off x="6951613" y="237782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65" name="Google Shape;3165;p62"/>
          <p:cNvSpPr/>
          <p:nvPr/>
        </p:nvSpPr>
        <p:spPr>
          <a:xfrm>
            <a:off x="7879854" y="2377827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6" name="Google Shape;3166;p62"/>
          <p:cNvCxnSpPr/>
          <p:nvPr/>
        </p:nvCxnSpPr>
        <p:spPr>
          <a:xfrm>
            <a:off x="7879854" y="2382589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67" name="Google Shape;3167;p62"/>
          <p:cNvCxnSpPr/>
          <p:nvPr/>
        </p:nvCxnSpPr>
        <p:spPr>
          <a:xfrm>
            <a:off x="7884616" y="237782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68" name="Google Shape;3168;p62"/>
          <p:cNvSpPr/>
          <p:nvPr/>
        </p:nvSpPr>
        <p:spPr>
          <a:xfrm>
            <a:off x="8843218" y="2377827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9" name="Google Shape;3169;p62"/>
          <p:cNvCxnSpPr/>
          <p:nvPr/>
        </p:nvCxnSpPr>
        <p:spPr>
          <a:xfrm>
            <a:off x="8843218" y="2382589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70" name="Google Shape;3170;p62"/>
          <p:cNvCxnSpPr/>
          <p:nvPr/>
        </p:nvCxnSpPr>
        <p:spPr>
          <a:xfrm>
            <a:off x="8847981" y="2377827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71" name="Google Shape;3171;p62"/>
          <p:cNvSpPr/>
          <p:nvPr/>
        </p:nvSpPr>
        <p:spPr>
          <a:xfrm>
            <a:off x="6946850" y="2670721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2" name="Google Shape;3172;p62"/>
          <p:cNvCxnSpPr/>
          <p:nvPr/>
        </p:nvCxnSpPr>
        <p:spPr>
          <a:xfrm>
            <a:off x="6946850" y="2675483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73" name="Google Shape;3173;p62"/>
          <p:cNvCxnSpPr/>
          <p:nvPr/>
        </p:nvCxnSpPr>
        <p:spPr>
          <a:xfrm>
            <a:off x="6951613" y="2670721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74" name="Google Shape;3174;p62"/>
          <p:cNvSpPr/>
          <p:nvPr/>
        </p:nvSpPr>
        <p:spPr>
          <a:xfrm>
            <a:off x="7879854" y="2670721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5" name="Google Shape;3175;p62"/>
          <p:cNvCxnSpPr/>
          <p:nvPr/>
        </p:nvCxnSpPr>
        <p:spPr>
          <a:xfrm>
            <a:off x="7879854" y="2675483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76" name="Google Shape;3176;p62"/>
          <p:cNvCxnSpPr/>
          <p:nvPr/>
        </p:nvCxnSpPr>
        <p:spPr>
          <a:xfrm>
            <a:off x="7884616" y="2670721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77" name="Google Shape;3177;p62"/>
          <p:cNvSpPr/>
          <p:nvPr/>
        </p:nvSpPr>
        <p:spPr>
          <a:xfrm>
            <a:off x="8843218" y="2670721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8" name="Google Shape;3178;p62"/>
          <p:cNvCxnSpPr/>
          <p:nvPr/>
        </p:nvCxnSpPr>
        <p:spPr>
          <a:xfrm>
            <a:off x="8843218" y="2675483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79" name="Google Shape;3179;p62"/>
          <p:cNvCxnSpPr/>
          <p:nvPr/>
        </p:nvCxnSpPr>
        <p:spPr>
          <a:xfrm>
            <a:off x="8847981" y="2670721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80" name="Google Shape;3180;p62"/>
          <p:cNvSpPr/>
          <p:nvPr/>
        </p:nvSpPr>
        <p:spPr>
          <a:xfrm>
            <a:off x="6946850" y="2963614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1" name="Google Shape;3181;p62"/>
          <p:cNvCxnSpPr/>
          <p:nvPr/>
        </p:nvCxnSpPr>
        <p:spPr>
          <a:xfrm>
            <a:off x="6946850" y="2968377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82" name="Google Shape;3182;p62"/>
          <p:cNvCxnSpPr/>
          <p:nvPr/>
        </p:nvCxnSpPr>
        <p:spPr>
          <a:xfrm>
            <a:off x="6951613" y="2963614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83" name="Google Shape;3183;p62"/>
          <p:cNvSpPr/>
          <p:nvPr/>
        </p:nvSpPr>
        <p:spPr>
          <a:xfrm>
            <a:off x="7879854" y="2963614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4" name="Google Shape;3184;p62"/>
          <p:cNvCxnSpPr/>
          <p:nvPr/>
        </p:nvCxnSpPr>
        <p:spPr>
          <a:xfrm>
            <a:off x="7879854" y="2968377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85" name="Google Shape;3185;p62"/>
          <p:cNvCxnSpPr/>
          <p:nvPr/>
        </p:nvCxnSpPr>
        <p:spPr>
          <a:xfrm>
            <a:off x="7884616" y="2963614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86" name="Google Shape;3186;p62"/>
          <p:cNvSpPr/>
          <p:nvPr/>
        </p:nvSpPr>
        <p:spPr>
          <a:xfrm>
            <a:off x="8843218" y="2963614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7" name="Google Shape;3187;p62"/>
          <p:cNvCxnSpPr/>
          <p:nvPr/>
        </p:nvCxnSpPr>
        <p:spPr>
          <a:xfrm>
            <a:off x="8843218" y="2968377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88" name="Google Shape;3188;p62"/>
          <p:cNvCxnSpPr/>
          <p:nvPr/>
        </p:nvCxnSpPr>
        <p:spPr>
          <a:xfrm>
            <a:off x="8847981" y="2963614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89" name="Google Shape;3189;p62"/>
          <p:cNvSpPr/>
          <p:nvPr/>
        </p:nvSpPr>
        <p:spPr>
          <a:xfrm>
            <a:off x="6946850" y="3256508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0" name="Google Shape;3190;p62"/>
          <p:cNvCxnSpPr/>
          <p:nvPr/>
        </p:nvCxnSpPr>
        <p:spPr>
          <a:xfrm>
            <a:off x="6946850" y="3261271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91" name="Google Shape;3191;p62"/>
          <p:cNvCxnSpPr/>
          <p:nvPr/>
        </p:nvCxnSpPr>
        <p:spPr>
          <a:xfrm>
            <a:off x="6951613" y="3256508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92" name="Google Shape;3192;p62"/>
          <p:cNvSpPr/>
          <p:nvPr/>
        </p:nvSpPr>
        <p:spPr>
          <a:xfrm>
            <a:off x="7879854" y="3256508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3" name="Google Shape;3193;p62"/>
          <p:cNvCxnSpPr/>
          <p:nvPr/>
        </p:nvCxnSpPr>
        <p:spPr>
          <a:xfrm>
            <a:off x="7879854" y="3261271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94" name="Google Shape;3194;p62"/>
          <p:cNvCxnSpPr/>
          <p:nvPr/>
        </p:nvCxnSpPr>
        <p:spPr>
          <a:xfrm>
            <a:off x="7884616" y="3256508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95" name="Google Shape;3195;p62"/>
          <p:cNvSpPr/>
          <p:nvPr/>
        </p:nvSpPr>
        <p:spPr>
          <a:xfrm>
            <a:off x="8843218" y="3256508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6" name="Google Shape;3196;p62"/>
          <p:cNvCxnSpPr/>
          <p:nvPr/>
        </p:nvCxnSpPr>
        <p:spPr>
          <a:xfrm>
            <a:off x="8843218" y="3261271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197" name="Google Shape;3197;p62"/>
          <p:cNvCxnSpPr/>
          <p:nvPr/>
        </p:nvCxnSpPr>
        <p:spPr>
          <a:xfrm>
            <a:off x="8847981" y="3256508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198" name="Google Shape;3198;p62"/>
          <p:cNvSpPr/>
          <p:nvPr/>
        </p:nvSpPr>
        <p:spPr>
          <a:xfrm>
            <a:off x="6946850" y="3549402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9" name="Google Shape;3199;p62"/>
          <p:cNvCxnSpPr/>
          <p:nvPr/>
        </p:nvCxnSpPr>
        <p:spPr>
          <a:xfrm>
            <a:off x="6946850" y="3554164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00" name="Google Shape;3200;p62"/>
          <p:cNvCxnSpPr/>
          <p:nvPr/>
        </p:nvCxnSpPr>
        <p:spPr>
          <a:xfrm>
            <a:off x="6951613" y="3549402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01" name="Google Shape;3201;p62"/>
          <p:cNvSpPr/>
          <p:nvPr/>
        </p:nvSpPr>
        <p:spPr>
          <a:xfrm>
            <a:off x="7879854" y="3549402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2" name="Google Shape;3202;p62"/>
          <p:cNvCxnSpPr/>
          <p:nvPr/>
        </p:nvCxnSpPr>
        <p:spPr>
          <a:xfrm>
            <a:off x="7879854" y="3554164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03" name="Google Shape;3203;p62"/>
          <p:cNvCxnSpPr/>
          <p:nvPr/>
        </p:nvCxnSpPr>
        <p:spPr>
          <a:xfrm>
            <a:off x="7884616" y="3549402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04" name="Google Shape;3204;p62"/>
          <p:cNvSpPr/>
          <p:nvPr/>
        </p:nvSpPr>
        <p:spPr>
          <a:xfrm>
            <a:off x="8843218" y="3549402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5" name="Google Shape;3205;p62"/>
          <p:cNvCxnSpPr/>
          <p:nvPr/>
        </p:nvCxnSpPr>
        <p:spPr>
          <a:xfrm>
            <a:off x="8843218" y="3554164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06" name="Google Shape;3206;p62"/>
          <p:cNvCxnSpPr/>
          <p:nvPr/>
        </p:nvCxnSpPr>
        <p:spPr>
          <a:xfrm>
            <a:off x="8847981" y="3549402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07" name="Google Shape;3207;p62"/>
          <p:cNvSpPr/>
          <p:nvPr/>
        </p:nvSpPr>
        <p:spPr>
          <a:xfrm>
            <a:off x="6946850" y="3842296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8" name="Google Shape;3208;p62"/>
          <p:cNvCxnSpPr/>
          <p:nvPr/>
        </p:nvCxnSpPr>
        <p:spPr>
          <a:xfrm>
            <a:off x="6946850" y="3847058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09" name="Google Shape;3209;p62"/>
          <p:cNvCxnSpPr/>
          <p:nvPr/>
        </p:nvCxnSpPr>
        <p:spPr>
          <a:xfrm>
            <a:off x="6951613" y="3842296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10" name="Google Shape;3210;p62"/>
          <p:cNvSpPr/>
          <p:nvPr/>
        </p:nvSpPr>
        <p:spPr>
          <a:xfrm>
            <a:off x="7879854" y="3842296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1" name="Google Shape;3211;p62"/>
          <p:cNvCxnSpPr/>
          <p:nvPr/>
        </p:nvCxnSpPr>
        <p:spPr>
          <a:xfrm>
            <a:off x="7879854" y="3847058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12" name="Google Shape;3212;p62"/>
          <p:cNvCxnSpPr/>
          <p:nvPr/>
        </p:nvCxnSpPr>
        <p:spPr>
          <a:xfrm>
            <a:off x="7884616" y="3842296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13" name="Google Shape;3213;p62"/>
          <p:cNvSpPr/>
          <p:nvPr/>
        </p:nvSpPr>
        <p:spPr>
          <a:xfrm>
            <a:off x="8843218" y="3842296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4" name="Google Shape;3214;p62"/>
          <p:cNvCxnSpPr/>
          <p:nvPr/>
        </p:nvCxnSpPr>
        <p:spPr>
          <a:xfrm>
            <a:off x="8843218" y="3847058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15" name="Google Shape;3215;p62"/>
          <p:cNvCxnSpPr/>
          <p:nvPr/>
        </p:nvCxnSpPr>
        <p:spPr>
          <a:xfrm>
            <a:off x="8847981" y="3842296"/>
            <a:ext cx="0" cy="292893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16" name="Google Shape;3216;p62"/>
          <p:cNvSpPr/>
          <p:nvPr/>
        </p:nvSpPr>
        <p:spPr>
          <a:xfrm>
            <a:off x="6946850" y="4135189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7" name="Google Shape;3217;p62"/>
          <p:cNvCxnSpPr/>
          <p:nvPr/>
        </p:nvCxnSpPr>
        <p:spPr>
          <a:xfrm>
            <a:off x="6946850" y="4139952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18" name="Google Shape;3218;p62"/>
          <p:cNvCxnSpPr/>
          <p:nvPr/>
        </p:nvCxnSpPr>
        <p:spPr>
          <a:xfrm>
            <a:off x="6951613" y="4135189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19" name="Google Shape;3219;p62"/>
          <p:cNvSpPr/>
          <p:nvPr/>
        </p:nvSpPr>
        <p:spPr>
          <a:xfrm>
            <a:off x="7879854" y="4135189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0" name="Google Shape;3220;p62"/>
          <p:cNvCxnSpPr/>
          <p:nvPr/>
        </p:nvCxnSpPr>
        <p:spPr>
          <a:xfrm>
            <a:off x="7879854" y="4139952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21" name="Google Shape;3221;p62"/>
          <p:cNvCxnSpPr/>
          <p:nvPr/>
        </p:nvCxnSpPr>
        <p:spPr>
          <a:xfrm>
            <a:off x="7884616" y="4135189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22" name="Google Shape;3222;p62"/>
          <p:cNvSpPr/>
          <p:nvPr/>
        </p:nvSpPr>
        <p:spPr>
          <a:xfrm>
            <a:off x="8843218" y="4135189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3" name="Google Shape;3223;p62"/>
          <p:cNvCxnSpPr/>
          <p:nvPr/>
        </p:nvCxnSpPr>
        <p:spPr>
          <a:xfrm>
            <a:off x="8843218" y="4139952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24" name="Google Shape;3224;p62"/>
          <p:cNvCxnSpPr/>
          <p:nvPr/>
        </p:nvCxnSpPr>
        <p:spPr>
          <a:xfrm>
            <a:off x="8847981" y="4135189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25" name="Google Shape;3225;p62"/>
          <p:cNvSpPr/>
          <p:nvPr/>
        </p:nvSpPr>
        <p:spPr>
          <a:xfrm>
            <a:off x="6946850" y="4428083"/>
            <a:ext cx="93300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6" name="Google Shape;3226;p62"/>
          <p:cNvCxnSpPr/>
          <p:nvPr/>
        </p:nvCxnSpPr>
        <p:spPr>
          <a:xfrm>
            <a:off x="6946850" y="4432846"/>
            <a:ext cx="93300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27" name="Google Shape;3227;p62"/>
          <p:cNvCxnSpPr/>
          <p:nvPr/>
        </p:nvCxnSpPr>
        <p:spPr>
          <a:xfrm>
            <a:off x="6951613" y="442808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28" name="Google Shape;3228;p62"/>
          <p:cNvSpPr/>
          <p:nvPr/>
        </p:nvSpPr>
        <p:spPr>
          <a:xfrm>
            <a:off x="7879854" y="4428083"/>
            <a:ext cx="963364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9" name="Google Shape;3229;p62"/>
          <p:cNvCxnSpPr/>
          <p:nvPr/>
        </p:nvCxnSpPr>
        <p:spPr>
          <a:xfrm>
            <a:off x="7879854" y="4432846"/>
            <a:ext cx="963364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30" name="Google Shape;3230;p62"/>
          <p:cNvCxnSpPr/>
          <p:nvPr/>
        </p:nvCxnSpPr>
        <p:spPr>
          <a:xfrm>
            <a:off x="7884616" y="442808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31" name="Google Shape;3231;p62"/>
          <p:cNvSpPr/>
          <p:nvPr/>
        </p:nvSpPr>
        <p:spPr>
          <a:xfrm>
            <a:off x="8843218" y="4428083"/>
            <a:ext cx="2264569" cy="292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2" name="Google Shape;3232;p62"/>
          <p:cNvCxnSpPr/>
          <p:nvPr/>
        </p:nvCxnSpPr>
        <p:spPr>
          <a:xfrm>
            <a:off x="8843218" y="4432846"/>
            <a:ext cx="2264569" cy="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33" name="Google Shape;3233;p62"/>
          <p:cNvCxnSpPr/>
          <p:nvPr/>
        </p:nvCxnSpPr>
        <p:spPr>
          <a:xfrm>
            <a:off x="8847981" y="4428083"/>
            <a:ext cx="0" cy="292894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234" name="Google Shape;3234;p62"/>
          <p:cNvSpPr/>
          <p:nvPr/>
        </p:nvSpPr>
        <p:spPr>
          <a:xfrm>
            <a:off x="6262688" y="4865043"/>
            <a:ext cx="5529262" cy="1765102"/>
          </a:xfrm>
          <a:prstGeom prst="roundRect">
            <a:avLst>
              <a:gd fmla="val 2698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5" name="Google Shape;3235;p62"/>
          <p:cNvCxnSpPr/>
          <p:nvPr/>
        </p:nvCxnSpPr>
        <p:spPr>
          <a:xfrm>
            <a:off x="6286500" y="4865043"/>
            <a:ext cx="0" cy="1765101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12f06afacc56bb3f312205480feaa52d.png" id="3236" name="Google Shape;323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199" y="2721769"/>
            <a:ext cx="5528965" cy="2653903"/>
          </a:xfrm>
          <a:prstGeom prst="rect">
            <a:avLst/>
          </a:prstGeom>
          <a:noFill/>
          <a:ln>
            <a:noFill/>
          </a:ln>
        </p:spPr>
      </p:pic>
      <p:sp>
        <p:nvSpPr>
          <p:cNvPr id="3237" name="Google Shape;3237;p62"/>
          <p:cNvSpPr txBox="1"/>
          <p:nvPr/>
        </p:nvSpPr>
        <p:spPr>
          <a:xfrm>
            <a:off x="400050" y="161925"/>
            <a:ext cx="4511576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Histologia: composição clínica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8" name="Google Shape;3238;p62"/>
          <p:cNvSpPr txBox="1"/>
          <p:nvPr/>
        </p:nvSpPr>
        <p:spPr>
          <a:xfrm>
            <a:off x="438150" y="821680"/>
            <a:ext cx="1357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Subtipo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9" name="Google Shape;3239;p62"/>
          <p:cNvSpPr txBox="1"/>
          <p:nvPr/>
        </p:nvSpPr>
        <p:spPr>
          <a:xfrm>
            <a:off x="1871662" y="821680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0" name="Google Shape;3240;p62"/>
          <p:cNvSpPr txBox="1"/>
          <p:nvPr/>
        </p:nvSpPr>
        <p:spPr>
          <a:xfrm>
            <a:off x="2431732" y="821680"/>
            <a:ext cx="16144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1" name="Google Shape;3241;p62"/>
          <p:cNvSpPr txBox="1"/>
          <p:nvPr/>
        </p:nvSpPr>
        <p:spPr>
          <a:xfrm>
            <a:off x="4122420" y="821680"/>
            <a:ext cx="15440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Masculino 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2" name="Google Shape;3242;p62"/>
          <p:cNvSpPr txBox="1"/>
          <p:nvPr/>
        </p:nvSpPr>
        <p:spPr>
          <a:xfrm>
            <a:off x="5742628" y="821675"/>
            <a:ext cx="1028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3" name="Google Shape;3243;p62"/>
          <p:cNvSpPr txBox="1"/>
          <p:nvPr/>
        </p:nvSpPr>
        <p:spPr>
          <a:xfrm>
            <a:off x="7918132" y="821680"/>
            <a:ext cx="88677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4" name="Google Shape;3244;p62"/>
          <p:cNvSpPr txBox="1"/>
          <p:nvPr/>
        </p:nvSpPr>
        <p:spPr>
          <a:xfrm>
            <a:off x="9442132" y="821680"/>
            <a:ext cx="14401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5" name="Google Shape;3245;p62"/>
          <p:cNvSpPr txBox="1"/>
          <p:nvPr/>
        </p:nvSpPr>
        <p:spPr>
          <a:xfrm>
            <a:off x="11146155" y="821680"/>
            <a:ext cx="6029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Óbitos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6" name="Google Shape;3246;p62"/>
          <p:cNvSpPr txBox="1"/>
          <p:nvPr/>
        </p:nvSpPr>
        <p:spPr>
          <a:xfrm>
            <a:off x="438150" y="1040755"/>
            <a:ext cx="1357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HCC clássico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62"/>
          <p:cNvSpPr txBox="1"/>
          <p:nvPr/>
        </p:nvSpPr>
        <p:spPr>
          <a:xfrm>
            <a:off x="1871662" y="1040755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8" name="Google Shape;3248;p62"/>
          <p:cNvSpPr txBox="1"/>
          <p:nvPr/>
        </p:nvSpPr>
        <p:spPr>
          <a:xfrm>
            <a:off x="2431732" y="1040755"/>
            <a:ext cx="16144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9" name="Google Shape;3249;p62"/>
          <p:cNvSpPr txBox="1"/>
          <p:nvPr/>
        </p:nvSpPr>
        <p:spPr>
          <a:xfrm>
            <a:off x="4122420" y="1040755"/>
            <a:ext cx="15440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0" name="Google Shape;3250;p62"/>
          <p:cNvSpPr txBox="1"/>
          <p:nvPr/>
        </p:nvSpPr>
        <p:spPr>
          <a:xfrm>
            <a:off x="5742622" y="1040755"/>
            <a:ext cx="50577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1" name="Google Shape;3251;p62"/>
          <p:cNvSpPr txBox="1"/>
          <p:nvPr/>
        </p:nvSpPr>
        <p:spPr>
          <a:xfrm>
            <a:off x="7637154" y="1040750"/>
            <a:ext cx="224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2" name="Google Shape;3252;p62"/>
          <p:cNvSpPr txBox="1"/>
          <p:nvPr/>
        </p:nvSpPr>
        <p:spPr>
          <a:xfrm>
            <a:off x="9442132" y="1040755"/>
            <a:ext cx="14401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3" name="Google Shape;3253;p62"/>
          <p:cNvSpPr txBox="1"/>
          <p:nvPr/>
        </p:nvSpPr>
        <p:spPr>
          <a:xfrm>
            <a:off x="11146155" y="1040755"/>
            <a:ext cx="6029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4" name="Google Shape;3254;p62"/>
          <p:cNvSpPr txBox="1"/>
          <p:nvPr/>
        </p:nvSpPr>
        <p:spPr>
          <a:xfrm>
            <a:off x="438150" y="1252686"/>
            <a:ext cx="1357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5" name="Google Shape;3255;p62"/>
          <p:cNvSpPr txBox="1"/>
          <p:nvPr/>
        </p:nvSpPr>
        <p:spPr>
          <a:xfrm>
            <a:off x="1871662" y="1252686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6" name="Google Shape;3256;p62"/>
          <p:cNvSpPr txBox="1"/>
          <p:nvPr/>
        </p:nvSpPr>
        <p:spPr>
          <a:xfrm>
            <a:off x="2431732" y="1252686"/>
            <a:ext cx="16144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7" name="Google Shape;3257;p62"/>
          <p:cNvSpPr txBox="1"/>
          <p:nvPr/>
        </p:nvSpPr>
        <p:spPr>
          <a:xfrm>
            <a:off x="4122420" y="1252686"/>
            <a:ext cx="15440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57.1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8" name="Google Shape;3258;p62"/>
          <p:cNvSpPr txBox="1"/>
          <p:nvPr/>
        </p:nvSpPr>
        <p:spPr>
          <a:xfrm>
            <a:off x="5742622" y="1252686"/>
            <a:ext cx="50577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9" name="Google Shape;3259;p62"/>
          <p:cNvSpPr txBox="1"/>
          <p:nvPr/>
        </p:nvSpPr>
        <p:spPr>
          <a:xfrm>
            <a:off x="7637150" y="1252675"/>
            <a:ext cx="204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0" name="Google Shape;3260;p62"/>
          <p:cNvSpPr txBox="1"/>
          <p:nvPr/>
        </p:nvSpPr>
        <p:spPr>
          <a:xfrm>
            <a:off x="9442132" y="1252686"/>
            <a:ext cx="14401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1" name="Google Shape;3261;p62"/>
          <p:cNvSpPr txBox="1"/>
          <p:nvPr/>
        </p:nvSpPr>
        <p:spPr>
          <a:xfrm>
            <a:off x="11146155" y="1252686"/>
            <a:ext cx="6029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2" name="Google Shape;3262;p62"/>
          <p:cNvSpPr txBox="1"/>
          <p:nvPr/>
        </p:nvSpPr>
        <p:spPr>
          <a:xfrm>
            <a:off x="438150" y="1464618"/>
            <a:ext cx="1357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3" name="Google Shape;3263;p62"/>
          <p:cNvSpPr txBox="1"/>
          <p:nvPr/>
        </p:nvSpPr>
        <p:spPr>
          <a:xfrm>
            <a:off x="1871662" y="1464618"/>
            <a:ext cx="483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4" name="Google Shape;3264;p62"/>
          <p:cNvSpPr txBox="1"/>
          <p:nvPr/>
        </p:nvSpPr>
        <p:spPr>
          <a:xfrm>
            <a:off x="2431732" y="1464618"/>
            <a:ext cx="16144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5" name="Google Shape;3265;p62"/>
          <p:cNvSpPr txBox="1"/>
          <p:nvPr/>
        </p:nvSpPr>
        <p:spPr>
          <a:xfrm>
            <a:off x="4122420" y="1464618"/>
            <a:ext cx="154400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6" name="Google Shape;3266;p62"/>
          <p:cNvSpPr txBox="1"/>
          <p:nvPr/>
        </p:nvSpPr>
        <p:spPr>
          <a:xfrm>
            <a:off x="5742622" y="1464618"/>
            <a:ext cx="505777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7" name="Google Shape;3267;p62"/>
          <p:cNvSpPr txBox="1"/>
          <p:nvPr/>
        </p:nvSpPr>
        <p:spPr>
          <a:xfrm>
            <a:off x="7637150" y="1464625"/>
            <a:ext cx="224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33.3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8" name="Google Shape;3268;p62"/>
          <p:cNvSpPr txBox="1"/>
          <p:nvPr/>
        </p:nvSpPr>
        <p:spPr>
          <a:xfrm>
            <a:off x="9442132" y="1464618"/>
            <a:ext cx="144018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9" name="Google Shape;3269;p62"/>
          <p:cNvSpPr txBox="1"/>
          <p:nvPr/>
        </p:nvSpPr>
        <p:spPr>
          <a:xfrm>
            <a:off x="11146155" y="1464618"/>
            <a:ext cx="602932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7"/>
              <a:buFont typeface="Arial"/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0" name="Google Shape;3270;p62"/>
          <p:cNvSpPr txBox="1"/>
          <p:nvPr/>
        </p:nvSpPr>
        <p:spPr>
          <a:xfrm>
            <a:off x="1562844" y="5411093"/>
            <a:ext cx="324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30. Idade e log2(AFP + 1) por subtipo histológico.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1" name="Google Shape;3271;p62"/>
          <p:cNvSpPr txBox="1"/>
          <p:nvPr/>
        </p:nvSpPr>
        <p:spPr>
          <a:xfrm>
            <a:off x="6937248" y="1967859"/>
            <a:ext cx="4170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77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 de marcadores (Kruskal-Wallis, BH)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2" name="Google Shape;3272;p62"/>
          <p:cNvSpPr txBox="1"/>
          <p:nvPr/>
        </p:nvSpPr>
        <p:spPr>
          <a:xfrm>
            <a:off x="6984682" y="2406402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3" name="Google Shape;3273;p62"/>
          <p:cNvSpPr txBox="1"/>
          <p:nvPr/>
        </p:nvSpPr>
        <p:spPr>
          <a:xfrm>
            <a:off x="7918132" y="2406402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 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4" name="Google Shape;3274;p62"/>
          <p:cNvSpPr txBox="1"/>
          <p:nvPr/>
        </p:nvSpPr>
        <p:spPr>
          <a:xfrm>
            <a:off x="8881096" y="2406400"/>
            <a:ext cx="663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5" name="Google Shape;3275;p62"/>
          <p:cNvSpPr txBox="1"/>
          <p:nvPr/>
        </p:nvSpPr>
        <p:spPr>
          <a:xfrm>
            <a:off x="6984682" y="2699296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KRT19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6" name="Google Shape;3276;p62"/>
          <p:cNvSpPr txBox="1"/>
          <p:nvPr/>
        </p:nvSpPr>
        <p:spPr>
          <a:xfrm>
            <a:off x="7918132" y="2699296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7" name="Google Shape;3277;p62"/>
          <p:cNvSpPr txBox="1"/>
          <p:nvPr/>
        </p:nvSpPr>
        <p:spPr>
          <a:xfrm>
            <a:off x="9442132" y="2699296"/>
            <a:ext cx="14401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muito alto no 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8" name="Google Shape;3278;p62"/>
          <p:cNvSpPr txBox="1"/>
          <p:nvPr/>
        </p:nvSpPr>
        <p:spPr>
          <a:xfrm>
            <a:off x="6984682" y="2992189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EPCAM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9" name="Google Shape;3279;p62"/>
          <p:cNvSpPr txBox="1"/>
          <p:nvPr/>
        </p:nvSpPr>
        <p:spPr>
          <a:xfrm>
            <a:off x="7918132" y="2992189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0,0106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62"/>
          <p:cNvSpPr txBox="1"/>
          <p:nvPr/>
        </p:nvSpPr>
        <p:spPr>
          <a:xfrm>
            <a:off x="9442132" y="2992189"/>
            <a:ext cx="14401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muito alto no misto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1" name="Google Shape;3281;p62"/>
          <p:cNvSpPr txBox="1"/>
          <p:nvPr/>
        </p:nvSpPr>
        <p:spPr>
          <a:xfrm>
            <a:off x="6984682" y="3285083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2" name="Google Shape;3282;p62"/>
          <p:cNvSpPr txBox="1"/>
          <p:nvPr/>
        </p:nvSpPr>
        <p:spPr>
          <a:xfrm>
            <a:off x="7918132" y="3285083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0,00074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3" name="Google Shape;3283;p62"/>
          <p:cNvSpPr txBox="1"/>
          <p:nvPr/>
        </p:nvSpPr>
        <p:spPr>
          <a:xfrm>
            <a:off x="8891046" y="3285075"/>
            <a:ext cx="199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alto no misto/fibrolamelar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4" name="Google Shape;3284;p62"/>
          <p:cNvSpPr txBox="1"/>
          <p:nvPr/>
        </p:nvSpPr>
        <p:spPr>
          <a:xfrm>
            <a:off x="6984682" y="3577977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COL1A1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5" name="Google Shape;3285;p62"/>
          <p:cNvSpPr txBox="1"/>
          <p:nvPr/>
        </p:nvSpPr>
        <p:spPr>
          <a:xfrm>
            <a:off x="7918132" y="3577977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1" i="0" lang="en-US" sz="131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6" name="Google Shape;3286;p62"/>
          <p:cNvSpPr txBox="1"/>
          <p:nvPr/>
        </p:nvSpPr>
        <p:spPr>
          <a:xfrm>
            <a:off x="8890895" y="3577975"/>
            <a:ext cx="199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alto no misto/fibrolamelar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7" name="Google Shape;3287;p62"/>
          <p:cNvSpPr txBox="1"/>
          <p:nvPr/>
        </p:nvSpPr>
        <p:spPr>
          <a:xfrm>
            <a:off x="6984682" y="3870871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BIRC5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62"/>
          <p:cNvSpPr txBox="1"/>
          <p:nvPr/>
        </p:nvSpPr>
        <p:spPr>
          <a:xfrm>
            <a:off x="7918132" y="3870871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0,0598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9" name="Google Shape;3289;p62"/>
          <p:cNvSpPr txBox="1"/>
          <p:nvPr/>
        </p:nvSpPr>
        <p:spPr>
          <a:xfrm>
            <a:off x="8890896" y="3870875"/>
            <a:ext cx="19914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diferença após 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0" name="Google Shape;3290;p62"/>
          <p:cNvSpPr txBox="1"/>
          <p:nvPr/>
        </p:nvSpPr>
        <p:spPr>
          <a:xfrm>
            <a:off x="6984682" y="4163764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GPC3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p62"/>
          <p:cNvSpPr txBox="1"/>
          <p:nvPr/>
        </p:nvSpPr>
        <p:spPr>
          <a:xfrm>
            <a:off x="7918132" y="4163764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0,334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2" name="Google Shape;3292;p62"/>
          <p:cNvSpPr txBox="1"/>
          <p:nvPr/>
        </p:nvSpPr>
        <p:spPr>
          <a:xfrm>
            <a:off x="9442132" y="4163764"/>
            <a:ext cx="14401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diferença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3" name="Google Shape;3293;p62"/>
          <p:cNvSpPr txBox="1"/>
          <p:nvPr/>
        </p:nvSpPr>
        <p:spPr>
          <a:xfrm>
            <a:off x="6984682" y="4456658"/>
            <a:ext cx="576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4" name="Google Shape;3294;p62"/>
          <p:cNvSpPr txBox="1"/>
          <p:nvPr/>
        </p:nvSpPr>
        <p:spPr>
          <a:xfrm>
            <a:off x="7918132" y="4456658"/>
            <a:ext cx="8867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0,152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5" name="Google Shape;3295;p62"/>
          <p:cNvSpPr txBox="1"/>
          <p:nvPr/>
        </p:nvSpPr>
        <p:spPr>
          <a:xfrm>
            <a:off x="9442132" y="4456658"/>
            <a:ext cx="144018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2"/>
              <a:buFont typeface="Arial"/>
              <a:buNone/>
            </a:pPr>
            <a:r>
              <a:rPr b="0" i="0" lang="en-US" sz="1312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diferença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6" name="Google Shape;3296;p62"/>
          <p:cNvSpPr txBox="1"/>
          <p:nvPr/>
        </p:nvSpPr>
        <p:spPr>
          <a:xfrm>
            <a:off x="6481762" y="5173414"/>
            <a:ext cx="33111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achado clínico mais evidente é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7" name="Google Shape;3297;p62"/>
          <p:cNvSpPr txBox="1"/>
          <p:nvPr/>
        </p:nvSpPr>
        <p:spPr>
          <a:xfrm>
            <a:off x="9813578" y="5173414"/>
            <a:ext cx="12553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muito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8" name="Google Shape;3298;p62"/>
          <p:cNvSpPr txBox="1"/>
          <p:nvPr/>
        </p:nvSpPr>
        <p:spPr>
          <a:xfrm>
            <a:off x="6481762" y="5460504"/>
            <a:ext cx="6963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1" i="0" lang="en-US" sz="1687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9" name="Google Shape;3299;p62"/>
          <p:cNvSpPr txBox="1"/>
          <p:nvPr/>
        </p:nvSpPr>
        <p:spPr>
          <a:xfrm>
            <a:off x="7198668" y="5460504"/>
            <a:ext cx="42474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carcinoma fibrolamelar (mediana 25 anos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0" name="Google Shape;3300;p62"/>
          <p:cNvSpPr txBox="1"/>
          <p:nvPr/>
        </p:nvSpPr>
        <p:spPr>
          <a:xfrm>
            <a:off x="6481762" y="5747593"/>
            <a:ext cx="4371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vs. 61–62) e a AFP baixa. n = 3 limita qualquer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1" name="Google Shape;3301;p62"/>
          <p:cNvSpPr txBox="1"/>
          <p:nvPr/>
        </p:nvSpPr>
        <p:spPr>
          <a:xfrm>
            <a:off x="6481762" y="6034683"/>
            <a:ext cx="102825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5" name="Shape 3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Google Shape;3306;p63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7" name="Google Shape;3307;p63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8" name="Google Shape;3308;p63"/>
          <p:cNvSpPr/>
          <p:nvPr/>
        </p:nvSpPr>
        <p:spPr>
          <a:xfrm>
            <a:off x="400050" y="715575"/>
            <a:ext cx="11391900" cy="1079700"/>
          </a:xfrm>
          <a:prstGeom prst="rect">
            <a:avLst/>
          </a:prstGeom>
          <a:noFill/>
          <a:ln cap="flat" cmpd="sng" w="107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63"/>
          <p:cNvSpPr/>
          <p:nvPr/>
        </p:nvSpPr>
        <p:spPr>
          <a:xfrm>
            <a:off x="404812" y="720932"/>
            <a:ext cx="10551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0" name="Google Shape;3310;p63"/>
          <p:cNvCxnSpPr/>
          <p:nvPr/>
        </p:nvCxnSpPr>
        <p:spPr>
          <a:xfrm>
            <a:off x="404812" y="725091"/>
            <a:ext cx="1055043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1" name="Google Shape;3311;p63"/>
          <p:cNvCxnSpPr/>
          <p:nvPr/>
        </p:nvCxnSpPr>
        <p:spPr>
          <a:xfrm>
            <a:off x="409575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2" name="Google Shape;3312;p63"/>
          <p:cNvSpPr/>
          <p:nvPr/>
        </p:nvSpPr>
        <p:spPr>
          <a:xfrm>
            <a:off x="1459847" y="720932"/>
            <a:ext cx="4914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3" name="Google Shape;3313;p63"/>
          <p:cNvCxnSpPr/>
          <p:nvPr/>
        </p:nvCxnSpPr>
        <p:spPr>
          <a:xfrm>
            <a:off x="1459855" y="725091"/>
            <a:ext cx="49128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4" name="Google Shape;3314;p63"/>
          <p:cNvCxnSpPr/>
          <p:nvPr/>
        </p:nvCxnSpPr>
        <p:spPr>
          <a:xfrm>
            <a:off x="1464610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5" name="Google Shape;3315;p63"/>
          <p:cNvSpPr/>
          <p:nvPr/>
        </p:nvSpPr>
        <p:spPr>
          <a:xfrm>
            <a:off x="1951126" y="720932"/>
            <a:ext cx="14784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6" name="Google Shape;3316;p63"/>
          <p:cNvCxnSpPr/>
          <p:nvPr/>
        </p:nvCxnSpPr>
        <p:spPr>
          <a:xfrm>
            <a:off x="1951137" y="725091"/>
            <a:ext cx="147830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7" name="Google Shape;3317;p63"/>
          <p:cNvCxnSpPr/>
          <p:nvPr/>
        </p:nvCxnSpPr>
        <p:spPr>
          <a:xfrm>
            <a:off x="1955887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8" name="Google Shape;3318;p63"/>
          <p:cNvSpPr/>
          <p:nvPr/>
        </p:nvSpPr>
        <p:spPr>
          <a:xfrm>
            <a:off x="3429424" y="720932"/>
            <a:ext cx="14169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9" name="Google Shape;3319;p63"/>
          <p:cNvCxnSpPr/>
          <p:nvPr/>
        </p:nvCxnSpPr>
        <p:spPr>
          <a:xfrm>
            <a:off x="3429446" y="725091"/>
            <a:ext cx="141684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0" name="Google Shape;3320;p63"/>
          <p:cNvCxnSpPr/>
          <p:nvPr/>
        </p:nvCxnSpPr>
        <p:spPr>
          <a:xfrm>
            <a:off x="3434187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1" name="Google Shape;3321;p63"/>
          <p:cNvSpPr/>
          <p:nvPr/>
        </p:nvSpPr>
        <p:spPr>
          <a:xfrm>
            <a:off x="4846257" y="720932"/>
            <a:ext cx="16563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2" name="Google Shape;3322;p63"/>
          <p:cNvCxnSpPr/>
          <p:nvPr/>
        </p:nvCxnSpPr>
        <p:spPr>
          <a:xfrm>
            <a:off x="4846290" y="725091"/>
            <a:ext cx="16561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3" name="Google Shape;3323;p63"/>
          <p:cNvCxnSpPr/>
          <p:nvPr/>
        </p:nvCxnSpPr>
        <p:spPr>
          <a:xfrm>
            <a:off x="4851020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4" name="Google Shape;3324;p63"/>
          <p:cNvSpPr/>
          <p:nvPr/>
        </p:nvSpPr>
        <p:spPr>
          <a:xfrm>
            <a:off x="6502405" y="720932"/>
            <a:ext cx="15789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5" name="Google Shape;3325;p63"/>
          <p:cNvCxnSpPr/>
          <p:nvPr/>
        </p:nvCxnSpPr>
        <p:spPr>
          <a:xfrm>
            <a:off x="6502450" y="725091"/>
            <a:ext cx="1578768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6" name="Google Shape;3326;p63"/>
          <p:cNvCxnSpPr/>
          <p:nvPr/>
        </p:nvCxnSpPr>
        <p:spPr>
          <a:xfrm>
            <a:off x="6507167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7" name="Google Shape;3327;p63"/>
          <p:cNvSpPr/>
          <p:nvPr/>
        </p:nvSpPr>
        <p:spPr>
          <a:xfrm>
            <a:off x="8081161" y="720932"/>
            <a:ext cx="13257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8" name="Google Shape;3328;p63"/>
          <p:cNvCxnSpPr/>
          <p:nvPr/>
        </p:nvCxnSpPr>
        <p:spPr>
          <a:xfrm>
            <a:off x="8081218" y="725091"/>
            <a:ext cx="1325612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9" name="Google Shape;3329;p63"/>
          <p:cNvCxnSpPr/>
          <p:nvPr/>
        </p:nvCxnSpPr>
        <p:spPr>
          <a:xfrm>
            <a:off x="8085924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0" name="Google Shape;3330;p63"/>
          <p:cNvSpPr/>
          <p:nvPr/>
        </p:nvSpPr>
        <p:spPr>
          <a:xfrm>
            <a:off x="9406763" y="720932"/>
            <a:ext cx="16209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1" name="Google Shape;3331;p63"/>
          <p:cNvCxnSpPr/>
          <p:nvPr/>
        </p:nvCxnSpPr>
        <p:spPr>
          <a:xfrm>
            <a:off x="9406830" y="725091"/>
            <a:ext cx="162073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2" name="Google Shape;3332;p63"/>
          <p:cNvCxnSpPr/>
          <p:nvPr/>
        </p:nvCxnSpPr>
        <p:spPr>
          <a:xfrm>
            <a:off x="9411526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3" name="Google Shape;3333;p63"/>
          <p:cNvSpPr/>
          <p:nvPr/>
        </p:nvSpPr>
        <p:spPr>
          <a:xfrm>
            <a:off x="11027490" y="720932"/>
            <a:ext cx="759900" cy="225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4" name="Google Shape;3334;p63"/>
          <p:cNvCxnSpPr/>
          <p:nvPr/>
        </p:nvCxnSpPr>
        <p:spPr>
          <a:xfrm>
            <a:off x="11027569" y="725091"/>
            <a:ext cx="75961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5" name="Google Shape;3335;p63"/>
          <p:cNvCxnSpPr/>
          <p:nvPr/>
        </p:nvCxnSpPr>
        <p:spPr>
          <a:xfrm>
            <a:off x="11032252" y="720932"/>
            <a:ext cx="0" cy="225000"/>
          </a:xfrm>
          <a:prstGeom prst="straightConnector1">
            <a:avLst/>
          </a:prstGeom>
          <a:noFill/>
          <a:ln cap="flat" cmpd="sng" w="107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6" name="Google Shape;3336;p63"/>
          <p:cNvSpPr/>
          <p:nvPr/>
        </p:nvSpPr>
        <p:spPr>
          <a:xfrm>
            <a:off x="404812" y="945968"/>
            <a:ext cx="10551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7" name="Google Shape;3337;p63"/>
          <p:cNvCxnSpPr/>
          <p:nvPr/>
        </p:nvCxnSpPr>
        <p:spPr>
          <a:xfrm>
            <a:off x="404812" y="951326"/>
            <a:ext cx="10551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8" name="Google Shape;3338;p63"/>
          <p:cNvCxnSpPr/>
          <p:nvPr/>
        </p:nvCxnSpPr>
        <p:spPr>
          <a:xfrm>
            <a:off x="409575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9" name="Google Shape;3339;p63"/>
          <p:cNvSpPr/>
          <p:nvPr/>
        </p:nvSpPr>
        <p:spPr>
          <a:xfrm>
            <a:off x="1459847" y="945968"/>
            <a:ext cx="4914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0" name="Google Shape;3340;p63"/>
          <p:cNvCxnSpPr/>
          <p:nvPr/>
        </p:nvCxnSpPr>
        <p:spPr>
          <a:xfrm>
            <a:off x="1459847" y="951326"/>
            <a:ext cx="491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1" name="Google Shape;3341;p63"/>
          <p:cNvCxnSpPr/>
          <p:nvPr/>
        </p:nvCxnSpPr>
        <p:spPr>
          <a:xfrm>
            <a:off x="1464610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2" name="Google Shape;3342;p63"/>
          <p:cNvSpPr/>
          <p:nvPr/>
        </p:nvSpPr>
        <p:spPr>
          <a:xfrm>
            <a:off x="1951126" y="945968"/>
            <a:ext cx="14784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3" name="Google Shape;3343;p63"/>
          <p:cNvCxnSpPr/>
          <p:nvPr/>
        </p:nvCxnSpPr>
        <p:spPr>
          <a:xfrm>
            <a:off x="1951126" y="951326"/>
            <a:ext cx="1478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4" name="Google Shape;3344;p63"/>
          <p:cNvCxnSpPr/>
          <p:nvPr/>
        </p:nvCxnSpPr>
        <p:spPr>
          <a:xfrm>
            <a:off x="1955887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5" name="Google Shape;3345;p63"/>
          <p:cNvSpPr/>
          <p:nvPr/>
        </p:nvSpPr>
        <p:spPr>
          <a:xfrm>
            <a:off x="3429424" y="945968"/>
            <a:ext cx="1416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6" name="Google Shape;3346;p63"/>
          <p:cNvCxnSpPr/>
          <p:nvPr/>
        </p:nvCxnSpPr>
        <p:spPr>
          <a:xfrm>
            <a:off x="3429424" y="951326"/>
            <a:ext cx="1416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7" name="Google Shape;3347;p63"/>
          <p:cNvCxnSpPr/>
          <p:nvPr/>
        </p:nvCxnSpPr>
        <p:spPr>
          <a:xfrm>
            <a:off x="3434187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8" name="Google Shape;3348;p63"/>
          <p:cNvSpPr/>
          <p:nvPr/>
        </p:nvSpPr>
        <p:spPr>
          <a:xfrm>
            <a:off x="4846257" y="945968"/>
            <a:ext cx="16563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9" name="Google Shape;3349;p63"/>
          <p:cNvCxnSpPr/>
          <p:nvPr/>
        </p:nvCxnSpPr>
        <p:spPr>
          <a:xfrm>
            <a:off x="4846257" y="951326"/>
            <a:ext cx="16563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0" name="Google Shape;3350;p63"/>
          <p:cNvCxnSpPr/>
          <p:nvPr/>
        </p:nvCxnSpPr>
        <p:spPr>
          <a:xfrm>
            <a:off x="4851020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1" name="Google Shape;3351;p63"/>
          <p:cNvSpPr/>
          <p:nvPr/>
        </p:nvSpPr>
        <p:spPr>
          <a:xfrm>
            <a:off x="6502405" y="945968"/>
            <a:ext cx="1578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2" name="Google Shape;3352;p63"/>
          <p:cNvCxnSpPr/>
          <p:nvPr/>
        </p:nvCxnSpPr>
        <p:spPr>
          <a:xfrm>
            <a:off x="6502405" y="951326"/>
            <a:ext cx="1578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3" name="Google Shape;3353;p63"/>
          <p:cNvCxnSpPr/>
          <p:nvPr/>
        </p:nvCxnSpPr>
        <p:spPr>
          <a:xfrm>
            <a:off x="6507167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4" name="Google Shape;3354;p63"/>
          <p:cNvSpPr/>
          <p:nvPr/>
        </p:nvSpPr>
        <p:spPr>
          <a:xfrm>
            <a:off x="8081161" y="945968"/>
            <a:ext cx="1325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5" name="Google Shape;3355;p63"/>
          <p:cNvCxnSpPr/>
          <p:nvPr/>
        </p:nvCxnSpPr>
        <p:spPr>
          <a:xfrm>
            <a:off x="8081161" y="951326"/>
            <a:ext cx="13257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6" name="Google Shape;3356;p63"/>
          <p:cNvCxnSpPr/>
          <p:nvPr/>
        </p:nvCxnSpPr>
        <p:spPr>
          <a:xfrm>
            <a:off x="8085924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7" name="Google Shape;3357;p63"/>
          <p:cNvSpPr/>
          <p:nvPr/>
        </p:nvSpPr>
        <p:spPr>
          <a:xfrm>
            <a:off x="9406763" y="945968"/>
            <a:ext cx="1620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8" name="Google Shape;3358;p63"/>
          <p:cNvCxnSpPr/>
          <p:nvPr/>
        </p:nvCxnSpPr>
        <p:spPr>
          <a:xfrm>
            <a:off x="9406763" y="951326"/>
            <a:ext cx="1620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9" name="Google Shape;3359;p63"/>
          <p:cNvCxnSpPr/>
          <p:nvPr/>
        </p:nvCxnSpPr>
        <p:spPr>
          <a:xfrm>
            <a:off x="9411526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0" name="Google Shape;3360;p63"/>
          <p:cNvSpPr/>
          <p:nvPr/>
        </p:nvSpPr>
        <p:spPr>
          <a:xfrm>
            <a:off x="11027490" y="945968"/>
            <a:ext cx="759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1" name="Google Shape;3361;p63"/>
          <p:cNvCxnSpPr/>
          <p:nvPr/>
        </p:nvCxnSpPr>
        <p:spPr>
          <a:xfrm>
            <a:off x="11027490" y="951326"/>
            <a:ext cx="759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2" name="Google Shape;3362;p63"/>
          <p:cNvCxnSpPr/>
          <p:nvPr/>
        </p:nvCxnSpPr>
        <p:spPr>
          <a:xfrm>
            <a:off x="11032252" y="945968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3" name="Google Shape;3363;p63"/>
          <p:cNvSpPr/>
          <p:nvPr/>
        </p:nvSpPr>
        <p:spPr>
          <a:xfrm>
            <a:off x="404812" y="1156939"/>
            <a:ext cx="10551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4" name="Google Shape;3364;p63"/>
          <p:cNvCxnSpPr/>
          <p:nvPr/>
        </p:nvCxnSpPr>
        <p:spPr>
          <a:xfrm>
            <a:off x="404812" y="1162297"/>
            <a:ext cx="10551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5" name="Google Shape;3365;p63"/>
          <p:cNvCxnSpPr/>
          <p:nvPr/>
        </p:nvCxnSpPr>
        <p:spPr>
          <a:xfrm>
            <a:off x="409575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6" name="Google Shape;3366;p63"/>
          <p:cNvSpPr/>
          <p:nvPr/>
        </p:nvSpPr>
        <p:spPr>
          <a:xfrm>
            <a:off x="1459847" y="1156939"/>
            <a:ext cx="4914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7" name="Google Shape;3367;p63"/>
          <p:cNvCxnSpPr/>
          <p:nvPr/>
        </p:nvCxnSpPr>
        <p:spPr>
          <a:xfrm>
            <a:off x="1459847" y="1162297"/>
            <a:ext cx="491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8" name="Google Shape;3368;p63"/>
          <p:cNvCxnSpPr/>
          <p:nvPr/>
        </p:nvCxnSpPr>
        <p:spPr>
          <a:xfrm>
            <a:off x="1464610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9" name="Google Shape;3369;p63"/>
          <p:cNvSpPr/>
          <p:nvPr/>
        </p:nvSpPr>
        <p:spPr>
          <a:xfrm>
            <a:off x="1951126" y="1156939"/>
            <a:ext cx="14784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0" name="Google Shape;3370;p63"/>
          <p:cNvCxnSpPr/>
          <p:nvPr/>
        </p:nvCxnSpPr>
        <p:spPr>
          <a:xfrm>
            <a:off x="1951126" y="1162297"/>
            <a:ext cx="1478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1" name="Google Shape;3371;p63"/>
          <p:cNvCxnSpPr/>
          <p:nvPr/>
        </p:nvCxnSpPr>
        <p:spPr>
          <a:xfrm>
            <a:off x="1955887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2" name="Google Shape;3372;p63"/>
          <p:cNvSpPr/>
          <p:nvPr/>
        </p:nvSpPr>
        <p:spPr>
          <a:xfrm>
            <a:off x="3429424" y="1156939"/>
            <a:ext cx="1416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3" name="Google Shape;3373;p63"/>
          <p:cNvCxnSpPr/>
          <p:nvPr/>
        </p:nvCxnSpPr>
        <p:spPr>
          <a:xfrm>
            <a:off x="3429424" y="1162297"/>
            <a:ext cx="1416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4" name="Google Shape;3374;p63"/>
          <p:cNvCxnSpPr/>
          <p:nvPr/>
        </p:nvCxnSpPr>
        <p:spPr>
          <a:xfrm>
            <a:off x="3434187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5" name="Google Shape;3375;p63"/>
          <p:cNvSpPr/>
          <p:nvPr/>
        </p:nvSpPr>
        <p:spPr>
          <a:xfrm>
            <a:off x="4846257" y="1156939"/>
            <a:ext cx="16563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6" name="Google Shape;3376;p63"/>
          <p:cNvCxnSpPr/>
          <p:nvPr/>
        </p:nvCxnSpPr>
        <p:spPr>
          <a:xfrm>
            <a:off x="4846257" y="1162297"/>
            <a:ext cx="16563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7" name="Google Shape;3377;p63"/>
          <p:cNvCxnSpPr/>
          <p:nvPr/>
        </p:nvCxnSpPr>
        <p:spPr>
          <a:xfrm>
            <a:off x="4851020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8" name="Google Shape;3378;p63"/>
          <p:cNvSpPr/>
          <p:nvPr/>
        </p:nvSpPr>
        <p:spPr>
          <a:xfrm>
            <a:off x="6502405" y="1156939"/>
            <a:ext cx="1578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9" name="Google Shape;3379;p63"/>
          <p:cNvCxnSpPr/>
          <p:nvPr/>
        </p:nvCxnSpPr>
        <p:spPr>
          <a:xfrm>
            <a:off x="6502405" y="1162297"/>
            <a:ext cx="1578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0" name="Google Shape;3380;p63"/>
          <p:cNvCxnSpPr/>
          <p:nvPr/>
        </p:nvCxnSpPr>
        <p:spPr>
          <a:xfrm>
            <a:off x="6507167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1" name="Google Shape;3381;p63"/>
          <p:cNvSpPr/>
          <p:nvPr/>
        </p:nvSpPr>
        <p:spPr>
          <a:xfrm>
            <a:off x="8081161" y="1156939"/>
            <a:ext cx="13257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2" name="Google Shape;3382;p63"/>
          <p:cNvCxnSpPr/>
          <p:nvPr/>
        </p:nvCxnSpPr>
        <p:spPr>
          <a:xfrm>
            <a:off x="8081161" y="1162297"/>
            <a:ext cx="13257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3" name="Google Shape;3383;p63"/>
          <p:cNvCxnSpPr/>
          <p:nvPr/>
        </p:nvCxnSpPr>
        <p:spPr>
          <a:xfrm>
            <a:off x="8085924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4" name="Google Shape;3384;p63"/>
          <p:cNvSpPr/>
          <p:nvPr/>
        </p:nvSpPr>
        <p:spPr>
          <a:xfrm>
            <a:off x="9406763" y="1156939"/>
            <a:ext cx="1620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5" name="Google Shape;3385;p63"/>
          <p:cNvCxnSpPr/>
          <p:nvPr/>
        </p:nvCxnSpPr>
        <p:spPr>
          <a:xfrm>
            <a:off x="9406763" y="1162297"/>
            <a:ext cx="1620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6" name="Google Shape;3386;p63"/>
          <p:cNvCxnSpPr/>
          <p:nvPr/>
        </p:nvCxnSpPr>
        <p:spPr>
          <a:xfrm>
            <a:off x="9411526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7" name="Google Shape;3387;p63"/>
          <p:cNvSpPr/>
          <p:nvPr/>
        </p:nvSpPr>
        <p:spPr>
          <a:xfrm>
            <a:off x="11027490" y="1156939"/>
            <a:ext cx="759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8" name="Google Shape;3388;p63"/>
          <p:cNvCxnSpPr/>
          <p:nvPr/>
        </p:nvCxnSpPr>
        <p:spPr>
          <a:xfrm>
            <a:off x="11027490" y="1162297"/>
            <a:ext cx="759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9" name="Google Shape;3389;p63"/>
          <p:cNvCxnSpPr/>
          <p:nvPr/>
        </p:nvCxnSpPr>
        <p:spPr>
          <a:xfrm>
            <a:off x="11032252" y="1156939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0" name="Google Shape;3390;p63"/>
          <p:cNvSpPr/>
          <p:nvPr/>
        </p:nvSpPr>
        <p:spPr>
          <a:xfrm>
            <a:off x="404812" y="1367910"/>
            <a:ext cx="10551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1" name="Google Shape;3391;p63"/>
          <p:cNvCxnSpPr/>
          <p:nvPr/>
        </p:nvCxnSpPr>
        <p:spPr>
          <a:xfrm>
            <a:off x="404812" y="1373267"/>
            <a:ext cx="10551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2" name="Google Shape;3392;p63"/>
          <p:cNvCxnSpPr/>
          <p:nvPr/>
        </p:nvCxnSpPr>
        <p:spPr>
          <a:xfrm>
            <a:off x="409575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3" name="Google Shape;3393;p63"/>
          <p:cNvSpPr/>
          <p:nvPr/>
        </p:nvSpPr>
        <p:spPr>
          <a:xfrm>
            <a:off x="1459847" y="1367910"/>
            <a:ext cx="4914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4" name="Google Shape;3394;p63"/>
          <p:cNvCxnSpPr/>
          <p:nvPr/>
        </p:nvCxnSpPr>
        <p:spPr>
          <a:xfrm>
            <a:off x="1459847" y="1373267"/>
            <a:ext cx="491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5" name="Google Shape;3395;p63"/>
          <p:cNvCxnSpPr/>
          <p:nvPr/>
        </p:nvCxnSpPr>
        <p:spPr>
          <a:xfrm>
            <a:off x="1464610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6" name="Google Shape;3396;p63"/>
          <p:cNvSpPr/>
          <p:nvPr/>
        </p:nvSpPr>
        <p:spPr>
          <a:xfrm>
            <a:off x="1951126" y="1367910"/>
            <a:ext cx="14784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7" name="Google Shape;3397;p63"/>
          <p:cNvCxnSpPr/>
          <p:nvPr/>
        </p:nvCxnSpPr>
        <p:spPr>
          <a:xfrm>
            <a:off x="1951126" y="1373267"/>
            <a:ext cx="1478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8" name="Google Shape;3398;p63"/>
          <p:cNvCxnSpPr/>
          <p:nvPr/>
        </p:nvCxnSpPr>
        <p:spPr>
          <a:xfrm>
            <a:off x="1955887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9" name="Google Shape;3399;p63"/>
          <p:cNvSpPr/>
          <p:nvPr/>
        </p:nvSpPr>
        <p:spPr>
          <a:xfrm>
            <a:off x="3429424" y="1367910"/>
            <a:ext cx="1416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0" name="Google Shape;3400;p63"/>
          <p:cNvCxnSpPr/>
          <p:nvPr/>
        </p:nvCxnSpPr>
        <p:spPr>
          <a:xfrm>
            <a:off x="3429424" y="1373267"/>
            <a:ext cx="1416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1" name="Google Shape;3401;p63"/>
          <p:cNvCxnSpPr/>
          <p:nvPr/>
        </p:nvCxnSpPr>
        <p:spPr>
          <a:xfrm>
            <a:off x="3434187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2" name="Google Shape;3402;p63"/>
          <p:cNvSpPr/>
          <p:nvPr/>
        </p:nvSpPr>
        <p:spPr>
          <a:xfrm>
            <a:off x="4846257" y="1367910"/>
            <a:ext cx="16563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3" name="Google Shape;3403;p63"/>
          <p:cNvCxnSpPr/>
          <p:nvPr/>
        </p:nvCxnSpPr>
        <p:spPr>
          <a:xfrm>
            <a:off x="4846257" y="1373267"/>
            <a:ext cx="16563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4" name="Google Shape;3404;p63"/>
          <p:cNvCxnSpPr/>
          <p:nvPr/>
        </p:nvCxnSpPr>
        <p:spPr>
          <a:xfrm>
            <a:off x="4851020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5" name="Google Shape;3405;p63"/>
          <p:cNvSpPr/>
          <p:nvPr/>
        </p:nvSpPr>
        <p:spPr>
          <a:xfrm>
            <a:off x="6502405" y="1367910"/>
            <a:ext cx="1578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6" name="Google Shape;3406;p63"/>
          <p:cNvCxnSpPr/>
          <p:nvPr/>
        </p:nvCxnSpPr>
        <p:spPr>
          <a:xfrm>
            <a:off x="6502405" y="1373267"/>
            <a:ext cx="1578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7" name="Google Shape;3407;p63"/>
          <p:cNvCxnSpPr/>
          <p:nvPr/>
        </p:nvCxnSpPr>
        <p:spPr>
          <a:xfrm>
            <a:off x="6507167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8" name="Google Shape;3408;p63"/>
          <p:cNvSpPr/>
          <p:nvPr/>
        </p:nvSpPr>
        <p:spPr>
          <a:xfrm>
            <a:off x="8081161" y="1367910"/>
            <a:ext cx="1325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9" name="Google Shape;3409;p63"/>
          <p:cNvCxnSpPr/>
          <p:nvPr/>
        </p:nvCxnSpPr>
        <p:spPr>
          <a:xfrm>
            <a:off x="8081161" y="1373267"/>
            <a:ext cx="13257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0" name="Google Shape;3410;p63"/>
          <p:cNvCxnSpPr/>
          <p:nvPr/>
        </p:nvCxnSpPr>
        <p:spPr>
          <a:xfrm>
            <a:off x="8085924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1" name="Google Shape;3411;p63"/>
          <p:cNvSpPr/>
          <p:nvPr/>
        </p:nvSpPr>
        <p:spPr>
          <a:xfrm>
            <a:off x="9406763" y="1367910"/>
            <a:ext cx="1620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2" name="Google Shape;3412;p63"/>
          <p:cNvCxnSpPr/>
          <p:nvPr/>
        </p:nvCxnSpPr>
        <p:spPr>
          <a:xfrm>
            <a:off x="9406763" y="1373267"/>
            <a:ext cx="1620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3" name="Google Shape;3413;p63"/>
          <p:cNvCxnSpPr/>
          <p:nvPr/>
        </p:nvCxnSpPr>
        <p:spPr>
          <a:xfrm>
            <a:off x="9411526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4" name="Google Shape;3414;p63"/>
          <p:cNvSpPr/>
          <p:nvPr/>
        </p:nvSpPr>
        <p:spPr>
          <a:xfrm>
            <a:off x="11027490" y="1367910"/>
            <a:ext cx="7599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5" name="Google Shape;3415;p63"/>
          <p:cNvCxnSpPr/>
          <p:nvPr/>
        </p:nvCxnSpPr>
        <p:spPr>
          <a:xfrm>
            <a:off x="11027490" y="1373267"/>
            <a:ext cx="759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6" name="Google Shape;3416;p63"/>
          <p:cNvCxnSpPr/>
          <p:nvPr/>
        </p:nvCxnSpPr>
        <p:spPr>
          <a:xfrm>
            <a:off x="11032252" y="136791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7" name="Google Shape;3417;p63"/>
          <p:cNvSpPr/>
          <p:nvPr/>
        </p:nvSpPr>
        <p:spPr>
          <a:xfrm>
            <a:off x="404812" y="1578880"/>
            <a:ext cx="10551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8" name="Google Shape;3418;p63"/>
          <p:cNvCxnSpPr/>
          <p:nvPr/>
        </p:nvCxnSpPr>
        <p:spPr>
          <a:xfrm>
            <a:off x="404812" y="1584239"/>
            <a:ext cx="10551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9" name="Google Shape;3419;p63"/>
          <p:cNvCxnSpPr/>
          <p:nvPr/>
        </p:nvCxnSpPr>
        <p:spPr>
          <a:xfrm>
            <a:off x="409575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0" name="Google Shape;3420;p63"/>
          <p:cNvSpPr/>
          <p:nvPr/>
        </p:nvSpPr>
        <p:spPr>
          <a:xfrm>
            <a:off x="1459847" y="1578880"/>
            <a:ext cx="4914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1" name="Google Shape;3421;p63"/>
          <p:cNvCxnSpPr/>
          <p:nvPr/>
        </p:nvCxnSpPr>
        <p:spPr>
          <a:xfrm>
            <a:off x="1459847" y="1584239"/>
            <a:ext cx="491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2" name="Google Shape;3422;p63"/>
          <p:cNvCxnSpPr/>
          <p:nvPr/>
        </p:nvCxnSpPr>
        <p:spPr>
          <a:xfrm>
            <a:off x="1464610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3" name="Google Shape;3423;p63"/>
          <p:cNvSpPr/>
          <p:nvPr/>
        </p:nvSpPr>
        <p:spPr>
          <a:xfrm>
            <a:off x="1951126" y="1578880"/>
            <a:ext cx="14784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4" name="Google Shape;3424;p63"/>
          <p:cNvCxnSpPr/>
          <p:nvPr/>
        </p:nvCxnSpPr>
        <p:spPr>
          <a:xfrm>
            <a:off x="1951126" y="1584239"/>
            <a:ext cx="14784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5" name="Google Shape;3425;p63"/>
          <p:cNvCxnSpPr/>
          <p:nvPr/>
        </p:nvCxnSpPr>
        <p:spPr>
          <a:xfrm>
            <a:off x="1955887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6" name="Google Shape;3426;p63"/>
          <p:cNvSpPr/>
          <p:nvPr/>
        </p:nvSpPr>
        <p:spPr>
          <a:xfrm>
            <a:off x="3429424" y="1578880"/>
            <a:ext cx="1416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7" name="Google Shape;3427;p63"/>
          <p:cNvCxnSpPr/>
          <p:nvPr/>
        </p:nvCxnSpPr>
        <p:spPr>
          <a:xfrm>
            <a:off x="3429424" y="1584239"/>
            <a:ext cx="1416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8" name="Google Shape;3428;p63"/>
          <p:cNvCxnSpPr/>
          <p:nvPr/>
        </p:nvCxnSpPr>
        <p:spPr>
          <a:xfrm>
            <a:off x="3434187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9" name="Google Shape;3429;p63"/>
          <p:cNvSpPr/>
          <p:nvPr/>
        </p:nvSpPr>
        <p:spPr>
          <a:xfrm>
            <a:off x="4846257" y="1578880"/>
            <a:ext cx="16563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0" name="Google Shape;3430;p63"/>
          <p:cNvCxnSpPr/>
          <p:nvPr/>
        </p:nvCxnSpPr>
        <p:spPr>
          <a:xfrm>
            <a:off x="4846257" y="1584239"/>
            <a:ext cx="16563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1" name="Google Shape;3431;p63"/>
          <p:cNvCxnSpPr/>
          <p:nvPr/>
        </p:nvCxnSpPr>
        <p:spPr>
          <a:xfrm>
            <a:off x="4851020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2" name="Google Shape;3432;p63"/>
          <p:cNvSpPr/>
          <p:nvPr/>
        </p:nvSpPr>
        <p:spPr>
          <a:xfrm>
            <a:off x="6502405" y="1578880"/>
            <a:ext cx="1578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3" name="Google Shape;3433;p63"/>
          <p:cNvCxnSpPr/>
          <p:nvPr/>
        </p:nvCxnSpPr>
        <p:spPr>
          <a:xfrm>
            <a:off x="6502405" y="1584239"/>
            <a:ext cx="1578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4" name="Google Shape;3434;p63"/>
          <p:cNvCxnSpPr/>
          <p:nvPr/>
        </p:nvCxnSpPr>
        <p:spPr>
          <a:xfrm>
            <a:off x="6507167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5" name="Google Shape;3435;p63"/>
          <p:cNvSpPr/>
          <p:nvPr/>
        </p:nvSpPr>
        <p:spPr>
          <a:xfrm>
            <a:off x="8081161" y="1578880"/>
            <a:ext cx="13257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6" name="Google Shape;3436;p63"/>
          <p:cNvCxnSpPr/>
          <p:nvPr/>
        </p:nvCxnSpPr>
        <p:spPr>
          <a:xfrm>
            <a:off x="8081161" y="1584239"/>
            <a:ext cx="13257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7" name="Google Shape;3437;p63"/>
          <p:cNvCxnSpPr/>
          <p:nvPr/>
        </p:nvCxnSpPr>
        <p:spPr>
          <a:xfrm>
            <a:off x="8085924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8" name="Google Shape;3438;p63"/>
          <p:cNvSpPr/>
          <p:nvPr/>
        </p:nvSpPr>
        <p:spPr>
          <a:xfrm>
            <a:off x="9406763" y="1578880"/>
            <a:ext cx="1620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9" name="Google Shape;3439;p63"/>
          <p:cNvCxnSpPr/>
          <p:nvPr/>
        </p:nvCxnSpPr>
        <p:spPr>
          <a:xfrm>
            <a:off x="9406763" y="1584239"/>
            <a:ext cx="1620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0" name="Google Shape;3440;p63"/>
          <p:cNvCxnSpPr/>
          <p:nvPr/>
        </p:nvCxnSpPr>
        <p:spPr>
          <a:xfrm>
            <a:off x="9411526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1" name="Google Shape;3441;p63"/>
          <p:cNvSpPr/>
          <p:nvPr/>
        </p:nvSpPr>
        <p:spPr>
          <a:xfrm>
            <a:off x="11027490" y="1578880"/>
            <a:ext cx="759900" cy="210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51425" lIns="102850" spcFirstLastPara="1" rIns="102850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2" name="Google Shape;3442;p63"/>
          <p:cNvCxnSpPr/>
          <p:nvPr/>
        </p:nvCxnSpPr>
        <p:spPr>
          <a:xfrm>
            <a:off x="11027490" y="1584239"/>
            <a:ext cx="759900" cy="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3" name="Google Shape;3443;p63"/>
          <p:cNvCxnSpPr/>
          <p:nvPr/>
        </p:nvCxnSpPr>
        <p:spPr>
          <a:xfrm>
            <a:off x="11032252" y="1578880"/>
            <a:ext cx="0" cy="210900"/>
          </a:xfrm>
          <a:prstGeom prst="straightConnector1">
            <a:avLst/>
          </a:prstGeom>
          <a:noFill/>
          <a:ln cap="flat" cmpd="sng" w="107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4" name="Google Shape;3444;p63"/>
          <p:cNvSpPr/>
          <p:nvPr/>
        </p:nvSpPr>
        <p:spPr>
          <a:xfrm>
            <a:off x="6242596" y="3867448"/>
            <a:ext cx="5549354" cy="1314004"/>
          </a:xfrm>
          <a:prstGeom prst="roundRect">
            <a:avLst>
              <a:gd fmla="val 3624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5" name="Google Shape;3445;p63"/>
          <p:cNvCxnSpPr/>
          <p:nvPr/>
        </p:nvCxnSpPr>
        <p:spPr>
          <a:xfrm>
            <a:off x="6266408" y="3867448"/>
            <a:ext cx="0" cy="1314003"/>
          </a:xfrm>
          <a:prstGeom prst="straightConnector1">
            <a:avLst/>
          </a:prstGeom>
          <a:noFill/>
          <a:ln cap="flat" cmpd="sng" w="4762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6" name="Google Shape;3446;p63"/>
          <p:cNvSpPr/>
          <p:nvPr/>
        </p:nvSpPr>
        <p:spPr>
          <a:xfrm>
            <a:off x="6242596" y="5256758"/>
            <a:ext cx="5549354" cy="1290340"/>
          </a:xfrm>
          <a:prstGeom prst="roundRect">
            <a:avLst>
              <a:gd fmla="val 369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e5129d6af9ed60b63a46765fc2b81a6.png" id="3447" name="Google Shape;344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2240012"/>
            <a:ext cx="5549057" cy="3567261"/>
          </a:xfrm>
          <a:prstGeom prst="rect">
            <a:avLst/>
          </a:prstGeom>
          <a:noFill/>
          <a:ln>
            <a:noFill/>
          </a:ln>
        </p:spPr>
      </p:pic>
      <p:sp>
        <p:nvSpPr>
          <p:cNvPr id="3448" name="Google Shape;3448;p63"/>
          <p:cNvSpPr txBox="1"/>
          <p:nvPr/>
        </p:nvSpPr>
        <p:spPr>
          <a:xfrm>
            <a:off x="400050" y="161925"/>
            <a:ext cx="4343846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Grupos virais: composição clínica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9" name="Google Shape;3449;p63"/>
          <p:cNvSpPr txBox="1"/>
          <p:nvPr/>
        </p:nvSpPr>
        <p:spPr>
          <a:xfrm>
            <a:off x="438150" y="742532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0" name="Google Shape;3450;p63"/>
          <p:cNvSpPr txBox="1"/>
          <p:nvPr/>
        </p:nvSpPr>
        <p:spPr>
          <a:xfrm>
            <a:off x="1498274" y="742532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1" name="Google Shape;3451;p63"/>
          <p:cNvSpPr txBox="1"/>
          <p:nvPr/>
        </p:nvSpPr>
        <p:spPr>
          <a:xfrm>
            <a:off x="1988808" y="742532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mediana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2" name="Google Shape;3452;p63"/>
          <p:cNvSpPr txBox="1"/>
          <p:nvPr/>
        </p:nvSpPr>
        <p:spPr>
          <a:xfrm>
            <a:off x="3467077" y="742532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Masculino (%)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3" name="Google Shape;3453;p63"/>
          <p:cNvSpPr txBox="1"/>
          <p:nvPr/>
        </p:nvSpPr>
        <p:spPr>
          <a:xfrm>
            <a:off x="4884387" y="742532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 (%)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4" name="Google Shape;3454;p63"/>
          <p:cNvSpPr txBox="1"/>
          <p:nvPr/>
        </p:nvSpPr>
        <p:spPr>
          <a:xfrm>
            <a:off x="6540772" y="742532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 (%)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5" name="Google Shape;3455;p63"/>
          <p:cNvSpPr txBox="1"/>
          <p:nvPr/>
        </p:nvSpPr>
        <p:spPr>
          <a:xfrm>
            <a:off x="8119053" y="742532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 mediana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6" name="Google Shape;3456;p63"/>
          <p:cNvSpPr txBox="1"/>
          <p:nvPr/>
        </p:nvSpPr>
        <p:spPr>
          <a:xfrm>
            <a:off x="9444923" y="742532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 mediana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7" name="Google Shape;3457;p63"/>
          <p:cNvSpPr txBox="1"/>
          <p:nvPr/>
        </p:nvSpPr>
        <p:spPr>
          <a:xfrm>
            <a:off x="11066066" y="742532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Óbitos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8" name="Google Shape;3458;p63"/>
          <p:cNvSpPr txBox="1"/>
          <p:nvPr/>
        </p:nvSpPr>
        <p:spPr>
          <a:xfrm>
            <a:off x="438150" y="960535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Unknown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9" name="Google Shape;3459;p63"/>
          <p:cNvSpPr txBox="1"/>
          <p:nvPr/>
        </p:nvSpPr>
        <p:spPr>
          <a:xfrm>
            <a:off x="1498274" y="960535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206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0" name="Google Shape;3460;p63"/>
          <p:cNvSpPr txBox="1"/>
          <p:nvPr/>
        </p:nvSpPr>
        <p:spPr>
          <a:xfrm>
            <a:off x="1988808" y="960535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1" name="Google Shape;3461;p63"/>
          <p:cNvSpPr txBox="1"/>
          <p:nvPr/>
        </p:nvSpPr>
        <p:spPr>
          <a:xfrm>
            <a:off x="3467077" y="960535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66.0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2" name="Google Shape;3462;p63"/>
          <p:cNvSpPr txBox="1"/>
          <p:nvPr/>
        </p:nvSpPr>
        <p:spPr>
          <a:xfrm>
            <a:off x="4884387" y="960535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17.5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3" name="Google Shape;3463;p63"/>
          <p:cNvSpPr txBox="1"/>
          <p:nvPr/>
        </p:nvSpPr>
        <p:spPr>
          <a:xfrm>
            <a:off x="6540772" y="960535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41.9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4" name="Google Shape;3464;p63"/>
          <p:cNvSpPr txBox="1"/>
          <p:nvPr/>
        </p:nvSpPr>
        <p:spPr>
          <a:xfrm>
            <a:off x="8119053" y="960535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24.5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5" name="Google Shape;3465;p63"/>
          <p:cNvSpPr txBox="1"/>
          <p:nvPr/>
        </p:nvSpPr>
        <p:spPr>
          <a:xfrm>
            <a:off x="9444923" y="960535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6" name="Google Shape;3466;p63"/>
          <p:cNvSpPr txBox="1"/>
          <p:nvPr/>
        </p:nvSpPr>
        <p:spPr>
          <a:xfrm>
            <a:off x="11066066" y="960535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7" name="Google Shape;3467;p63"/>
          <p:cNvSpPr txBox="1"/>
          <p:nvPr/>
        </p:nvSpPr>
        <p:spPr>
          <a:xfrm>
            <a:off x="438150" y="1171506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HBV+HCV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8" name="Google Shape;3468;p63"/>
          <p:cNvSpPr txBox="1"/>
          <p:nvPr/>
        </p:nvSpPr>
        <p:spPr>
          <a:xfrm>
            <a:off x="1498274" y="1171506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9" name="Google Shape;3469;p63"/>
          <p:cNvSpPr txBox="1"/>
          <p:nvPr/>
        </p:nvSpPr>
        <p:spPr>
          <a:xfrm>
            <a:off x="1988808" y="1171506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0" name="Google Shape;3470;p63"/>
          <p:cNvSpPr txBox="1"/>
          <p:nvPr/>
        </p:nvSpPr>
        <p:spPr>
          <a:xfrm>
            <a:off x="3467077" y="1171506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71.8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1" name="Google Shape;3471;p63"/>
          <p:cNvSpPr txBox="1"/>
          <p:nvPr/>
        </p:nvSpPr>
        <p:spPr>
          <a:xfrm>
            <a:off x="4884387" y="1171506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45.8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2" name="Google Shape;3472;p63"/>
          <p:cNvSpPr txBox="1"/>
          <p:nvPr/>
        </p:nvSpPr>
        <p:spPr>
          <a:xfrm>
            <a:off x="6540772" y="1171506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23.8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3" name="Google Shape;3473;p63"/>
          <p:cNvSpPr txBox="1"/>
          <p:nvPr/>
        </p:nvSpPr>
        <p:spPr>
          <a:xfrm>
            <a:off x="8119053" y="1171506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4" name="Google Shape;3474;p63"/>
          <p:cNvSpPr txBox="1"/>
          <p:nvPr/>
        </p:nvSpPr>
        <p:spPr>
          <a:xfrm>
            <a:off x="9444923" y="1171506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63"/>
          <p:cNvSpPr txBox="1"/>
          <p:nvPr/>
        </p:nvSpPr>
        <p:spPr>
          <a:xfrm>
            <a:off x="11066066" y="1171506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6" name="Google Shape;3476;p63"/>
          <p:cNvSpPr txBox="1"/>
          <p:nvPr/>
        </p:nvSpPr>
        <p:spPr>
          <a:xfrm>
            <a:off x="438150" y="1382477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7" name="Google Shape;3477;p63"/>
          <p:cNvSpPr txBox="1"/>
          <p:nvPr/>
        </p:nvSpPr>
        <p:spPr>
          <a:xfrm>
            <a:off x="1498274" y="1382477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59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8" name="Google Shape;3478;p63"/>
          <p:cNvSpPr txBox="1"/>
          <p:nvPr/>
        </p:nvSpPr>
        <p:spPr>
          <a:xfrm>
            <a:off x="1988808" y="1382477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9" name="Google Shape;3479;p63"/>
          <p:cNvSpPr txBox="1"/>
          <p:nvPr/>
        </p:nvSpPr>
        <p:spPr>
          <a:xfrm>
            <a:off x="3467077" y="1382477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0" name="Google Shape;3480;p63"/>
          <p:cNvSpPr txBox="1"/>
          <p:nvPr/>
        </p:nvSpPr>
        <p:spPr>
          <a:xfrm>
            <a:off x="4884387" y="1382477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30.4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1" name="Google Shape;3481;p63"/>
          <p:cNvSpPr txBox="1"/>
          <p:nvPr/>
        </p:nvSpPr>
        <p:spPr>
          <a:xfrm>
            <a:off x="6540772" y="1382477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42.4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2" name="Google Shape;3482;p63"/>
          <p:cNvSpPr txBox="1"/>
          <p:nvPr/>
        </p:nvSpPr>
        <p:spPr>
          <a:xfrm>
            <a:off x="8119053" y="1382477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3" name="Google Shape;3483;p63"/>
          <p:cNvSpPr txBox="1"/>
          <p:nvPr/>
        </p:nvSpPr>
        <p:spPr>
          <a:xfrm>
            <a:off x="9444923" y="1382477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4" name="Google Shape;3484;p63"/>
          <p:cNvSpPr txBox="1"/>
          <p:nvPr/>
        </p:nvSpPr>
        <p:spPr>
          <a:xfrm>
            <a:off x="11066066" y="1382477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5" name="Google Shape;3485;p63"/>
          <p:cNvSpPr txBox="1"/>
          <p:nvPr/>
        </p:nvSpPr>
        <p:spPr>
          <a:xfrm>
            <a:off x="438150" y="1593447"/>
            <a:ext cx="98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HCV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6" name="Google Shape;3486;p63"/>
          <p:cNvSpPr txBox="1"/>
          <p:nvPr/>
        </p:nvSpPr>
        <p:spPr>
          <a:xfrm>
            <a:off x="1498274" y="1593447"/>
            <a:ext cx="414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7" name="Google Shape;3487;p63"/>
          <p:cNvSpPr txBox="1"/>
          <p:nvPr/>
        </p:nvSpPr>
        <p:spPr>
          <a:xfrm>
            <a:off x="1988808" y="1593447"/>
            <a:ext cx="14019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8" name="Google Shape;3488;p63"/>
          <p:cNvSpPr txBox="1"/>
          <p:nvPr/>
        </p:nvSpPr>
        <p:spPr>
          <a:xfrm>
            <a:off x="3467077" y="1593447"/>
            <a:ext cx="1341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84.2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9" name="Google Shape;3489;p63"/>
          <p:cNvSpPr txBox="1"/>
          <p:nvPr/>
        </p:nvSpPr>
        <p:spPr>
          <a:xfrm>
            <a:off x="4884387" y="1593447"/>
            <a:ext cx="13440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11.8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0" name="Google Shape;3490;p63"/>
          <p:cNvSpPr txBox="1"/>
          <p:nvPr/>
        </p:nvSpPr>
        <p:spPr>
          <a:xfrm>
            <a:off x="6540772" y="1593447"/>
            <a:ext cx="1502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11.1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1" name="Google Shape;3491;p63"/>
          <p:cNvSpPr txBox="1"/>
          <p:nvPr/>
        </p:nvSpPr>
        <p:spPr>
          <a:xfrm>
            <a:off x="8119053" y="1593447"/>
            <a:ext cx="1249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2" name="Google Shape;3492;p63"/>
          <p:cNvSpPr txBox="1"/>
          <p:nvPr/>
        </p:nvSpPr>
        <p:spPr>
          <a:xfrm>
            <a:off x="9444923" y="1593447"/>
            <a:ext cx="154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3" name="Google Shape;3493;p63"/>
          <p:cNvSpPr txBox="1"/>
          <p:nvPr/>
        </p:nvSpPr>
        <p:spPr>
          <a:xfrm>
            <a:off x="11066066" y="1593447"/>
            <a:ext cx="6828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-US" sz="928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4" name="Google Shape;3494;p63"/>
          <p:cNvSpPr txBox="1"/>
          <p:nvPr/>
        </p:nvSpPr>
        <p:spPr>
          <a:xfrm>
            <a:off x="965448" y="5837337"/>
            <a:ext cx="2037011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31. log2(AFP + 1) por grupo viral.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5" name="Google Shape;3495;p63"/>
          <p:cNvSpPr txBox="1"/>
          <p:nvPr/>
        </p:nvSpPr>
        <p:spPr>
          <a:xfrm>
            <a:off x="2995315" y="5856387"/>
            <a:ext cx="502295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6" name="Google Shape;3496;p63"/>
          <p:cNvSpPr txBox="1"/>
          <p:nvPr/>
        </p:nvSpPr>
        <p:spPr>
          <a:xfrm>
            <a:off x="3490466" y="5837337"/>
            <a:ext cx="19313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mostrado, mas não entra nos testes.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7" name="Google Shape;3497;p63"/>
          <p:cNvSpPr txBox="1"/>
          <p:nvPr/>
        </p:nvSpPr>
        <p:spPr>
          <a:xfrm>
            <a:off x="6242596" y="1862286"/>
            <a:ext cx="15073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Testes após BH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8" name="Google Shape;3498;p63"/>
          <p:cNvSpPr txBox="1"/>
          <p:nvPr/>
        </p:nvSpPr>
        <p:spPr>
          <a:xfrm>
            <a:off x="6472982" y="2314724"/>
            <a:ext cx="405259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 HBV, HCV e HBV+HCV: diferenças 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9" name="Google Shape;3499;p63"/>
          <p:cNvSpPr txBox="1"/>
          <p:nvPr/>
        </p:nvSpPr>
        <p:spPr>
          <a:xfrm>
            <a:off x="10544919" y="2314724"/>
            <a:ext cx="7241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fibrose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0" name="Google Shape;3500;p63"/>
          <p:cNvSpPr txBox="1"/>
          <p:nvPr/>
        </p:nvSpPr>
        <p:spPr>
          <a:xfrm>
            <a:off x="11288316" y="2314724"/>
            <a:ext cx="42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1" name="Google Shape;3501;p63"/>
          <p:cNvSpPr txBox="1"/>
          <p:nvPr/>
        </p:nvSpPr>
        <p:spPr>
          <a:xfrm>
            <a:off x="6472975" y="2603218"/>
            <a:ext cx="7572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0,0389)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2" name="Google Shape;3502;p63"/>
          <p:cNvSpPr txBox="1"/>
          <p:nvPr/>
        </p:nvSpPr>
        <p:spPr>
          <a:xfrm>
            <a:off x="7249418" y="2576661"/>
            <a:ext cx="75545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3" name="Google Shape;3503;p63"/>
          <p:cNvSpPr txBox="1"/>
          <p:nvPr/>
        </p:nvSpPr>
        <p:spPr>
          <a:xfrm>
            <a:off x="8024068" y="2576661"/>
            <a:ext cx="13232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(p = 0,0346)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4" name="Google Shape;3504;p63"/>
          <p:cNvSpPr txBox="1"/>
          <p:nvPr/>
        </p:nvSpPr>
        <p:spPr>
          <a:xfrm>
            <a:off x="9366647" y="2576661"/>
            <a:ext cx="4908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5" name="Google Shape;3505;p63"/>
          <p:cNvSpPr txBox="1"/>
          <p:nvPr/>
        </p:nvSpPr>
        <p:spPr>
          <a:xfrm>
            <a:off x="9876681" y="2576661"/>
            <a:ext cx="12017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(p = 0,0346).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6" name="Google Shape;3506;p63"/>
          <p:cNvSpPr txBox="1"/>
          <p:nvPr/>
        </p:nvSpPr>
        <p:spPr>
          <a:xfrm>
            <a:off x="6472982" y="2884587"/>
            <a:ext cx="14016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Conhecido vs.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7" name="Google Shape;3507;p63"/>
          <p:cNvSpPr txBox="1"/>
          <p:nvPr/>
        </p:nvSpPr>
        <p:spPr>
          <a:xfrm>
            <a:off x="7894439" y="2922687"/>
            <a:ext cx="89758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8" name="Google Shape;3508;p63"/>
          <p:cNvSpPr txBox="1"/>
          <p:nvPr/>
        </p:nvSpPr>
        <p:spPr>
          <a:xfrm>
            <a:off x="8753921" y="2884587"/>
            <a:ext cx="9495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9" name="Google Shape;3509;p63"/>
          <p:cNvSpPr txBox="1"/>
          <p:nvPr/>
        </p:nvSpPr>
        <p:spPr>
          <a:xfrm>
            <a:off x="8868221" y="2922687"/>
            <a:ext cx="89758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0" name="Google Shape;3510;p63"/>
          <p:cNvSpPr txBox="1"/>
          <p:nvPr/>
        </p:nvSpPr>
        <p:spPr>
          <a:xfrm>
            <a:off x="9785003" y="2884587"/>
            <a:ext cx="20370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 menos III–IV (p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1" name="Google Shape;3511;p63"/>
          <p:cNvSpPr txBox="1"/>
          <p:nvPr/>
        </p:nvSpPr>
        <p:spPr>
          <a:xfrm>
            <a:off x="6472982" y="3156049"/>
            <a:ext cx="509885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0,00071), mais G3–G4 (p = 0,0346) e maior fibrose (p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2" name="Google Shape;3512;p63"/>
          <p:cNvSpPr txBox="1"/>
          <p:nvPr/>
        </p:nvSpPr>
        <p:spPr>
          <a:xfrm>
            <a:off x="6472982" y="3417987"/>
            <a:ext cx="75708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0,0023)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3" name="Google Shape;3513;p63"/>
          <p:cNvSpPr txBox="1"/>
          <p:nvPr/>
        </p:nvSpPr>
        <p:spPr>
          <a:xfrm>
            <a:off x="6440984" y="4180582"/>
            <a:ext cx="8112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4" name="Google Shape;3514;p63"/>
          <p:cNvSpPr txBox="1"/>
          <p:nvPr/>
        </p:nvSpPr>
        <p:spPr>
          <a:xfrm>
            <a:off x="7265789" y="4152007"/>
            <a:ext cx="209401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missing aleatório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5" name="Google Shape;3515;p63"/>
          <p:cNvSpPr txBox="1"/>
          <p:nvPr/>
        </p:nvSpPr>
        <p:spPr>
          <a:xfrm>
            <a:off x="9373195" y="4152007"/>
            <a:ext cx="1369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6" name="Google Shape;3516;p63"/>
          <p:cNvSpPr txBox="1"/>
          <p:nvPr/>
        </p:nvSpPr>
        <p:spPr>
          <a:xfrm>
            <a:off x="9523661" y="4152007"/>
            <a:ext cx="115386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deve 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7" name="Google Shape;3517;p63"/>
          <p:cNvSpPr txBox="1"/>
          <p:nvPr/>
        </p:nvSpPr>
        <p:spPr>
          <a:xfrm>
            <a:off x="6440984" y="4406652"/>
            <a:ext cx="3065264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1" i="0" lang="en-US" sz="1485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interpretado como “sem infecção”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8" name="Google Shape;3518;p63"/>
          <p:cNvSpPr txBox="1"/>
          <p:nvPr/>
        </p:nvSpPr>
        <p:spPr>
          <a:xfrm>
            <a:off x="9468148" y="4406652"/>
            <a:ext cx="1853208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Análises restritas aos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63"/>
          <p:cNvSpPr txBox="1"/>
          <p:nvPr/>
        </p:nvSpPr>
        <p:spPr>
          <a:xfrm>
            <a:off x="6440984" y="4642247"/>
            <a:ext cx="342245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5"/>
              <a:buFont typeface="Arial"/>
              <a:buNone/>
            </a:pPr>
            <a:r>
              <a:rPr b="0" i="0" lang="en-US" sz="148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casos conhecidos podem ser enviesadas.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0" name="Google Shape;3520;p63"/>
          <p:cNvSpPr txBox="1"/>
          <p:nvPr/>
        </p:nvSpPr>
        <p:spPr>
          <a:xfrm>
            <a:off x="6350050" y="5510510"/>
            <a:ext cx="3510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63"/>
          <p:cNvSpPr txBox="1"/>
          <p:nvPr/>
        </p:nvSpPr>
        <p:spPr>
          <a:xfrm>
            <a:off x="6704261" y="5510510"/>
            <a:ext cx="14497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vírus da hepatite B;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63"/>
          <p:cNvSpPr txBox="1"/>
          <p:nvPr/>
        </p:nvSpPr>
        <p:spPr>
          <a:xfrm>
            <a:off x="8157270" y="5510510"/>
            <a:ext cx="3485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1" i="0" lang="en-US" sz="1188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63"/>
          <p:cNvSpPr txBox="1"/>
          <p:nvPr/>
        </p:nvSpPr>
        <p:spPr>
          <a:xfrm>
            <a:off x="8508950" y="5510510"/>
            <a:ext cx="318804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vírus da hepatite C. No painel, “HBV” e “HCV”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4" name="Google Shape;3524;p63"/>
          <p:cNvSpPr txBox="1"/>
          <p:nvPr/>
        </p:nvSpPr>
        <p:spPr>
          <a:xfrm>
            <a:off x="6350050" y="5699075"/>
            <a:ext cx="2672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p63"/>
          <p:cNvSpPr txBox="1"/>
          <p:nvPr/>
        </p:nvSpPr>
        <p:spPr>
          <a:xfrm>
            <a:off x="6588663" y="5699075"/>
            <a:ext cx="1402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1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grupos sorológicos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6" name="Google Shape;3526;p63"/>
          <p:cNvSpPr txBox="1"/>
          <p:nvPr/>
        </p:nvSpPr>
        <p:spPr>
          <a:xfrm>
            <a:off x="7861995" y="5699075"/>
            <a:ext cx="13757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derivados da coluna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7" name="Google Shape;3527;p63"/>
          <p:cNvSpPr txBox="1"/>
          <p:nvPr/>
        </p:nvSpPr>
        <p:spPr>
          <a:xfrm>
            <a:off x="9241036" y="5718125"/>
            <a:ext cx="2159794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viral_hepatitis_serology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8" name="Google Shape;3528;p63"/>
          <p:cNvSpPr txBox="1"/>
          <p:nvPr/>
        </p:nvSpPr>
        <p:spPr>
          <a:xfrm>
            <a:off x="11362730" y="5699075"/>
            <a:ext cx="70842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9" name="Google Shape;3529;p63"/>
          <p:cNvSpPr txBox="1"/>
          <p:nvPr/>
        </p:nvSpPr>
        <p:spPr>
          <a:xfrm>
            <a:off x="6350050" y="5897166"/>
            <a:ext cx="4961334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um diagnóstico de infecção ativa. O próximo slide detalha o que 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0" name="Google Shape;3530;p63"/>
          <p:cNvSpPr txBox="1"/>
          <p:nvPr/>
        </p:nvSpPr>
        <p:spPr>
          <a:xfrm>
            <a:off x="6350050" y="6085731"/>
            <a:ext cx="12891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None/>
            </a:pPr>
            <a:r>
              <a:rPr b="0" i="0" lang="en-US" sz="1188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marcador significa.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1" name="Google Shape;3531;p63"/>
          <p:cNvSpPr/>
          <p:nvPr/>
        </p:nvSpPr>
        <p:spPr>
          <a:xfrm>
            <a:off x="6269718" y="243150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2" name="Google Shape;3532;p63"/>
          <p:cNvSpPr/>
          <p:nvPr/>
        </p:nvSpPr>
        <p:spPr>
          <a:xfrm>
            <a:off x="6269718" y="3001363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3" name="Google Shape;3533;p63"/>
          <p:cNvSpPr/>
          <p:nvPr/>
        </p:nvSpPr>
        <p:spPr>
          <a:xfrm>
            <a:off x="400050" y="6575673"/>
            <a:ext cx="11391900" cy="266700"/>
          </a:xfrm>
          <a:prstGeom prst="roundRect">
            <a:avLst>
              <a:gd fmla="val 12000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57150" spcFirstLastPara="1" rIns="57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Refs.: WHO, 2020 (HBV/HCV).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7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p66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9" name="Google Shape;3539;p66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0" name="Google Shape;3540;p66"/>
          <p:cNvSpPr/>
          <p:nvPr/>
        </p:nvSpPr>
        <p:spPr>
          <a:xfrm>
            <a:off x="7705130" y="820192"/>
            <a:ext cx="4086820" cy="1769269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1" name="Google Shape;3541;p66"/>
          <p:cNvSpPr/>
          <p:nvPr/>
        </p:nvSpPr>
        <p:spPr>
          <a:xfrm>
            <a:off x="7709892" y="824954"/>
            <a:ext cx="258366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2" name="Google Shape;3542;p66"/>
          <p:cNvCxnSpPr/>
          <p:nvPr/>
        </p:nvCxnSpPr>
        <p:spPr>
          <a:xfrm>
            <a:off x="7709892" y="829717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3" name="Google Shape;3543;p66"/>
          <p:cNvCxnSpPr/>
          <p:nvPr/>
        </p:nvCxnSpPr>
        <p:spPr>
          <a:xfrm>
            <a:off x="7714655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4" name="Google Shape;3544;p66"/>
          <p:cNvSpPr/>
          <p:nvPr/>
        </p:nvSpPr>
        <p:spPr>
          <a:xfrm>
            <a:off x="7968258" y="824954"/>
            <a:ext cx="254794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5" name="Google Shape;3545;p66"/>
          <p:cNvCxnSpPr/>
          <p:nvPr/>
        </p:nvCxnSpPr>
        <p:spPr>
          <a:xfrm>
            <a:off x="7968258" y="829717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6" name="Google Shape;3546;p66"/>
          <p:cNvCxnSpPr/>
          <p:nvPr/>
        </p:nvCxnSpPr>
        <p:spPr>
          <a:xfrm>
            <a:off x="7973020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7" name="Google Shape;3547;p66"/>
          <p:cNvSpPr/>
          <p:nvPr/>
        </p:nvSpPr>
        <p:spPr>
          <a:xfrm>
            <a:off x="8223052" y="824954"/>
            <a:ext cx="561380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8" name="Google Shape;3548;p66"/>
          <p:cNvCxnSpPr/>
          <p:nvPr/>
        </p:nvCxnSpPr>
        <p:spPr>
          <a:xfrm>
            <a:off x="8223052" y="829717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9" name="Google Shape;3549;p66"/>
          <p:cNvCxnSpPr/>
          <p:nvPr/>
        </p:nvCxnSpPr>
        <p:spPr>
          <a:xfrm>
            <a:off x="8227814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0" name="Google Shape;3550;p66"/>
          <p:cNvSpPr/>
          <p:nvPr/>
        </p:nvSpPr>
        <p:spPr>
          <a:xfrm>
            <a:off x="8784431" y="824954"/>
            <a:ext cx="735360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1" name="Google Shape;3551;p66"/>
          <p:cNvCxnSpPr/>
          <p:nvPr/>
        </p:nvCxnSpPr>
        <p:spPr>
          <a:xfrm>
            <a:off x="8784431" y="829717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2" name="Google Shape;3552;p66"/>
          <p:cNvCxnSpPr/>
          <p:nvPr/>
        </p:nvCxnSpPr>
        <p:spPr>
          <a:xfrm>
            <a:off x="8789194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3" name="Google Shape;3553;p66"/>
          <p:cNvSpPr/>
          <p:nvPr/>
        </p:nvSpPr>
        <p:spPr>
          <a:xfrm>
            <a:off x="9519791" y="824954"/>
            <a:ext cx="820787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4" name="Google Shape;3554;p66"/>
          <p:cNvCxnSpPr/>
          <p:nvPr/>
        </p:nvCxnSpPr>
        <p:spPr>
          <a:xfrm>
            <a:off x="9519791" y="829717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5" name="Google Shape;3555;p66"/>
          <p:cNvCxnSpPr/>
          <p:nvPr/>
        </p:nvCxnSpPr>
        <p:spPr>
          <a:xfrm>
            <a:off x="9524554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6" name="Google Shape;3556;p66"/>
          <p:cNvSpPr/>
          <p:nvPr/>
        </p:nvSpPr>
        <p:spPr>
          <a:xfrm>
            <a:off x="10340578" y="824954"/>
            <a:ext cx="783431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7" name="Google Shape;3557;p66"/>
          <p:cNvCxnSpPr/>
          <p:nvPr/>
        </p:nvCxnSpPr>
        <p:spPr>
          <a:xfrm>
            <a:off x="10340578" y="829717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8" name="Google Shape;3558;p66"/>
          <p:cNvCxnSpPr/>
          <p:nvPr/>
        </p:nvCxnSpPr>
        <p:spPr>
          <a:xfrm>
            <a:off x="10345341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9" name="Google Shape;3559;p66"/>
          <p:cNvSpPr/>
          <p:nvPr/>
        </p:nvSpPr>
        <p:spPr>
          <a:xfrm>
            <a:off x="11124009" y="824954"/>
            <a:ext cx="663178" cy="32355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0" name="Google Shape;3560;p66"/>
          <p:cNvCxnSpPr/>
          <p:nvPr/>
        </p:nvCxnSpPr>
        <p:spPr>
          <a:xfrm>
            <a:off x="11124009" y="829717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1" name="Google Shape;3561;p66"/>
          <p:cNvCxnSpPr/>
          <p:nvPr/>
        </p:nvCxnSpPr>
        <p:spPr>
          <a:xfrm>
            <a:off x="11128772" y="824954"/>
            <a:ext cx="0" cy="323553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2" name="Google Shape;3562;p66"/>
          <p:cNvSpPr/>
          <p:nvPr/>
        </p:nvSpPr>
        <p:spPr>
          <a:xfrm>
            <a:off x="7709892" y="1148507"/>
            <a:ext cx="258366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3" name="Google Shape;3563;p66"/>
          <p:cNvCxnSpPr/>
          <p:nvPr/>
        </p:nvCxnSpPr>
        <p:spPr>
          <a:xfrm>
            <a:off x="7709892" y="1153269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4" name="Google Shape;3564;p66"/>
          <p:cNvCxnSpPr/>
          <p:nvPr/>
        </p:nvCxnSpPr>
        <p:spPr>
          <a:xfrm>
            <a:off x="7714655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5" name="Google Shape;3565;p66"/>
          <p:cNvSpPr/>
          <p:nvPr/>
        </p:nvSpPr>
        <p:spPr>
          <a:xfrm>
            <a:off x="7968258" y="1148507"/>
            <a:ext cx="254794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6" name="Google Shape;3566;p66"/>
          <p:cNvCxnSpPr/>
          <p:nvPr/>
        </p:nvCxnSpPr>
        <p:spPr>
          <a:xfrm>
            <a:off x="7968258" y="1153269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7" name="Google Shape;3567;p66"/>
          <p:cNvCxnSpPr/>
          <p:nvPr/>
        </p:nvCxnSpPr>
        <p:spPr>
          <a:xfrm>
            <a:off x="7973020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8" name="Google Shape;3568;p66"/>
          <p:cNvSpPr/>
          <p:nvPr/>
        </p:nvSpPr>
        <p:spPr>
          <a:xfrm>
            <a:off x="8223052" y="1148507"/>
            <a:ext cx="561380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9" name="Google Shape;3569;p66"/>
          <p:cNvCxnSpPr/>
          <p:nvPr/>
        </p:nvCxnSpPr>
        <p:spPr>
          <a:xfrm>
            <a:off x="8223052" y="1153269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0" name="Google Shape;3570;p66"/>
          <p:cNvCxnSpPr/>
          <p:nvPr/>
        </p:nvCxnSpPr>
        <p:spPr>
          <a:xfrm>
            <a:off x="8227814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1" name="Google Shape;3571;p66"/>
          <p:cNvSpPr/>
          <p:nvPr/>
        </p:nvSpPr>
        <p:spPr>
          <a:xfrm>
            <a:off x="8784431" y="1148507"/>
            <a:ext cx="735360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2" name="Google Shape;3572;p66"/>
          <p:cNvCxnSpPr/>
          <p:nvPr/>
        </p:nvCxnSpPr>
        <p:spPr>
          <a:xfrm>
            <a:off x="8784431" y="1153269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3" name="Google Shape;3573;p66"/>
          <p:cNvCxnSpPr/>
          <p:nvPr/>
        </p:nvCxnSpPr>
        <p:spPr>
          <a:xfrm>
            <a:off x="8789194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4" name="Google Shape;3574;p66"/>
          <p:cNvSpPr/>
          <p:nvPr/>
        </p:nvSpPr>
        <p:spPr>
          <a:xfrm>
            <a:off x="9519791" y="1148507"/>
            <a:ext cx="820787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5" name="Google Shape;3575;p66"/>
          <p:cNvCxnSpPr/>
          <p:nvPr/>
        </p:nvCxnSpPr>
        <p:spPr>
          <a:xfrm>
            <a:off x="9519791" y="1153269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6" name="Google Shape;3576;p66"/>
          <p:cNvCxnSpPr/>
          <p:nvPr/>
        </p:nvCxnSpPr>
        <p:spPr>
          <a:xfrm>
            <a:off x="9524554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7" name="Google Shape;3577;p66"/>
          <p:cNvSpPr/>
          <p:nvPr/>
        </p:nvSpPr>
        <p:spPr>
          <a:xfrm>
            <a:off x="10340578" y="1148507"/>
            <a:ext cx="783431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8" name="Google Shape;3578;p66"/>
          <p:cNvCxnSpPr/>
          <p:nvPr/>
        </p:nvCxnSpPr>
        <p:spPr>
          <a:xfrm>
            <a:off x="10340578" y="1153269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9" name="Google Shape;3579;p66"/>
          <p:cNvCxnSpPr/>
          <p:nvPr/>
        </p:nvCxnSpPr>
        <p:spPr>
          <a:xfrm>
            <a:off x="10345341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0" name="Google Shape;3580;p66"/>
          <p:cNvSpPr/>
          <p:nvPr/>
        </p:nvSpPr>
        <p:spPr>
          <a:xfrm>
            <a:off x="11124009" y="1148507"/>
            <a:ext cx="663178" cy="31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1" name="Google Shape;3581;p66"/>
          <p:cNvCxnSpPr/>
          <p:nvPr/>
        </p:nvCxnSpPr>
        <p:spPr>
          <a:xfrm>
            <a:off x="11124009" y="1153269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2" name="Google Shape;3582;p66"/>
          <p:cNvCxnSpPr/>
          <p:nvPr/>
        </p:nvCxnSpPr>
        <p:spPr>
          <a:xfrm>
            <a:off x="11128772" y="1148507"/>
            <a:ext cx="0" cy="31105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3" name="Google Shape;3583;p66"/>
          <p:cNvSpPr/>
          <p:nvPr/>
        </p:nvSpPr>
        <p:spPr>
          <a:xfrm>
            <a:off x="7709892" y="1459557"/>
            <a:ext cx="258366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4" name="Google Shape;3584;p66"/>
          <p:cNvCxnSpPr/>
          <p:nvPr/>
        </p:nvCxnSpPr>
        <p:spPr>
          <a:xfrm>
            <a:off x="7709892" y="1464320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5" name="Google Shape;3585;p66"/>
          <p:cNvCxnSpPr/>
          <p:nvPr/>
        </p:nvCxnSpPr>
        <p:spPr>
          <a:xfrm>
            <a:off x="7714655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6" name="Google Shape;3586;p66"/>
          <p:cNvSpPr/>
          <p:nvPr/>
        </p:nvSpPr>
        <p:spPr>
          <a:xfrm>
            <a:off x="7968258" y="1459557"/>
            <a:ext cx="254794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7" name="Google Shape;3587;p66"/>
          <p:cNvCxnSpPr/>
          <p:nvPr/>
        </p:nvCxnSpPr>
        <p:spPr>
          <a:xfrm>
            <a:off x="7968258" y="1464320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8" name="Google Shape;3588;p66"/>
          <p:cNvCxnSpPr/>
          <p:nvPr/>
        </p:nvCxnSpPr>
        <p:spPr>
          <a:xfrm>
            <a:off x="7973020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9" name="Google Shape;3589;p66"/>
          <p:cNvSpPr/>
          <p:nvPr/>
        </p:nvSpPr>
        <p:spPr>
          <a:xfrm>
            <a:off x="8223052" y="1459557"/>
            <a:ext cx="56138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0" name="Google Shape;3590;p66"/>
          <p:cNvCxnSpPr/>
          <p:nvPr/>
        </p:nvCxnSpPr>
        <p:spPr>
          <a:xfrm>
            <a:off x="8223052" y="1464320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1" name="Google Shape;3591;p66"/>
          <p:cNvCxnSpPr/>
          <p:nvPr/>
        </p:nvCxnSpPr>
        <p:spPr>
          <a:xfrm>
            <a:off x="8227814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2" name="Google Shape;3592;p66"/>
          <p:cNvSpPr/>
          <p:nvPr/>
        </p:nvSpPr>
        <p:spPr>
          <a:xfrm>
            <a:off x="8784431" y="1459557"/>
            <a:ext cx="73536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3" name="Google Shape;3593;p66"/>
          <p:cNvCxnSpPr/>
          <p:nvPr/>
        </p:nvCxnSpPr>
        <p:spPr>
          <a:xfrm>
            <a:off x="8784431" y="1464320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4" name="Google Shape;3594;p66"/>
          <p:cNvCxnSpPr/>
          <p:nvPr/>
        </p:nvCxnSpPr>
        <p:spPr>
          <a:xfrm>
            <a:off x="8789194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5" name="Google Shape;3595;p66"/>
          <p:cNvSpPr/>
          <p:nvPr/>
        </p:nvSpPr>
        <p:spPr>
          <a:xfrm>
            <a:off x="9519791" y="1459557"/>
            <a:ext cx="82078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6" name="Google Shape;3596;p66"/>
          <p:cNvCxnSpPr/>
          <p:nvPr/>
        </p:nvCxnSpPr>
        <p:spPr>
          <a:xfrm>
            <a:off x="9519791" y="1464320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7" name="Google Shape;3597;p66"/>
          <p:cNvCxnSpPr/>
          <p:nvPr/>
        </p:nvCxnSpPr>
        <p:spPr>
          <a:xfrm>
            <a:off x="9524554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8" name="Google Shape;3598;p66"/>
          <p:cNvSpPr/>
          <p:nvPr/>
        </p:nvSpPr>
        <p:spPr>
          <a:xfrm>
            <a:off x="10340578" y="1459557"/>
            <a:ext cx="78343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9" name="Google Shape;3599;p66"/>
          <p:cNvCxnSpPr/>
          <p:nvPr/>
        </p:nvCxnSpPr>
        <p:spPr>
          <a:xfrm>
            <a:off x="10340578" y="1464320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0" name="Google Shape;3600;p66"/>
          <p:cNvCxnSpPr/>
          <p:nvPr/>
        </p:nvCxnSpPr>
        <p:spPr>
          <a:xfrm>
            <a:off x="10345341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1" name="Google Shape;3601;p66"/>
          <p:cNvSpPr/>
          <p:nvPr/>
        </p:nvSpPr>
        <p:spPr>
          <a:xfrm>
            <a:off x="11124009" y="1459557"/>
            <a:ext cx="66317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2" name="Google Shape;3602;p66"/>
          <p:cNvCxnSpPr/>
          <p:nvPr/>
        </p:nvCxnSpPr>
        <p:spPr>
          <a:xfrm>
            <a:off x="11124009" y="1464320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3" name="Google Shape;3603;p66"/>
          <p:cNvCxnSpPr/>
          <p:nvPr/>
        </p:nvCxnSpPr>
        <p:spPr>
          <a:xfrm>
            <a:off x="11128772" y="1459557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4" name="Google Shape;3604;p66"/>
          <p:cNvSpPr/>
          <p:nvPr/>
        </p:nvSpPr>
        <p:spPr>
          <a:xfrm>
            <a:off x="7709892" y="1647081"/>
            <a:ext cx="258366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5" name="Google Shape;3605;p66"/>
          <p:cNvCxnSpPr/>
          <p:nvPr/>
        </p:nvCxnSpPr>
        <p:spPr>
          <a:xfrm>
            <a:off x="7709892" y="1651843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6" name="Google Shape;3606;p66"/>
          <p:cNvCxnSpPr/>
          <p:nvPr/>
        </p:nvCxnSpPr>
        <p:spPr>
          <a:xfrm>
            <a:off x="7714655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7" name="Google Shape;3607;p66"/>
          <p:cNvSpPr/>
          <p:nvPr/>
        </p:nvSpPr>
        <p:spPr>
          <a:xfrm>
            <a:off x="7968258" y="1647081"/>
            <a:ext cx="254794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8" name="Google Shape;3608;p66"/>
          <p:cNvCxnSpPr/>
          <p:nvPr/>
        </p:nvCxnSpPr>
        <p:spPr>
          <a:xfrm>
            <a:off x="7968258" y="1651843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9" name="Google Shape;3609;p66"/>
          <p:cNvCxnSpPr/>
          <p:nvPr/>
        </p:nvCxnSpPr>
        <p:spPr>
          <a:xfrm>
            <a:off x="7973020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0" name="Google Shape;3610;p66"/>
          <p:cNvSpPr/>
          <p:nvPr/>
        </p:nvSpPr>
        <p:spPr>
          <a:xfrm>
            <a:off x="8223052" y="1647081"/>
            <a:ext cx="56138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1" name="Google Shape;3611;p66"/>
          <p:cNvCxnSpPr/>
          <p:nvPr/>
        </p:nvCxnSpPr>
        <p:spPr>
          <a:xfrm>
            <a:off x="8223052" y="1651843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2" name="Google Shape;3612;p66"/>
          <p:cNvCxnSpPr/>
          <p:nvPr/>
        </p:nvCxnSpPr>
        <p:spPr>
          <a:xfrm>
            <a:off x="8227814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3" name="Google Shape;3613;p66"/>
          <p:cNvSpPr/>
          <p:nvPr/>
        </p:nvSpPr>
        <p:spPr>
          <a:xfrm>
            <a:off x="8784431" y="1647081"/>
            <a:ext cx="73536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4" name="Google Shape;3614;p66"/>
          <p:cNvCxnSpPr/>
          <p:nvPr/>
        </p:nvCxnSpPr>
        <p:spPr>
          <a:xfrm>
            <a:off x="8784431" y="1651843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5" name="Google Shape;3615;p66"/>
          <p:cNvCxnSpPr/>
          <p:nvPr/>
        </p:nvCxnSpPr>
        <p:spPr>
          <a:xfrm>
            <a:off x="8789194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6" name="Google Shape;3616;p66"/>
          <p:cNvSpPr/>
          <p:nvPr/>
        </p:nvSpPr>
        <p:spPr>
          <a:xfrm>
            <a:off x="9519791" y="1647081"/>
            <a:ext cx="82078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7" name="Google Shape;3617;p66"/>
          <p:cNvCxnSpPr/>
          <p:nvPr/>
        </p:nvCxnSpPr>
        <p:spPr>
          <a:xfrm>
            <a:off x="9519791" y="1651843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8" name="Google Shape;3618;p66"/>
          <p:cNvCxnSpPr/>
          <p:nvPr/>
        </p:nvCxnSpPr>
        <p:spPr>
          <a:xfrm>
            <a:off x="9524554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9" name="Google Shape;3619;p66"/>
          <p:cNvSpPr/>
          <p:nvPr/>
        </p:nvSpPr>
        <p:spPr>
          <a:xfrm>
            <a:off x="10340578" y="1647081"/>
            <a:ext cx="78343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0" name="Google Shape;3620;p66"/>
          <p:cNvCxnSpPr/>
          <p:nvPr/>
        </p:nvCxnSpPr>
        <p:spPr>
          <a:xfrm>
            <a:off x="10340578" y="1651843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1" name="Google Shape;3621;p66"/>
          <p:cNvCxnSpPr/>
          <p:nvPr/>
        </p:nvCxnSpPr>
        <p:spPr>
          <a:xfrm>
            <a:off x="10345341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2" name="Google Shape;3622;p66"/>
          <p:cNvSpPr/>
          <p:nvPr/>
        </p:nvSpPr>
        <p:spPr>
          <a:xfrm>
            <a:off x="11124009" y="1647081"/>
            <a:ext cx="66317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3" name="Google Shape;3623;p66"/>
          <p:cNvCxnSpPr/>
          <p:nvPr/>
        </p:nvCxnSpPr>
        <p:spPr>
          <a:xfrm>
            <a:off x="11124009" y="1651843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4" name="Google Shape;3624;p66"/>
          <p:cNvCxnSpPr/>
          <p:nvPr/>
        </p:nvCxnSpPr>
        <p:spPr>
          <a:xfrm>
            <a:off x="11128772" y="1647081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5" name="Google Shape;3625;p66"/>
          <p:cNvSpPr/>
          <p:nvPr/>
        </p:nvSpPr>
        <p:spPr>
          <a:xfrm>
            <a:off x="7709892" y="1834604"/>
            <a:ext cx="258366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6" name="Google Shape;3626;p66"/>
          <p:cNvCxnSpPr/>
          <p:nvPr/>
        </p:nvCxnSpPr>
        <p:spPr>
          <a:xfrm>
            <a:off x="7709892" y="1839367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7" name="Google Shape;3627;p66"/>
          <p:cNvCxnSpPr/>
          <p:nvPr/>
        </p:nvCxnSpPr>
        <p:spPr>
          <a:xfrm>
            <a:off x="7714655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8" name="Google Shape;3628;p66"/>
          <p:cNvSpPr/>
          <p:nvPr/>
        </p:nvSpPr>
        <p:spPr>
          <a:xfrm>
            <a:off x="7968258" y="1834604"/>
            <a:ext cx="254794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9" name="Google Shape;3629;p66"/>
          <p:cNvCxnSpPr/>
          <p:nvPr/>
        </p:nvCxnSpPr>
        <p:spPr>
          <a:xfrm>
            <a:off x="7968258" y="1839367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0" name="Google Shape;3630;p66"/>
          <p:cNvCxnSpPr/>
          <p:nvPr/>
        </p:nvCxnSpPr>
        <p:spPr>
          <a:xfrm>
            <a:off x="7973020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1" name="Google Shape;3631;p66"/>
          <p:cNvSpPr/>
          <p:nvPr/>
        </p:nvSpPr>
        <p:spPr>
          <a:xfrm>
            <a:off x="8223052" y="1834604"/>
            <a:ext cx="56138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2" name="Google Shape;3632;p66"/>
          <p:cNvCxnSpPr/>
          <p:nvPr/>
        </p:nvCxnSpPr>
        <p:spPr>
          <a:xfrm>
            <a:off x="8223052" y="1839367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3" name="Google Shape;3633;p66"/>
          <p:cNvCxnSpPr/>
          <p:nvPr/>
        </p:nvCxnSpPr>
        <p:spPr>
          <a:xfrm>
            <a:off x="8227814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4" name="Google Shape;3634;p66"/>
          <p:cNvSpPr/>
          <p:nvPr/>
        </p:nvSpPr>
        <p:spPr>
          <a:xfrm>
            <a:off x="8784431" y="1834604"/>
            <a:ext cx="73536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5" name="Google Shape;3635;p66"/>
          <p:cNvCxnSpPr/>
          <p:nvPr/>
        </p:nvCxnSpPr>
        <p:spPr>
          <a:xfrm>
            <a:off x="8784431" y="1839367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6" name="Google Shape;3636;p66"/>
          <p:cNvCxnSpPr/>
          <p:nvPr/>
        </p:nvCxnSpPr>
        <p:spPr>
          <a:xfrm>
            <a:off x="8789194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7" name="Google Shape;3637;p66"/>
          <p:cNvSpPr/>
          <p:nvPr/>
        </p:nvSpPr>
        <p:spPr>
          <a:xfrm>
            <a:off x="9519791" y="1834604"/>
            <a:ext cx="82078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8" name="Google Shape;3638;p66"/>
          <p:cNvCxnSpPr/>
          <p:nvPr/>
        </p:nvCxnSpPr>
        <p:spPr>
          <a:xfrm>
            <a:off x="9519791" y="1839367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9" name="Google Shape;3639;p66"/>
          <p:cNvCxnSpPr/>
          <p:nvPr/>
        </p:nvCxnSpPr>
        <p:spPr>
          <a:xfrm>
            <a:off x="9524554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0" name="Google Shape;3640;p66"/>
          <p:cNvSpPr/>
          <p:nvPr/>
        </p:nvSpPr>
        <p:spPr>
          <a:xfrm>
            <a:off x="10340578" y="1834604"/>
            <a:ext cx="78343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1" name="Google Shape;3641;p66"/>
          <p:cNvCxnSpPr/>
          <p:nvPr/>
        </p:nvCxnSpPr>
        <p:spPr>
          <a:xfrm>
            <a:off x="10340578" y="1839367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2" name="Google Shape;3642;p66"/>
          <p:cNvCxnSpPr/>
          <p:nvPr/>
        </p:nvCxnSpPr>
        <p:spPr>
          <a:xfrm>
            <a:off x="10345341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3" name="Google Shape;3643;p66"/>
          <p:cNvSpPr/>
          <p:nvPr/>
        </p:nvSpPr>
        <p:spPr>
          <a:xfrm>
            <a:off x="11124009" y="1834604"/>
            <a:ext cx="66317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4" name="Google Shape;3644;p66"/>
          <p:cNvCxnSpPr/>
          <p:nvPr/>
        </p:nvCxnSpPr>
        <p:spPr>
          <a:xfrm>
            <a:off x="11124009" y="1839367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5" name="Google Shape;3645;p66"/>
          <p:cNvCxnSpPr/>
          <p:nvPr/>
        </p:nvCxnSpPr>
        <p:spPr>
          <a:xfrm>
            <a:off x="11128772" y="1834604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6" name="Google Shape;3646;p66"/>
          <p:cNvSpPr/>
          <p:nvPr/>
        </p:nvSpPr>
        <p:spPr>
          <a:xfrm>
            <a:off x="7709892" y="2022128"/>
            <a:ext cx="258366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7" name="Google Shape;3647;p66"/>
          <p:cNvCxnSpPr/>
          <p:nvPr/>
        </p:nvCxnSpPr>
        <p:spPr>
          <a:xfrm>
            <a:off x="7709892" y="2026890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8" name="Google Shape;3648;p66"/>
          <p:cNvCxnSpPr/>
          <p:nvPr/>
        </p:nvCxnSpPr>
        <p:spPr>
          <a:xfrm>
            <a:off x="7714655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9" name="Google Shape;3649;p66"/>
          <p:cNvSpPr/>
          <p:nvPr/>
        </p:nvSpPr>
        <p:spPr>
          <a:xfrm>
            <a:off x="7968258" y="2022128"/>
            <a:ext cx="254794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0" name="Google Shape;3650;p66"/>
          <p:cNvCxnSpPr/>
          <p:nvPr/>
        </p:nvCxnSpPr>
        <p:spPr>
          <a:xfrm>
            <a:off x="7968258" y="2026890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1" name="Google Shape;3651;p66"/>
          <p:cNvCxnSpPr/>
          <p:nvPr/>
        </p:nvCxnSpPr>
        <p:spPr>
          <a:xfrm>
            <a:off x="7973020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2" name="Google Shape;3652;p66"/>
          <p:cNvSpPr/>
          <p:nvPr/>
        </p:nvSpPr>
        <p:spPr>
          <a:xfrm>
            <a:off x="8223052" y="2022128"/>
            <a:ext cx="56138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3" name="Google Shape;3653;p66"/>
          <p:cNvCxnSpPr/>
          <p:nvPr/>
        </p:nvCxnSpPr>
        <p:spPr>
          <a:xfrm>
            <a:off x="8223052" y="2026890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4" name="Google Shape;3654;p66"/>
          <p:cNvCxnSpPr/>
          <p:nvPr/>
        </p:nvCxnSpPr>
        <p:spPr>
          <a:xfrm>
            <a:off x="8227814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5" name="Google Shape;3655;p66"/>
          <p:cNvSpPr/>
          <p:nvPr/>
        </p:nvSpPr>
        <p:spPr>
          <a:xfrm>
            <a:off x="8784431" y="2022128"/>
            <a:ext cx="73536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6" name="Google Shape;3656;p66"/>
          <p:cNvCxnSpPr/>
          <p:nvPr/>
        </p:nvCxnSpPr>
        <p:spPr>
          <a:xfrm>
            <a:off x="8784431" y="2026890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7" name="Google Shape;3657;p66"/>
          <p:cNvCxnSpPr/>
          <p:nvPr/>
        </p:nvCxnSpPr>
        <p:spPr>
          <a:xfrm>
            <a:off x="8789194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8" name="Google Shape;3658;p66"/>
          <p:cNvSpPr/>
          <p:nvPr/>
        </p:nvSpPr>
        <p:spPr>
          <a:xfrm>
            <a:off x="9519791" y="2022128"/>
            <a:ext cx="82078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9" name="Google Shape;3659;p66"/>
          <p:cNvCxnSpPr/>
          <p:nvPr/>
        </p:nvCxnSpPr>
        <p:spPr>
          <a:xfrm>
            <a:off x="9519791" y="2026890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0" name="Google Shape;3660;p66"/>
          <p:cNvCxnSpPr/>
          <p:nvPr/>
        </p:nvCxnSpPr>
        <p:spPr>
          <a:xfrm>
            <a:off x="9524554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1" name="Google Shape;3661;p66"/>
          <p:cNvSpPr/>
          <p:nvPr/>
        </p:nvSpPr>
        <p:spPr>
          <a:xfrm>
            <a:off x="10340578" y="2022128"/>
            <a:ext cx="78343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2" name="Google Shape;3662;p66"/>
          <p:cNvCxnSpPr/>
          <p:nvPr/>
        </p:nvCxnSpPr>
        <p:spPr>
          <a:xfrm>
            <a:off x="10340578" y="2026890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3" name="Google Shape;3663;p66"/>
          <p:cNvCxnSpPr/>
          <p:nvPr/>
        </p:nvCxnSpPr>
        <p:spPr>
          <a:xfrm>
            <a:off x="10345341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4" name="Google Shape;3664;p66"/>
          <p:cNvSpPr/>
          <p:nvPr/>
        </p:nvSpPr>
        <p:spPr>
          <a:xfrm>
            <a:off x="11124009" y="2022128"/>
            <a:ext cx="66317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5" name="Google Shape;3665;p66"/>
          <p:cNvCxnSpPr/>
          <p:nvPr/>
        </p:nvCxnSpPr>
        <p:spPr>
          <a:xfrm>
            <a:off x="11124009" y="2026890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6" name="Google Shape;3666;p66"/>
          <p:cNvCxnSpPr/>
          <p:nvPr/>
        </p:nvCxnSpPr>
        <p:spPr>
          <a:xfrm>
            <a:off x="11128772" y="2022128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7" name="Google Shape;3667;p66"/>
          <p:cNvSpPr/>
          <p:nvPr/>
        </p:nvSpPr>
        <p:spPr>
          <a:xfrm>
            <a:off x="7709892" y="2209651"/>
            <a:ext cx="258366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8" name="Google Shape;3668;p66"/>
          <p:cNvCxnSpPr/>
          <p:nvPr/>
        </p:nvCxnSpPr>
        <p:spPr>
          <a:xfrm>
            <a:off x="7709892" y="2214414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9" name="Google Shape;3669;p66"/>
          <p:cNvCxnSpPr/>
          <p:nvPr/>
        </p:nvCxnSpPr>
        <p:spPr>
          <a:xfrm>
            <a:off x="7714655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0" name="Google Shape;3670;p66"/>
          <p:cNvSpPr/>
          <p:nvPr/>
        </p:nvSpPr>
        <p:spPr>
          <a:xfrm>
            <a:off x="7968258" y="2209651"/>
            <a:ext cx="254794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1" name="Google Shape;3671;p66"/>
          <p:cNvCxnSpPr/>
          <p:nvPr/>
        </p:nvCxnSpPr>
        <p:spPr>
          <a:xfrm>
            <a:off x="7968258" y="2214414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2" name="Google Shape;3672;p66"/>
          <p:cNvCxnSpPr/>
          <p:nvPr/>
        </p:nvCxnSpPr>
        <p:spPr>
          <a:xfrm>
            <a:off x="7973020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3" name="Google Shape;3673;p66"/>
          <p:cNvSpPr/>
          <p:nvPr/>
        </p:nvSpPr>
        <p:spPr>
          <a:xfrm>
            <a:off x="8223052" y="2209651"/>
            <a:ext cx="56138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4" name="Google Shape;3674;p66"/>
          <p:cNvCxnSpPr/>
          <p:nvPr/>
        </p:nvCxnSpPr>
        <p:spPr>
          <a:xfrm>
            <a:off x="8223052" y="2214414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5" name="Google Shape;3675;p66"/>
          <p:cNvCxnSpPr/>
          <p:nvPr/>
        </p:nvCxnSpPr>
        <p:spPr>
          <a:xfrm>
            <a:off x="8227814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6" name="Google Shape;3676;p66"/>
          <p:cNvSpPr/>
          <p:nvPr/>
        </p:nvSpPr>
        <p:spPr>
          <a:xfrm>
            <a:off x="8784431" y="2209651"/>
            <a:ext cx="735360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7" name="Google Shape;3677;p66"/>
          <p:cNvCxnSpPr/>
          <p:nvPr/>
        </p:nvCxnSpPr>
        <p:spPr>
          <a:xfrm>
            <a:off x="8784431" y="2214414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8" name="Google Shape;3678;p66"/>
          <p:cNvCxnSpPr/>
          <p:nvPr/>
        </p:nvCxnSpPr>
        <p:spPr>
          <a:xfrm>
            <a:off x="8789194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9" name="Google Shape;3679;p66"/>
          <p:cNvSpPr/>
          <p:nvPr/>
        </p:nvSpPr>
        <p:spPr>
          <a:xfrm>
            <a:off x="9519791" y="2209651"/>
            <a:ext cx="820787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0" name="Google Shape;3680;p66"/>
          <p:cNvCxnSpPr/>
          <p:nvPr/>
        </p:nvCxnSpPr>
        <p:spPr>
          <a:xfrm>
            <a:off x="9519791" y="2214414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1" name="Google Shape;3681;p66"/>
          <p:cNvCxnSpPr/>
          <p:nvPr/>
        </p:nvCxnSpPr>
        <p:spPr>
          <a:xfrm>
            <a:off x="9524554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2" name="Google Shape;3682;p66"/>
          <p:cNvSpPr/>
          <p:nvPr/>
        </p:nvSpPr>
        <p:spPr>
          <a:xfrm>
            <a:off x="10340578" y="2209651"/>
            <a:ext cx="783431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3" name="Google Shape;3683;p66"/>
          <p:cNvCxnSpPr/>
          <p:nvPr/>
        </p:nvCxnSpPr>
        <p:spPr>
          <a:xfrm>
            <a:off x="10340578" y="2214414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4" name="Google Shape;3684;p66"/>
          <p:cNvCxnSpPr/>
          <p:nvPr/>
        </p:nvCxnSpPr>
        <p:spPr>
          <a:xfrm>
            <a:off x="10345341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5" name="Google Shape;3685;p66"/>
          <p:cNvSpPr/>
          <p:nvPr/>
        </p:nvSpPr>
        <p:spPr>
          <a:xfrm>
            <a:off x="11124009" y="2209651"/>
            <a:ext cx="663178" cy="18752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6" name="Google Shape;3686;p66"/>
          <p:cNvCxnSpPr/>
          <p:nvPr/>
        </p:nvCxnSpPr>
        <p:spPr>
          <a:xfrm>
            <a:off x="11124009" y="2214414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7" name="Google Shape;3687;p66"/>
          <p:cNvCxnSpPr/>
          <p:nvPr/>
        </p:nvCxnSpPr>
        <p:spPr>
          <a:xfrm>
            <a:off x="11128772" y="2209651"/>
            <a:ext cx="0" cy="1875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8" name="Google Shape;3688;p66"/>
          <p:cNvSpPr/>
          <p:nvPr/>
        </p:nvSpPr>
        <p:spPr>
          <a:xfrm>
            <a:off x="7709892" y="2397175"/>
            <a:ext cx="258366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9" name="Google Shape;3689;p66"/>
          <p:cNvCxnSpPr/>
          <p:nvPr/>
        </p:nvCxnSpPr>
        <p:spPr>
          <a:xfrm>
            <a:off x="7709892" y="2401937"/>
            <a:ext cx="258366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0" name="Google Shape;3690;p66"/>
          <p:cNvCxnSpPr/>
          <p:nvPr/>
        </p:nvCxnSpPr>
        <p:spPr>
          <a:xfrm>
            <a:off x="7714655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1" name="Google Shape;3691;p66"/>
          <p:cNvSpPr/>
          <p:nvPr/>
        </p:nvSpPr>
        <p:spPr>
          <a:xfrm>
            <a:off x="7968258" y="2397175"/>
            <a:ext cx="254794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2" name="Google Shape;3692;p66"/>
          <p:cNvCxnSpPr/>
          <p:nvPr/>
        </p:nvCxnSpPr>
        <p:spPr>
          <a:xfrm>
            <a:off x="7968258" y="2401937"/>
            <a:ext cx="254794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3" name="Google Shape;3693;p66"/>
          <p:cNvCxnSpPr/>
          <p:nvPr/>
        </p:nvCxnSpPr>
        <p:spPr>
          <a:xfrm>
            <a:off x="7973020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4" name="Google Shape;3694;p66"/>
          <p:cNvSpPr/>
          <p:nvPr/>
        </p:nvSpPr>
        <p:spPr>
          <a:xfrm>
            <a:off x="8223052" y="2397175"/>
            <a:ext cx="56138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5" name="Google Shape;3695;p66"/>
          <p:cNvCxnSpPr/>
          <p:nvPr/>
        </p:nvCxnSpPr>
        <p:spPr>
          <a:xfrm>
            <a:off x="8223052" y="2401937"/>
            <a:ext cx="5613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6" name="Google Shape;3696;p66"/>
          <p:cNvCxnSpPr/>
          <p:nvPr/>
        </p:nvCxnSpPr>
        <p:spPr>
          <a:xfrm>
            <a:off x="8227814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7" name="Google Shape;3697;p66"/>
          <p:cNvSpPr/>
          <p:nvPr/>
        </p:nvSpPr>
        <p:spPr>
          <a:xfrm>
            <a:off x="8784431" y="2397175"/>
            <a:ext cx="735360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8" name="Google Shape;3698;p66"/>
          <p:cNvCxnSpPr/>
          <p:nvPr/>
        </p:nvCxnSpPr>
        <p:spPr>
          <a:xfrm>
            <a:off x="8784431" y="2401937"/>
            <a:ext cx="735360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9" name="Google Shape;3699;p66"/>
          <p:cNvCxnSpPr/>
          <p:nvPr/>
        </p:nvCxnSpPr>
        <p:spPr>
          <a:xfrm>
            <a:off x="8789194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0" name="Google Shape;3700;p66"/>
          <p:cNvSpPr/>
          <p:nvPr/>
        </p:nvSpPr>
        <p:spPr>
          <a:xfrm>
            <a:off x="9519791" y="2397175"/>
            <a:ext cx="820787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1" name="Google Shape;3701;p66"/>
          <p:cNvCxnSpPr/>
          <p:nvPr/>
        </p:nvCxnSpPr>
        <p:spPr>
          <a:xfrm>
            <a:off x="9519791" y="2401937"/>
            <a:ext cx="820787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2" name="Google Shape;3702;p66"/>
          <p:cNvCxnSpPr/>
          <p:nvPr/>
        </p:nvCxnSpPr>
        <p:spPr>
          <a:xfrm>
            <a:off x="9524554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3" name="Google Shape;3703;p66"/>
          <p:cNvSpPr/>
          <p:nvPr/>
        </p:nvSpPr>
        <p:spPr>
          <a:xfrm>
            <a:off x="10340578" y="2397175"/>
            <a:ext cx="783431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4" name="Google Shape;3704;p66"/>
          <p:cNvCxnSpPr/>
          <p:nvPr/>
        </p:nvCxnSpPr>
        <p:spPr>
          <a:xfrm>
            <a:off x="10340578" y="2401937"/>
            <a:ext cx="783431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5" name="Google Shape;3705;p66"/>
          <p:cNvCxnSpPr/>
          <p:nvPr/>
        </p:nvCxnSpPr>
        <p:spPr>
          <a:xfrm>
            <a:off x="10345341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6" name="Google Shape;3706;p66"/>
          <p:cNvSpPr/>
          <p:nvPr/>
        </p:nvSpPr>
        <p:spPr>
          <a:xfrm>
            <a:off x="11124009" y="2397175"/>
            <a:ext cx="663178" cy="187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7" name="Google Shape;3707;p66"/>
          <p:cNvCxnSpPr/>
          <p:nvPr/>
        </p:nvCxnSpPr>
        <p:spPr>
          <a:xfrm>
            <a:off x="11124009" y="2401937"/>
            <a:ext cx="663179" cy="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8" name="Google Shape;3708;p66"/>
          <p:cNvCxnSpPr/>
          <p:nvPr/>
        </p:nvCxnSpPr>
        <p:spPr>
          <a:xfrm>
            <a:off x="11128772" y="2397175"/>
            <a:ext cx="0" cy="187523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9" name="Google Shape;3709;p66"/>
          <p:cNvSpPr/>
          <p:nvPr/>
        </p:nvSpPr>
        <p:spPr>
          <a:xfrm>
            <a:off x="7705130" y="2728764"/>
            <a:ext cx="4086820" cy="1774627"/>
          </a:xfrm>
          <a:prstGeom prst="roundRect">
            <a:avLst>
              <a:gd fmla="val 2683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0" name="Google Shape;3710;p66"/>
          <p:cNvCxnSpPr/>
          <p:nvPr/>
        </p:nvCxnSpPr>
        <p:spPr>
          <a:xfrm>
            <a:off x="7728942" y="2728764"/>
            <a:ext cx="0" cy="1774626"/>
          </a:xfrm>
          <a:prstGeom prst="straightConnector1">
            <a:avLst/>
          </a:prstGeom>
          <a:noFill/>
          <a:ln cap="flat" cmpd="sng" w="476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1" name="Google Shape;3711;p66"/>
          <p:cNvSpPr/>
          <p:nvPr/>
        </p:nvSpPr>
        <p:spPr>
          <a:xfrm>
            <a:off x="7705130" y="4589115"/>
            <a:ext cx="4086820" cy="1692027"/>
          </a:xfrm>
          <a:prstGeom prst="roundRect">
            <a:avLst>
              <a:gd fmla="val 2814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625ac9639ef6799ba606de6f6d7c5c09.png" id="3712" name="Google Shape;371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492895"/>
            <a:ext cx="6971556" cy="3873103"/>
          </a:xfrm>
          <a:prstGeom prst="rect">
            <a:avLst/>
          </a:prstGeom>
          <a:noFill/>
          <a:ln>
            <a:noFill/>
          </a:ln>
        </p:spPr>
      </p:pic>
      <p:sp>
        <p:nvSpPr>
          <p:cNvPr id="3713" name="Google Shape;3713;p66"/>
          <p:cNvSpPr txBox="1"/>
          <p:nvPr/>
        </p:nvSpPr>
        <p:spPr>
          <a:xfrm>
            <a:off x="400050" y="161925"/>
            <a:ext cx="483111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Centros TCGA (TSS): distribuição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4" name="Google Shape;3714;p66"/>
          <p:cNvSpPr txBox="1"/>
          <p:nvPr/>
        </p:nvSpPr>
        <p:spPr>
          <a:xfrm>
            <a:off x="1916162" y="5401419"/>
            <a:ext cx="397743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2"/>
              <a:buFont typeface="Arial"/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Figura 33. Número de tumores por TSS (top 14 + agregado “Outros”).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5" name="Google Shape;3715;p66"/>
          <p:cNvSpPr txBox="1"/>
          <p:nvPr/>
        </p:nvSpPr>
        <p:spPr>
          <a:xfrm>
            <a:off x="7758559" y="967680"/>
            <a:ext cx="95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6" name="Google Shape;3716;p66"/>
          <p:cNvSpPr txBox="1"/>
          <p:nvPr/>
        </p:nvSpPr>
        <p:spPr>
          <a:xfrm>
            <a:off x="8006715" y="844153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7" name="Google Shape;3717;p66"/>
          <p:cNvSpPr txBox="1"/>
          <p:nvPr/>
        </p:nvSpPr>
        <p:spPr>
          <a:xfrm>
            <a:off x="8271718" y="844153"/>
            <a:ext cx="1262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8" name="Google Shape;3718;p66"/>
          <p:cNvSpPr txBox="1"/>
          <p:nvPr/>
        </p:nvSpPr>
        <p:spPr>
          <a:xfrm>
            <a:off x="8271718" y="967680"/>
            <a:ext cx="43130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9" name="Google Shape;3719;p66"/>
          <p:cNvSpPr txBox="1"/>
          <p:nvPr/>
        </p:nvSpPr>
        <p:spPr>
          <a:xfrm>
            <a:off x="8833098" y="844153"/>
            <a:ext cx="30539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0" name="Google Shape;3720;p66"/>
          <p:cNvSpPr txBox="1"/>
          <p:nvPr/>
        </p:nvSpPr>
        <p:spPr>
          <a:xfrm>
            <a:off x="8833098" y="967680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1" name="Google Shape;3721;p66"/>
          <p:cNvSpPr txBox="1"/>
          <p:nvPr/>
        </p:nvSpPr>
        <p:spPr>
          <a:xfrm>
            <a:off x="9568458" y="844153"/>
            <a:ext cx="6538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III–IV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2" name="Google Shape;3722;p66"/>
          <p:cNvSpPr txBox="1"/>
          <p:nvPr/>
        </p:nvSpPr>
        <p:spPr>
          <a:xfrm>
            <a:off x="9568458" y="967680"/>
            <a:ext cx="19585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3" name="Google Shape;3723;p66"/>
          <p:cNvSpPr txBox="1"/>
          <p:nvPr/>
        </p:nvSpPr>
        <p:spPr>
          <a:xfrm>
            <a:off x="10389245" y="844153"/>
            <a:ext cx="61168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 G3–G4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4" name="Google Shape;3724;p66"/>
          <p:cNvSpPr txBox="1"/>
          <p:nvPr/>
        </p:nvSpPr>
        <p:spPr>
          <a:xfrm>
            <a:off x="10389245" y="967680"/>
            <a:ext cx="195858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5" name="Google Shape;3725;p66"/>
          <p:cNvSpPr txBox="1"/>
          <p:nvPr/>
        </p:nvSpPr>
        <p:spPr>
          <a:xfrm>
            <a:off x="11172676" y="844153"/>
            <a:ext cx="22234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6" name="Google Shape;3726;p66"/>
          <p:cNvSpPr txBox="1"/>
          <p:nvPr/>
        </p:nvSpPr>
        <p:spPr>
          <a:xfrm>
            <a:off x="11172676" y="967680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7" name="Google Shape;3727;p66"/>
          <p:cNvSpPr txBox="1"/>
          <p:nvPr/>
        </p:nvSpPr>
        <p:spPr>
          <a:xfrm>
            <a:off x="7747635" y="1223218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8" name="Google Shape;3728;p66"/>
          <p:cNvSpPr txBox="1"/>
          <p:nvPr/>
        </p:nvSpPr>
        <p:spPr>
          <a:xfrm>
            <a:off x="8117830" y="1284982"/>
            <a:ext cx="9465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9" name="Google Shape;3729;p66"/>
          <p:cNvSpPr txBox="1"/>
          <p:nvPr/>
        </p:nvSpPr>
        <p:spPr>
          <a:xfrm>
            <a:off x="8261032" y="1223218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0" name="Google Shape;3730;p66"/>
          <p:cNvSpPr txBox="1"/>
          <p:nvPr/>
        </p:nvSpPr>
        <p:spPr>
          <a:xfrm>
            <a:off x="8822055" y="1223218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1" name="Google Shape;3731;p66"/>
          <p:cNvSpPr txBox="1"/>
          <p:nvPr/>
        </p:nvSpPr>
        <p:spPr>
          <a:xfrm>
            <a:off x="9558337" y="1223218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2" name="Google Shape;3732;p66"/>
          <p:cNvSpPr txBox="1"/>
          <p:nvPr/>
        </p:nvSpPr>
        <p:spPr>
          <a:xfrm>
            <a:off x="10378440" y="1223218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3" name="Google Shape;3733;p66"/>
          <p:cNvSpPr txBox="1"/>
          <p:nvPr/>
        </p:nvSpPr>
        <p:spPr>
          <a:xfrm>
            <a:off x="11162347" y="1223218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4" name="Google Shape;3734;p66"/>
          <p:cNvSpPr txBox="1"/>
          <p:nvPr/>
        </p:nvSpPr>
        <p:spPr>
          <a:xfrm>
            <a:off x="7747635" y="1472505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5" name="Google Shape;3735;p66"/>
          <p:cNvSpPr txBox="1"/>
          <p:nvPr/>
        </p:nvSpPr>
        <p:spPr>
          <a:xfrm>
            <a:off x="8006715" y="1472505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6" name="Google Shape;3736;p66"/>
          <p:cNvSpPr txBox="1"/>
          <p:nvPr/>
        </p:nvSpPr>
        <p:spPr>
          <a:xfrm>
            <a:off x="8261032" y="1472505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7" name="Google Shape;3737;p66"/>
          <p:cNvSpPr txBox="1"/>
          <p:nvPr/>
        </p:nvSpPr>
        <p:spPr>
          <a:xfrm>
            <a:off x="8822055" y="1472505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8" name="Google Shape;3738;p66"/>
          <p:cNvSpPr txBox="1"/>
          <p:nvPr/>
        </p:nvSpPr>
        <p:spPr>
          <a:xfrm>
            <a:off x="9558337" y="1472505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81.2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9" name="Google Shape;3739;p66"/>
          <p:cNvSpPr txBox="1"/>
          <p:nvPr/>
        </p:nvSpPr>
        <p:spPr>
          <a:xfrm>
            <a:off x="10378440" y="1472505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0" name="Google Shape;3740;p66"/>
          <p:cNvSpPr txBox="1"/>
          <p:nvPr/>
        </p:nvSpPr>
        <p:spPr>
          <a:xfrm>
            <a:off x="11162347" y="1472505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1" name="Google Shape;3741;p66"/>
          <p:cNvSpPr txBox="1"/>
          <p:nvPr/>
        </p:nvSpPr>
        <p:spPr>
          <a:xfrm>
            <a:off x="7747635" y="1660029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2" name="Google Shape;3742;p66"/>
          <p:cNvSpPr txBox="1"/>
          <p:nvPr/>
        </p:nvSpPr>
        <p:spPr>
          <a:xfrm>
            <a:off x="8006715" y="1660029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3" name="Google Shape;3743;p66"/>
          <p:cNvSpPr txBox="1"/>
          <p:nvPr/>
        </p:nvSpPr>
        <p:spPr>
          <a:xfrm>
            <a:off x="8261032" y="1660029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4" name="Google Shape;3744;p66"/>
          <p:cNvSpPr txBox="1"/>
          <p:nvPr/>
        </p:nvSpPr>
        <p:spPr>
          <a:xfrm>
            <a:off x="8822055" y="1660029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5" name="Google Shape;3745;p66"/>
          <p:cNvSpPr txBox="1"/>
          <p:nvPr/>
        </p:nvSpPr>
        <p:spPr>
          <a:xfrm>
            <a:off x="9558337" y="1660029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6" name="Google Shape;3746;p66"/>
          <p:cNvSpPr txBox="1"/>
          <p:nvPr/>
        </p:nvSpPr>
        <p:spPr>
          <a:xfrm>
            <a:off x="10378440" y="1660029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21.9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7" name="Google Shape;3747;p66"/>
          <p:cNvSpPr txBox="1"/>
          <p:nvPr/>
        </p:nvSpPr>
        <p:spPr>
          <a:xfrm>
            <a:off x="11162347" y="1660029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8" name="Google Shape;3748;p66"/>
          <p:cNvSpPr txBox="1"/>
          <p:nvPr/>
        </p:nvSpPr>
        <p:spPr>
          <a:xfrm>
            <a:off x="7747635" y="1847552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9" name="Google Shape;3749;p66"/>
          <p:cNvSpPr txBox="1"/>
          <p:nvPr/>
        </p:nvSpPr>
        <p:spPr>
          <a:xfrm>
            <a:off x="8006715" y="1847552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0" name="Google Shape;3750;p66"/>
          <p:cNvSpPr txBox="1"/>
          <p:nvPr/>
        </p:nvSpPr>
        <p:spPr>
          <a:xfrm>
            <a:off x="8261032" y="1847552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1" name="Google Shape;3751;p66"/>
          <p:cNvSpPr txBox="1"/>
          <p:nvPr/>
        </p:nvSpPr>
        <p:spPr>
          <a:xfrm>
            <a:off x="8822055" y="1847552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2" name="Google Shape;3752;p66"/>
          <p:cNvSpPr txBox="1"/>
          <p:nvPr/>
        </p:nvSpPr>
        <p:spPr>
          <a:xfrm>
            <a:off x="9558337" y="1847552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3" name="Google Shape;3753;p66"/>
          <p:cNvSpPr txBox="1"/>
          <p:nvPr/>
        </p:nvSpPr>
        <p:spPr>
          <a:xfrm>
            <a:off x="10378440" y="1847552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4" name="Google Shape;3754;p66"/>
          <p:cNvSpPr txBox="1"/>
          <p:nvPr/>
        </p:nvSpPr>
        <p:spPr>
          <a:xfrm>
            <a:off x="11162347" y="1847552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248.5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5" name="Google Shape;3755;p66"/>
          <p:cNvSpPr txBox="1"/>
          <p:nvPr/>
        </p:nvSpPr>
        <p:spPr>
          <a:xfrm>
            <a:off x="7747635" y="2035076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6" name="Google Shape;3756;p66"/>
          <p:cNvSpPr txBox="1"/>
          <p:nvPr/>
        </p:nvSpPr>
        <p:spPr>
          <a:xfrm>
            <a:off x="8006715" y="2035076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7" name="Google Shape;3757;p66"/>
          <p:cNvSpPr txBox="1"/>
          <p:nvPr/>
        </p:nvSpPr>
        <p:spPr>
          <a:xfrm>
            <a:off x="8261032" y="2035076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8" name="Google Shape;3758;p66"/>
          <p:cNvSpPr txBox="1"/>
          <p:nvPr/>
        </p:nvSpPr>
        <p:spPr>
          <a:xfrm>
            <a:off x="8822055" y="2035076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9" name="Google Shape;3759;p66"/>
          <p:cNvSpPr txBox="1"/>
          <p:nvPr/>
        </p:nvSpPr>
        <p:spPr>
          <a:xfrm>
            <a:off x="9558337" y="2035076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0" name="Google Shape;3760;p66"/>
          <p:cNvSpPr txBox="1"/>
          <p:nvPr/>
        </p:nvSpPr>
        <p:spPr>
          <a:xfrm>
            <a:off x="10378440" y="2035076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1" name="Google Shape;3761;p66"/>
          <p:cNvSpPr txBox="1"/>
          <p:nvPr/>
        </p:nvSpPr>
        <p:spPr>
          <a:xfrm>
            <a:off x="11162347" y="2035076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2" name="Google Shape;3762;p66"/>
          <p:cNvSpPr txBox="1"/>
          <p:nvPr/>
        </p:nvSpPr>
        <p:spPr>
          <a:xfrm>
            <a:off x="7747635" y="2222599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3" name="Google Shape;3763;p66"/>
          <p:cNvSpPr txBox="1"/>
          <p:nvPr/>
        </p:nvSpPr>
        <p:spPr>
          <a:xfrm>
            <a:off x="8006715" y="2222599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4" name="Google Shape;3764;p66"/>
          <p:cNvSpPr txBox="1"/>
          <p:nvPr/>
        </p:nvSpPr>
        <p:spPr>
          <a:xfrm>
            <a:off x="8261032" y="2222599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5" name="Google Shape;3765;p66"/>
          <p:cNvSpPr txBox="1"/>
          <p:nvPr/>
        </p:nvSpPr>
        <p:spPr>
          <a:xfrm>
            <a:off x="8822055" y="2222599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6" name="Google Shape;3766;p66"/>
          <p:cNvSpPr txBox="1"/>
          <p:nvPr/>
        </p:nvSpPr>
        <p:spPr>
          <a:xfrm>
            <a:off x="9558337" y="2222599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46.7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7" name="Google Shape;3767;p66"/>
          <p:cNvSpPr txBox="1"/>
          <p:nvPr/>
        </p:nvSpPr>
        <p:spPr>
          <a:xfrm>
            <a:off x="10378440" y="2222599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53.3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8" name="Google Shape;3768;p66"/>
          <p:cNvSpPr txBox="1"/>
          <p:nvPr/>
        </p:nvSpPr>
        <p:spPr>
          <a:xfrm>
            <a:off x="11162347" y="2222599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145.5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9" name="Google Shape;3769;p66"/>
          <p:cNvSpPr txBox="1"/>
          <p:nvPr/>
        </p:nvSpPr>
        <p:spPr>
          <a:xfrm>
            <a:off x="7747635" y="2410123"/>
            <a:ext cx="18288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0" name="Google Shape;3770;p66"/>
          <p:cNvSpPr txBox="1"/>
          <p:nvPr/>
        </p:nvSpPr>
        <p:spPr>
          <a:xfrm>
            <a:off x="8006715" y="2410123"/>
            <a:ext cx="17811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1" name="Google Shape;3771;p66"/>
          <p:cNvSpPr txBox="1"/>
          <p:nvPr/>
        </p:nvSpPr>
        <p:spPr>
          <a:xfrm>
            <a:off x="8261032" y="2410123"/>
            <a:ext cx="48482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2" name="Google Shape;3772;p66"/>
          <p:cNvSpPr txBox="1"/>
          <p:nvPr/>
        </p:nvSpPr>
        <p:spPr>
          <a:xfrm>
            <a:off x="8822055" y="2410123"/>
            <a:ext cx="66008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3" name="Google Shape;3773;p66"/>
          <p:cNvSpPr txBox="1"/>
          <p:nvPr/>
        </p:nvSpPr>
        <p:spPr>
          <a:xfrm>
            <a:off x="9558337" y="2410123"/>
            <a:ext cx="743902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4" name="Google Shape;3774;p66"/>
          <p:cNvSpPr txBox="1"/>
          <p:nvPr/>
        </p:nvSpPr>
        <p:spPr>
          <a:xfrm>
            <a:off x="10378440" y="2410123"/>
            <a:ext cx="707707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5" name="Google Shape;3775;p66"/>
          <p:cNvSpPr txBox="1"/>
          <p:nvPr/>
        </p:nvSpPr>
        <p:spPr>
          <a:xfrm>
            <a:off x="11162347" y="2410123"/>
            <a:ext cx="5867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67.0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6" name="Google Shape;3776;p66"/>
          <p:cNvSpPr txBox="1"/>
          <p:nvPr/>
        </p:nvSpPr>
        <p:spPr>
          <a:xfrm>
            <a:off x="7924205" y="3037136"/>
            <a:ext cx="26725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Distribuição muito desigual: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7" name="Google Shape;3777;p66"/>
          <p:cNvSpPr txBox="1"/>
          <p:nvPr/>
        </p:nvSpPr>
        <p:spPr>
          <a:xfrm>
            <a:off x="10617250" y="3065711"/>
            <a:ext cx="2893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8" name="Google Shape;3778;p66"/>
          <p:cNvSpPr txBox="1"/>
          <p:nvPr/>
        </p:nvSpPr>
        <p:spPr>
          <a:xfrm>
            <a:off x="10927110" y="3037136"/>
            <a:ext cx="18484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9" name="Google Shape;3779;p66"/>
          <p:cNvSpPr txBox="1"/>
          <p:nvPr/>
        </p:nvSpPr>
        <p:spPr>
          <a:xfrm>
            <a:off x="7924205" y="3333750"/>
            <a:ext cx="33550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39,0% dos tumores; muitos centros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0" name="Google Shape;3780;p66"/>
          <p:cNvSpPr txBox="1"/>
          <p:nvPr/>
        </p:nvSpPr>
        <p:spPr>
          <a:xfrm>
            <a:off x="7924205" y="3620839"/>
            <a:ext cx="360327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têm n = 1–3. Sete centros com n ≥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1" name="Google Shape;3781;p66"/>
          <p:cNvSpPr txBox="1"/>
          <p:nvPr/>
        </p:nvSpPr>
        <p:spPr>
          <a:xfrm>
            <a:off x="7924205" y="3907929"/>
            <a:ext cx="19487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7"/>
              <a:buFont typeface="Arial"/>
              <a:buNone/>
            </a:pPr>
            <a:r>
              <a:rPr b="0" i="0" lang="en-US" sz="1687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entraram nos testes.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66"/>
          <p:cNvSpPr txBox="1"/>
          <p:nvPr/>
        </p:nvSpPr>
        <p:spPr>
          <a:xfrm>
            <a:off x="7825978" y="4861024"/>
            <a:ext cx="3308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3" name="Google Shape;3783;p66"/>
          <p:cNvSpPr txBox="1"/>
          <p:nvPr/>
        </p:nvSpPr>
        <p:spPr>
          <a:xfrm>
            <a:off x="8165604" y="4861024"/>
            <a:ext cx="155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4" name="Google Shape;3784;p66"/>
          <p:cNvSpPr txBox="1"/>
          <p:nvPr/>
        </p:nvSpPr>
        <p:spPr>
          <a:xfrm>
            <a:off x="8330059" y="4861024"/>
            <a:ext cx="133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Tissue Source Site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5" name="Google Shape;3785;p66"/>
          <p:cNvSpPr txBox="1"/>
          <p:nvPr/>
        </p:nvSpPr>
        <p:spPr>
          <a:xfrm>
            <a:off x="9631859" y="4861024"/>
            <a:ext cx="18838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código do centro TCGA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6" name="Google Shape;3786;p66"/>
          <p:cNvSpPr txBox="1"/>
          <p:nvPr/>
        </p:nvSpPr>
        <p:spPr>
          <a:xfrm>
            <a:off x="7825978" y="5090666"/>
            <a:ext cx="33647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 coletou a amostra. Diferenças entre TSS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7" name="Google Shape;3787;p66"/>
          <p:cNvSpPr txBox="1"/>
          <p:nvPr/>
        </p:nvSpPr>
        <p:spPr>
          <a:xfrm>
            <a:off x="7825978" y="5320308"/>
            <a:ext cx="35952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podem ser biológicas (população, etiologia) 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8" name="Google Shape;3788;p66"/>
          <p:cNvSpPr txBox="1"/>
          <p:nvPr/>
        </p:nvSpPr>
        <p:spPr>
          <a:xfrm>
            <a:off x="7825978" y="5549950"/>
            <a:ext cx="374302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técnicas (lote, processamento); este desenho não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9" name="Google Shape;3789;p66"/>
          <p:cNvSpPr txBox="1"/>
          <p:nvPr/>
        </p:nvSpPr>
        <p:spPr>
          <a:xfrm>
            <a:off x="7825978" y="5779591"/>
            <a:ext cx="11845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 as duas.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0" name="Google Shape;3790;p66"/>
          <p:cNvSpPr/>
          <p:nvPr/>
        </p:nvSpPr>
        <p:spPr>
          <a:xfrm>
            <a:off x="400050" y="714375"/>
            <a:ext cx="7048500" cy="609600"/>
          </a:xfrm>
          <a:prstGeom prst="roundRect">
            <a:avLst>
              <a:gd fmla="val 10000" name="adj"/>
            </a:avLst>
          </a:prstGeom>
          <a:solidFill>
            <a:srgbClr val="ECFDF5"/>
          </a:solidFill>
          <a:ln cap="flat" cmpd="sng" w="1905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85725" spcFirstLastPara="1" rIns="85725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 = Tissue Source Site:</a:t>
            </a:r>
            <a:r>
              <a:rPr b="0" i="0" lang="en-US" sz="12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centro/instituição do TCGA que coletou a amostra (ex.: DD). Não é tipo de tecido nem gene.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4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5" name="Google Shape;3795;p75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6" name="Google Shape;3796;p75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7" name="Google Shape;3797;p75"/>
          <p:cNvSpPr txBox="1"/>
          <p:nvPr/>
        </p:nvSpPr>
        <p:spPr>
          <a:xfrm>
            <a:off x="400050" y="161925"/>
            <a:ext cx="22842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8" name="Google Shape;3798;p75"/>
          <p:cNvSpPr txBox="1"/>
          <p:nvPr/>
        </p:nvSpPr>
        <p:spPr>
          <a:xfrm>
            <a:off x="400050" y="2152948"/>
            <a:ext cx="89267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Desenho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9" name="Google Shape;3799;p75"/>
          <p:cNvSpPr txBox="1"/>
          <p:nvPr/>
        </p:nvSpPr>
        <p:spPr>
          <a:xfrm>
            <a:off x="630436" y="2605385"/>
            <a:ext cx="29973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Confundimento TCGA × GTEx: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0" name="Google Shape;3800;p75"/>
          <p:cNvSpPr txBox="1"/>
          <p:nvPr/>
        </p:nvSpPr>
        <p:spPr>
          <a:xfrm>
            <a:off x="3647033" y="2605385"/>
            <a:ext cx="21111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estudo e condição 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1" name="Google Shape;3801;p75"/>
          <p:cNvSpPr txBox="1"/>
          <p:nvPr/>
        </p:nvSpPr>
        <p:spPr>
          <a:xfrm>
            <a:off x="630436" y="2867323"/>
            <a:ext cx="51881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perfeitamente confundidos; o logFC combina biologia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2" name="Google Shape;3802;p75"/>
          <p:cNvSpPr txBox="1"/>
          <p:nvPr/>
        </p:nvSpPr>
        <p:spPr>
          <a:xfrm>
            <a:off x="630436" y="3129260"/>
            <a:ext cx="4377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3" name="Google Shape;3803;p75"/>
          <p:cNvSpPr txBox="1"/>
          <p:nvPr/>
        </p:nvSpPr>
        <p:spPr>
          <a:xfrm>
            <a:off x="630436" y="3437186"/>
            <a:ext cx="20191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Composição celular: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4" name="Google Shape;3804;p75"/>
          <p:cNvSpPr txBox="1"/>
          <p:nvPr/>
        </p:nvSpPr>
        <p:spPr>
          <a:xfrm>
            <a:off x="2668786" y="3437186"/>
            <a:ext cx="261208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bulk mede a média de tipos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5" name="Google Shape;3805;p75"/>
          <p:cNvSpPr txBox="1"/>
          <p:nvPr/>
        </p:nvSpPr>
        <p:spPr>
          <a:xfrm>
            <a:off x="630436" y="3699123"/>
            <a:ext cx="34435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celulares; não foi feita deconvolução.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6" name="Google Shape;3806;p75"/>
          <p:cNvSpPr txBox="1"/>
          <p:nvPr/>
        </p:nvSpPr>
        <p:spPr>
          <a:xfrm>
            <a:off x="630436" y="4007048"/>
            <a:ext cx="5469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TPM: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7" name="Google Shape;3807;p75"/>
          <p:cNvSpPr txBox="1"/>
          <p:nvPr/>
        </p:nvSpPr>
        <p:spPr>
          <a:xfrm>
            <a:off x="1196578" y="4007048"/>
            <a:ext cx="28947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 relativa; para contagens,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8" name="Google Shape;3808;p75"/>
          <p:cNvSpPr txBox="1"/>
          <p:nvPr/>
        </p:nvSpPr>
        <p:spPr>
          <a:xfrm>
            <a:off x="4110633" y="4045148"/>
            <a:ext cx="52923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voom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9" name="Google Shape;3809;p75"/>
          <p:cNvSpPr txBox="1"/>
          <p:nvPr/>
        </p:nvSpPr>
        <p:spPr>
          <a:xfrm>
            <a:off x="4601766" y="4007048"/>
            <a:ext cx="92377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/binomial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0" name="Google Shape;3810;p75"/>
          <p:cNvSpPr txBox="1"/>
          <p:nvPr/>
        </p:nvSpPr>
        <p:spPr>
          <a:xfrm>
            <a:off x="630436" y="4278511"/>
            <a:ext cx="31182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negativo seriam mais adequados.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1" name="Google Shape;3811;p75"/>
          <p:cNvSpPr txBox="1"/>
          <p:nvPr/>
        </p:nvSpPr>
        <p:spPr>
          <a:xfrm>
            <a:off x="630436" y="4586436"/>
            <a:ext cx="21779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Subgrupos pequenos: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2" name="Google Shape;3812;p75"/>
          <p:cNvSpPr txBox="1"/>
          <p:nvPr/>
        </p:nvSpPr>
        <p:spPr>
          <a:xfrm>
            <a:off x="2827586" y="4586436"/>
            <a:ext cx="30282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IV (n = 5) e grau G4 (n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3" name="Google Shape;3813;p75"/>
          <p:cNvSpPr txBox="1"/>
          <p:nvPr/>
        </p:nvSpPr>
        <p:spPr>
          <a:xfrm>
            <a:off x="630436" y="4848374"/>
            <a:ext cx="221441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11) têm poder limitado.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4" name="Google Shape;3814;p75"/>
          <p:cNvSpPr txBox="1"/>
          <p:nvPr/>
        </p:nvSpPr>
        <p:spPr>
          <a:xfrm>
            <a:off x="6242596" y="887016"/>
            <a:ext cx="186005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e inferência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5" name="Google Shape;3815;p75"/>
          <p:cNvSpPr txBox="1"/>
          <p:nvPr/>
        </p:nvSpPr>
        <p:spPr>
          <a:xfrm>
            <a:off x="6472982" y="1339453"/>
            <a:ext cx="15122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Idade no GTEx: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6" name="Google Shape;3816;p75"/>
          <p:cNvSpPr txBox="1"/>
          <p:nvPr/>
        </p:nvSpPr>
        <p:spPr>
          <a:xfrm>
            <a:off x="8004423" y="1339453"/>
            <a:ext cx="34465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faixa convertida para o ponto médio.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7" name="Google Shape;3817;p75"/>
          <p:cNvSpPr txBox="1"/>
          <p:nvPr/>
        </p:nvSpPr>
        <p:spPr>
          <a:xfrm>
            <a:off x="6472982" y="1647379"/>
            <a:ext cx="286166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Sem validação experimental: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8" name="Google Shape;3818;p75"/>
          <p:cNvSpPr txBox="1"/>
          <p:nvPr/>
        </p:nvSpPr>
        <p:spPr>
          <a:xfrm>
            <a:off x="9353848" y="1647379"/>
            <a:ext cx="230266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houve qPCR, IHC 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9" name="Google Shape;3819;p75"/>
          <p:cNvSpPr txBox="1"/>
          <p:nvPr/>
        </p:nvSpPr>
        <p:spPr>
          <a:xfrm>
            <a:off x="6472982" y="1909316"/>
            <a:ext cx="20227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coorte independente.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0" name="Google Shape;3820;p75"/>
          <p:cNvSpPr txBox="1"/>
          <p:nvPr/>
        </p:nvSpPr>
        <p:spPr>
          <a:xfrm>
            <a:off x="6472982" y="2217241"/>
            <a:ext cx="36357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 não resolve confundimento: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1" name="Google Shape;3821;p75"/>
          <p:cNvSpPr txBox="1"/>
          <p:nvPr/>
        </p:nvSpPr>
        <p:spPr>
          <a:xfrm>
            <a:off x="10127903" y="2217241"/>
            <a:ext cx="15226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demonstração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2" name="Google Shape;3822;p75"/>
          <p:cNvSpPr txBox="1"/>
          <p:nvPr/>
        </p:nvSpPr>
        <p:spPr>
          <a:xfrm>
            <a:off x="6472982" y="2479179"/>
            <a:ext cx="21020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mostra sobrecorreção.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3" name="Google Shape;3823;p75"/>
          <p:cNvSpPr txBox="1"/>
          <p:nvPr/>
        </p:nvSpPr>
        <p:spPr>
          <a:xfrm>
            <a:off x="6472982" y="2787104"/>
            <a:ext cx="19725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1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Missingness </a:t>
            </a: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clínico: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4" name="Google Shape;3824;p75"/>
          <p:cNvSpPr txBox="1"/>
          <p:nvPr/>
        </p:nvSpPr>
        <p:spPr>
          <a:xfrm>
            <a:off x="8464748" y="2787104"/>
            <a:ext cx="32359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invasão vascular (70,7%), sorologia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5" name="Google Shape;3825;p75"/>
          <p:cNvSpPr txBox="1"/>
          <p:nvPr/>
        </p:nvSpPr>
        <p:spPr>
          <a:xfrm>
            <a:off x="6472982" y="3049042"/>
            <a:ext cx="50920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viral (55,8%), fibrose (43,1%), Child-Pugh (35,8%) e AFP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6" name="Google Shape;3826;p75"/>
          <p:cNvSpPr txBox="1"/>
          <p:nvPr/>
        </p:nvSpPr>
        <p:spPr>
          <a:xfrm>
            <a:off x="6472982" y="3310979"/>
            <a:ext cx="7658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(25,2%).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7" name="Google Shape;3827;p75"/>
          <p:cNvSpPr txBox="1"/>
          <p:nvPr/>
        </p:nvSpPr>
        <p:spPr>
          <a:xfrm>
            <a:off x="6472982" y="3618905"/>
            <a:ext cx="22281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Dados observacionais: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8" name="Google Shape;3828;p75"/>
          <p:cNvSpPr txBox="1"/>
          <p:nvPr/>
        </p:nvSpPr>
        <p:spPr>
          <a:xfrm>
            <a:off x="8720286" y="3618905"/>
            <a:ext cx="242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associações não implicam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9" name="Google Shape;3829;p75"/>
          <p:cNvSpPr txBox="1"/>
          <p:nvPr/>
        </p:nvSpPr>
        <p:spPr>
          <a:xfrm>
            <a:off x="6472982" y="3880842"/>
            <a:ext cx="11656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causalidade.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0" name="Google Shape;3830;p75"/>
          <p:cNvSpPr txBox="1"/>
          <p:nvPr/>
        </p:nvSpPr>
        <p:spPr>
          <a:xfrm>
            <a:off x="6472982" y="4188768"/>
            <a:ext cx="4527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TSS: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1" name="Google Shape;3831;p75"/>
          <p:cNvSpPr txBox="1"/>
          <p:nvPr/>
        </p:nvSpPr>
        <p:spPr>
          <a:xfrm>
            <a:off x="6944916" y="4188768"/>
            <a:ext cx="44484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efeito de centro/lote plausível; não usado como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2" name="Google Shape;3832;p75"/>
          <p:cNvSpPr txBox="1"/>
          <p:nvPr/>
        </p:nvSpPr>
        <p:spPr>
          <a:xfrm>
            <a:off x="6472982" y="4450705"/>
            <a:ext cx="282386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covariável na análise principal.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3" name="Google Shape;3833;p75"/>
          <p:cNvSpPr txBox="1"/>
          <p:nvPr/>
        </p:nvSpPr>
        <p:spPr>
          <a:xfrm>
            <a:off x="6472982" y="4758630"/>
            <a:ext cx="10493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HBV/HCV: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4" name="Google Shape;3834;p75"/>
          <p:cNvSpPr txBox="1"/>
          <p:nvPr/>
        </p:nvSpPr>
        <p:spPr>
          <a:xfrm>
            <a:off x="7541568" y="4758630"/>
            <a:ext cx="41999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 rótulos são sorológicos; “HBV+HCV” pode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5" name="Google Shape;3835;p75"/>
          <p:cNvSpPr txBox="1"/>
          <p:nvPr/>
        </p:nvSpPr>
        <p:spPr>
          <a:xfrm>
            <a:off x="6472982" y="5020568"/>
            <a:ext cx="52576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superestimar coinfecção ativa (73/85 sem RNA/genótipo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6" name="Google Shape;3836;p75"/>
          <p:cNvSpPr txBox="1"/>
          <p:nvPr/>
        </p:nvSpPr>
        <p:spPr>
          <a:xfrm>
            <a:off x="6472982" y="5282505"/>
            <a:ext cx="5554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HCV).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7" name="Google Shape;3837;p75"/>
          <p:cNvSpPr txBox="1"/>
          <p:nvPr/>
        </p:nvSpPr>
        <p:spPr>
          <a:xfrm>
            <a:off x="6472982" y="5590431"/>
            <a:ext cx="5139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8" name="Google Shape;3838;p75"/>
          <p:cNvSpPr txBox="1"/>
          <p:nvPr/>
        </p:nvSpPr>
        <p:spPr>
          <a:xfrm>
            <a:off x="7006084" y="5590431"/>
            <a:ext cx="44992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achado de expressão, sem validação funcional;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9" name="Google Shape;3839;p75"/>
          <p:cNvSpPr txBox="1"/>
          <p:nvPr/>
        </p:nvSpPr>
        <p:spPr>
          <a:xfrm>
            <a:off x="6472982" y="5852368"/>
            <a:ext cx="49538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direção pró-apoptótica não prova aumento de morte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0" name="Google Shape;3840;p75"/>
          <p:cNvSpPr txBox="1"/>
          <p:nvPr/>
        </p:nvSpPr>
        <p:spPr>
          <a:xfrm>
            <a:off x="6472982" y="6114306"/>
            <a:ext cx="68952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celular.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1" name="Google Shape;3841;p75"/>
          <p:cNvSpPr txBox="1"/>
          <p:nvPr/>
        </p:nvSpPr>
        <p:spPr>
          <a:xfrm>
            <a:off x="273439" y="260538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2" name="Google Shape;3842;p75"/>
          <p:cNvSpPr txBox="1"/>
          <p:nvPr/>
        </p:nvSpPr>
        <p:spPr>
          <a:xfrm>
            <a:off x="273439" y="3437186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3" name="Google Shape;3843;p75"/>
          <p:cNvSpPr txBox="1"/>
          <p:nvPr/>
        </p:nvSpPr>
        <p:spPr>
          <a:xfrm>
            <a:off x="273439" y="400704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4" name="Google Shape;3844;p75"/>
          <p:cNvSpPr txBox="1"/>
          <p:nvPr/>
        </p:nvSpPr>
        <p:spPr>
          <a:xfrm>
            <a:off x="273439" y="4586436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5" name="Google Shape;3845;p75"/>
          <p:cNvSpPr txBox="1"/>
          <p:nvPr/>
        </p:nvSpPr>
        <p:spPr>
          <a:xfrm>
            <a:off x="6115985" y="133945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6" name="Google Shape;3846;p75"/>
          <p:cNvSpPr txBox="1"/>
          <p:nvPr/>
        </p:nvSpPr>
        <p:spPr>
          <a:xfrm>
            <a:off x="6115985" y="1647379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7" name="Google Shape;3847;p75"/>
          <p:cNvSpPr txBox="1"/>
          <p:nvPr/>
        </p:nvSpPr>
        <p:spPr>
          <a:xfrm>
            <a:off x="6115985" y="2217241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8" name="Google Shape;3848;p75"/>
          <p:cNvSpPr txBox="1"/>
          <p:nvPr/>
        </p:nvSpPr>
        <p:spPr>
          <a:xfrm>
            <a:off x="6115985" y="2787104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9" name="Google Shape;3849;p75"/>
          <p:cNvSpPr txBox="1"/>
          <p:nvPr/>
        </p:nvSpPr>
        <p:spPr>
          <a:xfrm>
            <a:off x="6115985" y="361890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0" name="Google Shape;3850;p75"/>
          <p:cNvSpPr txBox="1"/>
          <p:nvPr/>
        </p:nvSpPr>
        <p:spPr>
          <a:xfrm>
            <a:off x="6115985" y="4188768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1" name="Google Shape;3851;p75"/>
          <p:cNvSpPr txBox="1"/>
          <p:nvPr/>
        </p:nvSpPr>
        <p:spPr>
          <a:xfrm>
            <a:off x="6115985" y="475863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2" name="Google Shape;3852;p75"/>
          <p:cNvSpPr txBox="1"/>
          <p:nvPr/>
        </p:nvSpPr>
        <p:spPr>
          <a:xfrm>
            <a:off x="6115985" y="5590431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6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p76"/>
          <p:cNvSpPr/>
          <p:nvPr/>
        </p:nvSpPr>
        <p:spPr>
          <a:xfrm>
            <a:off x="400050" y="190500"/>
            <a:ext cx="11391900" cy="42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8" name="Google Shape;3858;p76"/>
          <p:cNvCxnSpPr/>
          <p:nvPr/>
        </p:nvCxnSpPr>
        <p:spPr>
          <a:xfrm>
            <a:off x="400050" y="597247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9" name="Google Shape;3859;p76"/>
          <p:cNvSpPr txBox="1"/>
          <p:nvPr/>
        </p:nvSpPr>
        <p:spPr>
          <a:xfrm>
            <a:off x="400050" y="161925"/>
            <a:ext cx="1513284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43"/>
              <a:buFont typeface="Arial"/>
              <a:buNone/>
            </a:pPr>
            <a:r>
              <a:rPr b="0" i="0" lang="en-US" sz="2343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0" name="Google Shape;3860;p76"/>
          <p:cNvSpPr txBox="1"/>
          <p:nvPr/>
        </p:nvSpPr>
        <p:spPr>
          <a:xfrm>
            <a:off x="630436" y="1740247"/>
            <a:ext cx="13524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529 amostras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1" name="Google Shape;3861;p76"/>
          <p:cNvSpPr txBox="1"/>
          <p:nvPr/>
        </p:nvSpPr>
        <p:spPr>
          <a:xfrm>
            <a:off x="2002036" y="1740247"/>
            <a:ext cx="1477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2" name="Google Shape;3862;p76"/>
          <p:cNvSpPr txBox="1"/>
          <p:nvPr/>
        </p:nvSpPr>
        <p:spPr>
          <a:xfrm>
            <a:off x="2169170" y="1740247"/>
            <a:ext cx="133082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12.401 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3" name="Google Shape;3863;p76"/>
          <p:cNvSpPr txBox="1"/>
          <p:nvPr/>
        </p:nvSpPr>
        <p:spPr>
          <a:xfrm>
            <a:off x="3519190" y="1740247"/>
            <a:ext cx="104760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analisados.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4" name="Google Shape;3864;p76"/>
          <p:cNvSpPr txBox="1"/>
          <p:nvPr/>
        </p:nvSpPr>
        <p:spPr>
          <a:xfrm>
            <a:off x="630436" y="2048173"/>
            <a:ext cx="19305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vs. adjacente: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5" name="Google Shape;3865;p76"/>
          <p:cNvSpPr txBox="1"/>
          <p:nvPr/>
        </p:nvSpPr>
        <p:spPr>
          <a:xfrm>
            <a:off x="2580233" y="2048173"/>
            <a:ext cx="11421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4.130 DEGs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6" name="Google Shape;3866;p76"/>
          <p:cNvSpPr txBox="1"/>
          <p:nvPr/>
        </p:nvSpPr>
        <p:spPr>
          <a:xfrm>
            <a:off x="3741539" y="2048173"/>
            <a:ext cx="20701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(3.322 up / 808 down)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7" name="Google Shape;3867;p76"/>
          <p:cNvSpPr txBox="1"/>
          <p:nvPr/>
        </p:nvSpPr>
        <p:spPr>
          <a:xfrm>
            <a:off x="630436" y="2310110"/>
            <a:ext cx="510435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 sinal robusto também na análise pareada (Jaccard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8" name="Google Shape;3868;p76"/>
          <p:cNvSpPr txBox="1"/>
          <p:nvPr/>
        </p:nvSpPr>
        <p:spPr>
          <a:xfrm>
            <a:off x="630436" y="2572048"/>
            <a:ext cx="64412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0,764).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9" name="Google Shape;3869;p76"/>
          <p:cNvSpPr txBox="1"/>
          <p:nvPr/>
        </p:nvSpPr>
        <p:spPr>
          <a:xfrm>
            <a:off x="630436" y="2879973"/>
            <a:ext cx="148828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Tumor vs. GTEx: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0" name="Google Shape;3870;p76"/>
          <p:cNvSpPr txBox="1"/>
          <p:nvPr/>
        </p:nvSpPr>
        <p:spPr>
          <a:xfrm>
            <a:off x="2138065" y="2879973"/>
            <a:ext cx="11421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3.388 DEGs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1" name="Google Shape;3871;p76"/>
          <p:cNvSpPr txBox="1"/>
          <p:nvPr/>
        </p:nvSpPr>
        <p:spPr>
          <a:xfrm>
            <a:off x="3242072" y="2879973"/>
            <a:ext cx="5170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2" name="Google Shape;3872;p76"/>
          <p:cNvSpPr txBox="1"/>
          <p:nvPr/>
        </p:nvSpPr>
        <p:spPr>
          <a:xfrm>
            <a:off x="3778448" y="2879973"/>
            <a:ext cx="165303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confundido 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3" name="Google Shape;3873;p76"/>
          <p:cNvSpPr txBox="1"/>
          <p:nvPr/>
        </p:nvSpPr>
        <p:spPr>
          <a:xfrm>
            <a:off x="630436" y="3141911"/>
            <a:ext cx="11845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estudo/lote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4" name="Google Shape;3874;p76"/>
          <p:cNvSpPr txBox="1"/>
          <p:nvPr/>
        </p:nvSpPr>
        <p:spPr>
          <a:xfrm>
            <a:off x="1776859" y="3141911"/>
            <a:ext cx="83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5" name="Google Shape;3875;p76"/>
          <p:cNvSpPr txBox="1"/>
          <p:nvPr/>
        </p:nvSpPr>
        <p:spPr>
          <a:xfrm>
            <a:off x="630436" y="3449836"/>
            <a:ext cx="474940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Biologia consistente: perda de identidade hepática,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6" name="Google Shape;3876;p76"/>
          <p:cNvSpPr txBox="1"/>
          <p:nvPr/>
        </p:nvSpPr>
        <p:spPr>
          <a:xfrm>
            <a:off x="630436" y="3711773"/>
            <a:ext cx="532655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proliferação, remodelamento vascular/matricial, hipóxia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7" name="Google Shape;3877;p76"/>
          <p:cNvSpPr txBox="1"/>
          <p:nvPr/>
        </p:nvSpPr>
        <p:spPr>
          <a:xfrm>
            <a:off x="630436" y="3973711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8" name="Google Shape;3878;p76"/>
          <p:cNvSpPr txBox="1"/>
          <p:nvPr/>
        </p:nvSpPr>
        <p:spPr>
          <a:xfrm>
            <a:off x="1106835" y="3973711"/>
            <a:ext cx="36016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(apoptose/estresse) elevado no tumor.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9" name="Google Shape;3879;p76"/>
          <p:cNvSpPr txBox="1"/>
          <p:nvPr/>
        </p:nvSpPr>
        <p:spPr>
          <a:xfrm>
            <a:off x="630436" y="4281636"/>
            <a:ext cx="7535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0" name="Google Shape;3880;p76"/>
          <p:cNvSpPr txBox="1"/>
          <p:nvPr/>
        </p:nvSpPr>
        <p:spPr>
          <a:xfrm>
            <a:off x="1403152" y="4281636"/>
            <a:ext cx="43396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o fator prognóstico dominante (log-rank p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1" name="Google Shape;3881;p76"/>
          <p:cNvSpPr txBox="1"/>
          <p:nvPr/>
        </p:nvSpPr>
        <p:spPr>
          <a:xfrm>
            <a:off x="630436" y="4543574"/>
            <a:ext cx="25942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5,18 × 10⁻⁷; Cox HR = 2,61).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2" name="Google Shape;3882;p76"/>
          <p:cNvSpPr txBox="1"/>
          <p:nvPr/>
        </p:nvSpPr>
        <p:spPr>
          <a:xfrm>
            <a:off x="630436" y="4851499"/>
            <a:ext cx="8176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3" name="Google Shape;3883;p76"/>
          <p:cNvSpPr txBox="1"/>
          <p:nvPr/>
        </p:nvSpPr>
        <p:spPr>
          <a:xfrm>
            <a:off x="1467296" y="4851499"/>
            <a:ext cx="360089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é identificável neste desenho; sem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4" name="Google Shape;3884;p76"/>
          <p:cNvSpPr txBox="1"/>
          <p:nvPr/>
        </p:nvSpPr>
        <p:spPr>
          <a:xfrm>
            <a:off x="630436" y="5113437"/>
            <a:ext cx="42822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covariável, reduz 3.388 DEGs a 1 e apaga BAX.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5" name="Google Shape;3885;p76"/>
          <p:cNvSpPr txBox="1"/>
          <p:nvPr/>
        </p:nvSpPr>
        <p:spPr>
          <a:xfrm>
            <a:off x="6472982" y="1339453"/>
            <a:ext cx="13662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6" name="Google Shape;3886;p76"/>
          <p:cNvSpPr txBox="1"/>
          <p:nvPr/>
        </p:nvSpPr>
        <p:spPr>
          <a:xfrm>
            <a:off x="7858571" y="1339453"/>
            <a:ext cx="2571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tumor vs. adjacente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7" name="Google Shape;3887;p76"/>
          <p:cNvSpPr txBox="1"/>
          <p:nvPr/>
        </p:nvSpPr>
        <p:spPr>
          <a:xfrm>
            <a:off x="10449520" y="1339453"/>
            <a:ext cx="1365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a mais limpa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8" name="Google Shape;3888;p76"/>
          <p:cNvSpPr txBox="1"/>
          <p:nvPr/>
        </p:nvSpPr>
        <p:spPr>
          <a:xfrm>
            <a:off x="6472982" y="1601391"/>
            <a:ext cx="46367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identificar genes associados à transformação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9" name="Google Shape;3889;p76"/>
          <p:cNvSpPr txBox="1"/>
          <p:nvPr/>
        </p:nvSpPr>
        <p:spPr>
          <a:xfrm>
            <a:off x="6472982" y="1863328"/>
            <a:ext cx="82078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maligna.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0" name="Google Shape;3890;p76"/>
          <p:cNvSpPr txBox="1"/>
          <p:nvPr/>
        </p:nvSpPr>
        <p:spPr>
          <a:xfrm>
            <a:off x="6472982" y="2171254"/>
            <a:ext cx="13662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comparação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1" name="Google Shape;3891;p76"/>
          <p:cNvSpPr txBox="1"/>
          <p:nvPr/>
        </p:nvSpPr>
        <p:spPr>
          <a:xfrm>
            <a:off x="7858571" y="2171254"/>
            <a:ext cx="144735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TCGA vs. GTEx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2" name="Google Shape;3892;p76"/>
          <p:cNvSpPr txBox="1"/>
          <p:nvPr/>
        </p:nvSpPr>
        <p:spPr>
          <a:xfrm>
            <a:off x="9325124" y="2171254"/>
            <a:ext cx="164231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 biologicamente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3" name="Google Shape;3893;p76"/>
          <p:cNvSpPr txBox="1"/>
          <p:nvPr/>
        </p:nvSpPr>
        <p:spPr>
          <a:xfrm>
            <a:off x="6472982" y="2433191"/>
            <a:ext cx="466293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informativa, mas seus efeitos absolutos devem 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4" name="Google Shape;3894;p76"/>
          <p:cNvSpPr txBox="1"/>
          <p:nvPr/>
        </p:nvSpPr>
        <p:spPr>
          <a:xfrm>
            <a:off x="6472982" y="2695129"/>
            <a:ext cx="24995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interpretados com cautela.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5" name="Google Shape;3895;p76"/>
          <p:cNvSpPr txBox="1"/>
          <p:nvPr/>
        </p:nvSpPr>
        <p:spPr>
          <a:xfrm>
            <a:off x="6472982" y="3003054"/>
            <a:ext cx="51003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6" name="Google Shape;3896;p76"/>
          <p:cNvSpPr txBox="1"/>
          <p:nvPr/>
        </p:nvSpPr>
        <p:spPr>
          <a:xfrm>
            <a:off x="7002214" y="3003054"/>
            <a:ext cx="286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 assinatura de ciclo celular;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7" name="Google Shape;3897;p76"/>
          <p:cNvSpPr txBox="1"/>
          <p:nvPr/>
        </p:nvSpPr>
        <p:spPr>
          <a:xfrm>
            <a:off x="9882188" y="3003054"/>
            <a:ext cx="17470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estágio avançado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8" name="Google Shape;3898;p76"/>
          <p:cNvSpPr txBox="1"/>
          <p:nvPr/>
        </p:nvSpPr>
        <p:spPr>
          <a:xfrm>
            <a:off x="6472982" y="3264991"/>
            <a:ext cx="393516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perde genes metabólicos e ganha hipóxia.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9" name="Google Shape;3899;p76"/>
          <p:cNvSpPr txBox="1"/>
          <p:nvPr/>
        </p:nvSpPr>
        <p:spPr>
          <a:xfrm>
            <a:off x="6472982" y="3572917"/>
            <a:ext cx="507801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 grupos alternativos (recidivas, histologia, vírus, TSS)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0" name="Google Shape;3900;p76"/>
          <p:cNvSpPr txBox="1"/>
          <p:nvPr/>
        </p:nvSpPr>
        <p:spPr>
          <a:xfrm>
            <a:off x="6472982" y="3834854"/>
            <a:ext cx="49921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documentam heterogeneidade e justificam cautela 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1" name="Google Shape;3901;p76"/>
          <p:cNvSpPr txBox="1"/>
          <p:nvPr/>
        </p:nvSpPr>
        <p:spPr>
          <a:xfrm>
            <a:off x="6472982" y="4096792"/>
            <a:ext cx="339000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não substituem o desenho principal.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2" name="Google Shape;3902;p76"/>
          <p:cNvSpPr txBox="1"/>
          <p:nvPr/>
        </p:nvSpPr>
        <p:spPr>
          <a:xfrm>
            <a:off x="273439" y="1740247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3" name="Google Shape;3903;p76"/>
          <p:cNvSpPr txBox="1"/>
          <p:nvPr/>
        </p:nvSpPr>
        <p:spPr>
          <a:xfrm>
            <a:off x="273439" y="204817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4" name="Google Shape;3904;p76"/>
          <p:cNvSpPr txBox="1"/>
          <p:nvPr/>
        </p:nvSpPr>
        <p:spPr>
          <a:xfrm>
            <a:off x="273439" y="2879973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5" name="Google Shape;3905;p76"/>
          <p:cNvSpPr txBox="1"/>
          <p:nvPr/>
        </p:nvSpPr>
        <p:spPr>
          <a:xfrm>
            <a:off x="273439" y="3449836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6" name="Google Shape;3906;p76"/>
          <p:cNvSpPr txBox="1"/>
          <p:nvPr/>
        </p:nvSpPr>
        <p:spPr>
          <a:xfrm>
            <a:off x="273439" y="4281636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7" name="Google Shape;3907;p76"/>
          <p:cNvSpPr txBox="1"/>
          <p:nvPr/>
        </p:nvSpPr>
        <p:spPr>
          <a:xfrm>
            <a:off x="273439" y="4851499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8" name="Google Shape;3908;p76"/>
          <p:cNvSpPr/>
          <p:nvPr/>
        </p:nvSpPr>
        <p:spPr>
          <a:xfrm>
            <a:off x="6269718" y="14562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9" name="Google Shape;3909;p76"/>
          <p:cNvSpPr/>
          <p:nvPr/>
        </p:nvSpPr>
        <p:spPr>
          <a:xfrm>
            <a:off x="6269718" y="22880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0" name="Google Shape;3910;p76"/>
          <p:cNvSpPr/>
          <p:nvPr/>
        </p:nvSpPr>
        <p:spPr>
          <a:xfrm>
            <a:off x="6269718" y="3119830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1" name="Google Shape;3911;p76"/>
          <p:cNvSpPr/>
          <p:nvPr/>
        </p:nvSpPr>
        <p:spPr>
          <a:xfrm>
            <a:off x="6269718" y="3689693"/>
            <a:ext cx="71247" cy="71247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5" name="Shape 3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6" name="Google Shape;3916;p77"/>
          <p:cNvSpPr/>
          <p:nvPr/>
        </p:nvSpPr>
        <p:spPr>
          <a:xfrm>
            <a:off x="400050" y="190500"/>
            <a:ext cx="11391900" cy="47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7" name="Google Shape;3917;p77"/>
          <p:cNvCxnSpPr/>
          <p:nvPr/>
        </p:nvCxnSpPr>
        <p:spPr>
          <a:xfrm>
            <a:off x="400050" y="650974"/>
            <a:ext cx="11391900" cy="0"/>
          </a:xfrm>
          <a:prstGeom prst="straightConnector1">
            <a:avLst/>
          </a:prstGeom>
          <a:noFill/>
          <a:ln cap="flat" cmpd="sng" w="28575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8" name="Google Shape;3918;p77"/>
          <p:cNvSpPr txBox="1"/>
          <p:nvPr/>
        </p:nvSpPr>
        <p:spPr>
          <a:xfrm>
            <a:off x="400050" y="161925"/>
            <a:ext cx="5375523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2"/>
              <a:buFont typeface="Arial"/>
              <a:buNone/>
            </a:pPr>
            <a:r>
              <a:rPr b="0" i="0" lang="en-US" sz="2662" u="none" cap="none" strike="noStrike">
                <a:solidFill>
                  <a:srgbClr val="12355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Referências — métodos e estatística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9" name="Google Shape;3919;p77"/>
          <p:cNvSpPr txBox="1"/>
          <p:nvPr/>
        </p:nvSpPr>
        <p:spPr>
          <a:xfrm>
            <a:off x="400050" y="759025"/>
            <a:ext cx="11391900" cy="55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BENJAMINI, Y. Discovering the false discovery rate. Journal of the Royal Statistical Society: Series B (Statistical Methodology), v. 72, n. 4, p. 405-416, 2010.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JOHNSON, W. E.; LI, C.; RABINOVIC, A. Adjusting batch effects in microarray expression data using empirical Bayes methods. Biostatistics, v. 8, n. 1, p. 118-127, 2007.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https://doi.org/10.1093/biostatistics/kxj037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LEEK, J. T. et al. The sva package for removing batch effects and other unwanted variation in high-throughput experiments. Bioinformatics, v. 28, n. 6, p. 882-883, 2012.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https://doi.org/10.1093/bioinformatics/bts034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MCINNES, L.; HEALY, J.; MELVILLE, J. UMAP: Uniform Manifold Approximation and Projection. arXiv, 2018. arXiv:1802.03426.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 CORE TEAM. R: A language and environment for statistical computing. Vienna: R Foundation for Statistical Computing, 2024.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RITCHIE, M. E. et al. limma powers differential expression analyses for RNA-sequencing and microarray studies. Nucleic Acids Research, v. 43, n. 7, e47, 2015.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https://doi.org/10.1093/nar/gkv007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ZHANG, Y.; PARMIGIANI, G.; JOHNSON, W. E. ComBat-seq: batch effect adjustment for RNA-seq count data. NAR Genomics and Bioinformatics, v. 2, n. 3, lqaa078, 2020.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https://doi.org/10.1093/nargab/lqaa078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CZABOTAR, P. E. et al. Control of apoptosis by the BCL-2 protein family: implications for physiology and therapy. Nature Reviews Molecular Cell Biology, v. 15, n. 1, p. 49-63, 2014.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https://doi.org/10.1038/nrm3722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GTEx CONSORTIUM. The GTEx Consortium atlas of genetic regulatory effects across human tissues. Science, v. 369, n. 6509, p. 1318-1330, 2020.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https://doi.org/10.1126/science.aaz1776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KORSUNSKY, I. et al. Fast, sensitive and accurate integration of single-cell data with Harmony. Nature Methods, v. 16, p. 1289-1296, 2019.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NEWMAN, A. M. et al. Determining cell type abundance and expression from bulk tissues with digital cytometry. Nature Biotechnology, v. 37, p. 773-782, 2019.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https://doi.org/10.1038/s41587-019-0114-2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CANCER GENOME ATLAS RESEARCH NETWORK. Comprehensive and integrative genomic characterization of hepatocellular carcinoma. Cell, v. 169, n. 7, p. 1327-1341.e23, 2017.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https://doi.org/10.1016/j.cell.2017.05.046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GOLDMAN, M. J. et al. Visualizing and interpreting cancer genomics data via the Xena platform. Nature Biotechnology, v. 38, p. 675-678, 2020.</a:t>
            </a:r>
            <a:r>
              <a:rPr lang="en-US" sz="1100">
                <a:solidFill>
                  <a:schemeClr val="dk1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https://doi.org/10.1038/s41587-020-0546-8</a:t>
            </a:r>
            <a:r>
              <a:rPr lang="en-US" sz="1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875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
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7620000" cx="12192000"/>
  <p:notesSz cx="6858000" cy="9144000"/>
  <p:embeddedFontLst>
    <p:embeddedFont>
      <p:font typeface="Quattrocento Sans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1" roundtripDataSignature="AMtx7mgfShDLay8U8V9FVUWRGdNjqDTJ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QuattrocentoSans-bold.fntdata"/><Relationship Id="rId47" Type="http://schemas.openxmlformats.org/officeDocument/2006/relationships/font" Target="fonts/QuattrocentoSans-regular.fntdata"/><Relationship Id="rId49" Type="http://schemas.openxmlformats.org/officeDocument/2006/relationships/font" Target="fonts/Quattrocento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customschemas.google.com/relationships/presentationmetadata" Target="metadata"/><Relationship Id="rId50" Type="http://schemas.openxmlformats.org/officeDocument/2006/relationships/font" Target="fonts/Quattrocento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46" name="Google Shape;14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85" name="Google Shape;18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54" name="Google Shape;2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363" name="Google Shape;36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618" name="Google Shape;61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673" name="Google Shape;67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787" name="Google Shape;78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945" name="Google Shape;94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993" name="Google Shape;99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024" name="Google Shape;102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060" name="Google Shape;106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106" name="Google Shape;110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145" name="Google Shape;114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184" name="Google Shape;118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271" name="Google Shape;127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416" name="Google Shape;141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525" name="Google Shape;152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551" name="Google Shape;1551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592" name="Google Shape;1592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621" name="Google Shape;1621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661" name="Google Shape;1661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0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732" name="Google Shape;1732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5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877" name="Google Shape;1877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9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0" name="Google Shape;1920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921" name="Google Shape;1921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3" name="Shape 1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Google Shape;1984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985" name="Google Shape;1985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6" name="Shape 2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7" name="Google Shape;2217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218" name="Google Shape;2218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1" name="Shape 2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" name="Google Shape;2372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373" name="Google Shape;2373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5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387" name="Google Shape;2387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6" name="Shape 2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7" name="Google Shape;2587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588" name="Google Shape;2588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8" name="Shape 2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9" name="Google Shape;2639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640" name="Google Shape;2640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1" name="Shape 2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2" name="Google Shape;2772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773" name="Google Shape;2773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4" name="Shape 2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5" name="Google Shape;2915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916" name="Google Shape;2916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8" name="Shape 3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9" name="Google Shape;3059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3060" name="Google Shape;3060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2" name="Shape 3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3" name="Google Shape;3303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3304" name="Google Shape;3304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4" name="Shape 3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5" name="Google Shape;3535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3536" name="Google Shape;3536;p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1" name="Shape 3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2" name="Google Shape;3792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3793" name="Google Shape;3793;p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3" name="Shape 3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4" name="Google Shape;3854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3855" name="Google Shape;3855;p7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2" name="Shape 3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3" name="Google Shape;3913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3914" name="Google Shape;3914;p7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8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8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8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8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8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8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8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8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8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8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9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9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9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doi.org/10.1093/biostatistics/kxj037?utm_source=chatgpt.com" TargetMode="External"/><Relationship Id="rId4" Type="http://schemas.openxmlformats.org/officeDocument/2006/relationships/hyperlink" Target="https://doi.org/10.1093/bioinformatics/bts034?utm_source=chatgpt.com" TargetMode="External"/><Relationship Id="rId11" Type="http://schemas.openxmlformats.org/officeDocument/2006/relationships/hyperlink" Target="https://doi.org/10.1038/s41587-020-0546-8?utm_source=chatgpt.com" TargetMode="External"/><Relationship Id="rId10" Type="http://schemas.openxmlformats.org/officeDocument/2006/relationships/hyperlink" Target="https://doi.org/10.1016/j.cell.2017.05.046?utm_source=chatgpt.com" TargetMode="External"/><Relationship Id="rId9" Type="http://schemas.openxmlformats.org/officeDocument/2006/relationships/hyperlink" Target="https://doi.org/10.1038/s41587-019-0114-2?utm_source=chatgpt.com" TargetMode="External"/><Relationship Id="rId5" Type="http://schemas.openxmlformats.org/officeDocument/2006/relationships/hyperlink" Target="https://doi.org/10.1093/nar/gkv007?utm_source=chatgpt.com" TargetMode="External"/><Relationship Id="rId6" Type="http://schemas.openxmlformats.org/officeDocument/2006/relationships/hyperlink" Target="https://doi.org/10.1093/nargab/lqaa078?utm_source=chatgpt.com" TargetMode="External"/><Relationship Id="rId7" Type="http://schemas.openxmlformats.org/officeDocument/2006/relationships/hyperlink" Target="https://doi.org/10.1038/nrm3722?utm_source=chatgpt.com" TargetMode="External"/><Relationship Id="rId8" Type="http://schemas.openxmlformats.org/officeDocument/2006/relationships/hyperlink" Target="https://doi.org/10.1126/science.aaz1776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Google Shape;84;p1"/>
          <p:cNvCxnSpPr/>
          <p:nvPr/>
        </p:nvCxnSpPr>
        <p:spPr>
          <a:xfrm>
            <a:off x="0" y="38100"/>
            <a:ext cx="12192000" cy="0"/>
          </a:xfrm>
          <a:prstGeom prst="straightConnector1">
            <a:avLst/>
          </a:prstGeom>
          <a:noFill/>
          <a:ln cap="flat" cmpd="sng" w="762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1"/>
          <p:cNvSpPr/>
          <p:nvPr/>
        </p:nvSpPr>
        <p:spPr>
          <a:xfrm>
            <a:off x="762000" y="1681311"/>
            <a:ext cx="10668000" cy="254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" name="Google Shape;86;p1"/>
          <p:cNvCxnSpPr/>
          <p:nvPr/>
        </p:nvCxnSpPr>
        <p:spPr>
          <a:xfrm>
            <a:off x="762000" y="1921818"/>
            <a:ext cx="106680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1"/>
          <p:cNvSpPr txBox="1"/>
          <p:nvPr/>
        </p:nvSpPr>
        <p:spPr>
          <a:xfrm>
            <a:off x="762000" y="581025"/>
            <a:ext cx="8499723" cy="676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1"/>
              <a:buFont typeface="Arial"/>
              <a:buNone/>
            </a:pPr>
            <a:r>
              <a:rPr b="1" i="0" lang="en-US" sz="4031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Hepatocarcinoma: LIHC × GTEx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762000" y="1273671"/>
            <a:ext cx="7792789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2"/>
              <a:buFont typeface="Arial"/>
              <a:buNone/>
            </a:pPr>
            <a:r>
              <a:rPr b="0" i="0" lang="en-US" sz="1912" u="none" cap="none" strike="noStrike">
                <a:solidFill>
                  <a:srgbClr val="1F5F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Análise exploratória, expressão diferencial, fenótipos clínicos e sobrevida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762000" y="1662261"/>
            <a:ext cx="166255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Ryan Santos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2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2"/>
          <p:cNvSpPr txBox="1"/>
          <p:nvPr/>
        </p:nvSpPr>
        <p:spPr>
          <a:xfrm>
            <a:off x="400050" y="161925"/>
            <a:ext cx="1118295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1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Roteiro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400050" y="974080"/>
            <a:ext cx="252665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Pergunta e desenho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400050" y="1483668"/>
            <a:ext cx="296316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Dados e processamento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400050" y="1993255"/>
            <a:ext cx="255240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Análise exploratória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400050" y="2502843"/>
            <a:ext cx="441885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Expressão diferencial e volcano plots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400050" y="3012430"/>
            <a:ext cx="4203799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 ComBat: demonstração e limitação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6262688" y="1069330"/>
            <a:ext cx="454178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 Fenótipos avançados, sobrevida e Cox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6262688" y="1578918"/>
            <a:ext cx="513129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 Outros grupos: recidivas, histologia, vírus 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6262688" y="1898005"/>
            <a:ext cx="44469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3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3"/>
          <p:cNvSpPr/>
          <p:nvPr/>
        </p:nvSpPr>
        <p:spPr>
          <a:xfrm>
            <a:off x="7705130" y="2153394"/>
            <a:ext cx="4086820" cy="877491"/>
          </a:xfrm>
          <a:prstGeom prst="roundRect">
            <a:avLst>
              <a:gd fmla="val 542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3"/>
          <p:cNvCxnSpPr/>
          <p:nvPr/>
        </p:nvCxnSpPr>
        <p:spPr>
          <a:xfrm>
            <a:off x="7705130" y="2172444"/>
            <a:ext cx="4086820" cy="0"/>
          </a:xfrm>
          <a:prstGeom prst="straightConnector1">
            <a:avLst/>
          </a:prstGeom>
          <a:noFill/>
          <a:ln cap="flat" cmpd="sng" w="381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p3"/>
          <p:cNvSpPr/>
          <p:nvPr/>
        </p:nvSpPr>
        <p:spPr>
          <a:xfrm>
            <a:off x="7705130" y="3221385"/>
            <a:ext cx="4086820" cy="877491"/>
          </a:xfrm>
          <a:prstGeom prst="roundRect">
            <a:avLst>
              <a:gd fmla="val 542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3"/>
          <p:cNvCxnSpPr/>
          <p:nvPr/>
        </p:nvCxnSpPr>
        <p:spPr>
          <a:xfrm>
            <a:off x="7705130" y="3240435"/>
            <a:ext cx="4086820" cy="0"/>
          </a:xfrm>
          <a:prstGeom prst="straightConnector1">
            <a:avLst/>
          </a:prstGeom>
          <a:noFill/>
          <a:ln cap="flat" cmpd="sng" w="381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3"/>
          <p:cNvSpPr/>
          <p:nvPr/>
        </p:nvSpPr>
        <p:spPr>
          <a:xfrm>
            <a:off x="7705130" y="4289375"/>
            <a:ext cx="4086820" cy="877491"/>
          </a:xfrm>
          <a:prstGeom prst="roundRect">
            <a:avLst>
              <a:gd fmla="val 542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3"/>
          <p:cNvCxnSpPr/>
          <p:nvPr/>
        </p:nvCxnSpPr>
        <p:spPr>
          <a:xfrm>
            <a:off x="7705130" y="4308425"/>
            <a:ext cx="4086820" cy="0"/>
          </a:xfrm>
          <a:prstGeom prst="straightConnector1">
            <a:avLst/>
          </a:prstGeom>
          <a:noFill/>
          <a:ln cap="flat" cmpd="sng" w="381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3"/>
          <p:cNvSpPr txBox="1"/>
          <p:nvPr/>
        </p:nvSpPr>
        <p:spPr>
          <a:xfrm>
            <a:off x="400050" y="161925"/>
            <a:ext cx="3002310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Pergunta e desenho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400050" y="974080"/>
            <a:ext cx="189249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Pergunta central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400075" y="1355450"/>
            <a:ext cx="6171300" cy="8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1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Como o transcriptoma do hepatocarcinoma difere do GTEx e do tecido adjacente, e como fatores clínicos se associam a esses padrões?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400050" y="3426768"/>
            <a:ext cx="154022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Comparações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661988" y="3936355"/>
            <a:ext cx="608588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× TCGA adjacente (Não pareado e pareado);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661988" y="4307830"/>
            <a:ext cx="292968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× GTEx;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661988" y="4679305"/>
            <a:ext cx="330160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adjacente × GTEx;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661988" y="5050780"/>
            <a:ext cx="465683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Dentro do TCGA: estágio, grau, sexo e idade;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661988" y="5422255"/>
            <a:ext cx="311988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Dentro do GTEx: sexo e idade;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661988" y="5793730"/>
            <a:ext cx="101545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Via KEGG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1704529" y="5793730"/>
            <a:ext cx="109924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hsa05417;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661988" y="6165205"/>
            <a:ext cx="147339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Sensibilidade: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2162624" y="6165200"/>
            <a:ext cx="25998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ComBat </a:t>
            </a:r>
            <a:r>
              <a:rPr b="0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r>
              <a:rPr b="0" i="1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batch effects</a:t>
            </a:r>
            <a:r>
              <a:rPr b="0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9430048" y="2265313"/>
            <a:ext cx="675084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6"/>
              <a:buFont typeface="Arial"/>
              <a:buNone/>
            </a:pPr>
            <a:r>
              <a:rPr b="1" i="0" lang="en-US" sz="2906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8916888" y="2733229"/>
            <a:ext cx="170125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b="0" i="0" lang="en-US" sz="1031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amostras na análise principal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9167664" y="3333304"/>
            <a:ext cx="1199704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6"/>
              <a:buFont typeface="Arial"/>
              <a:buNone/>
            </a:pPr>
            <a:r>
              <a:rPr b="1" i="0" lang="en-US" sz="2906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12.401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9267230" y="3801219"/>
            <a:ext cx="100072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b="0" i="0" lang="en-US" sz="1031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genes após filtro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9536162" y="4401294"/>
            <a:ext cx="462707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6"/>
              <a:buFont typeface="Arial"/>
              <a:buNone/>
            </a:pPr>
            <a:r>
              <a:rPr b="1" i="0" lang="en-US" sz="2906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8969127" y="4869210"/>
            <a:ext cx="1596777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b="0" i="0" lang="en-US" sz="1031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comparações de expressão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431006" y="4062561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431006" y="4434036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431006" y="4805511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431006" y="5176986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431006" y="5548461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431006" y="5919936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431006" y="6291411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400050" y="6508175"/>
            <a:ext cx="11391900" cy="2667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7150" spcFirstLastPara="1" rIns="57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Refs.: TCGA Research Network, Cell 2017; GTEx Consortium, Science 2020.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4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4"/>
          <p:cNvSpPr/>
          <p:nvPr/>
        </p:nvSpPr>
        <p:spPr>
          <a:xfrm>
            <a:off x="3474025" y="795664"/>
            <a:ext cx="5529300" cy="1002900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3478787" y="800427"/>
            <a:ext cx="4569000" cy="2607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4"/>
          <p:cNvCxnSpPr/>
          <p:nvPr/>
        </p:nvCxnSpPr>
        <p:spPr>
          <a:xfrm>
            <a:off x="3478787" y="805189"/>
            <a:ext cx="4569000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4"/>
          <p:cNvSpPr/>
          <p:nvPr/>
        </p:nvSpPr>
        <p:spPr>
          <a:xfrm>
            <a:off x="8047662" y="800427"/>
            <a:ext cx="951000" cy="2607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4"/>
          <p:cNvCxnSpPr/>
          <p:nvPr/>
        </p:nvCxnSpPr>
        <p:spPr>
          <a:xfrm>
            <a:off x="8047662" y="805189"/>
            <a:ext cx="951000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" name="Google Shape;155;p4"/>
          <p:cNvCxnSpPr/>
          <p:nvPr/>
        </p:nvCxnSpPr>
        <p:spPr>
          <a:xfrm>
            <a:off x="8052425" y="800427"/>
            <a:ext cx="0" cy="26070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4"/>
          <p:cNvSpPr/>
          <p:nvPr/>
        </p:nvSpPr>
        <p:spPr>
          <a:xfrm>
            <a:off x="3478787" y="1061025"/>
            <a:ext cx="4569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4"/>
          <p:cNvCxnSpPr/>
          <p:nvPr/>
        </p:nvCxnSpPr>
        <p:spPr>
          <a:xfrm>
            <a:off x="3478787" y="1065787"/>
            <a:ext cx="45690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4"/>
          <p:cNvSpPr/>
          <p:nvPr/>
        </p:nvSpPr>
        <p:spPr>
          <a:xfrm>
            <a:off x="8047662" y="1061025"/>
            <a:ext cx="951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4"/>
          <p:cNvCxnSpPr/>
          <p:nvPr/>
        </p:nvCxnSpPr>
        <p:spPr>
          <a:xfrm>
            <a:off x="8047662" y="1065787"/>
            <a:ext cx="9510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" name="Google Shape;160;p4"/>
          <p:cNvCxnSpPr/>
          <p:nvPr/>
        </p:nvCxnSpPr>
        <p:spPr>
          <a:xfrm>
            <a:off x="8052425" y="1061025"/>
            <a:ext cx="0" cy="2442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4"/>
          <p:cNvSpPr/>
          <p:nvPr/>
        </p:nvSpPr>
        <p:spPr>
          <a:xfrm>
            <a:off x="3478787" y="1305252"/>
            <a:ext cx="4569000" cy="244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4"/>
          <p:cNvCxnSpPr/>
          <p:nvPr/>
        </p:nvCxnSpPr>
        <p:spPr>
          <a:xfrm>
            <a:off x="3478787" y="1310014"/>
            <a:ext cx="45690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4"/>
          <p:cNvSpPr/>
          <p:nvPr/>
        </p:nvSpPr>
        <p:spPr>
          <a:xfrm>
            <a:off x="8047662" y="1305252"/>
            <a:ext cx="951000" cy="244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4"/>
          <p:cNvCxnSpPr/>
          <p:nvPr/>
        </p:nvCxnSpPr>
        <p:spPr>
          <a:xfrm>
            <a:off x="8047662" y="1310014"/>
            <a:ext cx="9510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" name="Google Shape;165;p4"/>
          <p:cNvCxnSpPr/>
          <p:nvPr/>
        </p:nvCxnSpPr>
        <p:spPr>
          <a:xfrm>
            <a:off x="8052425" y="1305252"/>
            <a:ext cx="0" cy="2442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p4"/>
          <p:cNvSpPr/>
          <p:nvPr/>
        </p:nvSpPr>
        <p:spPr>
          <a:xfrm>
            <a:off x="3478787" y="1549479"/>
            <a:ext cx="4569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p4"/>
          <p:cNvCxnSpPr/>
          <p:nvPr/>
        </p:nvCxnSpPr>
        <p:spPr>
          <a:xfrm>
            <a:off x="3478787" y="1554241"/>
            <a:ext cx="45690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4"/>
          <p:cNvSpPr/>
          <p:nvPr/>
        </p:nvSpPr>
        <p:spPr>
          <a:xfrm>
            <a:off x="8047662" y="1549479"/>
            <a:ext cx="951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4"/>
          <p:cNvCxnSpPr/>
          <p:nvPr/>
        </p:nvCxnSpPr>
        <p:spPr>
          <a:xfrm>
            <a:off x="8047662" y="1554241"/>
            <a:ext cx="9510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" name="Google Shape;170;p4"/>
          <p:cNvCxnSpPr/>
          <p:nvPr/>
        </p:nvCxnSpPr>
        <p:spPr>
          <a:xfrm>
            <a:off x="8052425" y="1549479"/>
            <a:ext cx="0" cy="2442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6f3c3c0c21ff9b5e2ad9580bb389232.png" id="171" name="Google Shape;17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2249" y="1862562"/>
            <a:ext cx="8507519" cy="5469187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4"/>
          <p:cNvSpPr txBox="1"/>
          <p:nvPr/>
        </p:nvSpPr>
        <p:spPr>
          <a:xfrm>
            <a:off x="400050" y="161925"/>
            <a:ext cx="2527995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Coorte analisada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3512125" y="830193"/>
            <a:ext cx="4497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Grupo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"/>
          <p:cNvSpPr txBox="1"/>
          <p:nvPr/>
        </p:nvSpPr>
        <p:spPr>
          <a:xfrm>
            <a:off x="8086030" y="830193"/>
            <a:ext cx="87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3512125" y="1082605"/>
            <a:ext cx="4497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— tumor primário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8086030" y="1082605"/>
            <a:ext cx="87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369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3512125" y="1326832"/>
            <a:ext cx="4497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— tecido adjacente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8086030" y="1326832"/>
            <a:ext cx="87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4"/>
          <p:cNvSpPr txBox="1"/>
          <p:nvPr/>
        </p:nvSpPr>
        <p:spPr>
          <a:xfrm>
            <a:off x="3512125" y="1571059"/>
            <a:ext cx="4497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GTEx — fígado normal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8086030" y="1571059"/>
            <a:ext cx="87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"/>
          <p:cNvSpPr txBox="1"/>
          <p:nvPr/>
        </p:nvSpPr>
        <p:spPr>
          <a:xfrm>
            <a:off x="4484855" y="7352418"/>
            <a:ext cx="3222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1. Distribuição das amostras hepáticas por grupo.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6762750" y="133350"/>
            <a:ext cx="5029200" cy="2667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7150" spcFirstLastPara="1" rIns="5715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Refs.: TCGA Research Network, 2017; GTEx Consortium, 2020; Goldman et al., 2020.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"/>
          <p:cNvSpPr/>
          <p:nvPr/>
        </p:nvSpPr>
        <p:spPr>
          <a:xfrm>
            <a:off x="400050" y="190500"/>
            <a:ext cx="11391900" cy="42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p5"/>
          <p:cNvCxnSpPr/>
          <p:nvPr/>
        </p:nvCxnSpPr>
        <p:spPr>
          <a:xfrm>
            <a:off x="400050" y="597247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p5"/>
          <p:cNvSpPr/>
          <p:nvPr/>
        </p:nvSpPr>
        <p:spPr>
          <a:xfrm>
            <a:off x="6242596" y="1908721"/>
            <a:ext cx="5568404" cy="1640532"/>
          </a:xfrm>
          <a:prstGeom prst="roundRect">
            <a:avLst>
              <a:gd fmla="val 2903" name="adj"/>
            </a:avLst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6242596" y="3739753"/>
            <a:ext cx="5549354" cy="1568648"/>
          </a:xfrm>
          <a:prstGeom prst="roundRect">
            <a:avLst>
              <a:gd fmla="val 3036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p5"/>
          <p:cNvCxnSpPr/>
          <p:nvPr/>
        </p:nvCxnSpPr>
        <p:spPr>
          <a:xfrm>
            <a:off x="6266408" y="3739753"/>
            <a:ext cx="0" cy="1568649"/>
          </a:xfrm>
          <a:prstGeom prst="straightConnector1">
            <a:avLst/>
          </a:prstGeom>
          <a:noFill/>
          <a:ln cap="flat" cmpd="sng" w="47625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5"/>
          <p:cNvSpPr/>
          <p:nvPr/>
        </p:nvSpPr>
        <p:spPr>
          <a:xfrm>
            <a:off x="400050" y="5933926"/>
            <a:ext cx="11391900" cy="903684"/>
          </a:xfrm>
          <a:prstGeom prst="roundRect">
            <a:avLst>
              <a:gd fmla="val 527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400050" y="161925"/>
            <a:ext cx="31733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3"/>
              <a:buFont typeface="Arial"/>
              <a:buNone/>
            </a:pPr>
            <a:r>
              <a:rPr b="0" i="0" lang="en-US" sz="2343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Dados e processamento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400050" y="887016"/>
            <a:ext cx="59605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Fonte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630436" y="1339453"/>
            <a:ext cx="107334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Expressão: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1722983" y="1339453"/>
            <a:ext cx="162431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UCSC Xena / Toil,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 txBox="1"/>
          <p:nvPr/>
        </p:nvSpPr>
        <p:spPr>
          <a:xfrm>
            <a:off x="630424" y="1639500"/>
            <a:ext cx="3749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TcgaTargetGtex_</a:t>
            </a:r>
            <a:r>
              <a:rPr lang="en-US" sz="1650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phenotype_txt.gz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630436" y="1918841"/>
            <a:ext cx="68431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Escala: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1333946" y="1918841"/>
            <a:ext cx="174530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log2(TPM + 0,001)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630436" y="2226766"/>
            <a:ext cx="140523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Mapeamento: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"/>
          <p:cNvSpPr txBox="1"/>
          <p:nvPr/>
        </p:nvSpPr>
        <p:spPr>
          <a:xfrm>
            <a:off x="2054870" y="2226766"/>
            <a:ext cx="250299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Ensembl → símbolo HUGO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637117" y="2526800"/>
            <a:ext cx="1673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1" lang="en-US" sz="16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(org.Hs.eg.db)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"/>
          <p:cNvSpPr txBox="1"/>
          <p:nvPr/>
        </p:nvSpPr>
        <p:spPr>
          <a:xfrm>
            <a:off x="630436" y="2806154"/>
            <a:ext cx="106784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Isoformas: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1717477" y="2806154"/>
            <a:ext cx="207540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agregadas pela média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630436" y="3114080"/>
            <a:ext cx="61525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Filtro: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 txBox="1"/>
          <p:nvPr/>
        </p:nvSpPr>
        <p:spPr>
          <a:xfrm>
            <a:off x="1264900" y="3114075"/>
            <a:ext cx="48459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expressão ≥ 1 em ≥ 20% das amostras e variância &gt;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5"/>
          <p:cNvSpPr txBox="1"/>
          <p:nvPr/>
        </p:nvSpPr>
        <p:spPr>
          <a:xfrm>
            <a:off x="630436" y="3436540"/>
            <a:ext cx="1230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Matriz final: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"/>
          <p:cNvSpPr txBox="1"/>
          <p:nvPr/>
        </p:nvSpPr>
        <p:spPr>
          <a:xfrm>
            <a:off x="1880295" y="3436540"/>
            <a:ext cx="2748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12.401 genes × 529 amostras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400050" y="3934965"/>
            <a:ext cx="703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Clínico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603222" y="4224117"/>
            <a:ext cx="586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"/>
          <p:cNvSpPr txBox="1"/>
          <p:nvPr/>
        </p:nvSpPr>
        <p:spPr>
          <a:xfrm>
            <a:off x="1209250" y="4262217"/>
            <a:ext cx="2370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LIHC_clinicalMatrix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5"/>
          <p:cNvSpPr txBox="1"/>
          <p:nvPr/>
        </p:nvSpPr>
        <p:spPr>
          <a:xfrm>
            <a:off x="3599430" y="4224117"/>
            <a:ext cx="625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 GDC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5"/>
          <p:cNvSpPr txBox="1"/>
          <p:nvPr/>
        </p:nvSpPr>
        <p:spPr>
          <a:xfrm>
            <a:off x="603222" y="4541568"/>
            <a:ext cx="5343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GTEx: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1156863" y="4579668"/>
            <a:ext cx="1757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GTEX_phenotype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2933126" y="4541568"/>
            <a:ext cx="926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 GTEx v8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5"/>
          <p:cNvSpPr txBox="1"/>
          <p:nvPr/>
        </p:nvSpPr>
        <p:spPr>
          <a:xfrm>
            <a:off x="603211" y="4859012"/>
            <a:ext cx="55683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Variáveis: sexo, idade, estágio, grau, AFP (alfa fetoproteína, biomarcador de HCC), fibrose, sorologia viral, </a:t>
            </a:r>
            <a:r>
              <a:rPr b="0" i="1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Child-Pugh </a:t>
            </a:r>
            <a:r>
              <a:rPr b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(Classificação de HCC)</a:t>
            </a: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histologia, TSS (</a:t>
            </a:r>
            <a:r>
              <a:rPr lang="en-US" sz="1650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Centro de coleta</a:t>
            </a: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5"/>
          <p:cNvSpPr txBox="1"/>
          <p:nvPr/>
        </p:nvSpPr>
        <p:spPr>
          <a:xfrm>
            <a:off x="6242596" y="1437233"/>
            <a:ext cx="182388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Estrutura da pasta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5"/>
          <p:cNvSpPr txBox="1"/>
          <p:nvPr/>
        </p:nvSpPr>
        <p:spPr>
          <a:xfrm>
            <a:off x="6325344" y="1991469"/>
            <a:ext cx="1020366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analise_covariaveis_deconvolucao/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5"/>
          <p:cNvSpPr txBox="1"/>
          <p:nvPr/>
        </p:nvSpPr>
        <p:spPr>
          <a:xfrm>
            <a:off x="6325344" y="2125563"/>
            <a:ext cx="2186880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├── scripts/ # pipeline em 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5"/>
          <p:cNvSpPr txBox="1"/>
          <p:nvPr/>
        </p:nvSpPr>
        <p:spPr>
          <a:xfrm>
            <a:off x="6325344" y="2259657"/>
            <a:ext cx="652016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├── dados/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5"/>
          <p:cNvSpPr txBox="1"/>
          <p:nvPr/>
        </p:nvSpPr>
        <p:spPr>
          <a:xfrm>
            <a:off x="6325344" y="2393752"/>
            <a:ext cx="2555230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│ ├── raw/ # clínico e fenótipos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5"/>
          <p:cNvSpPr txBox="1"/>
          <p:nvPr/>
        </p:nvSpPr>
        <p:spPr>
          <a:xfrm>
            <a:off x="6325344" y="2527846"/>
            <a:ext cx="2432447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│ └── processed/ # matrizes log2 TPM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5"/>
          <p:cNvSpPr txBox="1"/>
          <p:nvPr/>
        </p:nvSpPr>
        <p:spPr>
          <a:xfrm>
            <a:off x="6325344" y="2661940"/>
            <a:ext cx="959048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├── resultados/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5"/>
          <p:cNvSpPr txBox="1"/>
          <p:nvPr/>
        </p:nvSpPr>
        <p:spPr>
          <a:xfrm>
            <a:off x="6325344" y="2796034"/>
            <a:ext cx="2370981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│ ├── tabelas/ # 35 tabelas + DE/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5"/>
          <p:cNvSpPr txBox="1"/>
          <p:nvPr/>
        </p:nvSpPr>
        <p:spPr>
          <a:xfrm>
            <a:off x="6325344" y="2930128"/>
            <a:ext cx="2862114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│ ├── figuras/ # 35 figuras + 12 volcanos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5"/>
          <p:cNvSpPr txBox="1"/>
          <p:nvPr/>
        </p:nvSpPr>
        <p:spPr>
          <a:xfrm>
            <a:off x="6325344" y="3064222"/>
            <a:ext cx="2248198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│ └── qc/ # logs e resumos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5"/>
          <p:cNvSpPr txBox="1"/>
          <p:nvPr/>
        </p:nvSpPr>
        <p:spPr>
          <a:xfrm>
            <a:off x="6325344" y="3198316"/>
            <a:ext cx="3905845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├── auditorias/ # dados, volcano 12, benchmarks, compliance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5"/>
          <p:cNvSpPr txBox="1"/>
          <p:nvPr/>
        </p:nvSpPr>
        <p:spPr>
          <a:xfrm>
            <a:off x="6325344" y="3332411"/>
            <a:ext cx="2800796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└── docs/ # 11 documentos didáticos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5"/>
          <p:cNvSpPr txBox="1"/>
          <p:nvPr/>
        </p:nvSpPr>
        <p:spPr>
          <a:xfrm>
            <a:off x="6440984" y="4024312"/>
            <a:ext cx="5227141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transcriptoma bruto (~1,3 GB) não está versionado. A matriz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5"/>
          <p:cNvSpPr txBox="1"/>
          <p:nvPr/>
        </p:nvSpPr>
        <p:spPr>
          <a:xfrm>
            <a:off x="6440984" y="4259907"/>
            <a:ext cx="2373511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processada (17 MB) está 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5"/>
          <p:cNvSpPr txBox="1"/>
          <p:nvPr/>
        </p:nvSpPr>
        <p:spPr>
          <a:xfrm>
            <a:off x="6440984" y="4524077"/>
            <a:ext cx="52292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dados/processed/expressao_log2tpm_filtrada.tsv.gz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5"/>
          <p:cNvSpPr txBox="1"/>
          <p:nvPr/>
        </p:nvSpPr>
        <p:spPr>
          <a:xfrm>
            <a:off x="507504" y="6187678"/>
            <a:ext cx="3635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TPM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5"/>
          <p:cNvSpPr txBox="1"/>
          <p:nvPr/>
        </p:nvSpPr>
        <p:spPr>
          <a:xfrm>
            <a:off x="874216" y="6187678"/>
            <a:ext cx="141536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5"/>
          <p:cNvSpPr txBox="1"/>
          <p:nvPr/>
        </p:nvSpPr>
        <p:spPr>
          <a:xfrm>
            <a:off x="1018877" y="6187678"/>
            <a:ext cx="1454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1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transcripts per million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5"/>
          <p:cNvSpPr txBox="1"/>
          <p:nvPr/>
        </p:nvSpPr>
        <p:spPr>
          <a:xfrm>
            <a:off x="2434977" y="6187678"/>
            <a:ext cx="2079278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medida relativa de expressão.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5"/>
          <p:cNvSpPr txBox="1"/>
          <p:nvPr/>
        </p:nvSpPr>
        <p:spPr>
          <a:xfrm>
            <a:off x="4517529" y="6187678"/>
            <a:ext cx="1368326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log2(TPM + 0,001)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5"/>
          <p:cNvSpPr txBox="1"/>
          <p:nvPr/>
        </p:nvSpPr>
        <p:spPr>
          <a:xfrm>
            <a:off x="5888980" y="6187678"/>
            <a:ext cx="54006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comprime a escala e estabiliza a variância; soma-se 0,001 para evitar log de zero.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5"/>
          <p:cNvSpPr txBox="1"/>
          <p:nvPr/>
        </p:nvSpPr>
        <p:spPr>
          <a:xfrm>
            <a:off x="507504" y="6376243"/>
            <a:ext cx="1292126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Ensembl → HUGO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5"/>
          <p:cNvSpPr txBox="1"/>
          <p:nvPr/>
        </p:nvSpPr>
        <p:spPr>
          <a:xfrm>
            <a:off x="1802755" y="6376243"/>
            <a:ext cx="417582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conversão de identificadores de gene para símbolos oficiais.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5"/>
          <p:cNvSpPr txBox="1"/>
          <p:nvPr/>
        </p:nvSpPr>
        <p:spPr>
          <a:xfrm>
            <a:off x="5981849" y="6376243"/>
            <a:ext cx="412849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Filtro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5"/>
          <p:cNvSpPr txBox="1"/>
          <p:nvPr/>
        </p:nvSpPr>
        <p:spPr>
          <a:xfrm>
            <a:off x="6397823" y="6376243"/>
            <a:ext cx="509468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remove genes com expressão baixa/constante, que só adicionariam ruído.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427172" y="1456230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427172" y="2035618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427172" y="2343543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427172" y="2922931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427172" y="3230856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427172" y="3553316"/>
            <a:ext cx="71100" cy="711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5"/>
          <p:cNvSpPr/>
          <p:nvPr/>
        </p:nvSpPr>
        <p:spPr>
          <a:xfrm>
            <a:off x="399958" y="4340894"/>
            <a:ext cx="71100" cy="711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5"/>
          <p:cNvSpPr/>
          <p:nvPr/>
        </p:nvSpPr>
        <p:spPr>
          <a:xfrm>
            <a:off x="399958" y="4658344"/>
            <a:ext cx="71100" cy="711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399958" y="4975795"/>
            <a:ext cx="71100" cy="711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400050" y="6866185"/>
            <a:ext cx="11391900" cy="2667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7150" spcFirstLastPara="1" rIns="57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Refs.: Goldman et al., Nat Biotechnol 2020; TCGA, 2017; GTEx, 2020.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6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6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8" name="Google Shape;258;p6"/>
          <p:cNvSpPr/>
          <p:nvPr/>
        </p:nvSpPr>
        <p:spPr>
          <a:xfrm>
            <a:off x="400050" y="783580"/>
            <a:ext cx="11391900" cy="2712393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404812" y="788343"/>
            <a:ext cx="2598390" cy="260598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" name="Google Shape;260;p6"/>
          <p:cNvCxnSpPr/>
          <p:nvPr/>
        </p:nvCxnSpPr>
        <p:spPr>
          <a:xfrm>
            <a:off x="404812" y="793105"/>
            <a:ext cx="2598391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1" name="Google Shape;261;p6"/>
          <p:cNvCxnSpPr/>
          <p:nvPr/>
        </p:nvCxnSpPr>
        <p:spPr>
          <a:xfrm>
            <a:off x="409575" y="788343"/>
            <a:ext cx="0" cy="26059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" name="Google Shape;262;p6"/>
          <p:cNvSpPr/>
          <p:nvPr/>
        </p:nvSpPr>
        <p:spPr>
          <a:xfrm>
            <a:off x="3003203" y="788343"/>
            <a:ext cx="8783985" cy="260598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3" name="Google Shape;263;p6"/>
          <p:cNvCxnSpPr/>
          <p:nvPr/>
        </p:nvCxnSpPr>
        <p:spPr>
          <a:xfrm>
            <a:off x="3003203" y="793105"/>
            <a:ext cx="8783985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" name="Google Shape;264;p6"/>
          <p:cNvCxnSpPr/>
          <p:nvPr/>
        </p:nvCxnSpPr>
        <p:spPr>
          <a:xfrm>
            <a:off x="3007965" y="788343"/>
            <a:ext cx="0" cy="26059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6"/>
          <p:cNvSpPr/>
          <p:nvPr/>
        </p:nvSpPr>
        <p:spPr>
          <a:xfrm>
            <a:off x="404812" y="1048941"/>
            <a:ext cx="2598390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6" name="Google Shape;266;p6"/>
          <p:cNvCxnSpPr/>
          <p:nvPr/>
        </p:nvCxnSpPr>
        <p:spPr>
          <a:xfrm>
            <a:off x="404812" y="1053703"/>
            <a:ext cx="259839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7" name="Google Shape;267;p6"/>
          <p:cNvCxnSpPr/>
          <p:nvPr/>
        </p:nvCxnSpPr>
        <p:spPr>
          <a:xfrm>
            <a:off x="409575" y="1048941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p6"/>
          <p:cNvSpPr/>
          <p:nvPr/>
        </p:nvSpPr>
        <p:spPr>
          <a:xfrm>
            <a:off x="3003203" y="1048941"/>
            <a:ext cx="8783985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9" name="Google Shape;269;p6"/>
          <p:cNvCxnSpPr/>
          <p:nvPr/>
        </p:nvCxnSpPr>
        <p:spPr>
          <a:xfrm>
            <a:off x="3003203" y="1053703"/>
            <a:ext cx="8783985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0" name="Google Shape;270;p6"/>
          <p:cNvCxnSpPr/>
          <p:nvPr/>
        </p:nvCxnSpPr>
        <p:spPr>
          <a:xfrm>
            <a:off x="3007965" y="1048941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p6"/>
          <p:cNvSpPr/>
          <p:nvPr/>
        </p:nvSpPr>
        <p:spPr>
          <a:xfrm>
            <a:off x="404812" y="1293168"/>
            <a:ext cx="2598390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" name="Google Shape;272;p6"/>
          <p:cNvCxnSpPr/>
          <p:nvPr/>
        </p:nvCxnSpPr>
        <p:spPr>
          <a:xfrm>
            <a:off x="404812" y="1297930"/>
            <a:ext cx="259839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3" name="Google Shape;273;p6"/>
          <p:cNvCxnSpPr/>
          <p:nvPr/>
        </p:nvCxnSpPr>
        <p:spPr>
          <a:xfrm>
            <a:off x="409575" y="1293168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p6"/>
          <p:cNvSpPr/>
          <p:nvPr/>
        </p:nvSpPr>
        <p:spPr>
          <a:xfrm>
            <a:off x="3003203" y="1293168"/>
            <a:ext cx="8783985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" name="Google Shape;275;p6"/>
          <p:cNvCxnSpPr/>
          <p:nvPr/>
        </p:nvCxnSpPr>
        <p:spPr>
          <a:xfrm>
            <a:off x="3003203" y="1297930"/>
            <a:ext cx="8783985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6" name="Google Shape;276;p6"/>
          <p:cNvCxnSpPr/>
          <p:nvPr/>
        </p:nvCxnSpPr>
        <p:spPr>
          <a:xfrm>
            <a:off x="3007965" y="1293168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" name="Google Shape;277;p6"/>
          <p:cNvSpPr/>
          <p:nvPr/>
        </p:nvSpPr>
        <p:spPr>
          <a:xfrm>
            <a:off x="404812" y="1537395"/>
            <a:ext cx="2598390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p6"/>
          <p:cNvCxnSpPr/>
          <p:nvPr/>
        </p:nvCxnSpPr>
        <p:spPr>
          <a:xfrm>
            <a:off x="404812" y="1542157"/>
            <a:ext cx="259839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9" name="Google Shape;279;p6"/>
          <p:cNvCxnSpPr/>
          <p:nvPr/>
        </p:nvCxnSpPr>
        <p:spPr>
          <a:xfrm>
            <a:off x="409575" y="1537395"/>
            <a:ext cx="0" cy="244226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" name="Google Shape;280;p6"/>
          <p:cNvSpPr/>
          <p:nvPr/>
        </p:nvSpPr>
        <p:spPr>
          <a:xfrm>
            <a:off x="3003203" y="1537395"/>
            <a:ext cx="8783985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" name="Google Shape;281;p6"/>
          <p:cNvCxnSpPr/>
          <p:nvPr/>
        </p:nvCxnSpPr>
        <p:spPr>
          <a:xfrm>
            <a:off x="3003203" y="1542157"/>
            <a:ext cx="8783985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p6"/>
          <p:cNvCxnSpPr/>
          <p:nvPr/>
        </p:nvCxnSpPr>
        <p:spPr>
          <a:xfrm>
            <a:off x="3007965" y="1537395"/>
            <a:ext cx="0" cy="244226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6"/>
          <p:cNvSpPr/>
          <p:nvPr/>
        </p:nvSpPr>
        <p:spPr>
          <a:xfrm>
            <a:off x="404812" y="1781621"/>
            <a:ext cx="2598390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p6"/>
          <p:cNvCxnSpPr/>
          <p:nvPr/>
        </p:nvCxnSpPr>
        <p:spPr>
          <a:xfrm>
            <a:off x="404812" y="1786384"/>
            <a:ext cx="259839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5" name="Google Shape;285;p6"/>
          <p:cNvCxnSpPr/>
          <p:nvPr/>
        </p:nvCxnSpPr>
        <p:spPr>
          <a:xfrm>
            <a:off x="409575" y="1781621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" name="Google Shape;286;p6"/>
          <p:cNvSpPr/>
          <p:nvPr/>
        </p:nvSpPr>
        <p:spPr>
          <a:xfrm>
            <a:off x="3003203" y="1781621"/>
            <a:ext cx="8783985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7" name="Google Shape;287;p6"/>
          <p:cNvCxnSpPr/>
          <p:nvPr/>
        </p:nvCxnSpPr>
        <p:spPr>
          <a:xfrm>
            <a:off x="3003203" y="1786384"/>
            <a:ext cx="8783985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8" name="Google Shape;288;p6"/>
          <p:cNvCxnSpPr/>
          <p:nvPr/>
        </p:nvCxnSpPr>
        <p:spPr>
          <a:xfrm>
            <a:off x="3007965" y="1781621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p6"/>
          <p:cNvSpPr/>
          <p:nvPr/>
        </p:nvSpPr>
        <p:spPr>
          <a:xfrm>
            <a:off x="404812" y="2025848"/>
            <a:ext cx="2598390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0" name="Google Shape;290;p6"/>
          <p:cNvCxnSpPr/>
          <p:nvPr/>
        </p:nvCxnSpPr>
        <p:spPr>
          <a:xfrm>
            <a:off x="404812" y="2030611"/>
            <a:ext cx="259839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1" name="Google Shape;291;p6"/>
          <p:cNvCxnSpPr/>
          <p:nvPr/>
        </p:nvCxnSpPr>
        <p:spPr>
          <a:xfrm>
            <a:off x="409575" y="2025848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" name="Google Shape;292;p6"/>
          <p:cNvSpPr/>
          <p:nvPr/>
        </p:nvSpPr>
        <p:spPr>
          <a:xfrm>
            <a:off x="3003203" y="2025848"/>
            <a:ext cx="8783985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" name="Google Shape;293;p6"/>
          <p:cNvCxnSpPr/>
          <p:nvPr/>
        </p:nvCxnSpPr>
        <p:spPr>
          <a:xfrm>
            <a:off x="3003203" y="2030611"/>
            <a:ext cx="8783985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" name="Google Shape;294;p6"/>
          <p:cNvCxnSpPr/>
          <p:nvPr/>
        </p:nvCxnSpPr>
        <p:spPr>
          <a:xfrm>
            <a:off x="3007965" y="2025848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6"/>
          <p:cNvSpPr/>
          <p:nvPr/>
        </p:nvSpPr>
        <p:spPr>
          <a:xfrm>
            <a:off x="404812" y="2270075"/>
            <a:ext cx="2598390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6" name="Google Shape;296;p6"/>
          <p:cNvCxnSpPr/>
          <p:nvPr/>
        </p:nvCxnSpPr>
        <p:spPr>
          <a:xfrm>
            <a:off x="404812" y="2274838"/>
            <a:ext cx="259839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" name="Google Shape;297;p6"/>
          <p:cNvCxnSpPr/>
          <p:nvPr/>
        </p:nvCxnSpPr>
        <p:spPr>
          <a:xfrm>
            <a:off x="409575" y="2270075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6"/>
          <p:cNvSpPr/>
          <p:nvPr/>
        </p:nvSpPr>
        <p:spPr>
          <a:xfrm>
            <a:off x="3003203" y="2270075"/>
            <a:ext cx="8783985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" name="Google Shape;299;p6"/>
          <p:cNvCxnSpPr/>
          <p:nvPr/>
        </p:nvCxnSpPr>
        <p:spPr>
          <a:xfrm>
            <a:off x="3003203" y="2274838"/>
            <a:ext cx="8783985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0" name="Google Shape;300;p6"/>
          <p:cNvCxnSpPr/>
          <p:nvPr/>
        </p:nvCxnSpPr>
        <p:spPr>
          <a:xfrm>
            <a:off x="3007965" y="2270075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" name="Google Shape;301;p6"/>
          <p:cNvSpPr/>
          <p:nvPr/>
        </p:nvSpPr>
        <p:spPr>
          <a:xfrm>
            <a:off x="404812" y="2514302"/>
            <a:ext cx="2598390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2" name="Google Shape;302;p6"/>
          <p:cNvCxnSpPr/>
          <p:nvPr/>
        </p:nvCxnSpPr>
        <p:spPr>
          <a:xfrm>
            <a:off x="404812" y="2519065"/>
            <a:ext cx="259839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3" name="Google Shape;303;p6"/>
          <p:cNvCxnSpPr/>
          <p:nvPr/>
        </p:nvCxnSpPr>
        <p:spPr>
          <a:xfrm>
            <a:off x="409575" y="2514302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4" name="Google Shape;304;p6"/>
          <p:cNvSpPr/>
          <p:nvPr/>
        </p:nvSpPr>
        <p:spPr>
          <a:xfrm>
            <a:off x="3003203" y="2514302"/>
            <a:ext cx="8783985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5" name="Google Shape;305;p6"/>
          <p:cNvCxnSpPr/>
          <p:nvPr/>
        </p:nvCxnSpPr>
        <p:spPr>
          <a:xfrm>
            <a:off x="3003203" y="2519065"/>
            <a:ext cx="8783985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6" name="Google Shape;306;p6"/>
          <p:cNvCxnSpPr/>
          <p:nvPr/>
        </p:nvCxnSpPr>
        <p:spPr>
          <a:xfrm>
            <a:off x="3007965" y="2514302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" name="Google Shape;307;p6"/>
          <p:cNvSpPr/>
          <p:nvPr/>
        </p:nvSpPr>
        <p:spPr>
          <a:xfrm>
            <a:off x="404812" y="2758529"/>
            <a:ext cx="2598390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" name="Google Shape;308;p6"/>
          <p:cNvCxnSpPr/>
          <p:nvPr/>
        </p:nvCxnSpPr>
        <p:spPr>
          <a:xfrm>
            <a:off x="404812" y="2763292"/>
            <a:ext cx="259839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" name="Google Shape;309;p6"/>
          <p:cNvCxnSpPr/>
          <p:nvPr/>
        </p:nvCxnSpPr>
        <p:spPr>
          <a:xfrm>
            <a:off x="409575" y="2758529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p6"/>
          <p:cNvSpPr/>
          <p:nvPr/>
        </p:nvSpPr>
        <p:spPr>
          <a:xfrm>
            <a:off x="3003203" y="2758529"/>
            <a:ext cx="8783985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1" name="Google Shape;311;p6"/>
          <p:cNvCxnSpPr/>
          <p:nvPr/>
        </p:nvCxnSpPr>
        <p:spPr>
          <a:xfrm>
            <a:off x="3003203" y="2763292"/>
            <a:ext cx="8783985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p6"/>
          <p:cNvCxnSpPr/>
          <p:nvPr/>
        </p:nvCxnSpPr>
        <p:spPr>
          <a:xfrm>
            <a:off x="3007965" y="2758529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" name="Google Shape;313;p6"/>
          <p:cNvSpPr/>
          <p:nvPr/>
        </p:nvSpPr>
        <p:spPr>
          <a:xfrm>
            <a:off x="404812" y="3002756"/>
            <a:ext cx="2598390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" name="Google Shape;314;p6"/>
          <p:cNvCxnSpPr/>
          <p:nvPr/>
        </p:nvCxnSpPr>
        <p:spPr>
          <a:xfrm>
            <a:off x="404812" y="3007519"/>
            <a:ext cx="259839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" name="Google Shape;315;p6"/>
          <p:cNvCxnSpPr/>
          <p:nvPr/>
        </p:nvCxnSpPr>
        <p:spPr>
          <a:xfrm>
            <a:off x="409575" y="3002756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6" name="Google Shape;316;p6"/>
          <p:cNvSpPr/>
          <p:nvPr/>
        </p:nvSpPr>
        <p:spPr>
          <a:xfrm>
            <a:off x="3003203" y="3002756"/>
            <a:ext cx="8783985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7" name="Google Shape;317;p6"/>
          <p:cNvCxnSpPr/>
          <p:nvPr/>
        </p:nvCxnSpPr>
        <p:spPr>
          <a:xfrm>
            <a:off x="3003203" y="3007519"/>
            <a:ext cx="8783985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8" name="Google Shape;318;p6"/>
          <p:cNvCxnSpPr/>
          <p:nvPr/>
        </p:nvCxnSpPr>
        <p:spPr>
          <a:xfrm>
            <a:off x="3007965" y="3002756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6"/>
          <p:cNvSpPr/>
          <p:nvPr/>
        </p:nvSpPr>
        <p:spPr>
          <a:xfrm>
            <a:off x="404812" y="3246983"/>
            <a:ext cx="2598390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" name="Google Shape;320;p6"/>
          <p:cNvCxnSpPr/>
          <p:nvPr/>
        </p:nvCxnSpPr>
        <p:spPr>
          <a:xfrm>
            <a:off x="404812" y="3251746"/>
            <a:ext cx="259839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6"/>
          <p:cNvCxnSpPr/>
          <p:nvPr/>
        </p:nvCxnSpPr>
        <p:spPr>
          <a:xfrm>
            <a:off x="409575" y="3246983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2" name="Google Shape;322;p6"/>
          <p:cNvSpPr/>
          <p:nvPr/>
        </p:nvSpPr>
        <p:spPr>
          <a:xfrm>
            <a:off x="3003203" y="3246983"/>
            <a:ext cx="8783985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3" name="Google Shape;323;p6"/>
          <p:cNvCxnSpPr/>
          <p:nvPr/>
        </p:nvCxnSpPr>
        <p:spPr>
          <a:xfrm>
            <a:off x="3003203" y="3251746"/>
            <a:ext cx="8783985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4" name="Google Shape;324;p6"/>
          <p:cNvCxnSpPr/>
          <p:nvPr/>
        </p:nvCxnSpPr>
        <p:spPr>
          <a:xfrm>
            <a:off x="3007965" y="3246983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5" name="Google Shape;325;p6"/>
          <p:cNvSpPr/>
          <p:nvPr/>
        </p:nvSpPr>
        <p:spPr>
          <a:xfrm>
            <a:off x="400050" y="3635276"/>
            <a:ext cx="11391900" cy="1190923"/>
          </a:xfrm>
          <a:prstGeom prst="roundRect">
            <a:avLst>
              <a:gd fmla="val 3999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6" name="Google Shape;326;p6"/>
          <p:cNvCxnSpPr/>
          <p:nvPr/>
        </p:nvCxnSpPr>
        <p:spPr>
          <a:xfrm>
            <a:off x="423862" y="3635276"/>
            <a:ext cx="0" cy="1190922"/>
          </a:xfrm>
          <a:prstGeom prst="straightConnector1">
            <a:avLst/>
          </a:prstGeom>
          <a:noFill/>
          <a:ln cap="flat" cmpd="sng" w="476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7" name="Google Shape;327;p6"/>
          <p:cNvSpPr/>
          <p:nvPr/>
        </p:nvSpPr>
        <p:spPr>
          <a:xfrm>
            <a:off x="400050" y="4911923"/>
            <a:ext cx="11391900" cy="1003102"/>
          </a:xfrm>
          <a:prstGeom prst="roundRect">
            <a:avLst>
              <a:gd fmla="val 474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6"/>
          <p:cNvSpPr txBox="1"/>
          <p:nvPr/>
        </p:nvSpPr>
        <p:spPr>
          <a:xfrm>
            <a:off x="400050" y="161925"/>
            <a:ext cx="3609826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Comparações realizadas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6"/>
          <p:cNvSpPr txBox="1"/>
          <p:nvPr/>
        </p:nvSpPr>
        <p:spPr>
          <a:xfrm>
            <a:off x="461962" y="818108"/>
            <a:ext cx="250317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Bloco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6"/>
          <p:cNvSpPr txBox="1"/>
          <p:nvPr/>
        </p:nvSpPr>
        <p:spPr>
          <a:xfrm>
            <a:off x="3065859" y="818108"/>
            <a:ext cx="825103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6"/>
          <p:cNvSpPr txBox="1"/>
          <p:nvPr/>
        </p:nvSpPr>
        <p:spPr>
          <a:xfrm>
            <a:off x="461962" y="1070521"/>
            <a:ext cx="250317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× TCGA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6"/>
          <p:cNvSpPr txBox="1"/>
          <p:nvPr/>
        </p:nvSpPr>
        <p:spPr>
          <a:xfrm>
            <a:off x="3065859" y="1070521"/>
            <a:ext cx="2223939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Tumor primário vs. tecido adjacente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6"/>
          <p:cNvSpPr txBox="1"/>
          <p:nvPr/>
        </p:nvSpPr>
        <p:spPr>
          <a:xfrm>
            <a:off x="461962" y="1314748"/>
            <a:ext cx="250317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× TCGA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6"/>
          <p:cNvSpPr txBox="1"/>
          <p:nvPr/>
        </p:nvSpPr>
        <p:spPr>
          <a:xfrm>
            <a:off x="3065859" y="1314748"/>
            <a:ext cx="243304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Tumor primário vs. adjacente (pareado)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6"/>
          <p:cNvSpPr txBox="1"/>
          <p:nvPr/>
        </p:nvSpPr>
        <p:spPr>
          <a:xfrm>
            <a:off x="461962" y="1558975"/>
            <a:ext cx="250317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× TCGA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6"/>
          <p:cNvSpPr txBox="1"/>
          <p:nvPr/>
        </p:nvSpPr>
        <p:spPr>
          <a:xfrm>
            <a:off x="3065859" y="1558975"/>
            <a:ext cx="1228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 III–IV vs. I–II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6"/>
          <p:cNvSpPr txBox="1"/>
          <p:nvPr/>
        </p:nvSpPr>
        <p:spPr>
          <a:xfrm>
            <a:off x="461962" y="1803202"/>
            <a:ext cx="250317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× TCGA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6"/>
          <p:cNvSpPr txBox="1"/>
          <p:nvPr/>
        </p:nvSpPr>
        <p:spPr>
          <a:xfrm>
            <a:off x="3065859" y="1803202"/>
            <a:ext cx="141252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Grau G3–G4 vs. G1–G2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"/>
          <p:cNvSpPr txBox="1"/>
          <p:nvPr/>
        </p:nvSpPr>
        <p:spPr>
          <a:xfrm>
            <a:off x="461962" y="2047429"/>
            <a:ext cx="250317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GTEx × GTEx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6"/>
          <p:cNvSpPr txBox="1"/>
          <p:nvPr/>
        </p:nvSpPr>
        <p:spPr>
          <a:xfrm>
            <a:off x="3065859" y="2047429"/>
            <a:ext cx="142785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Masculino vs. feminino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6"/>
          <p:cNvSpPr txBox="1"/>
          <p:nvPr/>
        </p:nvSpPr>
        <p:spPr>
          <a:xfrm>
            <a:off x="461962" y="2291655"/>
            <a:ext cx="250317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GTEx × GTEx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6"/>
          <p:cNvSpPr txBox="1"/>
          <p:nvPr/>
        </p:nvSpPr>
        <p:spPr>
          <a:xfrm>
            <a:off x="3065859" y="2291655"/>
            <a:ext cx="113511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Idade ≥60 vs. &lt;60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6"/>
          <p:cNvSpPr txBox="1"/>
          <p:nvPr/>
        </p:nvSpPr>
        <p:spPr>
          <a:xfrm>
            <a:off x="461962" y="2535882"/>
            <a:ext cx="250317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× GTEx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6"/>
          <p:cNvSpPr txBox="1"/>
          <p:nvPr/>
        </p:nvSpPr>
        <p:spPr>
          <a:xfrm>
            <a:off x="3065859" y="2535882"/>
            <a:ext cx="2077194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Tumor primário vs. fígado normal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6"/>
          <p:cNvSpPr txBox="1"/>
          <p:nvPr/>
        </p:nvSpPr>
        <p:spPr>
          <a:xfrm>
            <a:off x="461962" y="2780109"/>
            <a:ext cx="250317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× GTEx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6"/>
          <p:cNvSpPr txBox="1"/>
          <p:nvPr/>
        </p:nvSpPr>
        <p:spPr>
          <a:xfrm>
            <a:off x="3065859" y="2780109"/>
            <a:ext cx="173399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Adjacente vs. fígado normal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6"/>
          <p:cNvSpPr txBox="1"/>
          <p:nvPr/>
        </p:nvSpPr>
        <p:spPr>
          <a:xfrm>
            <a:off x="461962" y="3024336"/>
            <a:ext cx="250317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Via KEGG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6"/>
          <p:cNvSpPr txBox="1"/>
          <p:nvPr/>
        </p:nvSpPr>
        <p:spPr>
          <a:xfrm>
            <a:off x="3065859" y="3024336"/>
            <a:ext cx="315381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Via LA (hsa05417): tumor vs. normal e vs. adjacente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6"/>
          <p:cNvSpPr txBox="1"/>
          <p:nvPr/>
        </p:nvSpPr>
        <p:spPr>
          <a:xfrm>
            <a:off x="461962" y="3268563"/>
            <a:ext cx="250317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Sensibilidade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6"/>
          <p:cNvSpPr txBox="1"/>
          <p:nvPr/>
        </p:nvSpPr>
        <p:spPr>
          <a:xfrm>
            <a:off x="3065859" y="3268563"/>
            <a:ext cx="15516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ComBat: antes vs. depois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6"/>
          <p:cNvSpPr txBox="1"/>
          <p:nvPr/>
        </p:nvSpPr>
        <p:spPr>
          <a:xfrm>
            <a:off x="520900" y="3878046"/>
            <a:ext cx="109671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Também foram comparados, dentro do TCGA: </a:t>
            </a:r>
            <a:r>
              <a:rPr b="1" lang="en-US" sz="1687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sexo</a:t>
            </a:r>
            <a:r>
              <a:rPr lang="en-US">
                <a:solidFill>
                  <a:schemeClr val="dk1"/>
                </a:solidFill>
              </a:rPr>
              <a:t> e </a:t>
            </a:r>
            <a:r>
              <a:rPr b="1" lang="en-US" sz="1687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idade ≥ 65 vs. &lt;65 </a:t>
            </a:r>
            <a:r>
              <a:rPr lang="en-US" sz="1687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(Os doadores com tumor no TCGA eram significativamente mais velhos [média de 59,4 anos] do que os doadores de fígado normal do GTEx [média de 53,7 anos] p = 3,96e-6). </a:t>
            </a:r>
            <a:r>
              <a:rPr lang="en-US" sz="1687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comparação pareada usa o paciente como fator de bloqueio.</a:t>
            </a:r>
            <a:endParaRPr sz="1687">
              <a:solidFill>
                <a:srgbClr val="12355B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52" name="Google Shape;352;p6"/>
          <p:cNvSpPr txBox="1"/>
          <p:nvPr/>
        </p:nvSpPr>
        <p:spPr>
          <a:xfrm>
            <a:off x="520898" y="5183832"/>
            <a:ext cx="69502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Pareado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6"/>
          <p:cNvSpPr txBox="1"/>
          <p:nvPr/>
        </p:nvSpPr>
        <p:spPr>
          <a:xfrm>
            <a:off x="1224707" y="5183832"/>
            <a:ext cx="18279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tumor e adjacente 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6"/>
          <p:cNvSpPr txBox="1"/>
          <p:nvPr/>
        </p:nvSpPr>
        <p:spPr>
          <a:xfrm>
            <a:off x="3061543" y="5183832"/>
            <a:ext cx="57522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mesmo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6"/>
          <p:cNvSpPr txBox="1"/>
          <p:nvPr/>
        </p:nvSpPr>
        <p:spPr>
          <a:xfrm>
            <a:off x="3645545" y="5183832"/>
            <a:ext cx="362828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paciente, o que controla genética, idade e sexo.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6"/>
          <p:cNvSpPr txBox="1"/>
          <p:nvPr/>
        </p:nvSpPr>
        <p:spPr>
          <a:xfrm>
            <a:off x="7282755" y="5183832"/>
            <a:ext cx="84340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Adjacente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6"/>
          <p:cNvSpPr txBox="1"/>
          <p:nvPr/>
        </p:nvSpPr>
        <p:spPr>
          <a:xfrm>
            <a:off x="8134945" y="5183832"/>
            <a:ext cx="30718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é fígado “normal” perfeito: pode 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6"/>
          <p:cNvSpPr txBox="1"/>
          <p:nvPr/>
        </p:nvSpPr>
        <p:spPr>
          <a:xfrm>
            <a:off x="520898" y="5413474"/>
            <a:ext cx="28466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inflamação e campo de cancerização.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6"/>
          <p:cNvSpPr txBox="1"/>
          <p:nvPr/>
        </p:nvSpPr>
        <p:spPr>
          <a:xfrm>
            <a:off x="3376464" y="5413474"/>
            <a:ext cx="67597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ComBat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6"/>
          <p:cNvSpPr txBox="1"/>
          <p:nvPr/>
        </p:nvSpPr>
        <p:spPr>
          <a:xfrm>
            <a:off x="4061222" y="5413474"/>
            <a:ext cx="618886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correção de lote; aqui é uma análise de sensibilidade, não o resultado principal.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5" name="Google Shape;365;p8"/>
          <p:cNvCxnSpPr/>
          <p:nvPr/>
        </p:nvCxnSpPr>
        <p:spPr>
          <a:xfrm>
            <a:off x="400050" y="561826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6" name="Google Shape;366;p8"/>
          <p:cNvSpPr/>
          <p:nvPr/>
        </p:nvSpPr>
        <p:spPr>
          <a:xfrm>
            <a:off x="400050" y="661095"/>
            <a:ext cx="5562600" cy="4559100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8"/>
          <p:cNvSpPr/>
          <p:nvPr/>
        </p:nvSpPr>
        <p:spPr>
          <a:xfrm>
            <a:off x="404812" y="665857"/>
            <a:ext cx="18510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8" name="Google Shape;368;p8"/>
          <p:cNvCxnSpPr/>
          <p:nvPr/>
        </p:nvCxnSpPr>
        <p:spPr>
          <a:xfrm>
            <a:off x="404812" y="670620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69" name="Google Shape;369;p8"/>
          <p:cNvCxnSpPr/>
          <p:nvPr/>
        </p:nvCxnSpPr>
        <p:spPr>
          <a:xfrm>
            <a:off x="409575" y="665857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70" name="Google Shape;370;p8"/>
          <p:cNvSpPr/>
          <p:nvPr/>
        </p:nvSpPr>
        <p:spPr>
          <a:xfrm>
            <a:off x="2255788" y="665857"/>
            <a:ext cx="18510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1" name="Google Shape;371;p8"/>
          <p:cNvCxnSpPr/>
          <p:nvPr/>
        </p:nvCxnSpPr>
        <p:spPr>
          <a:xfrm>
            <a:off x="2255788" y="670620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72" name="Google Shape;372;p8"/>
          <p:cNvCxnSpPr/>
          <p:nvPr/>
        </p:nvCxnSpPr>
        <p:spPr>
          <a:xfrm>
            <a:off x="2260550" y="665857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73" name="Google Shape;373;p8"/>
          <p:cNvSpPr/>
          <p:nvPr/>
        </p:nvSpPr>
        <p:spPr>
          <a:xfrm>
            <a:off x="4106763" y="665857"/>
            <a:ext cx="18510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4" name="Google Shape;374;p8"/>
          <p:cNvCxnSpPr/>
          <p:nvPr/>
        </p:nvCxnSpPr>
        <p:spPr>
          <a:xfrm>
            <a:off x="4106763" y="670620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75" name="Google Shape;375;p8"/>
          <p:cNvCxnSpPr/>
          <p:nvPr/>
        </p:nvCxnSpPr>
        <p:spPr>
          <a:xfrm>
            <a:off x="4111526" y="665857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76" name="Google Shape;376;p8"/>
          <p:cNvSpPr/>
          <p:nvPr/>
        </p:nvSpPr>
        <p:spPr>
          <a:xfrm>
            <a:off x="404812" y="901899"/>
            <a:ext cx="1851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7" name="Google Shape;377;p8"/>
          <p:cNvCxnSpPr/>
          <p:nvPr/>
        </p:nvCxnSpPr>
        <p:spPr>
          <a:xfrm>
            <a:off x="404812" y="906661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78" name="Google Shape;378;p8"/>
          <p:cNvCxnSpPr/>
          <p:nvPr/>
        </p:nvCxnSpPr>
        <p:spPr>
          <a:xfrm>
            <a:off x="409575" y="901899"/>
            <a:ext cx="0" cy="7557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79" name="Google Shape;379;p8"/>
          <p:cNvSpPr/>
          <p:nvPr/>
        </p:nvSpPr>
        <p:spPr>
          <a:xfrm>
            <a:off x="2255788" y="901899"/>
            <a:ext cx="1851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0" name="Google Shape;380;p8"/>
          <p:cNvCxnSpPr/>
          <p:nvPr/>
        </p:nvCxnSpPr>
        <p:spPr>
          <a:xfrm>
            <a:off x="2255788" y="906661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81" name="Google Shape;381;p8"/>
          <p:cNvCxnSpPr/>
          <p:nvPr/>
        </p:nvCxnSpPr>
        <p:spPr>
          <a:xfrm>
            <a:off x="2260550" y="901899"/>
            <a:ext cx="0" cy="7557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82" name="Google Shape;382;p8"/>
          <p:cNvSpPr/>
          <p:nvPr/>
        </p:nvSpPr>
        <p:spPr>
          <a:xfrm>
            <a:off x="4106763" y="901899"/>
            <a:ext cx="1851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3" name="Google Shape;383;p8"/>
          <p:cNvCxnSpPr/>
          <p:nvPr/>
        </p:nvCxnSpPr>
        <p:spPr>
          <a:xfrm>
            <a:off x="4106763" y="906661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84" name="Google Shape;384;p8"/>
          <p:cNvCxnSpPr/>
          <p:nvPr/>
        </p:nvCxnSpPr>
        <p:spPr>
          <a:xfrm>
            <a:off x="4111526" y="901899"/>
            <a:ext cx="0" cy="7557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85" name="Google Shape;385;p8"/>
          <p:cNvSpPr/>
          <p:nvPr/>
        </p:nvSpPr>
        <p:spPr>
          <a:xfrm>
            <a:off x="404812" y="1657648"/>
            <a:ext cx="18510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6" name="Google Shape;386;p8"/>
          <p:cNvCxnSpPr/>
          <p:nvPr/>
        </p:nvCxnSpPr>
        <p:spPr>
          <a:xfrm>
            <a:off x="404812" y="1662410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87" name="Google Shape;387;p8"/>
          <p:cNvCxnSpPr/>
          <p:nvPr/>
        </p:nvCxnSpPr>
        <p:spPr>
          <a:xfrm>
            <a:off x="409575" y="1657648"/>
            <a:ext cx="0" cy="5826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88" name="Google Shape;388;p8"/>
          <p:cNvSpPr/>
          <p:nvPr/>
        </p:nvSpPr>
        <p:spPr>
          <a:xfrm>
            <a:off x="2255788" y="1657648"/>
            <a:ext cx="18510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9" name="Google Shape;389;p8"/>
          <p:cNvCxnSpPr/>
          <p:nvPr/>
        </p:nvCxnSpPr>
        <p:spPr>
          <a:xfrm>
            <a:off x="2255788" y="1662410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0" name="Google Shape;390;p8"/>
          <p:cNvCxnSpPr/>
          <p:nvPr/>
        </p:nvCxnSpPr>
        <p:spPr>
          <a:xfrm>
            <a:off x="2260550" y="1657648"/>
            <a:ext cx="0" cy="5826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91" name="Google Shape;391;p8"/>
          <p:cNvSpPr/>
          <p:nvPr/>
        </p:nvSpPr>
        <p:spPr>
          <a:xfrm>
            <a:off x="4106763" y="1657648"/>
            <a:ext cx="18510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2" name="Google Shape;392;p8"/>
          <p:cNvCxnSpPr/>
          <p:nvPr/>
        </p:nvCxnSpPr>
        <p:spPr>
          <a:xfrm>
            <a:off x="4106763" y="1662410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3" name="Google Shape;393;p8"/>
          <p:cNvCxnSpPr/>
          <p:nvPr/>
        </p:nvCxnSpPr>
        <p:spPr>
          <a:xfrm>
            <a:off x="4111526" y="1657648"/>
            <a:ext cx="0" cy="5826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94" name="Google Shape;394;p8"/>
          <p:cNvSpPr/>
          <p:nvPr/>
        </p:nvSpPr>
        <p:spPr>
          <a:xfrm>
            <a:off x="404812" y="2240161"/>
            <a:ext cx="18510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5" name="Google Shape;395;p8"/>
          <p:cNvCxnSpPr/>
          <p:nvPr/>
        </p:nvCxnSpPr>
        <p:spPr>
          <a:xfrm>
            <a:off x="404812" y="2244924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6" name="Google Shape;396;p8"/>
          <p:cNvCxnSpPr/>
          <p:nvPr/>
        </p:nvCxnSpPr>
        <p:spPr>
          <a:xfrm>
            <a:off x="409575" y="2240161"/>
            <a:ext cx="0" cy="4092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97" name="Google Shape;397;p8"/>
          <p:cNvSpPr/>
          <p:nvPr/>
        </p:nvSpPr>
        <p:spPr>
          <a:xfrm>
            <a:off x="2255788" y="2240161"/>
            <a:ext cx="18510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8" name="Google Shape;398;p8"/>
          <p:cNvCxnSpPr/>
          <p:nvPr/>
        </p:nvCxnSpPr>
        <p:spPr>
          <a:xfrm>
            <a:off x="2255788" y="2244924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9" name="Google Shape;399;p8"/>
          <p:cNvCxnSpPr/>
          <p:nvPr/>
        </p:nvCxnSpPr>
        <p:spPr>
          <a:xfrm>
            <a:off x="2260550" y="2240161"/>
            <a:ext cx="0" cy="4092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00" name="Google Shape;400;p8"/>
          <p:cNvSpPr/>
          <p:nvPr/>
        </p:nvSpPr>
        <p:spPr>
          <a:xfrm>
            <a:off x="4106763" y="2240161"/>
            <a:ext cx="18510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1" name="Google Shape;401;p8"/>
          <p:cNvCxnSpPr/>
          <p:nvPr/>
        </p:nvCxnSpPr>
        <p:spPr>
          <a:xfrm>
            <a:off x="4106763" y="2244924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2" name="Google Shape;402;p8"/>
          <p:cNvCxnSpPr/>
          <p:nvPr/>
        </p:nvCxnSpPr>
        <p:spPr>
          <a:xfrm>
            <a:off x="4111526" y="2240161"/>
            <a:ext cx="0" cy="4092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03" name="Google Shape;403;p8"/>
          <p:cNvSpPr/>
          <p:nvPr/>
        </p:nvSpPr>
        <p:spPr>
          <a:xfrm>
            <a:off x="404812" y="2649438"/>
            <a:ext cx="18510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4" name="Google Shape;404;p8"/>
          <p:cNvCxnSpPr/>
          <p:nvPr/>
        </p:nvCxnSpPr>
        <p:spPr>
          <a:xfrm>
            <a:off x="404812" y="2654201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5" name="Google Shape;405;p8"/>
          <p:cNvCxnSpPr/>
          <p:nvPr/>
        </p:nvCxnSpPr>
        <p:spPr>
          <a:xfrm>
            <a:off x="409575" y="2649438"/>
            <a:ext cx="0" cy="4092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06" name="Google Shape;406;p8"/>
          <p:cNvSpPr/>
          <p:nvPr/>
        </p:nvSpPr>
        <p:spPr>
          <a:xfrm>
            <a:off x="2255788" y="2649438"/>
            <a:ext cx="18510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7" name="Google Shape;407;p8"/>
          <p:cNvCxnSpPr/>
          <p:nvPr/>
        </p:nvCxnSpPr>
        <p:spPr>
          <a:xfrm>
            <a:off x="2255788" y="2654201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8" name="Google Shape;408;p8"/>
          <p:cNvCxnSpPr/>
          <p:nvPr/>
        </p:nvCxnSpPr>
        <p:spPr>
          <a:xfrm>
            <a:off x="2260550" y="2649438"/>
            <a:ext cx="0" cy="4092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09" name="Google Shape;409;p8"/>
          <p:cNvSpPr/>
          <p:nvPr/>
        </p:nvSpPr>
        <p:spPr>
          <a:xfrm>
            <a:off x="4106763" y="2649438"/>
            <a:ext cx="18510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0" name="Google Shape;410;p8"/>
          <p:cNvCxnSpPr/>
          <p:nvPr/>
        </p:nvCxnSpPr>
        <p:spPr>
          <a:xfrm>
            <a:off x="4106763" y="2654201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11" name="Google Shape;411;p8"/>
          <p:cNvCxnSpPr/>
          <p:nvPr/>
        </p:nvCxnSpPr>
        <p:spPr>
          <a:xfrm>
            <a:off x="4111526" y="2649438"/>
            <a:ext cx="0" cy="4092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12" name="Google Shape;412;p8"/>
          <p:cNvSpPr/>
          <p:nvPr/>
        </p:nvSpPr>
        <p:spPr>
          <a:xfrm>
            <a:off x="404812" y="3058716"/>
            <a:ext cx="18510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3" name="Google Shape;413;p8"/>
          <p:cNvCxnSpPr/>
          <p:nvPr/>
        </p:nvCxnSpPr>
        <p:spPr>
          <a:xfrm>
            <a:off x="404812" y="3063478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14" name="Google Shape;414;p8"/>
          <p:cNvCxnSpPr/>
          <p:nvPr/>
        </p:nvCxnSpPr>
        <p:spPr>
          <a:xfrm>
            <a:off x="409575" y="3058716"/>
            <a:ext cx="0" cy="5826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15" name="Google Shape;415;p8"/>
          <p:cNvSpPr/>
          <p:nvPr/>
        </p:nvSpPr>
        <p:spPr>
          <a:xfrm>
            <a:off x="2255788" y="3058716"/>
            <a:ext cx="18510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6" name="Google Shape;416;p8"/>
          <p:cNvCxnSpPr/>
          <p:nvPr/>
        </p:nvCxnSpPr>
        <p:spPr>
          <a:xfrm>
            <a:off x="2255788" y="3063478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17" name="Google Shape;417;p8"/>
          <p:cNvCxnSpPr/>
          <p:nvPr/>
        </p:nvCxnSpPr>
        <p:spPr>
          <a:xfrm>
            <a:off x="2260550" y="3058716"/>
            <a:ext cx="0" cy="5826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18" name="Google Shape;418;p8"/>
          <p:cNvSpPr/>
          <p:nvPr/>
        </p:nvSpPr>
        <p:spPr>
          <a:xfrm>
            <a:off x="4106763" y="3058716"/>
            <a:ext cx="18510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9" name="Google Shape;419;p8"/>
          <p:cNvCxnSpPr/>
          <p:nvPr/>
        </p:nvCxnSpPr>
        <p:spPr>
          <a:xfrm>
            <a:off x="4106763" y="3063478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20" name="Google Shape;420;p8"/>
          <p:cNvCxnSpPr/>
          <p:nvPr/>
        </p:nvCxnSpPr>
        <p:spPr>
          <a:xfrm>
            <a:off x="4111526" y="3058716"/>
            <a:ext cx="0" cy="5826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21" name="Google Shape;421;p8"/>
          <p:cNvSpPr/>
          <p:nvPr/>
        </p:nvSpPr>
        <p:spPr>
          <a:xfrm>
            <a:off x="404812" y="3641229"/>
            <a:ext cx="18510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2" name="Google Shape;422;p8"/>
          <p:cNvCxnSpPr/>
          <p:nvPr/>
        </p:nvCxnSpPr>
        <p:spPr>
          <a:xfrm>
            <a:off x="404812" y="3645992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23" name="Google Shape;423;p8"/>
          <p:cNvCxnSpPr/>
          <p:nvPr/>
        </p:nvCxnSpPr>
        <p:spPr>
          <a:xfrm>
            <a:off x="409575" y="3641229"/>
            <a:ext cx="0" cy="4092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24" name="Google Shape;424;p8"/>
          <p:cNvSpPr/>
          <p:nvPr/>
        </p:nvSpPr>
        <p:spPr>
          <a:xfrm>
            <a:off x="2255788" y="3641229"/>
            <a:ext cx="18510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5" name="Google Shape;425;p8"/>
          <p:cNvCxnSpPr/>
          <p:nvPr/>
        </p:nvCxnSpPr>
        <p:spPr>
          <a:xfrm>
            <a:off x="2255788" y="3645992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26" name="Google Shape;426;p8"/>
          <p:cNvCxnSpPr/>
          <p:nvPr/>
        </p:nvCxnSpPr>
        <p:spPr>
          <a:xfrm>
            <a:off x="2260550" y="3641229"/>
            <a:ext cx="0" cy="4092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27" name="Google Shape;427;p8"/>
          <p:cNvSpPr/>
          <p:nvPr/>
        </p:nvSpPr>
        <p:spPr>
          <a:xfrm>
            <a:off x="4106763" y="3641229"/>
            <a:ext cx="18510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8" name="Google Shape;428;p8"/>
          <p:cNvCxnSpPr/>
          <p:nvPr/>
        </p:nvCxnSpPr>
        <p:spPr>
          <a:xfrm>
            <a:off x="4106763" y="3645992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29" name="Google Shape;429;p8"/>
          <p:cNvCxnSpPr/>
          <p:nvPr/>
        </p:nvCxnSpPr>
        <p:spPr>
          <a:xfrm>
            <a:off x="4111526" y="3641229"/>
            <a:ext cx="0" cy="4092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30" name="Google Shape;430;p8"/>
          <p:cNvSpPr/>
          <p:nvPr/>
        </p:nvSpPr>
        <p:spPr>
          <a:xfrm>
            <a:off x="404812" y="4050506"/>
            <a:ext cx="18510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1" name="Google Shape;431;p8"/>
          <p:cNvCxnSpPr/>
          <p:nvPr/>
        </p:nvCxnSpPr>
        <p:spPr>
          <a:xfrm>
            <a:off x="404812" y="4055269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32" name="Google Shape;432;p8"/>
          <p:cNvCxnSpPr/>
          <p:nvPr/>
        </p:nvCxnSpPr>
        <p:spPr>
          <a:xfrm>
            <a:off x="409575" y="4050506"/>
            <a:ext cx="0" cy="5826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33" name="Google Shape;433;p8"/>
          <p:cNvSpPr/>
          <p:nvPr/>
        </p:nvSpPr>
        <p:spPr>
          <a:xfrm>
            <a:off x="2255788" y="4050506"/>
            <a:ext cx="18510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4" name="Google Shape;434;p8"/>
          <p:cNvCxnSpPr/>
          <p:nvPr/>
        </p:nvCxnSpPr>
        <p:spPr>
          <a:xfrm>
            <a:off x="2255788" y="4055269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35" name="Google Shape;435;p8"/>
          <p:cNvCxnSpPr/>
          <p:nvPr/>
        </p:nvCxnSpPr>
        <p:spPr>
          <a:xfrm>
            <a:off x="2260550" y="4050506"/>
            <a:ext cx="0" cy="5826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36" name="Google Shape;436;p8"/>
          <p:cNvSpPr/>
          <p:nvPr/>
        </p:nvSpPr>
        <p:spPr>
          <a:xfrm>
            <a:off x="4106763" y="4050506"/>
            <a:ext cx="18510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7" name="Google Shape;437;p8"/>
          <p:cNvCxnSpPr/>
          <p:nvPr/>
        </p:nvCxnSpPr>
        <p:spPr>
          <a:xfrm>
            <a:off x="4106763" y="4055269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38" name="Google Shape;438;p8"/>
          <p:cNvCxnSpPr/>
          <p:nvPr/>
        </p:nvCxnSpPr>
        <p:spPr>
          <a:xfrm>
            <a:off x="4111526" y="4050506"/>
            <a:ext cx="0" cy="5826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39" name="Google Shape;439;p8"/>
          <p:cNvSpPr/>
          <p:nvPr/>
        </p:nvSpPr>
        <p:spPr>
          <a:xfrm>
            <a:off x="404812" y="4633020"/>
            <a:ext cx="18510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0" name="Google Shape;440;p8"/>
          <p:cNvCxnSpPr/>
          <p:nvPr/>
        </p:nvCxnSpPr>
        <p:spPr>
          <a:xfrm>
            <a:off x="404812" y="4637782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41" name="Google Shape;441;p8"/>
          <p:cNvCxnSpPr/>
          <p:nvPr/>
        </p:nvCxnSpPr>
        <p:spPr>
          <a:xfrm>
            <a:off x="409575" y="4633020"/>
            <a:ext cx="0" cy="5826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42" name="Google Shape;442;p8"/>
          <p:cNvSpPr/>
          <p:nvPr/>
        </p:nvSpPr>
        <p:spPr>
          <a:xfrm>
            <a:off x="2255788" y="4633020"/>
            <a:ext cx="18510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3" name="Google Shape;443;p8"/>
          <p:cNvCxnSpPr/>
          <p:nvPr/>
        </p:nvCxnSpPr>
        <p:spPr>
          <a:xfrm>
            <a:off x="2255788" y="4637782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44" name="Google Shape;444;p8"/>
          <p:cNvCxnSpPr/>
          <p:nvPr/>
        </p:nvCxnSpPr>
        <p:spPr>
          <a:xfrm>
            <a:off x="2260550" y="4633020"/>
            <a:ext cx="0" cy="5826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45" name="Google Shape;445;p8"/>
          <p:cNvSpPr/>
          <p:nvPr/>
        </p:nvSpPr>
        <p:spPr>
          <a:xfrm>
            <a:off x="4106763" y="4633020"/>
            <a:ext cx="18510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6" name="Google Shape;446;p8"/>
          <p:cNvCxnSpPr/>
          <p:nvPr/>
        </p:nvCxnSpPr>
        <p:spPr>
          <a:xfrm>
            <a:off x="4106763" y="4637782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47" name="Google Shape;447;p8"/>
          <p:cNvCxnSpPr/>
          <p:nvPr/>
        </p:nvCxnSpPr>
        <p:spPr>
          <a:xfrm>
            <a:off x="4111526" y="4633020"/>
            <a:ext cx="0" cy="5826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48" name="Google Shape;448;p8"/>
          <p:cNvSpPr/>
          <p:nvPr/>
        </p:nvSpPr>
        <p:spPr>
          <a:xfrm>
            <a:off x="6229350" y="670768"/>
            <a:ext cx="5562600" cy="4385965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8"/>
          <p:cNvSpPr/>
          <p:nvPr/>
        </p:nvSpPr>
        <p:spPr>
          <a:xfrm>
            <a:off x="6234112" y="675531"/>
            <a:ext cx="1850975" cy="236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0" name="Google Shape;450;p8"/>
          <p:cNvCxnSpPr/>
          <p:nvPr/>
        </p:nvCxnSpPr>
        <p:spPr>
          <a:xfrm>
            <a:off x="6234112" y="680293"/>
            <a:ext cx="1850976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51" name="Google Shape;451;p8"/>
          <p:cNvCxnSpPr/>
          <p:nvPr/>
        </p:nvCxnSpPr>
        <p:spPr>
          <a:xfrm>
            <a:off x="6238875" y="675531"/>
            <a:ext cx="0" cy="236041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52" name="Google Shape;452;p8"/>
          <p:cNvSpPr/>
          <p:nvPr/>
        </p:nvSpPr>
        <p:spPr>
          <a:xfrm>
            <a:off x="8085088" y="675531"/>
            <a:ext cx="1850975" cy="236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3" name="Google Shape;453;p8"/>
          <p:cNvCxnSpPr/>
          <p:nvPr/>
        </p:nvCxnSpPr>
        <p:spPr>
          <a:xfrm>
            <a:off x="8085088" y="680293"/>
            <a:ext cx="185097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54" name="Google Shape;454;p8"/>
          <p:cNvCxnSpPr/>
          <p:nvPr/>
        </p:nvCxnSpPr>
        <p:spPr>
          <a:xfrm>
            <a:off x="8089850" y="675531"/>
            <a:ext cx="0" cy="236041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55" name="Google Shape;455;p8"/>
          <p:cNvSpPr/>
          <p:nvPr/>
        </p:nvSpPr>
        <p:spPr>
          <a:xfrm>
            <a:off x="9936063" y="675531"/>
            <a:ext cx="1851124" cy="236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6" name="Google Shape;456;p8"/>
          <p:cNvCxnSpPr/>
          <p:nvPr/>
        </p:nvCxnSpPr>
        <p:spPr>
          <a:xfrm>
            <a:off x="9936063" y="680293"/>
            <a:ext cx="185112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57" name="Google Shape;457;p8"/>
          <p:cNvCxnSpPr/>
          <p:nvPr/>
        </p:nvCxnSpPr>
        <p:spPr>
          <a:xfrm>
            <a:off x="9940826" y="675531"/>
            <a:ext cx="0" cy="236041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58" name="Google Shape;458;p8"/>
          <p:cNvSpPr/>
          <p:nvPr/>
        </p:nvSpPr>
        <p:spPr>
          <a:xfrm>
            <a:off x="6234112" y="911572"/>
            <a:ext cx="1850975" cy="40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9" name="Google Shape;459;p8"/>
          <p:cNvCxnSpPr/>
          <p:nvPr/>
        </p:nvCxnSpPr>
        <p:spPr>
          <a:xfrm>
            <a:off x="6234112" y="916335"/>
            <a:ext cx="1850976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60" name="Google Shape;460;p8"/>
          <p:cNvCxnSpPr/>
          <p:nvPr/>
        </p:nvCxnSpPr>
        <p:spPr>
          <a:xfrm>
            <a:off x="6238875" y="911572"/>
            <a:ext cx="0" cy="409278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61" name="Google Shape;461;p8"/>
          <p:cNvSpPr/>
          <p:nvPr/>
        </p:nvSpPr>
        <p:spPr>
          <a:xfrm>
            <a:off x="8085088" y="911572"/>
            <a:ext cx="1850975" cy="40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2" name="Google Shape;462;p8"/>
          <p:cNvCxnSpPr/>
          <p:nvPr/>
        </p:nvCxnSpPr>
        <p:spPr>
          <a:xfrm>
            <a:off x="8085088" y="916335"/>
            <a:ext cx="185097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63" name="Google Shape;463;p8"/>
          <p:cNvCxnSpPr/>
          <p:nvPr/>
        </p:nvCxnSpPr>
        <p:spPr>
          <a:xfrm>
            <a:off x="8089850" y="911572"/>
            <a:ext cx="0" cy="409278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64" name="Google Shape;464;p8"/>
          <p:cNvSpPr/>
          <p:nvPr/>
        </p:nvSpPr>
        <p:spPr>
          <a:xfrm>
            <a:off x="9936063" y="911572"/>
            <a:ext cx="1851124" cy="40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5" name="Google Shape;465;p8"/>
          <p:cNvCxnSpPr/>
          <p:nvPr/>
        </p:nvCxnSpPr>
        <p:spPr>
          <a:xfrm>
            <a:off x="9936063" y="916335"/>
            <a:ext cx="185112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66" name="Google Shape;466;p8"/>
          <p:cNvCxnSpPr/>
          <p:nvPr/>
        </p:nvCxnSpPr>
        <p:spPr>
          <a:xfrm>
            <a:off x="9940826" y="911572"/>
            <a:ext cx="0" cy="409278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67" name="Google Shape;467;p8"/>
          <p:cNvSpPr/>
          <p:nvPr/>
        </p:nvSpPr>
        <p:spPr>
          <a:xfrm>
            <a:off x="6234112" y="1320850"/>
            <a:ext cx="1850975" cy="40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8" name="Google Shape;468;p8"/>
          <p:cNvCxnSpPr/>
          <p:nvPr/>
        </p:nvCxnSpPr>
        <p:spPr>
          <a:xfrm>
            <a:off x="6234112" y="1325612"/>
            <a:ext cx="1850976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69" name="Google Shape;469;p8"/>
          <p:cNvCxnSpPr/>
          <p:nvPr/>
        </p:nvCxnSpPr>
        <p:spPr>
          <a:xfrm>
            <a:off x="6238875" y="1320850"/>
            <a:ext cx="0" cy="409277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70" name="Google Shape;470;p8"/>
          <p:cNvSpPr/>
          <p:nvPr/>
        </p:nvSpPr>
        <p:spPr>
          <a:xfrm>
            <a:off x="8085088" y="1320850"/>
            <a:ext cx="1850975" cy="40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1" name="Google Shape;471;p8"/>
          <p:cNvCxnSpPr/>
          <p:nvPr/>
        </p:nvCxnSpPr>
        <p:spPr>
          <a:xfrm>
            <a:off x="8085088" y="1325612"/>
            <a:ext cx="185097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72" name="Google Shape;472;p8"/>
          <p:cNvCxnSpPr/>
          <p:nvPr/>
        </p:nvCxnSpPr>
        <p:spPr>
          <a:xfrm>
            <a:off x="8089850" y="1320850"/>
            <a:ext cx="0" cy="409277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73" name="Google Shape;473;p8"/>
          <p:cNvSpPr/>
          <p:nvPr/>
        </p:nvSpPr>
        <p:spPr>
          <a:xfrm>
            <a:off x="9936063" y="1320850"/>
            <a:ext cx="1851124" cy="40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4" name="Google Shape;474;p8"/>
          <p:cNvCxnSpPr/>
          <p:nvPr/>
        </p:nvCxnSpPr>
        <p:spPr>
          <a:xfrm>
            <a:off x="9936063" y="1325612"/>
            <a:ext cx="185112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75" name="Google Shape;475;p8"/>
          <p:cNvCxnSpPr/>
          <p:nvPr/>
        </p:nvCxnSpPr>
        <p:spPr>
          <a:xfrm>
            <a:off x="9940826" y="1320850"/>
            <a:ext cx="0" cy="409277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76" name="Google Shape;476;p8"/>
          <p:cNvSpPr/>
          <p:nvPr/>
        </p:nvSpPr>
        <p:spPr>
          <a:xfrm>
            <a:off x="6234112" y="1730127"/>
            <a:ext cx="1850975" cy="582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7" name="Google Shape;477;p8"/>
          <p:cNvCxnSpPr/>
          <p:nvPr/>
        </p:nvCxnSpPr>
        <p:spPr>
          <a:xfrm>
            <a:off x="6234112" y="1734889"/>
            <a:ext cx="1850976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78" name="Google Shape;478;p8"/>
          <p:cNvCxnSpPr/>
          <p:nvPr/>
        </p:nvCxnSpPr>
        <p:spPr>
          <a:xfrm>
            <a:off x="6238875" y="1730127"/>
            <a:ext cx="0" cy="58251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79" name="Google Shape;479;p8"/>
          <p:cNvSpPr/>
          <p:nvPr/>
        </p:nvSpPr>
        <p:spPr>
          <a:xfrm>
            <a:off x="8085088" y="1730127"/>
            <a:ext cx="1850975" cy="582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0" name="Google Shape;480;p8"/>
          <p:cNvCxnSpPr/>
          <p:nvPr/>
        </p:nvCxnSpPr>
        <p:spPr>
          <a:xfrm>
            <a:off x="8085088" y="1734889"/>
            <a:ext cx="185097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81" name="Google Shape;481;p8"/>
          <p:cNvCxnSpPr/>
          <p:nvPr/>
        </p:nvCxnSpPr>
        <p:spPr>
          <a:xfrm>
            <a:off x="8089850" y="1730127"/>
            <a:ext cx="0" cy="58251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82" name="Google Shape;482;p8"/>
          <p:cNvSpPr/>
          <p:nvPr/>
        </p:nvSpPr>
        <p:spPr>
          <a:xfrm>
            <a:off x="9936063" y="1730127"/>
            <a:ext cx="1851124" cy="582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3" name="Google Shape;483;p8"/>
          <p:cNvCxnSpPr/>
          <p:nvPr/>
        </p:nvCxnSpPr>
        <p:spPr>
          <a:xfrm>
            <a:off x="9936063" y="1734889"/>
            <a:ext cx="185112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84" name="Google Shape;484;p8"/>
          <p:cNvCxnSpPr/>
          <p:nvPr/>
        </p:nvCxnSpPr>
        <p:spPr>
          <a:xfrm>
            <a:off x="9940826" y="1730127"/>
            <a:ext cx="0" cy="58251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85" name="Google Shape;485;p8"/>
          <p:cNvSpPr/>
          <p:nvPr/>
        </p:nvSpPr>
        <p:spPr>
          <a:xfrm>
            <a:off x="6234112" y="2312640"/>
            <a:ext cx="1850975" cy="40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6" name="Google Shape;486;p8"/>
          <p:cNvCxnSpPr/>
          <p:nvPr/>
        </p:nvCxnSpPr>
        <p:spPr>
          <a:xfrm>
            <a:off x="6234112" y="2317403"/>
            <a:ext cx="1850976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87" name="Google Shape;487;p8"/>
          <p:cNvCxnSpPr/>
          <p:nvPr/>
        </p:nvCxnSpPr>
        <p:spPr>
          <a:xfrm>
            <a:off x="6238875" y="2312640"/>
            <a:ext cx="0" cy="409278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88" name="Google Shape;488;p8"/>
          <p:cNvSpPr/>
          <p:nvPr/>
        </p:nvSpPr>
        <p:spPr>
          <a:xfrm>
            <a:off x="8085088" y="2312640"/>
            <a:ext cx="1850975" cy="40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9" name="Google Shape;489;p8"/>
          <p:cNvCxnSpPr/>
          <p:nvPr/>
        </p:nvCxnSpPr>
        <p:spPr>
          <a:xfrm>
            <a:off x="8085088" y="2317403"/>
            <a:ext cx="185097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90" name="Google Shape;490;p8"/>
          <p:cNvCxnSpPr/>
          <p:nvPr/>
        </p:nvCxnSpPr>
        <p:spPr>
          <a:xfrm>
            <a:off x="8089850" y="2312640"/>
            <a:ext cx="0" cy="409278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91" name="Google Shape;491;p8"/>
          <p:cNvSpPr/>
          <p:nvPr/>
        </p:nvSpPr>
        <p:spPr>
          <a:xfrm>
            <a:off x="9936063" y="2312640"/>
            <a:ext cx="1851124" cy="40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2" name="Google Shape;492;p8"/>
          <p:cNvCxnSpPr/>
          <p:nvPr/>
        </p:nvCxnSpPr>
        <p:spPr>
          <a:xfrm>
            <a:off x="9936063" y="2317403"/>
            <a:ext cx="185112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93" name="Google Shape;493;p8"/>
          <p:cNvCxnSpPr/>
          <p:nvPr/>
        </p:nvCxnSpPr>
        <p:spPr>
          <a:xfrm>
            <a:off x="9940826" y="2312640"/>
            <a:ext cx="0" cy="409278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94" name="Google Shape;494;p8"/>
          <p:cNvSpPr/>
          <p:nvPr/>
        </p:nvSpPr>
        <p:spPr>
          <a:xfrm>
            <a:off x="6234112" y="2721918"/>
            <a:ext cx="1850975" cy="582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5" name="Google Shape;495;p8"/>
          <p:cNvCxnSpPr/>
          <p:nvPr/>
        </p:nvCxnSpPr>
        <p:spPr>
          <a:xfrm>
            <a:off x="6234112" y="2726680"/>
            <a:ext cx="1850976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96" name="Google Shape;496;p8"/>
          <p:cNvCxnSpPr/>
          <p:nvPr/>
        </p:nvCxnSpPr>
        <p:spPr>
          <a:xfrm>
            <a:off x="6238875" y="2721918"/>
            <a:ext cx="0" cy="58251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97" name="Google Shape;497;p8"/>
          <p:cNvSpPr/>
          <p:nvPr/>
        </p:nvSpPr>
        <p:spPr>
          <a:xfrm>
            <a:off x="8085088" y="2721918"/>
            <a:ext cx="1850975" cy="582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8" name="Google Shape;498;p8"/>
          <p:cNvCxnSpPr/>
          <p:nvPr/>
        </p:nvCxnSpPr>
        <p:spPr>
          <a:xfrm>
            <a:off x="8085088" y="2726680"/>
            <a:ext cx="185097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99" name="Google Shape;499;p8"/>
          <p:cNvCxnSpPr/>
          <p:nvPr/>
        </p:nvCxnSpPr>
        <p:spPr>
          <a:xfrm>
            <a:off x="8089850" y="2721918"/>
            <a:ext cx="0" cy="58251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500" name="Google Shape;500;p8"/>
          <p:cNvSpPr/>
          <p:nvPr/>
        </p:nvSpPr>
        <p:spPr>
          <a:xfrm>
            <a:off x="9936063" y="2721918"/>
            <a:ext cx="1851124" cy="582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1" name="Google Shape;501;p8"/>
          <p:cNvCxnSpPr/>
          <p:nvPr/>
        </p:nvCxnSpPr>
        <p:spPr>
          <a:xfrm>
            <a:off x="9936063" y="2726680"/>
            <a:ext cx="185112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502" name="Google Shape;502;p8"/>
          <p:cNvCxnSpPr/>
          <p:nvPr/>
        </p:nvCxnSpPr>
        <p:spPr>
          <a:xfrm>
            <a:off x="9940826" y="2721918"/>
            <a:ext cx="0" cy="58251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503" name="Google Shape;503;p8"/>
          <p:cNvSpPr/>
          <p:nvPr/>
        </p:nvSpPr>
        <p:spPr>
          <a:xfrm>
            <a:off x="6234112" y="3304431"/>
            <a:ext cx="1850975" cy="582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4" name="Google Shape;504;p8"/>
          <p:cNvCxnSpPr/>
          <p:nvPr/>
        </p:nvCxnSpPr>
        <p:spPr>
          <a:xfrm>
            <a:off x="6234112" y="3309193"/>
            <a:ext cx="1850976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505" name="Google Shape;505;p8"/>
          <p:cNvCxnSpPr/>
          <p:nvPr/>
        </p:nvCxnSpPr>
        <p:spPr>
          <a:xfrm>
            <a:off x="6238875" y="3304431"/>
            <a:ext cx="0" cy="58251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506" name="Google Shape;506;p8"/>
          <p:cNvSpPr/>
          <p:nvPr/>
        </p:nvSpPr>
        <p:spPr>
          <a:xfrm>
            <a:off x="8085088" y="3304431"/>
            <a:ext cx="1850975" cy="582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7" name="Google Shape;507;p8"/>
          <p:cNvCxnSpPr/>
          <p:nvPr/>
        </p:nvCxnSpPr>
        <p:spPr>
          <a:xfrm>
            <a:off x="8085088" y="3309193"/>
            <a:ext cx="185097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508" name="Google Shape;508;p8"/>
          <p:cNvCxnSpPr/>
          <p:nvPr/>
        </p:nvCxnSpPr>
        <p:spPr>
          <a:xfrm>
            <a:off x="8089850" y="3304431"/>
            <a:ext cx="0" cy="58251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509" name="Google Shape;509;p8"/>
          <p:cNvSpPr/>
          <p:nvPr/>
        </p:nvSpPr>
        <p:spPr>
          <a:xfrm>
            <a:off x="9936063" y="3304431"/>
            <a:ext cx="1851124" cy="582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0" name="Google Shape;510;p8"/>
          <p:cNvCxnSpPr/>
          <p:nvPr/>
        </p:nvCxnSpPr>
        <p:spPr>
          <a:xfrm>
            <a:off x="9936063" y="3309193"/>
            <a:ext cx="185112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511" name="Google Shape;511;p8"/>
          <p:cNvCxnSpPr/>
          <p:nvPr/>
        </p:nvCxnSpPr>
        <p:spPr>
          <a:xfrm>
            <a:off x="9940826" y="3304431"/>
            <a:ext cx="0" cy="58251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512" name="Google Shape;512;p8"/>
          <p:cNvSpPr/>
          <p:nvPr/>
        </p:nvSpPr>
        <p:spPr>
          <a:xfrm>
            <a:off x="6234112" y="3886944"/>
            <a:ext cx="1850975" cy="582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3" name="Google Shape;513;p8"/>
          <p:cNvCxnSpPr/>
          <p:nvPr/>
        </p:nvCxnSpPr>
        <p:spPr>
          <a:xfrm>
            <a:off x="6234112" y="3891707"/>
            <a:ext cx="1850976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514" name="Google Shape;514;p8"/>
          <p:cNvCxnSpPr/>
          <p:nvPr/>
        </p:nvCxnSpPr>
        <p:spPr>
          <a:xfrm>
            <a:off x="6238875" y="3886944"/>
            <a:ext cx="0" cy="58251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515" name="Google Shape;515;p8"/>
          <p:cNvSpPr/>
          <p:nvPr/>
        </p:nvSpPr>
        <p:spPr>
          <a:xfrm>
            <a:off x="8085088" y="3886944"/>
            <a:ext cx="1850975" cy="582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6" name="Google Shape;516;p8"/>
          <p:cNvCxnSpPr/>
          <p:nvPr/>
        </p:nvCxnSpPr>
        <p:spPr>
          <a:xfrm>
            <a:off x="8085088" y="3891707"/>
            <a:ext cx="185097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517" name="Google Shape;517;p8"/>
          <p:cNvCxnSpPr/>
          <p:nvPr/>
        </p:nvCxnSpPr>
        <p:spPr>
          <a:xfrm>
            <a:off x="8089850" y="3886944"/>
            <a:ext cx="0" cy="58251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518" name="Google Shape;518;p8"/>
          <p:cNvSpPr/>
          <p:nvPr/>
        </p:nvSpPr>
        <p:spPr>
          <a:xfrm>
            <a:off x="9936063" y="3886944"/>
            <a:ext cx="1851124" cy="582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9" name="Google Shape;519;p8"/>
          <p:cNvCxnSpPr/>
          <p:nvPr/>
        </p:nvCxnSpPr>
        <p:spPr>
          <a:xfrm>
            <a:off x="9936063" y="3891707"/>
            <a:ext cx="185112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520" name="Google Shape;520;p8"/>
          <p:cNvCxnSpPr/>
          <p:nvPr/>
        </p:nvCxnSpPr>
        <p:spPr>
          <a:xfrm>
            <a:off x="9940826" y="3886944"/>
            <a:ext cx="0" cy="58251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521" name="Google Shape;521;p8"/>
          <p:cNvSpPr/>
          <p:nvPr/>
        </p:nvSpPr>
        <p:spPr>
          <a:xfrm>
            <a:off x="6234112" y="4469457"/>
            <a:ext cx="1850975" cy="582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2" name="Google Shape;522;p8"/>
          <p:cNvCxnSpPr/>
          <p:nvPr/>
        </p:nvCxnSpPr>
        <p:spPr>
          <a:xfrm>
            <a:off x="6234112" y="4474220"/>
            <a:ext cx="1850976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523" name="Google Shape;523;p8"/>
          <p:cNvCxnSpPr/>
          <p:nvPr/>
        </p:nvCxnSpPr>
        <p:spPr>
          <a:xfrm>
            <a:off x="6238875" y="4469457"/>
            <a:ext cx="0" cy="58251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524" name="Google Shape;524;p8"/>
          <p:cNvSpPr/>
          <p:nvPr/>
        </p:nvSpPr>
        <p:spPr>
          <a:xfrm>
            <a:off x="8085088" y="4469457"/>
            <a:ext cx="1850975" cy="582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5" name="Google Shape;525;p8"/>
          <p:cNvCxnSpPr/>
          <p:nvPr/>
        </p:nvCxnSpPr>
        <p:spPr>
          <a:xfrm>
            <a:off x="8085088" y="4474220"/>
            <a:ext cx="185097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526" name="Google Shape;526;p8"/>
          <p:cNvCxnSpPr/>
          <p:nvPr/>
        </p:nvCxnSpPr>
        <p:spPr>
          <a:xfrm>
            <a:off x="8089850" y="4469457"/>
            <a:ext cx="0" cy="58251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527" name="Google Shape;527;p8"/>
          <p:cNvSpPr/>
          <p:nvPr/>
        </p:nvSpPr>
        <p:spPr>
          <a:xfrm>
            <a:off x="9936063" y="4469457"/>
            <a:ext cx="1851124" cy="582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8" name="Google Shape;528;p8"/>
          <p:cNvCxnSpPr/>
          <p:nvPr/>
        </p:nvCxnSpPr>
        <p:spPr>
          <a:xfrm>
            <a:off x="9936063" y="4474220"/>
            <a:ext cx="185112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529" name="Google Shape;529;p8"/>
          <p:cNvCxnSpPr/>
          <p:nvPr/>
        </p:nvCxnSpPr>
        <p:spPr>
          <a:xfrm>
            <a:off x="9940826" y="4469457"/>
            <a:ext cx="0" cy="58251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530" name="Google Shape;530;p8"/>
          <p:cNvSpPr txBox="1"/>
          <p:nvPr/>
        </p:nvSpPr>
        <p:spPr>
          <a:xfrm>
            <a:off x="400050" y="171450"/>
            <a:ext cx="2317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29"/>
              <a:buFont typeface="Arial"/>
              <a:buNone/>
            </a:pPr>
            <a:r>
              <a:rPr b="1" i="0" lang="en-US" sz="2129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Métodos e pacotes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8"/>
          <p:cNvSpPr txBox="1"/>
          <p:nvPr/>
        </p:nvSpPr>
        <p:spPr>
          <a:xfrm>
            <a:off x="438150" y="687735"/>
            <a:ext cx="1779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Método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8"/>
          <p:cNvSpPr txBox="1"/>
          <p:nvPr/>
        </p:nvSpPr>
        <p:spPr>
          <a:xfrm>
            <a:off x="2293620" y="687735"/>
            <a:ext cx="1775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que significa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8"/>
          <p:cNvSpPr txBox="1"/>
          <p:nvPr/>
        </p:nvSpPr>
        <p:spPr>
          <a:xfrm>
            <a:off x="4145280" y="687735"/>
            <a:ext cx="17745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Pacote / função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8"/>
          <p:cNvSpPr txBox="1"/>
          <p:nvPr/>
        </p:nvSpPr>
        <p:spPr>
          <a:xfrm>
            <a:off x="438150" y="923776"/>
            <a:ext cx="1779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8"/>
          <p:cNvSpPr txBox="1"/>
          <p:nvPr/>
        </p:nvSpPr>
        <p:spPr>
          <a:xfrm>
            <a:off x="2355800" y="923776"/>
            <a:ext cx="12846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modelo linear gene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8"/>
          <p:cNvSpPr txBox="1"/>
          <p:nvPr/>
        </p:nvSpPr>
        <p:spPr>
          <a:xfrm>
            <a:off x="2355800" y="1097012"/>
            <a:ext cx="1197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gene; t moderado 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8"/>
          <p:cNvSpPr txBox="1"/>
          <p:nvPr/>
        </p:nvSpPr>
        <p:spPr>
          <a:xfrm>
            <a:off x="2355800" y="1270248"/>
            <a:ext cx="11616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variância encolhida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8"/>
          <p:cNvSpPr txBox="1"/>
          <p:nvPr/>
        </p:nvSpPr>
        <p:spPr>
          <a:xfrm>
            <a:off x="2355800" y="1443484"/>
            <a:ext cx="10260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(empirical Bayes)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8"/>
          <p:cNvSpPr txBox="1"/>
          <p:nvPr/>
        </p:nvSpPr>
        <p:spPr>
          <a:xfrm>
            <a:off x="4206776" y="942826"/>
            <a:ext cx="975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limma::lmFit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8"/>
          <p:cNvSpPr txBox="1"/>
          <p:nvPr/>
        </p:nvSpPr>
        <p:spPr>
          <a:xfrm>
            <a:off x="5144393" y="923776"/>
            <a:ext cx="672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8"/>
          <p:cNvSpPr txBox="1"/>
          <p:nvPr/>
        </p:nvSpPr>
        <p:spPr>
          <a:xfrm>
            <a:off x="5209877" y="942826"/>
            <a:ext cx="507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eBayes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8"/>
          <p:cNvSpPr txBox="1"/>
          <p:nvPr/>
        </p:nvSpPr>
        <p:spPr>
          <a:xfrm>
            <a:off x="5678686" y="923776"/>
            <a:ext cx="672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8"/>
          <p:cNvSpPr txBox="1"/>
          <p:nvPr/>
        </p:nvSpPr>
        <p:spPr>
          <a:xfrm>
            <a:off x="4206776" y="1116062"/>
            <a:ext cx="6633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topTable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8"/>
          <p:cNvSpPr txBox="1"/>
          <p:nvPr/>
        </p:nvSpPr>
        <p:spPr>
          <a:xfrm>
            <a:off x="438150" y="1679522"/>
            <a:ext cx="17793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BH </a:t>
            </a:r>
            <a:r>
              <a:rPr b="0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(Benjamini-Hochberg)</a:t>
            </a:r>
            <a:r>
              <a:rPr b="1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FDR </a:t>
            </a:r>
            <a:r>
              <a:rPr b="0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(False Discovery Rate)</a:t>
            </a:r>
            <a:endParaRPr b="0" i="0" sz="14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45" name="Google Shape;545;p8"/>
          <p:cNvSpPr txBox="1"/>
          <p:nvPr/>
        </p:nvSpPr>
        <p:spPr>
          <a:xfrm>
            <a:off x="2293620" y="1679526"/>
            <a:ext cx="1775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corrige o excesso 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8"/>
          <p:cNvSpPr txBox="1"/>
          <p:nvPr/>
        </p:nvSpPr>
        <p:spPr>
          <a:xfrm>
            <a:off x="2355800" y="1852761"/>
            <a:ext cx="11505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falsos positivos 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8"/>
          <p:cNvSpPr txBox="1"/>
          <p:nvPr/>
        </p:nvSpPr>
        <p:spPr>
          <a:xfrm>
            <a:off x="2355800" y="2025997"/>
            <a:ext cx="10980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milhares de testes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8"/>
          <p:cNvSpPr txBox="1"/>
          <p:nvPr/>
        </p:nvSpPr>
        <p:spPr>
          <a:xfrm>
            <a:off x="4145280" y="1711522"/>
            <a:ext cx="17745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stats::p.adjust(method = "BH")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8"/>
          <p:cNvSpPr txBox="1"/>
          <p:nvPr/>
        </p:nvSpPr>
        <p:spPr>
          <a:xfrm>
            <a:off x="438150" y="2262039"/>
            <a:ext cx="1779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ComBat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8"/>
          <p:cNvSpPr txBox="1"/>
          <p:nvPr/>
        </p:nvSpPr>
        <p:spPr>
          <a:xfrm>
            <a:off x="2355800" y="2262039"/>
            <a:ext cx="13950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remove efeito aditivo 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8"/>
          <p:cNvSpPr txBox="1"/>
          <p:nvPr/>
        </p:nvSpPr>
        <p:spPr>
          <a:xfrm>
            <a:off x="2355800" y="2435275"/>
            <a:ext cx="12768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multiplicativo de lote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8"/>
          <p:cNvSpPr txBox="1"/>
          <p:nvPr/>
        </p:nvSpPr>
        <p:spPr>
          <a:xfrm>
            <a:off x="4145280" y="2281089"/>
            <a:ext cx="1774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sva::ComBat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8"/>
          <p:cNvSpPr txBox="1"/>
          <p:nvPr/>
        </p:nvSpPr>
        <p:spPr>
          <a:xfrm>
            <a:off x="438150" y="2671316"/>
            <a:ext cx="1779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Qui-quadrado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8"/>
          <p:cNvSpPr txBox="1"/>
          <p:nvPr/>
        </p:nvSpPr>
        <p:spPr>
          <a:xfrm>
            <a:off x="2293620" y="2671316"/>
            <a:ext cx="1775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associação entre duas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8"/>
          <p:cNvSpPr txBox="1"/>
          <p:nvPr/>
        </p:nvSpPr>
        <p:spPr>
          <a:xfrm>
            <a:off x="2293620" y="2844552"/>
            <a:ext cx="1775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variáveis categóricas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8"/>
          <p:cNvSpPr txBox="1"/>
          <p:nvPr/>
        </p:nvSpPr>
        <p:spPr>
          <a:xfrm>
            <a:off x="4145280" y="2690366"/>
            <a:ext cx="1774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stats::chisq.test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8"/>
          <p:cNvSpPr txBox="1"/>
          <p:nvPr/>
        </p:nvSpPr>
        <p:spPr>
          <a:xfrm>
            <a:off x="438150" y="3080593"/>
            <a:ext cx="1779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Fisher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8"/>
          <p:cNvSpPr txBox="1"/>
          <p:nvPr/>
        </p:nvSpPr>
        <p:spPr>
          <a:xfrm>
            <a:off x="2355800" y="3080593"/>
            <a:ext cx="11139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idem, para tabelas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8"/>
          <p:cNvSpPr txBox="1"/>
          <p:nvPr/>
        </p:nvSpPr>
        <p:spPr>
          <a:xfrm>
            <a:off x="2355800" y="3253829"/>
            <a:ext cx="15237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pequenas ou células 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8"/>
          <p:cNvSpPr txBox="1"/>
          <p:nvPr/>
        </p:nvSpPr>
        <p:spPr>
          <a:xfrm>
            <a:off x="2293620" y="3427065"/>
            <a:ext cx="1775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poucos casos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8"/>
          <p:cNvSpPr txBox="1"/>
          <p:nvPr/>
        </p:nvSpPr>
        <p:spPr>
          <a:xfrm>
            <a:off x="4145280" y="3099643"/>
            <a:ext cx="1774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stats::fisher.test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8"/>
          <p:cNvSpPr txBox="1"/>
          <p:nvPr/>
        </p:nvSpPr>
        <p:spPr>
          <a:xfrm>
            <a:off x="438150" y="3663107"/>
            <a:ext cx="1779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Wilcoxon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8"/>
          <p:cNvSpPr txBox="1"/>
          <p:nvPr/>
        </p:nvSpPr>
        <p:spPr>
          <a:xfrm>
            <a:off x="2355800" y="3663107"/>
            <a:ext cx="12852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compara dois grupos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8"/>
          <p:cNvSpPr txBox="1"/>
          <p:nvPr/>
        </p:nvSpPr>
        <p:spPr>
          <a:xfrm>
            <a:off x="2355800" y="3836343"/>
            <a:ext cx="15441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sem assumir normalidade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8"/>
          <p:cNvSpPr txBox="1"/>
          <p:nvPr/>
        </p:nvSpPr>
        <p:spPr>
          <a:xfrm>
            <a:off x="4145280" y="3682157"/>
            <a:ext cx="1774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stats::wilcox.test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8"/>
          <p:cNvSpPr txBox="1"/>
          <p:nvPr/>
        </p:nvSpPr>
        <p:spPr>
          <a:xfrm>
            <a:off x="438150" y="4072384"/>
            <a:ext cx="1779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Kruskal-Wallis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8"/>
          <p:cNvSpPr txBox="1"/>
          <p:nvPr/>
        </p:nvSpPr>
        <p:spPr>
          <a:xfrm>
            <a:off x="2355800" y="4072384"/>
            <a:ext cx="13059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compara três ou mais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8"/>
          <p:cNvSpPr txBox="1"/>
          <p:nvPr/>
        </p:nvSpPr>
        <p:spPr>
          <a:xfrm>
            <a:off x="2355800" y="4245620"/>
            <a:ext cx="12159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grupos sem assumir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8"/>
          <p:cNvSpPr txBox="1"/>
          <p:nvPr/>
        </p:nvSpPr>
        <p:spPr>
          <a:xfrm>
            <a:off x="2355800" y="4418856"/>
            <a:ext cx="7800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normalidade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8"/>
          <p:cNvSpPr txBox="1"/>
          <p:nvPr/>
        </p:nvSpPr>
        <p:spPr>
          <a:xfrm>
            <a:off x="4145280" y="4091434"/>
            <a:ext cx="1774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stats::kruskal.test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8"/>
          <p:cNvSpPr txBox="1"/>
          <p:nvPr/>
        </p:nvSpPr>
        <p:spPr>
          <a:xfrm>
            <a:off x="438150" y="4654897"/>
            <a:ext cx="1779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Spearman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8"/>
          <p:cNvSpPr txBox="1"/>
          <p:nvPr/>
        </p:nvSpPr>
        <p:spPr>
          <a:xfrm>
            <a:off x="2355800" y="4654897"/>
            <a:ext cx="1262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correlação de postos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8"/>
          <p:cNvSpPr txBox="1"/>
          <p:nvPr/>
        </p:nvSpPr>
        <p:spPr>
          <a:xfrm>
            <a:off x="2355800" y="4828133"/>
            <a:ext cx="1403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(monotônica, robusta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8"/>
          <p:cNvSpPr txBox="1"/>
          <p:nvPr/>
        </p:nvSpPr>
        <p:spPr>
          <a:xfrm>
            <a:off x="2355800" y="5001369"/>
            <a:ext cx="5145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outliers)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8"/>
          <p:cNvSpPr txBox="1"/>
          <p:nvPr/>
        </p:nvSpPr>
        <p:spPr>
          <a:xfrm>
            <a:off x="4145280" y="4737707"/>
            <a:ext cx="1774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stats::cor.test(method = "spearman")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8"/>
          <p:cNvSpPr txBox="1"/>
          <p:nvPr/>
        </p:nvSpPr>
        <p:spPr>
          <a:xfrm>
            <a:off x="6272212" y="697409"/>
            <a:ext cx="177450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Método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8"/>
          <p:cNvSpPr txBox="1"/>
          <p:nvPr/>
        </p:nvSpPr>
        <p:spPr>
          <a:xfrm>
            <a:off x="8122920" y="697409"/>
            <a:ext cx="177546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que significa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8"/>
          <p:cNvSpPr txBox="1"/>
          <p:nvPr/>
        </p:nvSpPr>
        <p:spPr>
          <a:xfrm>
            <a:off x="9974580" y="697409"/>
            <a:ext cx="177450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Pacote / função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8"/>
          <p:cNvSpPr txBox="1"/>
          <p:nvPr/>
        </p:nvSpPr>
        <p:spPr>
          <a:xfrm>
            <a:off x="6272212" y="933450"/>
            <a:ext cx="177450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Kaplan-Meier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8"/>
          <p:cNvSpPr txBox="1"/>
          <p:nvPr/>
        </p:nvSpPr>
        <p:spPr>
          <a:xfrm>
            <a:off x="8122920" y="933450"/>
            <a:ext cx="177546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estima a curva 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8"/>
          <p:cNvSpPr txBox="1"/>
          <p:nvPr/>
        </p:nvSpPr>
        <p:spPr>
          <a:xfrm>
            <a:off x="8122920" y="1106686"/>
            <a:ext cx="177546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sobrevida com censura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8"/>
          <p:cNvSpPr txBox="1"/>
          <p:nvPr/>
        </p:nvSpPr>
        <p:spPr>
          <a:xfrm>
            <a:off x="9974580" y="952500"/>
            <a:ext cx="177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survival::survfit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8"/>
          <p:cNvSpPr txBox="1"/>
          <p:nvPr/>
        </p:nvSpPr>
        <p:spPr>
          <a:xfrm>
            <a:off x="6272212" y="1342727"/>
            <a:ext cx="177450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log-rank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8"/>
          <p:cNvSpPr txBox="1"/>
          <p:nvPr/>
        </p:nvSpPr>
        <p:spPr>
          <a:xfrm>
            <a:off x="8185100" y="1342727"/>
            <a:ext cx="1366391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compara duas ou mais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8"/>
          <p:cNvSpPr txBox="1"/>
          <p:nvPr/>
        </p:nvSpPr>
        <p:spPr>
          <a:xfrm>
            <a:off x="8185100" y="1515963"/>
            <a:ext cx="1202978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curvas de sobrevida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8"/>
          <p:cNvSpPr txBox="1"/>
          <p:nvPr/>
        </p:nvSpPr>
        <p:spPr>
          <a:xfrm>
            <a:off x="9974580" y="1361777"/>
            <a:ext cx="177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survival::survdiff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8"/>
          <p:cNvSpPr txBox="1"/>
          <p:nvPr/>
        </p:nvSpPr>
        <p:spPr>
          <a:xfrm>
            <a:off x="6272212" y="1752005"/>
            <a:ext cx="177450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8"/>
          <p:cNvSpPr txBox="1"/>
          <p:nvPr/>
        </p:nvSpPr>
        <p:spPr>
          <a:xfrm>
            <a:off x="8185100" y="1752005"/>
            <a:ext cx="1160859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regressão de riscos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8"/>
          <p:cNvSpPr txBox="1"/>
          <p:nvPr/>
        </p:nvSpPr>
        <p:spPr>
          <a:xfrm>
            <a:off x="8185100" y="1925241"/>
            <a:ext cx="1511052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proporcionais; estima HR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8"/>
          <p:cNvSpPr txBox="1"/>
          <p:nvPr/>
        </p:nvSpPr>
        <p:spPr>
          <a:xfrm>
            <a:off x="8122920" y="2098477"/>
            <a:ext cx="177546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ajustado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8"/>
          <p:cNvSpPr txBox="1"/>
          <p:nvPr/>
        </p:nvSpPr>
        <p:spPr>
          <a:xfrm>
            <a:off x="9974580" y="1771055"/>
            <a:ext cx="177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survival::coxph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8"/>
          <p:cNvSpPr txBox="1"/>
          <p:nvPr/>
        </p:nvSpPr>
        <p:spPr>
          <a:xfrm>
            <a:off x="6272212" y="2334518"/>
            <a:ext cx="177450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cox.zph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8"/>
          <p:cNvSpPr txBox="1"/>
          <p:nvPr/>
        </p:nvSpPr>
        <p:spPr>
          <a:xfrm>
            <a:off x="8185100" y="2334518"/>
            <a:ext cx="1233488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testa a suposição 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8"/>
          <p:cNvSpPr txBox="1"/>
          <p:nvPr/>
        </p:nvSpPr>
        <p:spPr>
          <a:xfrm>
            <a:off x="8185100" y="2507754"/>
            <a:ext cx="1216223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riscos proporcionais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8"/>
          <p:cNvSpPr txBox="1"/>
          <p:nvPr/>
        </p:nvSpPr>
        <p:spPr>
          <a:xfrm>
            <a:off x="9974580" y="2353568"/>
            <a:ext cx="177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survival::cox.zph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8"/>
          <p:cNvSpPr txBox="1"/>
          <p:nvPr/>
        </p:nvSpPr>
        <p:spPr>
          <a:xfrm>
            <a:off x="6272212" y="2743800"/>
            <a:ext cx="1774507" cy="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UMAP </a:t>
            </a:r>
            <a:r>
              <a:rPr b="0" i="1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(Uniform Manifold Approximation and Projection)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8"/>
          <p:cNvSpPr txBox="1"/>
          <p:nvPr/>
        </p:nvSpPr>
        <p:spPr>
          <a:xfrm>
            <a:off x="8185100" y="2743795"/>
            <a:ext cx="131058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redução de dimensão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8"/>
          <p:cNvSpPr txBox="1"/>
          <p:nvPr/>
        </p:nvSpPr>
        <p:spPr>
          <a:xfrm>
            <a:off x="8185100" y="2917031"/>
            <a:ext cx="917079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linear para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8"/>
          <p:cNvSpPr txBox="1"/>
          <p:nvPr/>
        </p:nvSpPr>
        <p:spPr>
          <a:xfrm>
            <a:off x="8122920" y="3090267"/>
            <a:ext cx="177546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visualização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8"/>
          <p:cNvSpPr txBox="1"/>
          <p:nvPr/>
        </p:nvSpPr>
        <p:spPr>
          <a:xfrm>
            <a:off x="9974580" y="2762845"/>
            <a:ext cx="177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uwot::umap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8"/>
          <p:cNvSpPr txBox="1"/>
          <p:nvPr/>
        </p:nvSpPr>
        <p:spPr>
          <a:xfrm>
            <a:off x="6272212" y="3326309"/>
            <a:ext cx="177450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Heatmap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8"/>
          <p:cNvSpPr txBox="1"/>
          <p:nvPr/>
        </p:nvSpPr>
        <p:spPr>
          <a:xfrm>
            <a:off x="8122920" y="3326309"/>
            <a:ext cx="177546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matriz de cores 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8"/>
          <p:cNvSpPr txBox="1"/>
          <p:nvPr/>
        </p:nvSpPr>
        <p:spPr>
          <a:xfrm>
            <a:off x="8185100" y="3499545"/>
            <a:ext cx="1445121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expressão (aqui, z-score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8"/>
          <p:cNvSpPr txBox="1"/>
          <p:nvPr/>
        </p:nvSpPr>
        <p:spPr>
          <a:xfrm>
            <a:off x="8185100" y="3672780"/>
            <a:ext cx="6112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 gene)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8"/>
          <p:cNvSpPr txBox="1"/>
          <p:nvPr/>
        </p:nvSpPr>
        <p:spPr>
          <a:xfrm>
            <a:off x="9974580" y="3345359"/>
            <a:ext cx="177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pheatmap::pheatmap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8"/>
          <p:cNvSpPr txBox="1"/>
          <p:nvPr/>
        </p:nvSpPr>
        <p:spPr>
          <a:xfrm>
            <a:off x="6272212" y="3908822"/>
            <a:ext cx="177450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Jaccard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8"/>
          <p:cNvSpPr txBox="1"/>
          <p:nvPr/>
        </p:nvSpPr>
        <p:spPr>
          <a:xfrm>
            <a:off x="8122920" y="3908822"/>
            <a:ext cx="177546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sobreposição entre dois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8"/>
          <p:cNvSpPr txBox="1"/>
          <p:nvPr/>
        </p:nvSpPr>
        <p:spPr>
          <a:xfrm>
            <a:off x="8185100" y="4082058"/>
            <a:ext cx="645468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conjuntos: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8"/>
          <p:cNvSpPr txBox="1"/>
          <p:nvPr/>
        </p:nvSpPr>
        <p:spPr>
          <a:xfrm>
            <a:off x="8185100" y="4255294"/>
            <a:ext cx="10223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interseção/união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8"/>
          <p:cNvSpPr txBox="1"/>
          <p:nvPr/>
        </p:nvSpPr>
        <p:spPr>
          <a:xfrm>
            <a:off x="9974580" y="3908822"/>
            <a:ext cx="177450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base 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8"/>
          <p:cNvSpPr txBox="1"/>
          <p:nvPr/>
        </p:nvSpPr>
        <p:spPr>
          <a:xfrm>
            <a:off x="6272212" y="4491335"/>
            <a:ext cx="177450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Cramér’s 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8"/>
          <p:cNvSpPr txBox="1"/>
          <p:nvPr/>
        </p:nvSpPr>
        <p:spPr>
          <a:xfrm>
            <a:off x="8122920" y="4491300"/>
            <a:ext cx="177546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tamanho de efeito de associação categórica (0–1)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1E293B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13" name="Google Shape;613;p8"/>
          <p:cNvSpPr txBox="1"/>
          <p:nvPr/>
        </p:nvSpPr>
        <p:spPr>
          <a:xfrm>
            <a:off x="9974580" y="4491335"/>
            <a:ext cx="177450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base 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8"/>
          <p:cNvSpPr/>
          <p:nvPr/>
        </p:nvSpPr>
        <p:spPr>
          <a:xfrm>
            <a:off x="400050" y="6013103"/>
            <a:ext cx="11391900" cy="2667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7150" spcFirstLastPara="1" rIns="57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Refs.: Ritchie et al., 2015; Johnson et al., 2007; McInnes et al., 2018.</a:t>
            </a:r>
            <a:endParaRPr/>
          </a:p>
        </p:txBody>
      </p:sp>
      <p:sp>
        <p:nvSpPr>
          <p:cNvPr id="615" name="Google Shape;615;p8"/>
          <p:cNvSpPr txBox="1"/>
          <p:nvPr/>
        </p:nvSpPr>
        <p:spPr>
          <a:xfrm>
            <a:off x="438150" y="5420700"/>
            <a:ext cx="294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 u="sng">
                <a:solidFill>
                  <a:srgbClr val="1F1F1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set.seed(2026)</a:t>
            </a:r>
            <a:r>
              <a:rPr b="1" lang="en-US" sz="1600" u="sng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-&gt; semente fixa</a:t>
            </a:r>
            <a:endParaRPr b="1" sz="16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9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1" name="Google Shape;621;p9"/>
          <p:cNvCxnSpPr/>
          <p:nvPr/>
        </p:nvCxnSpPr>
        <p:spPr>
          <a:xfrm>
            <a:off x="38100" y="0"/>
            <a:ext cx="0" cy="7620000"/>
          </a:xfrm>
          <a:prstGeom prst="straightConnector1">
            <a:avLst/>
          </a:prstGeom>
          <a:noFill/>
          <a:ln cap="flat" cmpd="sng" w="762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2" name="Google Shape;622;p9"/>
          <p:cNvSpPr/>
          <p:nvPr/>
        </p:nvSpPr>
        <p:spPr>
          <a:xfrm>
            <a:off x="800100" y="881062"/>
            <a:ext cx="10668000" cy="6256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3" name="Google Shape;623;p9"/>
          <p:cNvCxnSpPr/>
          <p:nvPr/>
        </p:nvCxnSpPr>
        <p:spPr>
          <a:xfrm>
            <a:off x="800100" y="1492448"/>
            <a:ext cx="106680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4" name="Google Shape;624;p9"/>
          <p:cNvSpPr/>
          <p:nvPr/>
        </p:nvSpPr>
        <p:spPr>
          <a:xfrm>
            <a:off x="800100" y="2411164"/>
            <a:ext cx="10668000" cy="1699022"/>
          </a:xfrm>
          <a:prstGeom prst="roundRect">
            <a:avLst>
              <a:gd fmla="val 2803" name="adj"/>
            </a:avLst>
          </a:prstGeom>
          <a:solidFill>
            <a:srgbClr val="EE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5" name="Google Shape;625;p9"/>
          <p:cNvCxnSpPr/>
          <p:nvPr/>
        </p:nvCxnSpPr>
        <p:spPr>
          <a:xfrm>
            <a:off x="823912" y="2411164"/>
            <a:ext cx="0" cy="1699022"/>
          </a:xfrm>
          <a:prstGeom prst="straightConnector1">
            <a:avLst/>
          </a:prstGeom>
          <a:noFill/>
          <a:ln cap="flat" cmpd="sng" w="47625">
            <a:solidFill>
              <a:srgbClr val="1F5F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6" name="Google Shape;626;p9"/>
          <p:cNvSpPr/>
          <p:nvPr/>
        </p:nvSpPr>
        <p:spPr>
          <a:xfrm>
            <a:off x="994172" y="2730996"/>
            <a:ext cx="1813620" cy="227261"/>
          </a:xfrm>
          <a:prstGeom prst="roundRect">
            <a:avLst>
              <a:gd fmla="val 50000" name="adj"/>
            </a:avLst>
          </a:prstGeom>
          <a:solidFill>
            <a:srgbClr val="1F5F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9"/>
          <p:cNvSpPr/>
          <p:nvPr/>
        </p:nvSpPr>
        <p:spPr>
          <a:xfrm>
            <a:off x="800100" y="4249489"/>
            <a:ext cx="10668000" cy="1190923"/>
          </a:xfrm>
          <a:prstGeom prst="roundRect">
            <a:avLst>
              <a:gd fmla="val 3999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8" name="Google Shape;628;p9"/>
          <p:cNvCxnSpPr/>
          <p:nvPr/>
        </p:nvCxnSpPr>
        <p:spPr>
          <a:xfrm>
            <a:off x="823912" y="4249489"/>
            <a:ext cx="0" cy="1190923"/>
          </a:xfrm>
          <a:prstGeom prst="straightConnector1">
            <a:avLst/>
          </a:prstGeom>
          <a:noFill/>
          <a:ln cap="flat" cmpd="sng" w="476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9" name="Google Shape;629;p9"/>
          <p:cNvSpPr txBox="1"/>
          <p:nvPr/>
        </p:nvSpPr>
        <p:spPr>
          <a:xfrm>
            <a:off x="800100" y="852488"/>
            <a:ext cx="5995988" cy="600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rPr b="0" i="0" lang="en-US" sz="35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Parte 1 — Análise exploratória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9"/>
          <p:cNvSpPr txBox="1"/>
          <p:nvPr/>
        </p:nvSpPr>
        <p:spPr>
          <a:xfrm>
            <a:off x="800100" y="1655564"/>
            <a:ext cx="4364682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2"/>
              <a:buFont typeface="Arial"/>
              <a:buNone/>
            </a:pPr>
            <a:r>
              <a:rPr b="1" i="0" lang="en-US" sz="1162" u="none" cap="none" strike="noStrike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FENÓTIPOS, ESTRUTURA GLOBAL E MARCADORES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9"/>
          <p:cNvSpPr txBox="1"/>
          <p:nvPr/>
        </p:nvSpPr>
        <p:spPr>
          <a:xfrm>
            <a:off x="800100" y="1993999"/>
            <a:ext cx="360699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8"/>
              <a:buFont typeface="Arial"/>
              <a:buNone/>
            </a:pPr>
            <a:r>
              <a:rPr b="0" i="0" lang="en-US" sz="1968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01_analise_exploratoria.R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9"/>
          <p:cNvSpPr txBox="1"/>
          <p:nvPr/>
        </p:nvSpPr>
        <p:spPr>
          <a:xfrm>
            <a:off x="4433888" y="1955899"/>
            <a:ext cx="3408759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8"/>
              <a:buFont typeface="Arial"/>
              <a:buNone/>
            </a:pPr>
            <a:r>
              <a:rPr b="0" i="0" lang="en-US" sz="1968" u="none" cap="none" strike="noStrike">
                <a:solidFill>
                  <a:srgbClr val="1F5F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tabelas 01–12 e figuras 01–12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9"/>
          <p:cNvSpPr txBox="1"/>
          <p:nvPr/>
        </p:nvSpPr>
        <p:spPr>
          <a:xfrm>
            <a:off x="1074093" y="2737396"/>
            <a:ext cx="1691878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rPr b="1" i="0" lang="en-US" sz="126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MÉTODOS DA ETAPA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9"/>
          <p:cNvSpPr txBox="1"/>
          <p:nvPr/>
        </p:nvSpPr>
        <p:spPr>
          <a:xfrm>
            <a:off x="2917329" y="2699296"/>
            <a:ext cx="132680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Qui-quadrado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9"/>
          <p:cNvSpPr txBox="1"/>
          <p:nvPr/>
        </p:nvSpPr>
        <p:spPr>
          <a:xfrm>
            <a:off x="4259461" y="2699296"/>
            <a:ext cx="97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9"/>
          <p:cNvSpPr txBox="1"/>
          <p:nvPr/>
        </p:nvSpPr>
        <p:spPr>
          <a:xfrm>
            <a:off x="4318546" y="2727871"/>
            <a:ext cx="19831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stats::chisq.test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9"/>
          <p:cNvSpPr txBox="1"/>
          <p:nvPr/>
        </p:nvSpPr>
        <p:spPr>
          <a:xfrm>
            <a:off x="6263580" y="2699296"/>
            <a:ext cx="1016794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para sexo;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9"/>
          <p:cNvSpPr txBox="1"/>
          <p:nvPr/>
        </p:nvSpPr>
        <p:spPr>
          <a:xfrm>
            <a:off x="7295704" y="2699296"/>
            <a:ext cx="89654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Wilcoxon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9"/>
          <p:cNvSpPr txBox="1"/>
          <p:nvPr/>
        </p:nvSpPr>
        <p:spPr>
          <a:xfrm>
            <a:off x="8207573" y="2699296"/>
            <a:ext cx="97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9"/>
          <p:cNvSpPr txBox="1"/>
          <p:nvPr/>
        </p:nvSpPr>
        <p:spPr>
          <a:xfrm>
            <a:off x="8266658" y="2727871"/>
            <a:ext cx="20975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stats::wilcox.test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9"/>
          <p:cNvSpPr txBox="1"/>
          <p:nvPr/>
        </p:nvSpPr>
        <p:spPr>
          <a:xfrm>
            <a:off x="10326142" y="2699296"/>
            <a:ext cx="25271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9"/>
          <p:cNvSpPr txBox="1"/>
          <p:nvPr/>
        </p:nvSpPr>
        <p:spPr>
          <a:xfrm>
            <a:off x="994172" y="2979986"/>
            <a:ext cx="134168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Kruskal-Wallis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9"/>
          <p:cNvSpPr txBox="1"/>
          <p:nvPr/>
        </p:nvSpPr>
        <p:spPr>
          <a:xfrm>
            <a:off x="2351187" y="2979986"/>
            <a:ext cx="97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9"/>
          <p:cNvSpPr txBox="1"/>
          <p:nvPr/>
        </p:nvSpPr>
        <p:spPr>
          <a:xfrm>
            <a:off x="2410271" y="3008561"/>
            <a:ext cx="2212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stats::kruskal.test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9"/>
          <p:cNvSpPr txBox="1"/>
          <p:nvPr/>
        </p:nvSpPr>
        <p:spPr>
          <a:xfrm>
            <a:off x="4584204" y="2979986"/>
            <a:ext cx="1106537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para idade;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9"/>
          <p:cNvSpPr txBox="1"/>
          <p:nvPr/>
        </p:nvSpPr>
        <p:spPr>
          <a:xfrm>
            <a:off x="5706070" y="2979986"/>
            <a:ext cx="31298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9"/>
          <p:cNvSpPr txBox="1"/>
          <p:nvPr/>
        </p:nvSpPr>
        <p:spPr>
          <a:xfrm>
            <a:off x="6034385" y="2979986"/>
            <a:ext cx="97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9"/>
          <p:cNvSpPr txBox="1"/>
          <p:nvPr/>
        </p:nvSpPr>
        <p:spPr>
          <a:xfrm>
            <a:off x="6093470" y="3008561"/>
            <a:ext cx="17543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stats::p.adjust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9"/>
          <p:cNvSpPr txBox="1"/>
          <p:nvPr/>
        </p:nvSpPr>
        <p:spPr>
          <a:xfrm>
            <a:off x="7809756" y="2979986"/>
            <a:ext cx="198224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para múltiplos testes;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9"/>
          <p:cNvSpPr txBox="1"/>
          <p:nvPr/>
        </p:nvSpPr>
        <p:spPr>
          <a:xfrm>
            <a:off x="9807476" y="2979986"/>
            <a:ext cx="95979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Spearman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9"/>
          <p:cNvSpPr txBox="1"/>
          <p:nvPr/>
        </p:nvSpPr>
        <p:spPr>
          <a:xfrm>
            <a:off x="994172" y="3260675"/>
            <a:ext cx="9703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9"/>
          <p:cNvSpPr txBox="1"/>
          <p:nvPr/>
        </p:nvSpPr>
        <p:spPr>
          <a:xfrm>
            <a:off x="1053108" y="3289250"/>
            <a:ext cx="17543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stats::cor.test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9"/>
          <p:cNvSpPr txBox="1"/>
          <p:nvPr/>
        </p:nvSpPr>
        <p:spPr>
          <a:xfrm>
            <a:off x="2769394" y="3260675"/>
            <a:ext cx="2658219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para associações com UMAP;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9"/>
          <p:cNvSpPr txBox="1"/>
          <p:nvPr/>
        </p:nvSpPr>
        <p:spPr>
          <a:xfrm>
            <a:off x="5442942" y="3260675"/>
            <a:ext cx="62344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9"/>
          <p:cNvSpPr txBox="1"/>
          <p:nvPr/>
        </p:nvSpPr>
        <p:spPr>
          <a:xfrm>
            <a:off x="6081712" y="3260675"/>
            <a:ext cx="97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9"/>
          <p:cNvSpPr txBox="1"/>
          <p:nvPr/>
        </p:nvSpPr>
        <p:spPr>
          <a:xfrm>
            <a:off x="6140797" y="3289250"/>
            <a:ext cx="118229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uwot::umap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9"/>
          <p:cNvSpPr txBox="1"/>
          <p:nvPr/>
        </p:nvSpPr>
        <p:spPr>
          <a:xfrm>
            <a:off x="7284988" y="3260675"/>
            <a:ext cx="13945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9"/>
          <p:cNvSpPr txBox="1"/>
          <p:nvPr/>
        </p:nvSpPr>
        <p:spPr>
          <a:xfrm>
            <a:off x="7439769" y="3260675"/>
            <a:ext cx="692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z-score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9"/>
          <p:cNvSpPr txBox="1"/>
          <p:nvPr/>
        </p:nvSpPr>
        <p:spPr>
          <a:xfrm>
            <a:off x="8147298" y="3260675"/>
            <a:ext cx="14034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9"/>
          <p:cNvSpPr txBox="1"/>
          <p:nvPr/>
        </p:nvSpPr>
        <p:spPr>
          <a:xfrm>
            <a:off x="8302972" y="3260675"/>
            <a:ext cx="847427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heatmap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9"/>
          <p:cNvSpPr txBox="1"/>
          <p:nvPr/>
        </p:nvSpPr>
        <p:spPr>
          <a:xfrm>
            <a:off x="994172" y="3541365"/>
            <a:ext cx="9703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9"/>
          <p:cNvSpPr txBox="1"/>
          <p:nvPr/>
        </p:nvSpPr>
        <p:spPr>
          <a:xfrm>
            <a:off x="1053108" y="3569940"/>
            <a:ext cx="20975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pheatmap::pheatmap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9"/>
          <p:cNvSpPr txBox="1"/>
          <p:nvPr/>
        </p:nvSpPr>
        <p:spPr>
          <a:xfrm>
            <a:off x="3112591" y="3541365"/>
            <a:ext cx="113496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). Figuras 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9"/>
          <p:cNvSpPr txBox="1"/>
          <p:nvPr/>
        </p:nvSpPr>
        <p:spPr>
          <a:xfrm>
            <a:off x="4262884" y="3569940"/>
            <a:ext cx="8390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ggplot2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9"/>
          <p:cNvSpPr txBox="1"/>
          <p:nvPr/>
        </p:nvSpPr>
        <p:spPr>
          <a:xfrm>
            <a:off x="5063877" y="3541365"/>
            <a:ext cx="1143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9"/>
          <p:cNvSpPr txBox="1"/>
          <p:nvPr/>
        </p:nvSpPr>
        <p:spPr>
          <a:xfrm>
            <a:off x="5140077" y="3569940"/>
            <a:ext cx="8390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ggrepel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9"/>
          <p:cNvSpPr txBox="1"/>
          <p:nvPr/>
        </p:nvSpPr>
        <p:spPr>
          <a:xfrm>
            <a:off x="5941070" y="3541365"/>
            <a:ext cx="8051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9"/>
          <p:cNvSpPr txBox="1"/>
          <p:nvPr/>
        </p:nvSpPr>
        <p:spPr>
          <a:xfrm>
            <a:off x="1019175" y="4557861"/>
            <a:ext cx="1012209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Objetivo: descrever a coorte, verificar qualidade e explorar a estrutura global da expressão antes dos testes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9"/>
          <p:cNvSpPr txBox="1"/>
          <p:nvPr/>
        </p:nvSpPr>
        <p:spPr>
          <a:xfrm>
            <a:off x="1019175" y="4844951"/>
            <a:ext cx="119404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 hipótese.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9"/>
          <p:cNvSpPr/>
          <p:nvPr/>
        </p:nvSpPr>
        <p:spPr>
          <a:xfrm>
            <a:off x="400050" y="7239000"/>
            <a:ext cx="11391900" cy="2667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7150" spcFirstLastPara="1" rIns="57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Refs.: McInnes et al., 2018; Ritchie et al., 2015.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0"/>
          <p:cNvSpPr/>
          <p:nvPr/>
        </p:nvSpPr>
        <p:spPr>
          <a:xfrm>
            <a:off x="400050" y="190500"/>
            <a:ext cx="11391900" cy="42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6" name="Google Shape;676;p10"/>
          <p:cNvCxnSpPr/>
          <p:nvPr/>
        </p:nvCxnSpPr>
        <p:spPr>
          <a:xfrm>
            <a:off x="400050" y="597247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7" name="Google Shape;677;p10"/>
          <p:cNvSpPr/>
          <p:nvPr/>
        </p:nvSpPr>
        <p:spPr>
          <a:xfrm>
            <a:off x="314763" y="3175653"/>
            <a:ext cx="5549100" cy="888600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0"/>
          <p:cNvSpPr/>
          <p:nvPr/>
        </p:nvSpPr>
        <p:spPr>
          <a:xfrm>
            <a:off x="319524" y="3180415"/>
            <a:ext cx="1883700" cy="2307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0"/>
          <p:cNvSpPr/>
          <p:nvPr/>
        </p:nvSpPr>
        <p:spPr>
          <a:xfrm>
            <a:off x="2203242" y="3180415"/>
            <a:ext cx="1454400" cy="2307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0" name="Google Shape;680;p10"/>
          <p:cNvCxnSpPr/>
          <p:nvPr/>
        </p:nvCxnSpPr>
        <p:spPr>
          <a:xfrm>
            <a:off x="2208006" y="3180415"/>
            <a:ext cx="0" cy="23070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1" name="Google Shape;681;p10"/>
          <p:cNvSpPr/>
          <p:nvPr/>
        </p:nvSpPr>
        <p:spPr>
          <a:xfrm>
            <a:off x="3657739" y="3180415"/>
            <a:ext cx="1454400" cy="2307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2" name="Google Shape;682;p10"/>
          <p:cNvCxnSpPr/>
          <p:nvPr/>
        </p:nvCxnSpPr>
        <p:spPr>
          <a:xfrm>
            <a:off x="3662503" y="3180415"/>
            <a:ext cx="0" cy="23070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3" name="Google Shape;683;p10"/>
          <p:cNvSpPr/>
          <p:nvPr/>
        </p:nvSpPr>
        <p:spPr>
          <a:xfrm>
            <a:off x="5112238" y="3180415"/>
            <a:ext cx="747000" cy="2307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4" name="Google Shape;684;p10"/>
          <p:cNvCxnSpPr/>
          <p:nvPr/>
        </p:nvCxnSpPr>
        <p:spPr>
          <a:xfrm>
            <a:off x="5117000" y="3180415"/>
            <a:ext cx="0" cy="23070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5" name="Google Shape;685;p10"/>
          <p:cNvSpPr/>
          <p:nvPr/>
        </p:nvSpPr>
        <p:spPr>
          <a:xfrm>
            <a:off x="319524" y="3411099"/>
            <a:ext cx="1883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6" name="Google Shape;686;p10"/>
          <p:cNvCxnSpPr/>
          <p:nvPr/>
        </p:nvCxnSpPr>
        <p:spPr>
          <a:xfrm>
            <a:off x="319524" y="3415861"/>
            <a:ext cx="18837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7" name="Google Shape;687;p10"/>
          <p:cNvSpPr/>
          <p:nvPr/>
        </p:nvSpPr>
        <p:spPr>
          <a:xfrm>
            <a:off x="2203242" y="3411099"/>
            <a:ext cx="14544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8" name="Google Shape;688;p10"/>
          <p:cNvCxnSpPr/>
          <p:nvPr/>
        </p:nvCxnSpPr>
        <p:spPr>
          <a:xfrm>
            <a:off x="2203242" y="3415861"/>
            <a:ext cx="14544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9" name="Google Shape;689;p10"/>
          <p:cNvCxnSpPr/>
          <p:nvPr/>
        </p:nvCxnSpPr>
        <p:spPr>
          <a:xfrm>
            <a:off x="2208006" y="3411099"/>
            <a:ext cx="0" cy="2160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0" name="Google Shape;690;p10"/>
          <p:cNvSpPr/>
          <p:nvPr/>
        </p:nvSpPr>
        <p:spPr>
          <a:xfrm>
            <a:off x="3657739" y="3411099"/>
            <a:ext cx="14544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1" name="Google Shape;691;p10"/>
          <p:cNvCxnSpPr/>
          <p:nvPr/>
        </p:nvCxnSpPr>
        <p:spPr>
          <a:xfrm>
            <a:off x="3657739" y="3415861"/>
            <a:ext cx="14544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2" name="Google Shape;692;p10"/>
          <p:cNvCxnSpPr/>
          <p:nvPr/>
        </p:nvCxnSpPr>
        <p:spPr>
          <a:xfrm>
            <a:off x="3662503" y="3411099"/>
            <a:ext cx="0" cy="2160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3" name="Google Shape;693;p10"/>
          <p:cNvSpPr/>
          <p:nvPr/>
        </p:nvSpPr>
        <p:spPr>
          <a:xfrm>
            <a:off x="5112238" y="3411099"/>
            <a:ext cx="747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4" name="Google Shape;694;p10"/>
          <p:cNvCxnSpPr/>
          <p:nvPr/>
        </p:nvCxnSpPr>
        <p:spPr>
          <a:xfrm>
            <a:off x="5112238" y="3415861"/>
            <a:ext cx="7470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5" name="Google Shape;695;p10"/>
          <p:cNvCxnSpPr/>
          <p:nvPr/>
        </p:nvCxnSpPr>
        <p:spPr>
          <a:xfrm>
            <a:off x="5117000" y="3411099"/>
            <a:ext cx="0" cy="2160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6" name="Google Shape;696;p10"/>
          <p:cNvSpPr/>
          <p:nvPr/>
        </p:nvSpPr>
        <p:spPr>
          <a:xfrm>
            <a:off x="319524" y="3627197"/>
            <a:ext cx="1883700" cy="21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7" name="Google Shape;697;p10"/>
          <p:cNvCxnSpPr/>
          <p:nvPr/>
        </p:nvCxnSpPr>
        <p:spPr>
          <a:xfrm>
            <a:off x="319524" y="3631960"/>
            <a:ext cx="18837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8" name="Google Shape;698;p10"/>
          <p:cNvSpPr/>
          <p:nvPr/>
        </p:nvSpPr>
        <p:spPr>
          <a:xfrm>
            <a:off x="2203242" y="3627197"/>
            <a:ext cx="1454400" cy="21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9" name="Google Shape;699;p10"/>
          <p:cNvCxnSpPr/>
          <p:nvPr/>
        </p:nvCxnSpPr>
        <p:spPr>
          <a:xfrm>
            <a:off x="2203242" y="3631960"/>
            <a:ext cx="14544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0" name="Google Shape;700;p10"/>
          <p:cNvCxnSpPr/>
          <p:nvPr/>
        </p:nvCxnSpPr>
        <p:spPr>
          <a:xfrm>
            <a:off x="2208006" y="3627197"/>
            <a:ext cx="0" cy="2160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1" name="Google Shape;701;p10"/>
          <p:cNvSpPr/>
          <p:nvPr/>
        </p:nvSpPr>
        <p:spPr>
          <a:xfrm>
            <a:off x="3657739" y="3627197"/>
            <a:ext cx="1454400" cy="21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2" name="Google Shape;702;p10"/>
          <p:cNvCxnSpPr/>
          <p:nvPr/>
        </p:nvCxnSpPr>
        <p:spPr>
          <a:xfrm>
            <a:off x="3657739" y="3631960"/>
            <a:ext cx="14544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3" name="Google Shape;703;p10"/>
          <p:cNvCxnSpPr/>
          <p:nvPr/>
        </p:nvCxnSpPr>
        <p:spPr>
          <a:xfrm>
            <a:off x="3662503" y="3627197"/>
            <a:ext cx="0" cy="2160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4" name="Google Shape;704;p10"/>
          <p:cNvSpPr/>
          <p:nvPr/>
        </p:nvSpPr>
        <p:spPr>
          <a:xfrm>
            <a:off x="5112238" y="3627197"/>
            <a:ext cx="747000" cy="21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5" name="Google Shape;705;p10"/>
          <p:cNvCxnSpPr/>
          <p:nvPr/>
        </p:nvCxnSpPr>
        <p:spPr>
          <a:xfrm>
            <a:off x="5112238" y="3631960"/>
            <a:ext cx="7470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6" name="Google Shape;706;p10"/>
          <p:cNvCxnSpPr/>
          <p:nvPr/>
        </p:nvCxnSpPr>
        <p:spPr>
          <a:xfrm>
            <a:off x="5117000" y="3627197"/>
            <a:ext cx="0" cy="2160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7" name="Google Shape;707;p10"/>
          <p:cNvSpPr/>
          <p:nvPr/>
        </p:nvSpPr>
        <p:spPr>
          <a:xfrm>
            <a:off x="319524" y="3843296"/>
            <a:ext cx="1883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8" name="Google Shape;708;p10"/>
          <p:cNvCxnSpPr/>
          <p:nvPr/>
        </p:nvCxnSpPr>
        <p:spPr>
          <a:xfrm>
            <a:off x="319524" y="3848058"/>
            <a:ext cx="18837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9" name="Google Shape;709;p10"/>
          <p:cNvSpPr/>
          <p:nvPr/>
        </p:nvSpPr>
        <p:spPr>
          <a:xfrm>
            <a:off x="2203242" y="3843296"/>
            <a:ext cx="14544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0" name="Google Shape;710;p10"/>
          <p:cNvCxnSpPr/>
          <p:nvPr/>
        </p:nvCxnSpPr>
        <p:spPr>
          <a:xfrm>
            <a:off x="2203242" y="3848058"/>
            <a:ext cx="14544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1" name="Google Shape;711;p10"/>
          <p:cNvCxnSpPr/>
          <p:nvPr/>
        </p:nvCxnSpPr>
        <p:spPr>
          <a:xfrm>
            <a:off x="2208006" y="3843296"/>
            <a:ext cx="0" cy="2160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2" name="Google Shape;712;p10"/>
          <p:cNvSpPr/>
          <p:nvPr/>
        </p:nvSpPr>
        <p:spPr>
          <a:xfrm>
            <a:off x="3657739" y="3843296"/>
            <a:ext cx="14544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3" name="Google Shape;713;p10"/>
          <p:cNvCxnSpPr/>
          <p:nvPr/>
        </p:nvCxnSpPr>
        <p:spPr>
          <a:xfrm>
            <a:off x="3657739" y="3848058"/>
            <a:ext cx="14544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4" name="Google Shape;714;p10"/>
          <p:cNvCxnSpPr/>
          <p:nvPr/>
        </p:nvCxnSpPr>
        <p:spPr>
          <a:xfrm>
            <a:off x="3662503" y="3843296"/>
            <a:ext cx="0" cy="2160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5" name="Google Shape;715;p10"/>
          <p:cNvSpPr/>
          <p:nvPr/>
        </p:nvSpPr>
        <p:spPr>
          <a:xfrm>
            <a:off x="5112238" y="3843296"/>
            <a:ext cx="747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6" name="Google Shape;716;p10"/>
          <p:cNvCxnSpPr/>
          <p:nvPr/>
        </p:nvCxnSpPr>
        <p:spPr>
          <a:xfrm>
            <a:off x="5112238" y="3848058"/>
            <a:ext cx="7470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7" name="Google Shape;717;p10"/>
          <p:cNvCxnSpPr/>
          <p:nvPr/>
        </p:nvCxnSpPr>
        <p:spPr>
          <a:xfrm>
            <a:off x="5117000" y="3843296"/>
            <a:ext cx="0" cy="2160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8" name="Google Shape;718;p10"/>
          <p:cNvSpPr/>
          <p:nvPr/>
        </p:nvSpPr>
        <p:spPr>
          <a:xfrm>
            <a:off x="319514" y="4557944"/>
            <a:ext cx="2701500" cy="1044900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0"/>
          <p:cNvSpPr/>
          <p:nvPr/>
        </p:nvSpPr>
        <p:spPr>
          <a:xfrm>
            <a:off x="324276" y="4562707"/>
            <a:ext cx="20010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0" name="Google Shape;720;p10"/>
          <p:cNvCxnSpPr/>
          <p:nvPr/>
        </p:nvCxnSpPr>
        <p:spPr>
          <a:xfrm>
            <a:off x="324276" y="4567469"/>
            <a:ext cx="200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21" name="Google Shape;721;p10"/>
          <p:cNvCxnSpPr/>
          <p:nvPr/>
        </p:nvCxnSpPr>
        <p:spPr>
          <a:xfrm>
            <a:off x="329039" y="4562707"/>
            <a:ext cx="0" cy="2589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722" name="Google Shape;722;p10"/>
          <p:cNvSpPr/>
          <p:nvPr/>
        </p:nvSpPr>
        <p:spPr>
          <a:xfrm>
            <a:off x="2325270" y="4562707"/>
            <a:ext cx="6909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3" name="Google Shape;723;p10"/>
          <p:cNvCxnSpPr/>
          <p:nvPr/>
        </p:nvCxnSpPr>
        <p:spPr>
          <a:xfrm>
            <a:off x="2325270" y="4567469"/>
            <a:ext cx="6909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24" name="Google Shape;724;p10"/>
          <p:cNvCxnSpPr/>
          <p:nvPr/>
        </p:nvCxnSpPr>
        <p:spPr>
          <a:xfrm>
            <a:off x="2330033" y="4562707"/>
            <a:ext cx="0" cy="2589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725" name="Google Shape;725;p10"/>
          <p:cNvSpPr/>
          <p:nvPr/>
        </p:nvSpPr>
        <p:spPr>
          <a:xfrm>
            <a:off x="324276" y="4821519"/>
            <a:ext cx="20010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6" name="Google Shape;726;p10"/>
          <p:cNvCxnSpPr/>
          <p:nvPr/>
        </p:nvCxnSpPr>
        <p:spPr>
          <a:xfrm>
            <a:off x="324276" y="4826281"/>
            <a:ext cx="200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27" name="Google Shape;727;p10"/>
          <p:cNvCxnSpPr/>
          <p:nvPr/>
        </p:nvCxnSpPr>
        <p:spPr>
          <a:xfrm>
            <a:off x="329039" y="4821519"/>
            <a:ext cx="0" cy="2589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728" name="Google Shape;728;p10"/>
          <p:cNvSpPr/>
          <p:nvPr/>
        </p:nvSpPr>
        <p:spPr>
          <a:xfrm>
            <a:off x="2325270" y="4821519"/>
            <a:ext cx="6909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9" name="Google Shape;729;p10"/>
          <p:cNvCxnSpPr/>
          <p:nvPr/>
        </p:nvCxnSpPr>
        <p:spPr>
          <a:xfrm>
            <a:off x="2325270" y="4826281"/>
            <a:ext cx="6909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30" name="Google Shape;730;p10"/>
          <p:cNvCxnSpPr/>
          <p:nvPr/>
        </p:nvCxnSpPr>
        <p:spPr>
          <a:xfrm>
            <a:off x="2330033" y="4821519"/>
            <a:ext cx="0" cy="2589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731" name="Google Shape;731;p10"/>
          <p:cNvSpPr/>
          <p:nvPr/>
        </p:nvSpPr>
        <p:spPr>
          <a:xfrm>
            <a:off x="324276" y="5080331"/>
            <a:ext cx="20010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2" name="Google Shape;732;p10"/>
          <p:cNvCxnSpPr/>
          <p:nvPr/>
        </p:nvCxnSpPr>
        <p:spPr>
          <a:xfrm>
            <a:off x="324276" y="5085093"/>
            <a:ext cx="200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33" name="Google Shape;733;p10"/>
          <p:cNvCxnSpPr/>
          <p:nvPr/>
        </p:nvCxnSpPr>
        <p:spPr>
          <a:xfrm>
            <a:off x="329039" y="5080331"/>
            <a:ext cx="0" cy="2589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734" name="Google Shape;734;p10"/>
          <p:cNvSpPr/>
          <p:nvPr/>
        </p:nvSpPr>
        <p:spPr>
          <a:xfrm>
            <a:off x="2325270" y="5080331"/>
            <a:ext cx="6909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5" name="Google Shape;735;p10"/>
          <p:cNvCxnSpPr/>
          <p:nvPr/>
        </p:nvCxnSpPr>
        <p:spPr>
          <a:xfrm>
            <a:off x="2325270" y="5085093"/>
            <a:ext cx="6909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36" name="Google Shape;736;p10"/>
          <p:cNvCxnSpPr/>
          <p:nvPr/>
        </p:nvCxnSpPr>
        <p:spPr>
          <a:xfrm>
            <a:off x="2330033" y="5080331"/>
            <a:ext cx="0" cy="2589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737" name="Google Shape;737;p10"/>
          <p:cNvSpPr/>
          <p:nvPr/>
        </p:nvSpPr>
        <p:spPr>
          <a:xfrm>
            <a:off x="324276" y="5339143"/>
            <a:ext cx="20010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8" name="Google Shape;738;p10"/>
          <p:cNvCxnSpPr/>
          <p:nvPr/>
        </p:nvCxnSpPr>
        <p:spPr>
          <a:xfrm>
            <a:off x="324276" y="5343905"/>
            <a:ext cx="200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39" name="Google Shape;739;p10"/>
          <p:cNvCxnSpPr/>
          <p:nvPr/>
        </p:nvCxnSpPr>
        <p:spPr>
          <a:xfrm>
            <a:off x="329039" y="5339143"/>
            <a:ext cx="0" cy="2589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740" name="Google Shape;740;p10"/>
          <p:cNvSpPr/>
          <p:nvPr/>
        </p:nvSpPr>
        <p:spPr>
          <a:xfrm>
            <a:off x="2325270" y="5339143"/>
            <a:ext cx="6909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1" name="Google Shape;741;p10"/>
          <p:cNvCxnSpPr/>
          <p:nvPr/>
        </p:nvCxnSpPr>
        <p:spPr>
          <a:xfrm>
            <a:off x="2325270" y="5343905"/>
            <a:ext cx="6909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42" name="Google Shape;742;p10"/>
          <p:cNvCxnSpPr/>
          <p:nvPr/>
        </p:nvCxnSpPr>
        <p:spPr>
          <a:xfrm>
            <a:off x="2330033" y="5339143"/>
            <a:ext cx="0" cy="2589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743" name="Google Shape;743;p10"/>
          <p:cNvSpPr/>
          <p:nvPr/>
        </p:nvSpPr>
        <p:spPr>
          <a:xfrm>
            <a:off x="6242675" y="4586425"/>
            <a:ext cx="5549400" cy="1295100"/>
          </a:xfrm>
          <a:prstGeom prst="roundRect">
            <a:avLst>
              <a:gd fmla="val 3677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4" name="Google Shape;744;p10"/>
          <p:cNvCxnSpPr/>
          <p:nvPr/>
        </p:nvCxnSpPr>
        <p:spPr>
          <a:xfrm>
            <a:off x="6266487" y="4586425"/>
            <a:ext cx="0" cy="1295100"/>
          </a:xfrm>
          <a:prstGeom prst="straightConnector1">
            <a:avLst/>
          </a:prstGeom>
          <a:noFill/>
          <a:ln cap="flat" cmpd="sng" w="476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5" name="Google Shape;745;p10"/>
          <p:cNvSpPr/>
          <p:nvPr/>
        </p:nvSpPr>
        <p:spPr>
          <a:xfrm>
            <a:off x="6242596" y="5984379"/>
            <a:ext cx="5549354" cy="1421309"/>
          </a:xfrm>
          <a:prstGeom prst="roundRect">
            <a:avLst>
              <a:gd fmla="val 3350" name="adj"/>
            </a:avLst>
          </a:prstGeom>
          <a:solidFill>
            <a:srgbClr val="EE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6" name="Google Shape;746;p10"/>
          <p:cNvCxnSpPr/>
          <p:nvPr/>
        </p:nvCxnSpPr>
        <p:spPr>
          <a:xfrm>
            <a:off x="6266408" y="5984379"/>
            <a:ext cx="0" cy="1421309"/>
          </a:xfrm>
          <a:prstGeom prst="straightConnector1">
            <a:avLst/>
          </a:prstGeom>
          <a:noFill/>
          <a:ln cap="flat" cmpd="sng" w="47625">
            <a:solidFill>
              <a:srgbClr val="1F5F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7" name="Google Shape;747;p10"/>
          <p:cNvSpPr/>
          <p:nvPr/>
        </p:nvSpPr>
        <p:spPr>
          <a:xfrm>
            <a:off x="6418957" y="6283821"/>
            <a:ext cx="556022" cy="187077"/>
          </a:xfrm>
          <a:prstGeom prst="roundRect">
            <a:avLst>
              <a:gd fmla="val 50000" name="adj"/>
            </a:avLst>
          </a:prstGeom>
          <a:solidFill>
            <a:srgbClr val="1F5F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b01f1ea5c2149e86f3184b8958d4b58.png" id="748" name="Google Shape;74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2596" y="715566"/>
            <a:ext cx="5549205" cy="3567410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10"/>
          <p:cNvSpPr txBox="1"/>
          <p:nvPr/>
        </p:nvSpPr>
        <p:spPr>
          <a:xfrm>
            <a:off x="400050" y="161925"/>
            <a:ext cx="2069604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3"/>
              <a:buFont typeface="Arial"/>
              <a:buNone/>
            </a:pPr>
            <a:r>
              <a:rPr b="0" i="0" lang="en-US" sz="2343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Sexo por grupo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10"/>
          <p:cNvSpPr txBox="1"/>
          <p:nvPr/>
        </p:nvSpPr>
        <p:spPr>
          <a:xfrm>
            <a:off x="352863" y="3214497"/>
            <a:ext cx="1352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Grupo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10"/>
          <p:cNvSpPr txBox="1"/>
          <p:nvPr/>
        </p:nvSpPr>
        <p:spPr>
          <a:xfrm>
            <a:off x="2241670" y="3214497"/>
            <a:ext cx="13782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Feminino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10"/>
          <p:cNvSpPr txBox="1"/>
          <p:nvPr/>
        </p:nvSpPr>
        <p:spPr>
          <a:xfrm>
            <a:off x="3782815" y="3214497"/>
            <a:ext cx="6144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Masculino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10"/>
          <p:cNvSpPr txBox="1"/>
          <p:nvPr/>
        </p:nvSpPr>
        <p:spPr>
          <a:xfrm>
            <a:off x="5150605" y="3214497"/>
            <a:ext cx="6705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10"/>
          <p:cNvSpPr txBox="1"/>
          <p:nvPr/>
        </p:nvSpPr>
        <p:spPr>
          <a:xfrm>
            <a:off x="352863" y="3437888"/>
            <a:ext cx="1352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tumor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10"/>
          <p:cNvSpPr txBox="1"/>
          <p:nvPr/>
        </p:nvSpPr>
        <p:spPr>
          <a:xfrm>
            <a:off x="2241670" y="3437888"/>
            <a:ext cx="13782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120 (32.5%)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10"/>
          <p:cNvSpPr txBox="1"/>
          <p:nvPr/>
        </p:nvSpPr>
        <p:spPr>
          <a:xfrm>
            <a:off x="3782815" y="3437888"/>
            <a:ext cx="6144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249 (67.5%)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10"/>
          <p:cNvSpPr txBox="1"/>
          <p:nvPr/>
        </p:nvSpPr>
        <p:spPr>
          <a:xfrm>
            <a:off x="5150605" y="3437888"/>
            <a:ext cx="6705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369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10"/>
          <p:cNvSpPr txBox="1"/>
          <p:nvPr/>
        </p:nvSpPr>
        <p:spPr>
          <a:xfrm>
            <a:off x="352863" y="3653986"/>
            <a:ext cx="1352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adjacente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10"/>
          <p:cNvSpPr txBox="1"/>
          <p:nvPr/>
        </p:nvSpPr>
        <p:spPr>
          <a:xfrm>
            <a:off x="2241670" y="3653986"/>
            <a:ext cx="13782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 (44.0%)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10"/>
          <p:cNvSpPr txBox="1"/>
          <p:nvPr/>
        </p:nvSpPr>
        <p:spPr>
          <a:xfrm>
            <a:off x="3782815" y="3653986"/>
            <a:ext cx="6144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28 (56.0%)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10"/>
          <p:cNvSpPr txBox="1"/>
          <p:nvPr/>
        </p:nvSpPr>
        <p:spPr>
          <a:xfrm>
            <a:off x="5150605" y="3653986"/>
            <a:ext cx="6705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10"/>
          <p:cNvSpPr txBox="1"/>
          <p:nvPr/>
        </p:nvSpPr>
        <p:spPr>
          <a:xfrm>
            <a:off x="352863" y="3870085"/>
            <a:ext cx="1352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GTEx normal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10"/>
          <p:cNvSpPr txBox="1"/>
          <p:nvPr/>
        </p:nvSpPr>
        <p:spPr>
          <a:xfrm>
            <a:off x="2241670" y="3870085"/>
            <a:ext cx="13782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33 (30.0%)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10"/>
          <p:cNvSpPr txBox="1"/>
          <p:nvPr/>
        </p:nvSpPr>
        <p:spPr>
          <a:xfrm>
            <a:off x="3782815" y="3870085"/>
            <a:ext cx="6144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77 (70.0%)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10"/>
          <p:cNvSpPr txBox="1"/>
          <p:nvPr/>
        </p:nvSpPr>
        <p:spPr>
          <a:xfrm>
            <a:off x="5150605" y="3870085"/>
            <a:ext cx="6705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10"/>
          <p:cNvSpPr txBox="1"/>
          <p:nvPr/>
        </p:nvSpPr>
        <p:spPr>
          <a:xfrm>
            <a:off x="319525" y="4168300"/>
            <a:ext cx="18837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Testes qui-quadrado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10"/>
          <p:cNvSpPr txBox="1"/>
          <p:nvPr/>
        </p:nvSpPr>
        <p:spPr>
          <a:xfrm>
            <a:off x="822582" y="4587263"/>
            <a:ext cx="1378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1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10"/>
          <p:cNvSpPr txBox="1"/>
          <p:nvPr/>
        </p:nvSpPr>
        <p:spPr>
          <a:xfrm>
            <a:off x="2363727" y="4587263"/>
            <a:ext cx="614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1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10"/>
          <p:cNvSpPr txBox="1"/>
          <p:nvPr/>
        </p:nvSpPr>
        <p:spPr>
          <a:xfrm>
            <a:off x="397932" y="4855638"/>
            <a:ext cx="1378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0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tumor vs. GTEx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10"/>
          <p:cNvSpPr txBox="1"/>
          <p:nvPr/>
        </p:nvSpPr>
        <p:spPr>
          <a:xfrm>
            <a:off x="2363727" y="4846075"/>
            <a:ext cx="614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0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0,703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10"/>
          <p:cNvSpPr txBox="1"/>
          <p:nvPr/>
        </p:nvSpPr>
        <p:spPr>
          <a:xfrm>
            <a:off x="379048" y="5104900"/>
            <a:ext cx="1821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0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tumor vs. adjacente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10"/>
          <p:cNvSpPr txBox="1"/>
          <p:nvPr/>
        </p:nvSpPr>
        <p:spPr>
          <a:xfrm>
            <a:off x="2363727" y="5104888"/>
            <a:ext cx="614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0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0,147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10"/>
          <p:cNvSpPr txBox="1"/>
          <p:nvPr/>
        </p:nvSpPr>
        <p:spPr>
          <a:xfrm>
            <a:off x="379173" y="5363700"/>
            <a:ext cx="1821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0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adjacente vs. GTEx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10"/>
          <p:cNvSpPr txBox="1"/>
          <p:nvPr/>
        </p:nvSpPr>
        <p:spPr>
          <a:xfrm>
            <a:off x="2363727" y="5363700"/>
            <a:ext cx="614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0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0,121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10"/>
          <p:cNvSpPr txBox="1"/>
          <p:nvPr/>
        </p:nvSpPr>
        <p:spPr>
          <a:xfrm>
            <a:off x="6304597" y="4313039"/>
            <a:ext cx="544925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Arial"/>
              <a:buNone/>
            </a:pPr>
            <a:r>
              <a:rPr b="0" i="0" lang="en-US" sz="891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2. Composição por sexo em cada grupo.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10"/>
          <p:cNvSpPr txBox="1"/>
          <p:nvPr/>
        </p:nvSpPr>
        <p:spPr>
          <a:xfrm>
            <a:off x="6434223" y="4845175"/>
            <a:ext cx="52089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Predominância masculina em todos os grupos (~67% no </a:t>
            </a:r>
            <a:r>
              <a:rPr lang="en-US" sz="1485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tumor; ~70% no GTEx),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b="1" lang="en-US" sz="1485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sem diferença significativa</a:t>
            </a:r>
            <a:r>
              <a:rPr lang="en-U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77" name="Google Shape;777;p10"/>
          <p:cNvSpPr txBox="1"/>
          <p:nvPr/>
        </p:nvSpPr>
        <p:spPr>
          <a:xfrm>
            <a:off x="6489353" y="6279803"/>
            <a:ext cx="45333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9"/>
              <a:buFont typeface="Arial"/>
              <a:buNone/>
            </a:pPr>
            <a:r>
              <a:rPr b="1" i="0" lang="en-US" sz="110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10"/>
          <p:cNvSpPr txBox="1"/>
          <p:nvPr/>
        </p:nvSpPr>
        <p:spPr>
          <a:xfrm>
            <a:off x="7071420" y="6251228"/>
            <a:ext cx="11721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1" i="0" lang="en-US" sz="1353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Qui-quadrado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10"/>
          <p:cNvSpPr txBox="1"/>
          <p:nvPr/>
        </p:nvSpPr>
        <p:spPr>
          <a:xfrm>
            <a:off x="8252520" y="6251228"/>
            <a:ext cx="9004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10"/>
          <p:cNvSpPr txBox="1"/>
          <p:nvPr/>
        </p:nvSpPr>
        <p:spPr>
          <a:xfrm>
            <a:off x="8304461" y="6270278"/>
            <a:ext cx="1749772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stats::chisq.test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10"/>
          <p:cNvSpPr txBox="1"/>
          <p:nvPr/>
        </p:nvSpPr>
        <p:spPr>
          <a:xfrm>
            <a:off x="10016133" y="6251228"/>
            <a:ext cx="97244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): compara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10"/>
          <p:cNvSpPr txBox="1"/>
          <p:nvPr/>
        </p:nvSpPr>
        <p:spPr>
          <a:xfrm>
            <a:off x="6418957" y="6475512"/>
            <a:ext cx="499630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frequência observada de homens/mulheres com a esperada se 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10"/>
          <p:cNvSpPr txBox="1"/>
          <p:nvPr/>
        </p:nvSpPr>
        <p:spPr>
          <a:xfrm>
            <a:off x="6418957" y="6690271"/>
            <a:ext cx="44318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grupos fossem homogêneos. p &gt; 0,05 = sem evidência 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10"/>
          <p:cNvSpPr txBox="1"/>
          <p:nvPr/>
        </p:nvSpPr>
        <p:spPr>
          <a:xfrm>
            <a:off x="6418957" y="6905030"/>
            <a:ext cx="22306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composição sexual diferente.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11"/>
          <p:cNvSpPr/>
          <p:nvPr/>
        </p:nvSpPr>
        <p:spPr>
          <a:xfrm>
            <a:off x="400050" y="190500"/>
            <a:ext cx="11391900" cy="42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0" name="Google Shape;790;p11"/>
          <p:cNvCxnSpPr/>
          <p:nvPr/>
        </p:nvCxnSpPr>
        <p:spPr>
          <a:xfrm>
            <a:off x="400050" y="597247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1" name="Google Shape;791;p11"/>
          <p:cNvSpPr/>
          <p:nvPr/>
        </p:nvSpPr>
        <p:spPr>
          <a:xfrm>
            <a:off x="400050" y="2781598"/>
            <a:ext cx="5549205" cy="888504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11"/>
          <p:cNvSpPr/>
          <p:nvPr/>
        </p:nvSpPr>
        <p:spPr>
          <a:xfrm>
            <a:off x="404812" y="2786360"/>
            <a:ext cx="1632942" cy="230684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3" name="Google Shape;793;p11"/>
          <p:cNvCxnSpPr/>
          <p:nvPr/>
        </p:nvCxnSpPr>
        <p:spPr>
          <a:xfrm>
            <a:off x="404812" y="2791123"/>
            <a:ext cx="1632943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4" name="Google Shape;794;p11"/>
          <p:cNvCxnSpPr/>
          <p:nvPr/>
        </p:nvCxnSpPr>
        <p:spPr>
          <a:xfrm>
            <a:off x="409575" y="2786360"/>
            <a:ext cx="0" cy="230684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5" name="Google Shape;795;p11"/>
          <p:cNvSpPr/>
          <p:nvPr/>
        </p:nvSpPr>
        <p:spPr>
          <a:xfrm>
            <a:off x="2037755" y="2786360"/>
            <a:ext cx="526852" cy="230684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6" name="Google Shape;796;p11"/>
          <p:cNvCxnSpPr/>
          <p:nvPr/>
        </p:nvCxnSpPr>
        <p:spPr>
          <a:xfrm>
            <a:off x="2037755" y="2791123"/>
            <a:ext cx="526851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7" name="Google Shape;797;p11"/>
          <p:cNvCxnSpPr/>
          <p:nvPr/>
        </p:nvCxnSpPr>
        <p:spPr>
          <a:xfrm>
            <a:off x="2042517" y="2786360"/>
            <a:ext cx="0" cy="230684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8" name="Google Shape;798;p11"/>
          <p:cNvSpPr/>
          <p:nvPr/>
        </p:nvSpPr>
        <p:spPr>
          <a:xfrm>
            <a:off x="2564606" y="2786360"/>
            <a:ext cx="1310878" cy="230684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9" name="Google Shape;799;p11"/>
          <p:cNvCxnSpPr/>
          <p:nvPr/>
        </p:nvCxnSpPr>
        <p:spPr>
          <a:xfrm>
            <a:off x="2564606" y="2791123"/>
            <a:ext cx="1310878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0" name="Google Shape;800;p11"/>
          <p:cNvCxnSpPr/>
          <p:nvPr/>
        </p:nvCxnSpPr>
        <p:spPr>
          <a:xfrm>
            <a:off x="2569369" y="2786360"/>
            <a:ext cx="0" cy="230684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1" name="Google Shape;801;p11"/>
          <p:cNvSpPr/>
          <p:nvPr/>
        </p:nvSpPr>
        <p:spPr>
          <a:xfrm>
            <a:off x="3875484" y="2786360"/>
            <a:ext cx="1011436" cy="230684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2" name="Google Shape;802;p11"/>
          <p:cNvCxnSpPr/>
          <p:nvPr/>
        </p:nvCxnSpPr>
        <p:spPr>
          <a:xfrm>
            <a:off x="3875484" y="2791123"/>
            <a:ext cx="1011436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3" name="Google Shape;803;p11"/>
          <p:cNvCxnSpPr/>
          <p:nvPr/>
        </p:nvCxnSpPr>
        <p:spPr>
          <a:xfrm>
            <a:off x="3880247" y="2786360"/>
            <a:ext cx="0" cy="230684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4" name="Google Shape;804;p11"/>
          <p:cNvSpPr/>
          <p:nvPr/>
        </p:nvSpPr>
        <p:spPr>
          <a:xfrm>
            <a:off x="4886920" y="2786360"/>
            <a:ext cx="1057573" cy="230684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5" name="Google Shape;805;p11"/>
          <p:cNvCxnSpPr/>
          <p:nvPr/>
        </p:nvCxnSpPr>
        <p:spPr>
          <a:xfrm>
            <a:off x="4886920" y="2791123"/>
            <a:ext cx="1057573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6" name="Google Shape;806;p11"/>
          <p:cNvCxnSpPr/>
          <p:nvPr/>
        </p:nvCxnSpPr>
        <p:spPr>
          <a:xfrm>
            <a:off x="4891683" y="2786360"/>
            <a:ext cx="0" cy="230684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7" name="Google Shape;807;p11"/>
          <p:cNvSpPr/>
          <p:nvPr/>
        </p:nvSpPr>
        <p:spPr>
          <a:xfrm>
            <a:off x="404812" y="3017044"/>
            <a:ext cx="1632942" cy="216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8" name="Google Shape;808;p11"/>
          <p:cNvCxnSpPr/>
          <p:nvPr/>
        </p:nvCxnSpPr>
        <p:spPr>
          <a:xfrm>
            <a:off x="404812" y="3021806"/>
            <a:ext cx="163294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9" name="Google Shape;809;p11"/>
          <p:cNvCxnSpPr/>
          <p:nvPr/>
        </p:nvCxnSpPr>
        <p:spPr>
          <a:xfrm>
            <a:off x="409575" y="3017044"/>
            <a:ext cx="0" cy="216098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0" name="Google Shape;810;p11"/>
          <p:cNvSpPr/>
          <p:nvPr/>
        </p:nvSpPr>
        <p:spPr>
          <a:xfrm>
            <a:off x="2037755" y="3017044"/>
            <a:ext cx="526852" cy="216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1" name="Google Shape;811;p11"/>
          <p:cNvCxnSpPr/>
          <p:nvPr/>
        </p:nvCxnSpPr>
        <p:spPr>
          <a:xfrm>
            <a:off x="2037755" y="3021806"/>
            <a:ext cx="52685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2" name="Google Shape;812;p11"/>
          <p:cNvCxnSpPr/>
          <p:nvPr/>
        </p:nvCxnSpPr>
        <p:spPr>
          <a:xfrm>
            <a:off x="2042517" y="3017044"/>
            <a:ext cx="0" cy="216098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3" name="Google Shape;813;p11"/>
          <p:cNvSpPr/>
          <p:nvPr/>
        </p:nvSpPr>
        <p:spPr>
          <a:xfrm>
            <a:off x="2564606" y="3017044"/>
            <a:ext cx="1310878" cy="216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4" name="Google Shape;814;p11"/>
          <p:cNvCxnSpPr/>
          <p:nvPr/>
        </p:nvCxnSpPr>
        <p:spPr>
          <a:xfrm>
            <a:off x="2564606" y="3021806"/>
            <a:ext cx="131087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5" name="Google Shape;815;p11"/>
          <p:cNvCxnSpPr/>
          <p:nvPr/>
        </p:nvCxnSpPr>
        <p:spPr>
          <a:xfrm>
            <a:off x="2569369" y="3017044"/>
            <a:ext cx="0" cy="216098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6" name="Google Shape;816;p11"/>
          <p:cNvSpPr/>
          <p:nvPr/>
        </p:nvSpPr>
        <p:spPr>
          <a:xfrm>
            <a:off x="3875484" y="3017044"/>
            <a:ext cx="1011436" cy="216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7" name="Google Shape;817;p11"/>
          <p:cNvCxnSpPr/>
          <p:nvPr/>
        </p:nvCxnSpPr>
        <p:spPr>
          <a:xfrm>
            <a:off x="3875484" y="3021806"/>
            <a:ext cx="101143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8" name="Google Shape;818;p11"/>
          <p:cNvCxnSpPr/>
          <p:nvPr/>
        </p:nvCxnSpPr>
        <p:spPr>
          <a:xfrm>
            <a:off x="3880247" y="3017044"/>
            <a:ext cx="0" cy="216098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9" name="Google Shape;819;p11"/>
          <p:cNvSpPr/>
          <p:nvPr/>
        </p:nvSpPr>
        <p:spPr>
          <a:xfrm>
            <a:off x="4886920" y="3017044"/>
            <a:ext cx="1057573" cy="216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0" name="Google Shape;820;p11"/>
          <p:cNvCxnSpPr/>
          <p:nvPr/>
        </p:nvCxnSpPr>
        <p:spPr>
          <a:xfrm>
            <a:off x="4886920" y="3021806"/>
            <a:ext cx="105757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1" name="Google Shape;821;p11"/>
          <p:cNvCxnSpPr/>
          <p:nvPr/>
        </p:nvCxnSpPr>
        <p:spPr>
          <a:xfrm>
            <a:off x="4891683" y="3017044"/>
            <a:ext cx="0" cy="216098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2" name="Google Shape;822;p11"/>
          <p:cNvSpPr/>
          <p:nvPr/>
        </p:nvSpPr>
        <p:spPr>
          <a:xfrm>
            <a:off x="404812" y="3233142"/>
            <a:ext cx="1632942" cy="21609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3" name="Google Shape;823;p11"/>
          <p:cNvCxnSpPr/>
          <p:nvPr/>
        </p:nvCxnSpPr>
        <p:spPr>
          <a:xfrm>
            <a:off x="404812" y="3237905"/>
            <a:ext cx="163294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4" name="Google Shape;824;p11"/>
          <p:cNvCxnSpPr/>
          <p:nvPr/>
        </p:nvCxnSpPr>
        <p:spPr>
          <a:xfrm>
            <a:off x="409575" y="3233142"/>
            <a:ext cx="0" cy="216099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5" name="Google Shape;825;p11"/>
          <p:cNvSpPr/>
          <p:nvPr/>
        </p:nvSpPr>
        <p:spPr>
          <a:xfrm>
            <a:off x="2037755" y="3233142"/>
            <a:ext cx="526852" cy="21609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6" name="Google Shape;826;p11"/>
          <p:cNvCxnSpPr/>
          <p:nvPr/>
        </p:nvCxnSpPr>
        <p:spPr>
          <a:xfrm>
            <a:off x="2037755" y="3237905"/>
            <a:ext cx="52685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7" name="Google Shape;827;p11"/>
          <p:cNvCxnSpPr/>
          <p:nvPr/>
        </p:nvCxnSpPr>
        <p:spPr>
          <a:xfrm>
            <a:off x="2042517" y="3233142"/>
            <a:ext cx="0" cy="216099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8" name="Google Shape;828;p11"/>
          <p:cNvSpPr/>
          <p:nvPr/>
        </p:nvSpPr>
        <p:spPr>
          <a:xfrm>
            <a:off x="2564606" y="3233142"/>
            <a:ext cx="1310878" cy="21609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9" name="Google Shape;829;p11"/>
          <p:cNvCxnSpPr/>
          <p:nvPr/>
        </p:nvCxnSpPr>
        <p:spPr>
          <a:xfrm>
            <a:off x="2564606" y="3237905"/>
            <a:ext cx="131087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0" name="Google Shape;830;p11"/>
          <p:cNvCxnSpPr/>
          <p:nvPr/>
        </p:nvCxnSpPr>
        <p:spPr>
          <a:xfrm>
            <a:off x="2569369" y="3233142"/>
            <a:ext cx="0" cy="216099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1" name="Google Shape;831;p11"/>
          <p:cNvSpPr/>
          <p:nvPr/>
        </p:nvSpPr>
        <p:spPr>
          <a:xfrm>
            <a:off x="3875484" y="3233142"/>
            <a:ext cx="1011436" cy="21609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2" name="Google Shape;832;p11"/>
          <p:cNvCxnSpPr/>
          <p:nvPr/>
        </p:nvCxnSpPr>
        <p:spPr>
          <a:xfrm>
            <a:off x="3875484" y="3237905"/>
            <a:ext cx="101143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3" name="Google Shape;833;p11"/>
          <p:cNvCxnSpPr/>
          <p:nvPr/>
        </p:nvCxnSpPr>
        <p:spPr>
          <a:xfrm>
            <a:off x="3880247" y="3233142"/>
            <a:ext cx="0" cy="216099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4" name="Google Shape;834;p11"/>
          <p:cNvSpPr/>
          <p:nvPr/>
        </p:nvSpPr>
        <p:spPr>
          <a:xfrm>
            <a:off x="4886920" y="3233142"/>
            <a:ext cx="1057573" cy="21609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5" name="Google Shape;835;p11"/>
          <p:cNvCxnSpPr/>
          <p:nvPr/>
        </p:nvCxnSpPr>
        <p:spPr>
          <a:xfrm>
            <a:off x="4886920" y="3237905"/>
            <a:ext cx="105757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6" name="Google Shape;836;p11"/>
          <p:cNvCxnSpPr/>
          <p:nvPr/>
        </p:nvCxnSpPr>
        <p:spPr>
          <a:xfrm>
            <a:off x="4891683" y="3233142"/>
            <a:ext cx="0" cy="216099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7" name="Google Shape;837;p11"/>
          <p:cNvSpPr/>
          <p:nvPr/>
        </p:nvSpPr>
        <p:spPr>
          <a:xfrm>
            <a:off x="404812" y="3449241"/>
            <a:ext cx="1632942" cy="216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8" name="Google Shape;838;p11"/>
          <p:cNvCxnSpPr/>
          <p:nvPr/>
        </p:nvCxnSpPr>
        <p:spPr>
          <a:xfrm>
            <a:off x="404812" y="3454003"/>
            <a:ext cx="163294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9" name="Google Shape;839;p11"/>
          <p:cNvCxnSpPr/>
          <p:nvPr/>
        </p:nvCxnSpPr>
        <p:spPr>
          <a:xfrm>
            <a:off x="409575" y="3449241"/>
            <a:ext cx="0" cy="216098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0" name="Google Shape;840;p11"/>
          <p:cNvSpPr/>
          <p:nvPr/>
        </p:nvSpPr>
        <p:spPr>
          <a:xfrm>
            <a:off x="2037755" y="3449241"/>
            <a:ext cx="526852" cy="216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1" name="Google Shape;841;p11"/>
          <p:cNvCxnSpPr/>
          <p:nvPr/>
        </p:nvCxnSpPr>
        <p:spPr>
          <a:xfrm>
            <a:off x="2037755" y="3454003"/>
            <a:ext cx="52685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2" name="Google Shape;842;p11"/>
          <p:cNvCxnSpPr/>
          <p:nvPr/>
        </p:nvCxnSpPr>
        <p:spPr>
          <a:xfrm>
            <a:off x="2042517" y="3449241"/>
            <a:ext cx="0" cy="216098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3" name="Google Shape;843;p11"/>
          <p:cNvSpPr/>
          <p:nvPr/>
        </p:nvSpPr>
        <p:spPr>
          <a:xfrm>
            <a:off x="2564606" y="3449241"/>
            <a:ext cx="1310878" cy="216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4" name="Google Shape;844;p11"/>
          <p:cNvCxnSpPr/>
          <p:nvPr/>
        </p:nvCxnSpPr>
        <p:spPr>
          <a:xfrm>
            <a:off x="2564606" y="3454003"/>
            <a:ext cx="131087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5" name="Google Shape;845;p11"/>
          <p:cNvCxnSpPr/>
          <p:nvPr/>
        </p:nvCxnSpPr>
        <p:spPr>
          <a:xfrm>
            <a:off x="2569369" y="3449241"/>
            <a:ext cx="0" cy="216098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6" name="Google Shape;846;p11"/>
          <p:cNvSpPr/>
          <p:nvPr/>
        </p:nvSpPr>
        <p:spPr>
          <a:xfrm>
            <a:off x="3875484" y="3449241"/>
            <a:ext cx="1011436" cy="216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7" name="Google Shape;847;p11"/>
          <p:cNvCxnSpPr/>
          <p:nvPr/>
        </p:nvCxnSpPr>
        <p:spPr>
          <a:xfrm>
            <a:off x="3875484" y="3454003"/>
            <a:ext cx="101143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8" name="Google Shape;848;p11"/>
          <p:cNvCxnSpPr/>
          <p:nvPr/>
        </p:nvCxnSpPr>
        <p:spPr>
          <a:xfrm>
            <a:off x="3880247" y="3449241"/>
            <a:ext cx="0" cy="216098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9" name="Google Shape;849;p11"/>
          <p:cNvSpPr/>
          <p:nvPr/>
        </p:nvSpPr>
        <p:spPr>
          <a:xfrm>
            <a:off x="4886920" y="3449241"/>
            <a:ext cx="1057573" cy="216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0" name="Google Shape;850;p11"/>
          <p:cNvCxnSpPr/>
          <p:nvPr/>
        </p:nvCxnSpPr>
        <p:spPr>
          <a:xfrm>
            <a:off x="4886920" y="3454003"/>
            <a:ext cx="105757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1" name="Google Shape;851;p11"/>
          <p:cNvCxnSpPr/>
          <p:nvPr/>
        </p:nvCxnSpPr>
        <p:spPr>
          <a:xfrm>
            <a:off x="4891683" y="3449241"/>
            <a:ext cx="0" cy="216098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2" name="Google Shape;852;p11"/>
          <p:cNvSpPr/>
          <p:nvPr/>
        </p:nvSpPr>
        <p:spPr>
          <a:xfrm>
            <a:off x="995065" y="4313039"/>
            <a:ext cx="4359176" cy="1044773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11"/>
          <p:cNvSpPr/>
          <p:nvPr/>
        </p:nvSpPr>
        <p:spPr>
          <a:xfrm>
            <a:off x="999827" y="4317802"/>
            <a:ext cx="2000994" cy="25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4" name="Google Shape;854;p11"/>
          <p:cNvCxnSpPr/>
          <p:nvPr/>
        </p:nvCxnSpPr>
        <p:spPr>
          <a:xfrm>
            <a:off x="999827" y="4322564"/>
            <a:ext cx="200099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55" name="Google Shape;855;p11"/>
          <p:cNvCxnSpPr/>
          <p:nvPr/>
        </p:nvCxnSpPr>
        <p:spPr>
          <a:xfrm>
            <a:off x="1004590" y="4317802"/>
            <a:ext cx="0" cy="258812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56" name="Google Shape;856;p11"/>
          <p:cNvSpPr/>
          <p:nvPr/>
        </p:nvSpPr>
        <p:spPr>
          <a:xfrm>
            <a:off x="3000821" y="4317802"/>
            <a:ext cx="1240780" cy="25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7" name="Google Shape;857;p11"/>
          <p:cNvCxnSpPr/>
          <p:nvPr/>
        </p:nvCxnSpPr>
        <p:spPr>
          <a:xfrm>
            <a:off x="3000821" y="4322564"/>
            <a:ext cx="1240781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58" name="Google Shape;858;p11"/>
          <p:cNvCxnSpPr/>
          <p:nvPr/>
        </p:nvCxnSpPr>
        <p:spPr>
          <a:xfrm>
            <a:off x="3005584" y="4317802"/>
            <a:ext cx="0" cy="258812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59" name="Google Shape;859;p11"/>
          <p:cNvSpPr/>
          <p:nvPr/>
        </p:nvSpPr>
        <p:spPr>
          <a:xfrm>
            <a:off x="4241602" y="4317802"/>
            <a:ext cx="1107877" cy="25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0" name="Google Shape;860;p11"/>
          <p:cNvCxnSpPr/>
          <p:nvPr/>
        </p:nvCxnSpPr>
        <p:spPr>
          <a:xfrm>
            <a:off x="4241602" y="4322564"/>
            <a:ext cx="1107876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61" name="Google Shape;861;p11"/>
          <p:cNvCxnSpPr/>
          <p:nvPr/>
        </p:nvCxnSpPr>
        <p:spPr>
          <a:xfrm>
            <a:off x="4246364" y="4317802"/>
            <a:ext cx="0" cy="258812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62" name="Google Shape;862;p11"/>
          <p:cNvSpPr/>
          <p:nvPr/>
        </p:nvSpPr>
        <p:spPr>
          <a:xfrm>
            <a:off x="999827" y="4576614"/>
            <a:ext cx="2000994" cy="25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3" name="Google Shape;863;p11"/>
          <p:cNvCxnSpPr/>
          <p:nvPr/>
        </p:nvCxnSpPr>
        <p:spPr>
          <a:xfrm>
            <a:off x="999827" y="4581376"/>
            <a:ext cx="200099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64" name="Google Shape;864;p11"/>
          <p:cNvCxnSpPr/>
          <p:nvPr/>
        </p:nvCxnSpPr>
        <p:spPr>
          <a:xfrm>
            <a:off x="1004590" y="4576614"/>
            <a:ext cx="0" cy="258812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65" name="Google Shape;865;p11"/>
          <p:cNvSpPr/>
          <p:nvPr/>
        </p:nvSpPr>
        <p:spPr>
          <a:xfrm>
            <a:off x="3000821" y="4576614"/>
            <a:ext cx="1240780" cy="25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6" name="Google Shape;866;p11"/>
          <p:cNvCxnSpPr/>
          <p:nvPr/>
        </p:nvCxnSpPr>
        <p:spPr>
          <a:xfrm>
            <a:off x="3000821" y="4581376"/>
            <a:ext cx="1240781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67" name="Google Shape;867;p11"/>
          <p:cNvCxnSpPr/>
          <p:nvPr/>
        </p:nvCxnSpPr>
        <p:spPr>
          <a:xfrm>
            <a:off x="3005584" y="4576614"/>
            <a:ext cx="0" cy="258812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68" name="Google Shape;868;p11"/>
          <p:cNvSpPr/>
          <p:nvPr/>
        </p:nvSpPr>
        <p:spPr>
          <a:xfrm>
            <a:off x="4241602" y="4576614"/>
            <a:ext cx="1107877" cy="25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9" name="Google Shape;869;p11"/>
          <p:cNvCxnSpPr/>
          <p:nvPr/>
        </p:nvCxnSpPr>
        <p:spPr>
          <a:xfrm>
            <a:off x="4241602" y="4581376"/>
            <a:ext cx="1107876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70" name="Google Shape;870;p11"/>
          <p:cNvCxnSpPr/>
          <p:nvPr/>
        </p:nvCxnSpPr>
        <p:spPr>
          <a:xfrm>
            <a:off x="4246364" y="4576614"/>
            <a:ext cx="0" cy="258812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71" name="Google Shape;871;p11"/>
          <p:cNvSpPr/>
          <p:nvPr/>
        </p:nvSpPr>
        <p:spPr>
          <a:xfrm>
            <a:off x="999827" y="4835426"/>
            <a:ext cx="2000994" cy="25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2" name="Google Shape;872;p11"/>
          <p:cNvCxnSpPr/>
          <p:nvPr/>
        </p:nvCxnSpPr>
        <p:spPr>
          <a:xfrm>
            <a:off x="999827" y="4840188"/>
            <a:ext cx="200099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73" name="Google Shape;873;p11"/>
          <p:cNvCxnSpPr/>
          <p:nvPr/>
        </p:nvCxnSpPr>
        <p:spPr>
          <a:xfrm>
            <a:off x="1004590" y="4835426"/>
            <a:ext cx="0" cy="258812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74" name="Google Shape;874;p11"/>
          <p:cNvSpPr/>
          <p:nvPr/>
        </p:nvSpPr>
        <p:spPr>
          <a:xfrm>
            <a:off x="3000821" y="4835426"/>
            <a:ext cx="1240780" cy="25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5" name="Google Shape;875;p11"/>
          <p:cNvCxnSpPr/>
          <p:nvPr/>
        </p:nvCxnSpPr>
        <p:spPr>
          <a:xfrm>
            <a:off x="3000821" y="4840188"/>
            <a:ext cx="1240781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76" name="Google Shape;876;p11"/>
          <p:cNvCxnSpPr/>
          <p:nvPr/>
        </p:nvCxnSpPr>
        <p:spPr>
          <a:xfrm>
            <a:off x="3005584" y="4835426"/>
            <a:ext cx="0" cy="258812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77" name="Google Shape;877;p11"/>
          <p:cNvSpPr/>
          <p:nvPr/>
        </p:nvSpPr>
        <p:spPr>
          <a:xfrm>
            <a:off x="4241602" y="4835426"/>
            <a:ext cx="1107877" cy="25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8" name="Google Shape;878;p11"/>
          <p:cNvCxnSpPr/>
          <p:nvPr/>
        </p:nvCxnSpPr>
        <p:spPr>
          <a:xfrm>
            <a:off x="4241602" y="4840188"/>
            <a:ext cx="1107876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79" name="Google Shape;879;p11"/>
          <p:cNvCxnSpPr/>
          <p:nvPr/>
        </p:nvCxnSpPr>
        <p:spPr>
          <a:xfrm>
            <a:off x="4246364" y="4835426"/>
            <a:ext cx="0" cy="258812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80" name="Google Shape;880;p11"/>
          <p:cNvSpPr/>
          <p:nvPr/>
        </p:nvSpPr>
        <p:spPr>
          <a:xfrm>
            <a:off x="999827" y="5094238"/>
            <a:ext cx="2000994" cy="25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1" name="Google Shape;881;p11"/>
          <p:cNvCxnSpPr/>
          <p:nvPr/>
        </p:nvCxnSpPr>
        <p:spPr>
          <a:xfrm>
            <a:off x="999827" y="5099000"/>
            <a:ext cx="200099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82" name="Google Shape;882;p11"/>
          <p:cNvCxnSpPr/>
          <p:nvPr/>
        </p:nvCxnSpPr>
        <p:spPr>
          <a:xfrm>
            <a:off x="1004590" y="5094238"/>
            <a:ext cx="0" cy="258812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83" name="Google Shape;883;p11"/>
          <p:cNvSpPr/>
          <p:nvPr/>
        </p:nvSpPr>
        <p:spPr>
          <a:xfrm>
            <a:off x="3000821" y="5094238"/>
            <a:ext cx="1240780" cy="25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4" name="Google Shape;884;p11"/>
          <p:cNvCxnSpPr/>
          <p:nvPr/>
        </p:nvCxnSpPr>
        <p:spPr>
          <a:xfrm>
            <a:off x="3000821" y="5099000"/>
            <a:ext cx="1240781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85" name="Google Shape;885;p11"/>
          <p:cNvCxnSpPr/>
          <p:nvPr/>
        </p:nvCxnSpPr>
        <p:spPr>
          <a:xfrm>
            <a:off x="3005584" y="5094238"/>
            <a:ext cx="0" cy="258812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86" name="Google Shape;886;p11"/>
          <p:cNvSpPr/>
          <p:nvPr/>
        </p:nvSpPr>
        <p:spPr>
          <a:xfrm>
            <a:off x="4241602" y="5094238"/>
            <a:ext cx="1107877" cy="25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7" name="Google Shape;887;p11"/>
          <p:cNvCxnSpPr/>
          <p:nvPr/>
        </p:nvCxnSpPr>
        <p:spPr>
          <a:xfrm>
            <a:off x="4241602" y="5099000"/>
            <a:ext cx="1107876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88" name="Google Shape;888;p11"/>
          <p:cNvCxnSpPr/>
          <p:nvPr/>
        </p:nvCxnSpPr>
        <p:spPr>
          <a:xfrm>
            <a:off x="4246364" y="5094238"/>
            <a:ext cx="0" cy="258812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89" name="Google Shape;889;p11"/>
          <p:cNvSpPr/>
          <p:nvPr/>
        </p:nvSpPr>
        <p:spPr>
          <a:xfrm>
            <a:off x="6242596" y="4543276"/>
            <a:ext cx="5549354" cy="1294954"/>
          </a:xfrm>
          <a:prstGeom prst="roundRect">
            <a:avLst>
              <a:gd fmla="val 3677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0" name="Google Shape;890;p11"/>
          <p:cNvCxnSpPr/>
          <p:nvPr/>
        </p:nvCxnSpPr>
        <p:spPr>
          <a:xfrm>
            <a:off x="6266408" y="4543276"/>
            <a:ext cx="0" cy="1294954"/>
          </a:xfrm>
          <a:prstGeom prst="straightConnector1">
            <a:avLst/>
          </a:prstGeom>
          <a:noFill/>
          <a:ln cap="flat" cmpd="sng" w="47625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1" name="Google Shape;891;p11"/>
          <p:cNvSpPr/>
          <p:nvPr/>
        </p:nvSpPr>
        <p:spPr>
          <a:xfrm>
            <a:off x="6242596" y="5941219"/>
            <a:ext cx="5549354" cy="1440359"/>
          </a:xfrm>
          <a:prstGeom prst="roundRect">
            <a:avLst>
              <a:gd fmla="val 3306" name="adj"/>
            </a:avLst>
          </a:prstGeom>
          <a:solidFill>
            <a:srgbClr val="EE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2" name="Google Shape;892;p11"/>
          <p:cNvCxnSpPr/>
          <p:nvPr/>
        </p:nvCxnSpPr>
        <p:spPr>
          <a:xfrm>
            <a:off x="6266408" y="5941219"/>
            <a:ext cx="0" cy="1440358"/>
          </a:xfrm>
          <a:prstGeom prst="straightConnector1">
            <a:avLst/>
          </a:prstGeom>
          <a:noFill/>
          <a:ln cap="flat" cmpd="sng" w="47625">
            <a:solidFill>
              <a:srgbClr val="1F5F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3" name="Google Shape;893;p11"/>
          <p:cNvSpPr/>
          <p:nvPr/>
        </p:nvSpPr>
        <p:spPr>
          <a:xfrm>
            <a:off x="6418957" y="6240661"/>
            <a:ext cx="639217" cy="187077"/>
          </a:xfrm>
          <a:prstGeom prst="roundRect">
            <a:avLst>
              <a:gd fmla="val 50000" name="adj"/>
            </a:avLst>
          </a:prstGeom>
          <a:solidFill>
            <a:srgbClr val="1F5F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9b9a5fcdf6640c0b408720426766943.png" id="894" name="Google Shape;89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1940" y="715566"/>
            <a:ext cx="5090517" cy="3524250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11"/>
          <p:cNvSpPr txBox="1"/>
          <p:nvPr/>
        </p:nvSpPr>
        <p:spPr>
          <a:xfrm>
            <a:off x="400050" y="161925"/>
            <a:ext cx="218063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3"/>
              <a:buFont typeface="Arial"/>
              <a:buNone/>
            </a:pPr>
            <a:r>
              <a:rPr b="0" i="0" lang="en-US" sz="2343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Idade por grupo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11"/>
          <p:cNvSpPr txBox="1"/>
          <p:nvPr/>
        </p:nvSpPr>
        <p:spPr>
          <a:xfrm>
            <a:off x="438150" y="2820442"/>
            <a:ext cx="5238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Grupo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11"/>
          <p:cNvSpPr txBox="1"/>
          <p:nvPr/>
        </p:nvSpPr>
        <p:spPr>
          <a:xfrm>
            <a:off x="2075497" y="2820442"/>
            <a:ext cx="450532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11"/>
          <p:cNvSpPr txBox="1"/>
          <p:nvPr/>
        </p:nvSpPr>
        <p:spPr>
          <a:xfrm>
            <a:off x="2602221" y="2820450"/>
            <a:ext cx="6393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Média ± DP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11"/>
          <p:cNvSpPr txBox="1"/>
          <p:nvPr/>
        </p:nvSpPr>
        <p:spPr>
          <a:xfrm>
            <a:off x="3913827" y="2820450"/>
            <a:ext cx="473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11"/>
          <p:cNvSpPr txBox="1"/>
          <p:nvPr/>
        </p:nvSpPr>
        <p:spPr>
          <a:xfrm>
            <a:off x="4925377" y="2820442"/>
            <a:ext cx="385762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Q1–Q3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11"/>
          <p:cNvSpPr txBox="1"/>
          <p:nvPr/>
        </p:nvSpPr>
        <p:spPr>
          <a:xfrm>
            <a:off x="438150" y="3043825"/>
            <a:ext cx="7935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tumor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11"/>
          <p:cNvSpPr txBox="1"/>
          <p:nvPr/>
        </p:nvSpPr>
        <p:spPr>
          <a:xfrm>
            <a:off x="2075497" y="3043833"/>
            <a:ext cx="450532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368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11"/>
          <p:cNvSpPr txBox="1"/>
          <p:nvPr/>
        </p:nvSpPr>
        <p:spPr>
          <a:xfrm>
            <a:off x="2602220" y="3043825"/>
            <a:ext cx="7029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59.4 ± 13.5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11"/>
          <p:cNvSpPr txBox="1"/>
          <p:nvPr/>
        </p:nvSpPr>
        <p:spPr>
          <a:xfrm>
            <a:off x="3913822" y="3043833"/>
            <a:ext cx="28956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61.0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11"/>
          <p:cNvSpPr txBox="1"/>
          <p:nvPr/>
        </p:nvSpPr>
        <p:spPr>
          <a:xfrm>
            <a:off x="4925375" y="3043825"/>
            <a:ext cx="5268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51.8–69.0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11"/>
          <p:cNvSpPr txBox="1"/>
          <p:nvPr/>
        </p:nvSpPr>
        <p:spPr>
          <a:xfrm>
            <a:off x="438150" y="3259925"/>
            <a:ext cx="1011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adjacente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11"/>
          <p:cNvSpPr txBox="1"/>
          <p:nvPr/>
        </p:nvSpPr>
        <p:spPr>
          <a:xfrm>
            <a:off x="2075497" y="3259931"/>
            <a:ext cx="450532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11"/>
          <p:cNvSpPr txBox="1"/>
          <p:nvPr/>
        </p:nvSpPr>
        <p:spPr>
          <a:xfrm>
            <a:off x="2602221" y="3259925"/>
            <a:ext cx="6282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61.7 ± 16.1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11"/>
          <p:cNvSpPr txBox="1"/>
          <p:nvPr/>
        </p:nvSpPr>
        <p:spPr>
          <a:xfrm>
            <a:off x="3913822" y="3259931"/>
            <a:ext cx="28956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68.5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11"/>
          <p:cNvSpPr txBox="1"/>
          <p:nvPr/>
        </p:nvSpPr>
        <p:spPr>
          <a:xfrm>
            <a:off x="4925375" y="3259925"/>
            <a:ext cx="494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52.2–74.5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11"/>
          <p:cNvSpPr txBox="1"/>
          <p:nvPr/>
        </p:nvSpPr>
        <p:spPr>
          <a:xfrm>
            <a:off x="438150" y="3476025"/>
            <a:ext cx="8250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GTEx normal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11"/>
          <p:cNvSpPr txBox="1"/>
          <p:nvPr/>
        </p:nvSpPr>
        <p:spPr>
          <a:xfrm>
            <a:off x="2075497" y="3476030"/>
            <a:ext cx="450532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11"/>
          <p:cNvSpPr txBox="1"/>
          <p:nvPr/>
        </p:nvSpPr>
        <p:spPr>
          <a:xfrm>
            <a:off x="2602221" y="3476025"/>
            <a:ext cx="6234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53.7 ± 11.1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11"/>
          <p:cNvSpPr txBox="1"/>
          <p:nvPr/>
        </p:nvSpPr>
        <p:spPr>
          <a:xfrm>
            <a:off x="3913822" y="3476030"/>
            <a:ext cx="28956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55.0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11"/>
          <p:cNvSpPr txBox="1"/>
          <p:nvPr/>
        </p:nvSpPr>
        <p:spPr>
          <a:xfrm>
            <a:off x="4925375" y="3476025"/>
            <a:ext cx="5898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45.0–65.0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11"/>
          <p:cNvSpPr txBox="1"/>
          <p:nvPr/>
        </p:nvSpPr>
        <p:spPr>
          <a:xfrm>
            <a:off x="438150" y="3841550"/>
            <a:ext cx="702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11"/>
          <p:cNvSpPr txBox="1"/>
          <p:nvPr/>
        </p:nvSpPr>
        <p:spPr>
          <a:xfrm>
            <a:off x="1038225" y="4342358"/>
            <a:ext cx="961072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1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11"/>
          <p:cNvSpPr txBox="1"/>
          <p:nvPr/>
        </p:nvSpPr>
        <p:spPr>
          <a:xfrm>
            <a:off x="3038475" y="4342358"/>
            <a:ext cx="79914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1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11"/>
          <p:cNvSpPr txBox="1"/>
          <p:nvPr/>
        </p:nvSpPr>
        <p:spPr>
          <a:xfrm>
            <a:off x="4925377" y="4342358"/>
            <a:ext cx="385762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1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11"/>
          <p:cNvSpPr txBox="1"/>
          <p:nvPr/>
        </p:nvSpPr>
        <p:spPr>
          <a:xfrm>
            <a:off x="1038225" y="4601175"/>
            <a:ext cx="1916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0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tumor vs. GTEx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11"/>
          <p:cNvSpPr txBox="1"/>
          <p:nvPr/>
        </p:nvSpPr>
        <p:spPr>
          <a:xfrm>
            <a:off x="3038475" y="4601170"/>
            <a:ext cx="79914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0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Wilcoxon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11"/>
          <p:cNvSpPr txBox="1"/>
          <p:nvPr/>
        </p:nvSpPr>
        <p:spPr>
          <a:xfrm>
            <a:off x="4279572" y="4601175"/>
            <a:ext cx="793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1" i="0" lang="en-US" sz="115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3,96 × 10⁻⁶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11"/>
          <p:cNvSpPr txBox="1"/>
          <p:nvPr/>
        </p:nvSpPr>
        <p:spPr>
          <a:xfrm>
            <a:off x="1038225" y="4859975"/>
            <a:ext cx="1916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0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tumor vs. adjacente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11"/>
          <p:cNvSpPr txBox="1"/>
          <p:nvPr/>
        </p:nvSpPr>
        <p:spPr>
          <a:xfrm>
            <a:off x="3038475" y="4859982"/>
            <a:ext cx="79914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0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Wilcoxon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11"/>
          <p:cNvSpPr txBox="1"/>
          <p:nvPr/>
        </p:nvSpPr>
        <p:spPr>
          <a:xfrm>
            <a:off x="4279582" y="4869595"/>
            <a:ext cx="569595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0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0,0438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11"/>
          <p:cNvSpPr txBox="1"/>
          <p:nvPr/>
        </p:nvSpPr>
        <p:spPr>
          <a:xfrm>
            <a:off x="1038225" y="5118795"/>
            <a:ext cx="961072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0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Três grupos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11"/>
          <p:cNvSpPr txBox="1"/>
          <p:nvPr/>
        </p:nvSpPr>
        <p:spPr>
          <a:xfrm>
            <a:off x="3038475" y="5118800"/>
            <a:ext cx="1057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0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Kruskal-Wallis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11"/>
          <p:cNvSpPr txBox="1"/>
          <p:nvPr/>
        </p:nvSpPr>
        <p:spPr>
          <a:xfrm>
            <a:off x="4279572" y="5118800"/>
            <a:ext cx="793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0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8,80 × 10⁻⁷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11"/>
          <p:cNvSpPr txBox="1"/>
          <p:nvPr/>
        </p:nvSpPr>
        <p:spPr>
          <a:xfrm>
            <a:off x="6304597" y="4269879"/>
            <a:ext cx="544925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Arial"/>
              <a:buNone/>
            </a:pPr>
            <a:r>
              <a:rPr b="0" i="0" lang="en-US" sz="891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3. Distribuição de idade por grupo (violino + boxplot).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11"/>
          <p:cNvSpPr txBox="1"/>
          <p:nvPr/>
        </p:nvSpPr>
        <p:spPr>
          <a:xfrm>
            <a:off x="6304600" y="4827799"/>
            <a:ext cx="5449200" cy="8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Tumores TCGA são ≡ 5,7 anos mais velhos que doadores GTEx. </a:t>
            </a:r>
            <a:r>
              <a:rPr lang="en-US" sz="1485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idade do GTEx é o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b="1" lang="en-US" sz="1485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ponto médio da faixa etária</a:t>
            </a:r>
            <a:r>
              <a:rPr lang="en-US" sz="1485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o que introduz erro de medida.</a:t>
            </a:r>
            <a:endParaRPr sz="1485">
              <a:solidFill>
                <a:srgbClr val="1E293B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31" name="Google Shape;931;p11"/>
          <p:cNvSpPr txBox="1"/>
          <p:nvPr/>
        </p:nvSpPr>
        <p:spPr>
          <a:xfrm>
            <a:off x="6489353" y="6236643"/>
            <a:ext cx="5365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9"/>
              <a:buFont typeface="Arial"/>
              <a:buNone/>
            </a:pPr>
            <a:r>
              <a:rPr b="1" i="0" lang="en-US" sz="110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11"/>
          <p:cNvSpPr txBox="1"/>
          <p:nvPr/>
        </p:nvSpPr>
        <p:spPr>
          <a:xfrm>
            <a:off x="7154614" y="6208068"/>
            <a:ext cx="79355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1" i="0" lang="en-US" sz="1353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Wilcoxon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11"/>
          <p:cNvSpPr txBox="1"/>
          <p:nvPr/>
        </p:nvSpPr>
        <p:spPr>
          <a:xfrm>
            <a:off x="7957096" y="6208068"/>
            <a:ext cx="9004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11"/>
          <p:cNvSpPr txBox="1"/>
          <p:nvPr/>
        </p:nvSpPr>
        <p:spPr>
          <a:xfrm>
            <a:off x="8009037" y="6227118"/>
            <a:ext cx="185038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stats::wilcox.test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11"/>
          <p:cNvSpPr txBox="1"/>
          <p:nvPr/>
        </p:nvSpPr>
        <p:spPr>
          <a:xfrm>
            <a:off x="9821317" y="6208068"/>
            <a:ext cx="174411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compara dois grupos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11"/>
          <p:cNvSpPr txBox="1"/>
          <p:nvPr/>
        </p:nvSpPr>
        <p:spPr>
          <a:xfrm>
            <a:off x="6418957" y="6432352"/>
            <a:ext cx="274840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 postos, sem exigir normalidade;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11"/>
          <p:cNvSpPr txBox="1"/>
          <p:nvPr/>
        </p:nvSpPr>
        <p:spPr>
          <a:xfrm>
            <a:off x="9176445" y="6432352"/>
            <a:ext cx="118526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1" i="0" lang="en-US" sz="1353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Kruskal-Wallis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11"/>
          <p:cNvSpPr txBox="1"/>
          <p:nvPr/>
        </p:nvSpPr>
        <p:spPr>
          <a:xfrm>
            <a:off x="6418957" y="6647111"/>
            <a:ext cx="9004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11"/>
          <p:cNvSpPr txBox="1"/>
          <p:nvPr/>
        </p:nvSpPr>
        <p:spPr>
          <a:xfrm>
            <a:off x="6470898" y="6666161"/>
            <a:ext cx="19511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stats::kruskal.test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11"/>
          <p:cNvSpPr txBox="1"/>
          <p:nvPr/>
        </p:nvSpPr>
        <p:spPr>
          <a:xfrm>
            <a:off x="8383935" y="6647111"/>
            <a:ext cx="236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estende para três grupos. BH: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11"/>
          <p:cNvSpPr txBox="1"/>
          <p:nvPr/>
        </p:nvSpPr>
        <p:spPr>
          <a:xfrm>
            <a:off x="6418957" y="6890445"/>
            <a:ext cx="1548408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stats::p.adjust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11"/>
          <p:cNvSpPr txBox="1"/>
          <p:nvPr/>
        </p:nvSpPr>
        <p:spPr>
          <a:xfrm>
            <a:off x="7929265" y="6871395"/>
            <a:ext cx="754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7" name="Google Shape;947;p12"/>
          <p:cNvCxnSpPr/>
          <p:nvPr/>
        </p:nvCxnSpPr>
        <p:spPr>
          <a:xfrm>
            <a:off x="400050" y="597247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8" name="Google Shape;948;p12"/>
          <p:cNvSpPr/>
          <p:nvPr/>
        </p:nvSpPr>
        <p:spPr>
          <a:xfrm>
            <a:off x="400050" y="5541913"/>
            <a:ext cx="11391900" cy="903684"/>
          </a:xfrm>
          <a:prstGeom prst="roundRect">
            <a:avLst>
              <a:gd fmla="val 527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9b9a5fcdf6640c0b408720426766943.png" id="949" name="Google Shape;94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6870" y="1095524"/>
            <a:ext cx="5503218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12"/>
          <p:cNvSpPr txBox="1"/>
          <p:nvPr/>
        </p:nvSpPr>
        <p:spPr>
          <a:xfrm>
            <a:off x="400050" y="161925"/>
            <a:ext cx="219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3"/>
              <a:buFont typeface="Arial"/>
              <a:buNone/>
            </a:pPr>
            <a:r>
              <a:rPr b="0" i="0" lang="en-US" sz="2343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Como ler violino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12"/>
          <p:cNvSpPr txBox="1"/>
          <p:nvPr/>
        </p:nvSpPr>
        <p:spPr>
          <a:xfrm>
            <a:off x="1446907" y="4935587"/>
            <a:ext cx="4941094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Arial"/>
              <a:buNone/>
            </a:pPr>
            <a:r>
              <a:rPr b="0" i="0" lang="en-US" sz="891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3 (repetida para leitura). O violino mostra a distribuição completa; a caixa mostra os quartis.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12"/>
          <p:cNvSpPr txBox="1"/>
          <p:nvPr/>
        </p:nvSpPr>
        <p:spPr>
          <a:xfrm>
            <a:off x="7690247" y="887016"/>
            <a:ext cx="73952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Violino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12"/>
          <p:cNvSpPr txBox="1"/>
          <p:nvPr/>
        </p:nvSpPr>
        <p:spPr>
          <a:xfrm>
            <a:off x="7920633" y="1339453"/>
            <a:ext cx="263559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largura em cada altura é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12"/>
          <p:cNvSpPr txBox="1"/>
          <p:nvPr/>
        </p:nvSpPr>
        <p:spPr>
          <a:xfrm>
            <a:off x="10575429" y="1339453"/>
            <a:ext cx="104536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densidade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12"/>
          <p:cNvSpPr txBox="1"/>
          <p:nvPr/>
        </p:nvSpPr>
        <p:spPr>
          <a:xfrm>
            <a:off x="7920633" y="1601391"/>
            <a:ext cx="251742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 amostras naquele valor.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12"/>
          <p:cNvSpPr txBox="1"/>
          <p:nvPr/>
        </p:nvSpPr>
        <p:spPr>
          <a:xfrm>
            <a:off x="7920633" y="1909316"/>
            <a:ext cx="390703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Mais largo = mais amostras naquela faixa.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12"/>
          <p:cNvSpPr txBox="1"/>
          <p:nvPr/>
        </p:nvSpPr>
        <p:spPr>
          <a:xfrm>
            <a:off x="7920633" y="2217241"/>
            <a:ext cx="36425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Cauda longa = assimetria; dois bojos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12"/>
          <p:cNvSpPr txBox="1"/>
          <p:nvPr/>
        </p:nvSpPr>
        <p:spPr>
          <a:xfrm>
            <a:off x="7920633" y="2479179"/>
            <a:ext cx="289366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possível mistura de subgrupos.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12"/>
          <p:cNvSpPr txBox="1"/>
          <p:nvPr/>
        </p:nvSpPr>
        <p:spPr>
          <a:xfrm>
            <a:off x="7690247" y="2977604"/>
            <a:ext cx="257993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Boxplot dentro do violino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12"/>
          <p:cNvSpPr txBox="1"/>
          <p:nvPr/>
        </p:nvSpPr>
        <p:spPr>
          <a:xfrm>
            <a:off x="7920633" y="3430042"/>
            <a:ext cx="72881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Caixa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12"/>
          <p:cNvSpPr txBox="1"/>
          <p:nvPr/>
        </p:nvSpPr>
        <p:spPr>
          <a:xfrm>
            <a:off x="8668792" y="3430042"/>
            <a:ext cx="82540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a Q3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12"/>
          <p:cNvSpPr txBox="1"/>
          <p:nvPr/>
        </p:nvSpPr>
        <p:spPr>
          <a:xfrm>
            <a:off x="9513391" y="3430042"/>
            <a:ext cx="155882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(50% central 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12"/>
          <p:cNvSpPr txBox="1"/>
          <p:nvPr/>
        </p:nvSpPr>
        <p:spPr>
          <a:xfrm>
            <a:off x="7920633" y="3691979"/>
            <a:ext cx="98509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amostras).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12"/>
          <p:cNvSpPr txBox="1"/>
          <p:nvPr/>
        </p:nvSpPr>
        <p:spPr>
          <a:xfrm>
            <a:off x="7920633" y="3999905"/>
            <a:ext cx="141565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Linha central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12"/>
          <p:cNvSpPr txBox="1"/>
          <p:nvPr/>
        </p:nvSpPr>
        <p:spPr>
          <a:xfrm>
            <a:off x="9355634" y="3999905"/>
            <a:ext cx="88508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12"/>
          <p:cNvSpPr txBox="1"/>
          <p:nvPr/>
        </p:nvSpPr>
        <p:spPr>
          <a:xfrm>
            <a:off x="10202614" y="3999905"/>
            <a:ext cx="8364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12"/>
          <p:cNvSpPr txBox="1"/>
          <p:nvPr/>
        </p:nvSpPr>
        <p:spPr>
          <a:xfrm>
            <a:off x="7920625" y="4307825"/>
            <a:ext cx="2797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Bigodes (</a:t>
            </a:r>
            <a:r>
              <a:rPr b="0" i="1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whisker</a:t>
            </a: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 = </a:t>
            </a:r>
            <a:r>
              <a:rPr b="1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1,5 x IQT</a:t>
            </a: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12"/>
          <p:cNvSpPr txBox="1"/>
          <p:nvPr/>
        </p:nvSpPr>
        <p:spPr>
          <a:xfrm>
            <a:off x="10637518" y="4317268"/>
            <a:ext cx="1494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pontos além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12"/>
          <p:cNvSpPr txBox="1"/>
          <p:nvPr/>
        </p:nvSpPr>
        <p:spPr>
          <a:xfrm>
            <a:off x="7920633" y="4569768"/>
            <a:ext cx="78387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outliers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12"/>
          <p:cNvSpPr txBox="1"/>
          <p:nvPr/>
        </p:nvSpPr>
        <p:spPr>
          <a:xfrm>
            <a:off x="8666411" y="4569768"/>
            <a:ext cx="8364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12"/>
          <p:cNvSpPr txBox="1"/>
          <p:nvPr/>
        </p:nvSpPr>
        <p:spPr>
          <a:xfrm>
            <a:off x="7920633" y="4877693"/>
            <a:ext cx="282713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Cada ponto (quando visível)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12"/>
          <p:cNvSpPr txBox="1"/>
          <p:nvPr/>
        </p:nvSpPr>
        <p:spPr>
          <a:xfrm>
            <a:off x="10767120" y="4877693"/>
            <a:ext cx="46970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12"/>
          <p:cNvSpPr txBox="1"/>
          <p:nvPr/>
        </p:nvSpPr>
        <p:spPr>
          <a:xfrm>
            <a:off x="7920633" y="5139630"/>
            <a:ext cx="8408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amostra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12"/>
          <p:cNvSpPr txBox="1"/>
          <p:nvPr/>
        </p:nvSpPr>
        <p:spPr>
          <a:xfrm>
            <a:off x="8723412" y="5139630"/>
            <a:ext cx="265241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; a área do violino não é o 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12"/>
          <p:cNvSpPr txBox="1"/>
          <p:nvPr/>
        </p:nvSpPr>
        <p:spPr>
          <a:xfrm>
            <a:off x="507504" y="5795665"/>
            <a:ext cx="72806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Como ler: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12"/>
          <p:cNvSpPr txBox="1"/>
          <p:nvPr/>
        </p:nvSpPr>
        <p:spPr>
          <a:xfrm>
            <a:off x="1238696" y="5795665"/>
            <a:ext cx="74116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compare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12"/>
          <p:cNvSpPr txBox="1"/>
          <p:nvPr/>
        </p:nvSpPr>
        <p:spPr>
          <a:xfrm>
            <a:off x="1983135" y="5795665"/>
            <a:ext cx="61019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1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12"/>
          <p:cNvSpPr txBox="1"/>
          <p:nvPr/>
        </p:nvSpPr>
        <p:spPr>
          <a:xfrm>
            <a:off x="2596455" y="5795665"/>
            <a:ext cx="23529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12"/>
          <p:cNvSpPr txBox="1"/>
          <p:nvPr/>
        </p:nvSpPr>
        <p:spPr>
          <a:xfrm>
            <a:off x="2835027" y="5795665"/>
            <a:ext cx="42832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1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12"/>
          <p:cNvSpPr txBox="1"/>
          <p:nvPr/>
        </p:nvSpPr>
        <p:spPr>
          <a:xfrm>
            <a:off x="3266480" y="5795665"/>
            <a:ext cx="1823591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das distribuições. O violino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12"/>
          <p:cNvSpPr txBox="1"/>
          <p:nvPr/>
        </p:nvSpPr>
        <p:spPr>
          <a:xfrm>
            <a:off x="5093345" y="5795665"/>
            <a:ext cx="95577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é IC 95%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12"/>
          <p:cNvSpPr txBox="1"/>
          <p:nvPr/>
        </p:nvSpPr>
        <p:spPr>
          <a:xfrm>
            <a:off x="6052245" y="5795665"/>
            <a:ext cx="546824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 não substitui o teste; o p vem do Wilcoxon/Kruskal-Wallis. Sobreposição grande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12"/>
          <p:cNvSpPr txBox="1"/>
          <p:nvPr/>
        </p:nvSpPr>
        <p:spPr>
          <a:xfrm>
            <a:off x="507504" y="5984230"/>
            <a:ext cx="157772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sugere efeito pequeno.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12"/>
          <p:cNvSpPr/>
          <p:nvPr/>
        </p:nvSpPr>
        <p:spPr>
          <a:xfrm>
            <a:off x="7717369" y="1456230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12"/>
          <p:cNvSpPr/>
          <p:nvPr/>
        </p:nvSpPr>
        <p:spPr>
          <a:xfrm>
            <a:off x="7717369" y="2026093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12"/>
          <p:cNvSpPr/>
          <p:nvPr/>
        </p:nvSpPr>
        <p:spPr>
          <a:xfrm>
            <a:off x="7717369" y="2334018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12"/>
          <p:cNvSpPr/>
          <p:nvPr/>
        </p:nvSpPr>
        <p:spPr>
          <a:xfrm>
            <a:off x="7717369" y="3546818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12"/>
          <p:cNvSpPr/>
          <p:nvPr/>
        </p:nvSpPr>
        <p:spPr>
          <a:xfrm>
            <a:off x="7717369" y="4116681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12"/>
          <p:cNvSpPr/>
          <p:nvPr/>
        </p:nvSpPr>
        <p:spPr>
          <a:xfrm>
            <a:off x="7717369" y="4424607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12"/>
          <p:cNvSpPr/>
          <p:nvPr/>
        </p:nvSpPr>
        <p:spPr>
          <a:xfrm>
            <a:off x="7717369" y="4994469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13"/>
          <p:cNvSpPr/>
          <p:nvPr/>
        </p:nvSpPr>
        <p:spPr>
          <a:xfrm>
            <a:off x="400050" y="190500"/>
            <a:ext cx="11391900" cy="42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6" name="Google Shape;996;p13"/>
          <p:cNvCxnSpPr/>
          <p:nvPr/>
        </p:nvCxnSpPr>
        <p:spPr>
          <a:xfrm>
            <a:off x="400050" y="597247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7" name="Google Shape;997;p13"/>
          <p:cNvSpPr/>
          <p:nvPr/>
        </p:nvSpPr>
        <p:spPr>
          <a:xfrm>
            <a:off x="400050" y="5124301"/>
            <a:ext cx="11391900" cy="1059359"/>
          </a:xfrm>
          <a:prstGeom prst="roundRect">
            <a:avLst>
              <a:gd fmla="val 4495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8" name="Google Shape;998;p13"/>
          <p:cNvCxnSpPr/>
          <p:nvPr/>
        </p:nvCxnSpPr>
        <p:spPr>
          <a:xfrm>
            <a:off x="423862" y="5124301"/>
            <a:ext cx="0" cy="1059359"/>
          </a:xfrm>
          <a:prstGeom prst="straightConnector1">
            <a:avLst/>
          </a:prstGeom>
          <a:noFill/>
          <a:ln cap="flat" cmpd="sng" w="476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9" name="Google Shape;999;p13"/>
          <p:cNvSpPr/>
          <p:nvPr/>
        </p:nvSpPr>
        <p:spPr>
          <a:xfrm>
            <a:off x="400050" y="6258967"/>
            <a:ext cx="11391900" cy="903684"/>
          </a:xfrm>
          <a:prstGeom prst="roundRect">
            <a:avLst>
              <a:gd fmla="val 527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d165343d25b643383fb6c39652570b1.png" id="1000" name="Google Shape;100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653" y="715566"/>
            <a:ext cx="4572000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f705eaa6b5503576d917717d09c8408.png" id="1001" name="Google Shape;100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1198" y="715566"/>
            <a:ext cx="45720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13"/>
          <p:cNvSpPr txBox="1"/>
          <p:nvPr/>
        </p:nvSpPr>
        <p:spPr>
          <a:xfrm>
            <a:off x="400050" y="161925"/>
            <a:ext cx="3767138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3"/>
              <a:buFont typeface="Arial"/>
              <a:buNone/>
            </a:pPr>
            <a:r>
              <a:rPr b="0" i="0" lang="en-US" sz="2343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 e grau (TCGA tumor)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13"/>
          <p:cNvSpPr txBox="1"/>
          <p:nvPr/>
        </p:nvSpPr>
        <p:spPr>
          <a:xfrm>
            <a:off x="2031355" y="3946029"/>
            <a:ext cx="232469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Arial"/>
              <a:buNone/>
            </a:pPr>
            <a:r>
              <a:rPr b="0" i="0" lang="en-US" sz="891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4. Estágio AJCC dos tumores primários.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13"/>
          <p:cNvSpPr txBox="1"/>
          <p:nvPr/>
        </p:nvSpPr>
        <p:spPr>
          <a:xfrm>
            <a:off x="400050" y="4268391"/>
            <a:ext cx="81036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13"/>
          <p:cNvSpPr txBox="1"/>
          <p:nvPr/>
        </p:nvSpPr>
        <p:spPr>
          <a:xfrm>
            <a:off x="1229618" y="4268391"/>
            <a:ext cx="447630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 = 169; II = 86; III = 85; IV = 5; não informado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13"/>
          <p:cNvSpPr txBox="1"/>
          <p:nvPr/>
        </p:nvSpPr>
        <p:spPr>
          <a:xfrm>
            <a:off x="400050" y="4530328"/>
            <a:ext cx="30956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13"/>
          <p:cNvSpPr txBox="1"/>
          <p:nvPr/>
        </p:nvSpPr>
        <p:spPr>
          <a:xfrm>
            <a:off x="7788027" y="3946029"/>
            <a:ext cx="2496443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Arial"/>
              <a:buNone/>
            </a:pPr>
            <a:r>
              <a:rPr b="0" i="0" lang="en-US" sz="891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5. Grau histológico dos tumores primários.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13"/>
          <p:cNvSpPr txBox="1"/>
          <p:nvPr/>
        </p:nvSpPr>
        <p:spPr>
          <a:xfrm>
            <a:off x="6242596" y="4268391"/>
            <a:ext cx="56688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Grau: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13"/>
          <p:cNvSpPr txBox="1"/>
          <p:nvPr/>
        </p:nvSpPr>
        <p:spPr>
          <a:xfrm>
            <a:off x="6828681" y="4268391"/>
            <a:ext cx="398665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G1 = 55; G2 = 177; G3 = 121; G4 = 11; não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13"/>
          <p:cNvSpPr txBox="1"/>
          <p:nvPr/>
        </p:nvSpPr>
        <p:spPr>
          <a:xfrm>
            <a:off x="6242596" y="4530328"/>
            <a:ext cx="141863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informado = 5.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13"/>
          <p:cNvSpPr txBox="1"/>
          <p:nvPr/>
        </p:nvSpPr>
        <p:spPr>
          <a:xfrm>
            <a:off x="598438" y="5408861"/>
            <a:ext cx="11032331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Predomínio de estágios iniciais (I–II = 69,1%) e graus G2–G3 (80,8%). Os subgrupos extremos (estágio IV, n = 5; grau G4, n = 11) têm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13"/>
          <p:cNvSpPr txBox="1"/>
          <p:nvPr/>
        </p:nvSpPr>
        <p:spPr>
          <a:xfrm>
            <a:off x="598438" y="5644455"/>
            <a:ext cx="470892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poder limitado; por isso a expressão diferencial agrupou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13"/>
          <p:cNvSpPr txBox="1"/>
          <p:nvPr/>
        </p:nvSpPr>
        <p:spPr>
          <a:xfrm>
            <a:off x="5320903" y="5644455"/>
            <a:ext cx="1110704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1" i="0" lang="en-US" sz="148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III–IV vs. I–II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13"/>
          <p:cNvSpPr txBox="1"/>
          <p:nvPr/>
        </p:nvSpPr>
        <p:spPr>
          <a:xfrm>
            <a:off x="6445002" y="5644455"/>
            <a:ext cx="13692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13"/>
          <p:cNvSpPr txBox="1"/>
          <p:nvPr/>
        </p:nvSpPr>
        <p:spPr>
          <a:xfrm>
            <a:off x="6595467" y="5644455"/>
            <a:ext cx="15366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1" i="0" lang="en-US" sz="148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G3–G4 vs. G1–G2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13"/>
          <p:cNvSpPr txBox="1"/>
          <p:nvPr/>
        </p:nvSpPr>
        <p:spPr>
          <a:xfrm>
            <a:off x="8094018" y="5644455"/>
            <a:ext cx="79028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13"/>
          <p:cNvSpPr txBox="1"/>
          <p:nvPr/>
        </p:nvSpPr>
        <p:spPr>
          <a:xfrm>
            <a:off x="507504" y="6512719"/>
            <a:ext cx="957709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 AJCC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13"/>
          <p:cNvSpPr txBox="1"/>
          <p:nvPr/>
        </p:nvSpPr>
        <p:spPr>
          <a:xfrm>
            <a:off x="1468338" y="6512719"/>
            <a:ext cx="2590056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extensão anatômica do tumor (I–IV);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13"/>
          <p:cNvSpPr txBox="1"/>
          <p:nvPr/>
        </p:nvSpPr>
        <p:spPr>
          <a:xfrm>
            <a:off x="4061668" y="6512719"/>
            <a:ext cx="36403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13"/>
          <p:cNvSpPr txBox="1"/>
          <p:nvPr/>
        </p:nvSpPr>
        <p:spPr>
          <a:xfrm>
            <a:off x="4428827" y="6512719"/>
            <a:ext cx="6707832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diferenciação histológica (G1 bem diferenciado → G4 indiferenciado). São eixos diferentes: estágio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13"/>
          <p:cNvSpPr txBox="1"/>
          <p:nvPr/>
        </p:nvSpPr>
        <p:spPr>
          <a:xfrm>
            <a:off x="507504" y="6701284"/>
            <a:ext cx="634320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descreve disseminação; grau descreve aparência celular. “Não informado” não entra nos testes.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15"/>
          <p:cNvSpPr/>
          <p:nvPr/>
        </p:nvSpPr>
        <p:spPr>
          <a:xfrm>
            <a:off x="400050" y="190500"/>
            <a:ext cx="11391900" cy="42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7" name="Google Shape;1027;p15"/>
          <p:cNvCxnSpPr/>
          <p:nvPr/>
        </p:nvCxnSpPr>
        <p:spPr>
          <a:xfrm>
            <a:off x="400050" y="597247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8" name="Google Shape;1028;p15"/>
          <p:cNvSpPr/>
          <p:nvPr/>
        </p:nvSpPr>
        <p:spPr>
          <a:xfrm>
            <a:off x="400050" y="4829026"/>
            <a:ext cx="11391900" cy="1078409"/>
          </a:xfrm>
          <a:prstGeom prst="roundRect">
            <a:avLst>
              <a:gd fmla="val 4416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9" name="Google Shape;1029;p15"/>
          <p:cNvCxnSpPr/>
          <p:nvPr/>
        </p:nvCxnSpPr>
        <p:spPr>
          <a:xfrm>
            <a:off x="423862" y="4829026"/>
            <a:ext cx="0" cy="1078409"/>
          </a:xfrm>
          <a:prstGeom prst="straightConnector1">
            <a:avLst/>
          </a:prstGeom>
          <a:noFill/>
          <a:ln cap="flat" cmpd="sng" w="476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0" name="Google Shape;1030;p15"/>
          <p:cNvSpPr/>
          <p:nvPr/>
        </p:nvSpPr>
        <p:spPr>
          <a:xfrm>
            <a:off x="400050" y="6010424"/>
            <a:ext cx="11391900" cy="991791"/>
          </a:xfrm>
          <a:prstGeom prst="roundRect">
            <a:avLst>
              <a:gd fmla="val 4801" name="adj"/>
            </a:avLst>
          </a:prstGeom>
          <a:solidFill>
            <a:srgbClr val="EE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1" name="Google Shape;1031;p15"/>
          <p:cNvCxnSpPr/>
          <p:nvPr/>
        </p:nvCxnSpPr>
        <p:spPr>
          <a:xfrm>
            <a:off x="423862" y="6010424"/>
            <a:ext cx="0" cy="991790"/>
          </a:xfrm>
          <a:prstGeom prst="straightConnector1">
            <a:avLst/>
          </a:prstGeom>
          <a:noFill/>
          <a:ln cap="flat" cmpd="sng" w="47625">
            <a:solidFill>
              <a:srgbClr val="1F5F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2" name="Google Shape;1032;p15"/>
          <p:cNvSpPr/>
          <p:nvPr/>
        </p:nvSpPr>
        <p:spPr>
          <a:xfrm>
            <a:off x="576411" y="6309866"/>
            <a:ext cx="770930" cy="187077"/>
          </a:xfrm>
          <a:prstGeom prst="roundRect">
            <a:avLst>
              <a:gd fmla="val 50000" name="adj"/>
            </a:avLst>
          </a:prstGeom>
          <a:solidFill>
            <a:srgbClr val="1F5F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31617be9c1d24e0980ac3bc40b0a963.png" id="1033" name="Google Shape;103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0094" y="715566"/>
            <a:ext cx="4848969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7314043e2050e30c4976e301852380c6.png" id="1034" name="Google Shape;103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2788" y="715566"/>
            <a:ext cx="4848969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5" name="Google Shape;1035;p15"/>
          <p:cNvSpPr txBox="1"/>
          <p:nvPr/>
        </p:nvSpPr>
        <p:spPr>
          <a:xfrm>
            <a:off x="400050" y="161925"/>
            <a:ext cx="4021485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3"/>
              <a:buFont typeface="Arial"/>
              <a:buNone/>
            </a:pPr>
            <a:r>
              <a:rPr b="0" i="0" lang="en-US" sz="2343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UMAP por grupo e por estudo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15"/>
          <p:cNvSpPr txBox="1"/>
          <p:nvPr/>
        </p:nvSpPr>
        <p:spPr>
          <a:xfrm>
            <a:off x="2285554" y="4555629"/>
            <a:ext cx="18161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Arial"/>
              <a:buNone/>
            </a:pPr>
            <a:r>
              <a:rPr b="0" i="0" lang="en-US" sz="891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7. UMAP colorido por grupo.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15"/>
          <p:cNvSpPr txBox="1"/>
          <p:nvPr/>
        </p:nvSpPr>
        <p:spPr>
          <a:xfrm>
            <a:off x="8108454" y="4555629"/>
            <a:ext cx="1855738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Arial"/>
              <a:buNone/>
            </a:pPr>
            <a:r>
              <a:rPr b="0" i="0" lang="en-US" sz="891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8. UMAP colorido por estudo.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15"/>
          <p:cNvSpPr txBox="1"/>
          <p:nvPr/>
        </p:nvSpPr>
        <p:spPr>
          <a:xfrm>
            <a:off x="598438" y="5113586"/>
            <a:ext cx="2377529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1" i="0" lang="en-US" sz="148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2.000 genes mais variáveis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15"/>
          <p:cNvSpPr txBox="1"/>
          <p:nvPr/>
        </p:nvSpPr>
        <p:spPr>
          <a:xfrm>
            <a:off x="2937867" y="5113586"/>
            <a:ext cx="79028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15"/>
          <p:cNvSpPr txBox="1"/>
          <p:nvPr/>
        </p:nvSpPr>
        <p:spPr>
          <a:xfrm>
            <a:off x="3030438" y="5142161"/>
            <a:ext cx="180528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n_neighbors = 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15"/>
          <p:cNvSpPr txBox="1"/>
          <p:nvPr/>
        </p:nvSpPr>
        <p:spPr>
          <a:xfrm>
            <a:off x="4797623" y="5113586"/>
            <a:ext cx="79028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15"/>
          <p:cNvSpPr txBox="1"/>
          <p:nvPr/>
        </p:nvSpPr>
        <p:spPr>
          <a:xfrm>
            <a:off x="4890195" y="5142161"/>
            <a:ext cx="169485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min_dist = 0,25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15"/>
          <p:cNvSpPr txBox="1"/>
          <p:nvPr/>
        </p:nvSpPr>
        <p:spPr>
          <a:xfrm>
            <a:off x="6546949" y="5113586"/>
            <a:ext cx="1370558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métrica cosine,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15"/>
          <p:cNvSpPr txBox="1"/>
          <p:nvPr/>
        </p:nvSpPr>
        <p:spPr>
          <a:xfrm>
            <a:off x="7931051" y="5142161"/>
            <a:ext cx="921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pca = 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15"/>
          <p:cNvSpPr txBox="1"/>
          <p:nvPr/>
        </p:nvSpPr>
        <p:spPr>
          <a:xfrm>
            <a:off x="8814643" y="5113586"/>
            <a:ext cx="25114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semente 2026. Há separação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15"/>
          <p:cNvSpPr txBox="1"/>
          <p:nvPr/>
        </p:nvSpPr>
        <p:spPr>
          <a:xfrm>
            <a:off x="598438" y="5368230"/>
            <a:ext cx="6303169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parcial entre tumor, adjacente e GTEx normal e separação evidente entre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15"/>
          <p:cNvSpPr txBox="1"/>
          <p:nvPr/>
        </p:nvSpPr>
        <p:spPr>
          <a:xfrm>
            <a:off x="6562855" y="5368230"/>
            <a:ext cx="11718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1" i="0" lang="en-US" sz="148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e GTEx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15"/>
          <p:cNvSpPr txBox="1"/>
          <p:nvPr/>
        </p:nvSpPr>
        <p:spPr>
          <a:xfrm>
            <a:off x="7592096" y="5368230"/>
            <a:ext cx="3296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compatível com efeito lote.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15"/>
          <p:cNvSpPr txBox="1"/>
          <p:nvPr/>
        </p:nvSpPr>
        <p:spPr>
          <a:xfrm>
            <a:off x="646807" y="6305848"/>
            <a:ext cx="66823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9"/>
              <a:buFont typeface="Arial"/>
              <a:buNone/>
            </a:pPr>
            <a:r>
              <a:rPr b="1" i="0" lang="en-US" sz="110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MÉTODO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15"/>
          <p:cNvSpPr txBox="1"/>
          <p:nvPr/>
        </p:nvSpPr>
        <p:spPr>
          <a:xfrm>
            <a:off x="1443782" y="6277273"/>
            <a:ext cx="55319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1" i="0" lang="en-US" sz="1353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15"/>
          <p:cNvSpPr txBox="1"/>
          <p:nvPr/>
        </p:nvSpPr>
        <p:spPr>
          <a:xfrm>
            <a:off x="2005905" y="6277273"/>
            <a:ext cx="9004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15"/>
          <p:cNvSpPr txBox="1"/>
          <p:nvPr/>
        </p:nvSpPr>
        <p:spPr>
          <a:xfrm>
            <a:off x="2057846" y="6296323"/>
            <a:ext cx="1044922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uwot::umap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15"/>
          <p:cNvSpPr txBox="1"/>
          <p:nvPr/>
        </p:nvSpPr>
        <p:spPr>
          <a:xfrm>
            <a:off x="3064669" y="6277273"/>
            <a:ext cx="60617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): reduz milhares de genes para 2 eixos preservando vizinhanças locais. Os eixos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15"/>
          <p:cNvSpPr txBox="1"/>
          <p:nvPr/>
        </p:nvSpPr>
        <p:spPr>
          <a:xfrm>
            <a:off x="9135517" y="6277273"/>
            <a:ext cx="140597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1" i="0" lang="en-US" sz="1353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têm unidade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15"/>
          <p:cNvSpPr txBox="1"/>
          <p:nvPr/>
        </p:nvSpPr>
        <p:spPr>
          <a:xfrm>
            <a:off x="10550426" y="6277273"/>
            <a:ext cx="976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 a distância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15"/>
          <p:cNvSpPr txBox="1"/>
          <p:nvPr/>
        </p:nvSpPr>
        <p:spPr>
          <a:xfrm>
            <a:off x="576411" y="6501557"/>
            <a:ext cx="83391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global não é interpretável como “diferença absoluta”. Serve para explorar estrutura, não para testar hipóteses.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15"/>
          <p:cNvSpPr/>
          <p:nvPr/>
        </p:nvSpPr>
        <p:spPr>
          <a:xfrm>
            <a:off x="400050" y="7030790"/>
            <a:ext cx="11391900" cy="2667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7150" spcFirstLastPara="1" rIns="57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Refs.: McInnes et al., 2018.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19"/>
          <p:cNvSpPr/>
          <p:nvPr/>
        </p:nvSpPr>
        <p:spPr>
          <a:xfrm>
            <a:off x="400050" y="190500"/>
            <a:ext cx="11391900" cy="42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3" name="Google Shape;1063;p19"/>
          <p:cNvCxnSpPr/>
          <p:nvPr/>
        </p:nvCxnSpPr>
        <p:spPr>
          <a:xfrm>
            <a:off x="400050" y="597247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4" name="Google Shape;1064;p19"/>
          <p:cNvSpPr/>
          <p:nvPr/>
        </p:nvSpPr>
        <p:spPr>
          <a:xfrm>
            <a:off x="7690247" y="3687366"/>
            <a:ext cx="4101703" cy="1294954"/>
          </a:xfrm>
          <a:prstGeom prst="roundRect">
            <a:avLst>
              <a:gd fmla="val 3677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5" name="Google Shape;1065;p19"/>
          <p:cNvCxnSpPr/>
          <p:nvPr/>
        </p:nvCxnSpPr>
        <p:spPr>
          <a:xfrm>
            <a:off x="7714059" y="3687366"/>
            <a:ext cx="0" cy="1294953"/>
          </a:xfrm>
          <a:prstGeom prst="straightConnector1">
            <a:avLst/>
          </a:prstGeom>
          <a:noFill/>
          <a:ln cap="flat" cmpd="sng" w="476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6" name="Google Shape;1066;p19"/>
          <p:cNvSpPr/>
          <p:nvPr/>
        </p:nvSpPr>
        <p:spPr>
          <a:xfrm>
            <a:off x="7690247" y="5057626"/>
            <a:ext cx="4101703" cy="1280815"/>
          </a:xfrm>
          <a:prstGeom prst="roundRect">
            <a:avLst>
              <a:gd fmla="val 3718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2d4d6f8c8844d959151decc1c174e057.png" id="1067" name="Google Shape;106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0607" y="1388566"/>
            <a:ext cx="6655594" cy="409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8" name="Google Shape;1068;p19"/>
          <p:cNvSpPr txBox="1"/>
          <p:nvPr/>
        </p:nvSpPr>
        <p:spPr>
          <a:xfrm>
            <a:off x="400050" y="161925"/>
            <a:ext cx="4185345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3"/>
              <a:buFont typeface="Arial"/>
              <a:buNone/>
            </a:pPr>
            <a:r>
              <a:rPr b="0" i="0" lang="en-US" sz="2343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Marcadores conhecidos de HCC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19"/>
          <p:cNvSpPr txBox="1"/>
          <p:nvPr/>
        </p:nvSpPr>
        <p:spPr>
          <a:xfrm>
            <a:off x="1776264" y="5514380"/>
            <a:ext cx="42825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Arial"/>
              <a:buNone/>
            </a:pPr>
            <a:r>
              <a:rPr b="0" i="0" lang="en-US" sz="891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12. Expressão de marcadores selecionados nos três grupos (violino + boxplot).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19"/>
          <p:cNvSpPr txBox="1"/>
          <p:nvPr/>
        </p:nvSpPr>
        <p:spPr>
          <a:xfrm>
            <a:off x="7920633" y="696516"/>
            <a:ext cx="56718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GPC3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19"/>
          <p:cNvSpPr txBox="1"/>
          <p:nvPr/>
        </p:nvSpPr>
        <p:spPr>
          <a:xfrm>
            <a:off x="8507016" y="696516"/>
            <a:ext cx="14778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19"/>
          <p:cNvSpPr txBox="1"/>
          <p:nvPr/>
        </p:nvSpPr>
        <p:spPr>
          <a:xfrm>
            <a:off x="8674150" y="696516"/>
            <a:ext cx="42326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19"/>
          <p:cNvSpPr txBox="1"/>
          <p:nvPr/>
        </p:nvSpPr>
        <p:spPr>
          <a:xfrm>
            <a:off x="9059317" y="696516"/>
            <a:ext cx="236086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marcadores clássicos 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19"/>
          <p:cNvSpPr txBox="1"/>
          <p:nvPr/>
        </p:nvSpPr>
        <p:spPr>
          <a:xfrm>
            <a:off x="7920633" y="958453"/>
            <a:ext cx="232290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HCC, elevados no tumor.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19"/>
          <p:cNvSpPr txBox="1"/>
          <p:nvPr/>
        </p:nvSpPr>
        <p:spPr>
          <a:xfrm>
            <a:off x="7920633" y="1266379"/>
            <a:ext cx="62492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BIRC5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19"/>
          <p:cNvSpPr txBox="1"/>
          <p:nvPr/>
        </p:nvSpPr>
        <p:spPr>
          <a:xfrm>
            <a:off x="8564761" y="1266379"/>
            <a:ext cx="101798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(survivina):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19"/>
          <p:cNvSpPr txBox="1"/>
          <p:nvPr/>
        </p:nvSpPr>
        <p:spPr>
          <a:xfrm>
            <a:off x="7920633" y="1528316"/>
            <a:ext cx="248141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proliferação/antiapoptose.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19"/>
          <p:cNvSpPr txBox="1"/>
          <p:nvPr/>
        </p:nvSpPr>
        <p:spPr>
          <a:xfrm>
            <a:off x="7920633" y="1836241"/>
            <a:ext cx="271715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MMP9, COL1A1, VIM, SPP1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19"/>
          <p:cNvSpPr txBox="1"/>
          <p:nvPr/>
        </p:nvSpPr>
        <p:spPr>
          <a:xfrm>
            <a:off x="10599688" y="1836241"/>
            <a:ext cx="8364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19"/>
          <p:cNvSpPr txBox="1"/>
          <p:nvPr/>
        </p:nvSpPr>
        <p:spPr>
          <a:xfrm>
            <a:off x="7920633" y="2098179"/>
            <a:ext cx="39092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remodelamento da matriz, invasão e EMT.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19"/>
          <p:cNvSpPr txBox="1"/>
          <p:nvPr/>
        </p:nvSpPr>
        <p:spPr>
          <a:xfrm>
            <a:off x="7920633" y="2406104"/>
            <a:ext cx="60454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CDH1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19"/>
          <p:cNvSpPr txBox="1"/>
          <p:nvPr/>
        </p:nvSpPr>
        <p:spPr>
          <a:xfrm>
            <a:off x="8544371" y="2406104"/>
            <a:ext cx="262190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(E-caderina): tende a cair 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19"/>
          <p:cNvSpPr txBox="1"/>
          <p:nvPr/>
        </p:nvSpPr>
        <p:spPr>
          <a:xfrm>
            <a:off x="7920633" y="2668042"/>
            <a:ext cx="6493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tumor.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19"/>
          <p:cNvSpPr txBox="1"/>
          <p:nvPr/>
        </p:nvSpPr>
        <p:spPr>
          <a:xfrm>
            <a:off x="7920633" y="2975967"/>
            <a:ext cx="6706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KRT19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19"/>
          <p:cNvSpPr txBox="1"/>
          <p:nvPr/>
        </p:nvSpPr>
        <p:spPr>
          <a:xfrm>
            <a:off x="8610451" y="2975967"/>
            <a:ext cx="14778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19"/>
          <p:cNvSpPr txBox="1"/>
          <p:nvPr/>
        </p:nvSpPr>
        <p:spPr>
          <a:xfrm>
            <a:off x="8777585" y="2975967"/>
            <a:ext cx="75708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EPCAM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19"/>
          <p:cNvSpPr txBox="1"/>
          <p:nvPr/>
        </p:nvSpPr>
        <p:spPr>
          <a:xfrm>
            <a:off x="9496574" y="2975967"/>
            <a:ext cx="211038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progenitores/ductais;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19"/>
          <p:cNvSpPr txBox="1"/>
          <p:nvPr/>
        </p:nvSpPr>
        <p:spPr>
          <a:xfrm>
            <a:off x="7920633" y="3237905"/>
            <a:ext cx="254540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interpretação heterogênea.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19"/>
          <p:cNvSpPr txBox="1"/>
          <p:nvPr/>
        </p:nvSpPr>
        <p:spPr>
          <a:xfrm>
            <a:off x="7888635" y="3971925"/>
            <a:ext cx="3002607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comportamento esperado desses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19"/>
          <p:cNvSpPr txBox="1"/>
          <p:nvPr/>
        </p:nvSpPr>
        <p:spPr>
          <a:xfrm>
            <a:off x="7888635" y="4207520"/>
            <a:ext cx="3328243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marcadores valida o processamento e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19"/>
          <p:cNvSpPr txBox="1"/>
          <p:nvPr/>
        </p:nvSpPr>
        <p:spPr>
          <a:xfrm>
            <a:off x="7888635" y="4443115"/>
            <a:ext cx="845344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anotação.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19"/>
          <p:cNvSpPr txBox="1"/>
          <p:nvPr/>
        </p:nvSpPr>
        <p:spPr>
          <a:xfrm>
            <a:off x="7797701" y="5311378"/>
            <a:ext cx="2070348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Leitura do violino + boxplot: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19"/>
          <p:cNvSpPr txBox="1"/>
          <p:nvPr/>
        </p:nvSpPr>
        <p:spPr>
          <a:xfrm>
            <a:off x="9871174" y="5311378"/>
            <a:ext cx="178340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largura = densidade; caixa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19"/>
          <p:cNvSpPr txBox="1"/>
          <p:nvPr/>
        </p:nvSpPr>
        <p:spPr>
          <a:xfrm>
            <a:off x="7797701" y="5499943"/>
            <a:ext cx="390614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Q1–Q3; linha = mediana; bigodes = 1,5 × IQR; pontos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19"/>
          <p:cNvSpPr txBox="1"/>
          <p:nvPr/>
        </p:nvSpPr>
        <p:spPr>
          <a:xfrm>
            <a:off x="7797701" y="5688509"/>
            <a:ext cx="196795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outliers. A expressão está 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19"/>
          <p:cNvSpPr txBox="1"/>
          <p:nvPr/>
        </p:nvSpPr>
        <p:spPr>
          <a:xfrm>
            <a:off x="9768929" y="5688509"/>
            <a:ext cx="1368326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log2(TPM + 0,001)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19"/>
          <p:cNvSpPr txBox="1"/>
          <p:nvPr/>
        </p:nvSpPr>
        <p:spPr>
          <a:xfrm>
            <a:off x="11099155" y="5688509"/>
            <a:ext cx="70842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19"/>
          <p:cNvSpPr txBox="1"/>
          <p:nvPr/>
        </p:nvSpPr>
        <p:spPr>
          <a:xfrm>
            <a:off x="7797701" y="5877074"/>
            <a:ext cx="2033736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diferenças de 1 unidade = 2×.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19"/>
          <p:cNvSpPr/>
          <p:nvPr/>
        </p:nvSpPr>
        <p:spPr>
          <a:xfrm>
            <a:off x="7717369" y="813292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19"/>
          <p:cNvSpPr/>
          <p:nvPr/>
        </p:nvSpPr>
        <p:spPr>
          <a:xfrm>
            <a:off x="7717369" y="1383155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19"/>
          <p:cNvSpPr/>
          <p:nvPr/>
        </p:nvSpPr>
        <p:spPr>
          <a:xfrm>
            <a:off x="7717369" y="1953018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19"/>
          <p:cNvSpPr/>
          <p:nvPr/>
        </p:nvSpPr>
        <p:spPr>
          <a:xfrm>
            <a:off x="7717369" y="2522881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19"/>
          <p:cNvSpPr/>
          <p:nvPr/>
        </p:nvSpPr>
        <p:spPr>
          <a:xfrm>
            <a:off x="7717369" y="3092744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20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9" name="Google Shape;1109;p20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0" name="Google Shape;1110;p20"/>
          <p:cNvSpPr/>
          <p:nvPr/>
        </p:nvSpPr>
        <p:spPr>
          <a:xfrm>
            <a:off x="6262688" y="3747046"/>
            <a:ext cx="5529262" cy="1478012"/>
          </a:xfrm>
          <a:prstGeom prst="roundRect">
            <a:avLst>
              <a:gd fmla="val 3222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1" name="Google Shape;1111;p20"/>
          <p:cNvCxnSpPr/>
          <p:nvPr/>
        </p:nvCxnSpPr>
        <p:spPr>
          <a:xfrm>
            <a:off x="6286500" y="3747046"/>
            <a:ext cx="0" cy="1478012"/>
          </a:xfrm>
          <a:prstGeom prst="straightConnector1">
            <a:avLst/>
          </a:prstGeom>
          <a:noFill/>
          <a:ln cap="flat" cmpd="sng" w="47625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2" name="Google Shape;1112;p20"/>
          <p:cNvSpPr txBox="1"/>
          <p:nvPr/>
        </p:nvSpPr>
        <p:spPr>
          <a:xfrm>
            <a:off x="400050" y="161925"/>
            <a:ext cx="4544169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Síntese da análise exploratória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20"/>
          <p:cNvSpPr txBox="1"/>
          <p:nvPr/>
        </p:nvSpPr>
        <p:spPr>
          <a:xfrm>
            <a:off x="400050" y="1251645"/>
            <a:ext cx="194845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que ficou claro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20"/>
          <p:cNvSpPr txBox="1"/>
          <p:nvPr/>
        </p:nvSpPr>
        <p:spPr>
          <a:xfrm>
            <a:off x="661988" y="1761232"/>
            <a:ext cx="4629299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Coorte predominantemente masculina, sem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20"/>
          <p:cNvSpPr txBox="1"/>
          <p:nvPr/>
        </p:nvSpPr>
        <p:spPr>
          <a:xfrm>
            <a:off x="661988" y="2080320"/>
            <a:ext cx="334565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diferença de sexo entre grupos.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20"/>
          <p:cNvSpPr txBox="1"/>
          <p:nvPr/>
        </p:nvSpPr>
        <p:spPr>
          <a:xfrm>
            <a:off x="661988" y="2451795"/>
            <a:ext cx="469701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Idade difere entre TCGA e GTEx → ajuste por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20"/>
          <p:cNvSpPr txBox="1"/>
          <p:nvPr/>
        </p:nvSpPr>
        <p:spPr>
          <a:xfrm>
            <a:off x="661988" y="2770882"/>
            <a:ext cx="67359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idade.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20"/>
          <p:cNvSpPr txBox="1"/>
          <p:nvPr/>
        </p:nvSpPr>
        <p:spPr>
          <a:xfrm>
            <a:off x="661988" y="3142357"/>
            <a:ext cx="358973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Maioria estágio I–II e grau G2–G3.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20"/>
          <p:cNvSpPr txBox="1"/>
          <p:nvPr/>
        </p:nvSpPr>
        <p:spPr>
          <a:xfrm>
            <a:off x="661988" y="3541782"/>
            <a:ext cx="44964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Separação global TCGA × GTEx é evidente.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20"/>
          <p:cNvSpPr txBox="1"/>
          <p:nvPr/>
        </p:nvSpPr>
        <p:spPr>
          <a:xfrm>
            <a:off x="661988" y="3913257"/>
            <a:ext cx="44838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Marcadores clássicos têm comportamento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20"/>
          <p:cNvSpPr txBox="1"/>
          <p:nvPr/>
        </p:nvSpPr>
        <p:spPr>
          <a:xfrm>
            <a:off x="661988" y="4232345"/>
            <a:ext cx="1063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esperado.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20"/>
          <p:cNvSpPr txBox="1"/>
          <p:nvPr/>
        </p:nvSpPr>
        <p:spPr>
          <a:xfrm>
            <a:off x="6262688" y="974080"/>
            <a:ext cx="122753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Limitações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20"/>
          <p:cNvSpPr txBox="1"/>
          <p:nvPr/>
        </p:nvSpPr>
        <p:spPr>
          <a:xfrm>
            <a:off x="6524625" y="1483668"/>
            <a:ext cx="37924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Idade GTEx = ponto médio da faixa.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p20"/>
          <p:cNvSpPr txBox="1"/>
          <p:nvPr/>
        </p:nvSpPr>
        <p:spPr>
          <a:xfrm>
            <a:off x="6524625" y="1855143"/>
            <a:ext cx="520749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Estágio/grau são do paciente; adjacentes herdam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20"/>
          <p:cNvSpPr txBox="1"/>
          <p:nvPr/>
        </p:nvSpPr>
        <p:spPr>
          <a:xfrm>
            <a:off x="6524625" y="2174230"/>
            <a:ext cx="268411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estágio/grau do tumor.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20"/>
          <p:cNvSpPr txBox="1"/>
          <p:nvPr/>
        </p:nvSpPr>
        <p:spPr>
          <a:xfrm>
            <a:off x="6524625" y="2545705"/>
            <a:ext cx="521389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UMAP é sensível a genes, hiperparâmetros e lote.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20"/>
          <p:cNvSpPr txBox="1"/>
          <p:nvPr/>
        </p:nvSpPr>
        <p:spPr>
          <a:xfrm>
            <a:off x="6524625" y="2917180"/>
            <a:ext cx="4900017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Análise descritiva; os testes principais estão 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20"/>
          <p:cNvSpPr txBox="1"/>
          <p:nvPr/>
        </p:nvSpPr>
        <p:spPr>
          <a:xfrm>
            <a:off x="6524625" y="3236268"/>
            <a:ext cx="228436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expressão diferencial.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20"/>
          <p:cNvSpPr txBox="1"/>
          <p:nvPr/>
        </p:nvSpPr>
        <p:spPr>
          <a:xfrm>
            <a:off x="6481762" y="4055418"/>
            <a:ext cx="228242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separação por estudo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20"/>
          <p:cNvSpPr txBox="1"/>
          <p:nvPr/>
        </p:nvSpPr>
        <p:spPr>
          <a:xfrm>
            <a:off x="8784878" y="4055418"/>
            <a:ext cx="253171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i="0" lang="en-US" sz="16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é prova de diferença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20"/>
          <p:cNvSpPr txBox="1"/>
          <p:nvPr/>
        </p:nvSpPr>
        <p:spPr>
          <a:xfrm>
            <a:off x="6481762" y="4342507"/>
            <a:ext cx="96663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i="0" lang="en-US" sz="16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biológica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20"/>
          <p:cNvSpPr txBox="1"/>
          <p:nvPr/>
        </p:nvSpPr>
        <p:spPr>
          <a:xfrm>
            <a:off x="7328571" y="4342507"/>
            <a:ext cx="3955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lang="en-US" sz="1687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</a:t>
            </a: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é também efeito de lote e composição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20"/>
          <p:cNvSpPr txBox="1"/>
          <p:nvPr/>
        </p:nvSpPr>
        <p:spPr>
          <a:xfrm>
            <a:off x="6481762" y="4629596"/>
            <a:ext cx="828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tecidual.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20"/>
          <p:cNvSpPr txBox="1"/>
          <p:nvPr/>
        </p:nvSpPr>
        <p:spPr>
          <a:xfrm>
            <a:off x="295275" y="1761232"/>
            <a:ext cx="285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20"/>
          <p:cNvSpPr txBox="1"/>
          <p:nvPr/>
        </p:nvSpPr>
        <p:spPr>
          <a:xfrm>
            <a:off x="295275" y="2451795"/>
            <a:ext cx="285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20"/>
          <p:cNvSpPr txBox="1"/>
          <p:nvPr/>
        </p:nvSpPr>
        <p:spPr>
          <a:xfrm>
            <a:off x="295275" y="3142357"/>
            <a:ext cx="285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20"/>
          <p:cNvSpPr txBox="1"/>
          <p:nvPr/>
        </p:nvSpPr>
        <p:spPr>
          <a:xfrm>
            <a:off x="295275" y="3541782"/>
            <a:ext cx="285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lang="en-US" sz="1875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20"/>
          <p:cNvSpPr txBox="1"/>
          <p:nvPr/>
        </p:nvSpPr>
        <p:spPr>
          <a:xfrm>
            <a:off x="295275" y="3913257"/>
            <a:ext cx="285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lang="en-US" sz="1875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20"/>
          <p:cNvSpPr/>
          <p:nvPr/>
        </p:nvSpPr>
        <p:spPr>
          <a:xfrm>
            <a:off x="6293644" y="1609874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20"/>
          <p:cNvSpPr/>
          <p:nvPr/>
        </p:nvSpPr>
        <p:spPr>
          <a:xfrm>
            <a:off x="6293644" y="1981349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20"/>
          <p:cNvSpPr/>
          <p:nvPr/>
        </p:nvSpPr>
        <p:spPr>
          <a:xfrm>
            <a:off x="6293644" y="2671911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20"/>
          <p:cNvSpPr/>
          <p:nvPr/>
        </p:nvSpPr>
        <p:spPr>
          <a:xfrm>
            <a:off x="6293644" y="3043386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47" name="Google Shape;1147;p21"/>
          <p:cNvCxnSpPr/>
          <p:nvPr/>
        </p:nvCxnSpPr>
        <p:spPr>
          <a:xfrm>
            <a:off x="38100" y="0"/>
            <a:ext cx="0" cy="7620000"/>
          </a:xfrm>
          <a:prstGeom prst="straightConnector1">
            <a:avLst/>
          </a:prstGeom>
          <a:noFill/>
          <a:ln cap="flat" cmpd="sng" w="762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8" name="Google Shape;1148;p21"/>
          <p:cNvSpPr/>
          <p:nvPr/>
        </p:nvSpPr>
        <p:spPr>
          <a:xfrm>
            <a:off x="800100" y="881062"/>
            <a:ext cx="10668000" cy="6256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9" name="Google Shape;1149;p21"/>
          <p:cNvCxnSpPr/>
          <p:nvPr/>
        </p:nvCxnSpPr>
        <p:spPr>
          <a:xfrm>
            <a:off x="800100" y="1492448"/>
            <a:ext cx="106680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0" name="Google Shape;1150;p21"/>
          <p:cNvSpPr/>
          <p:nvPr/>
        </p:nvSpPr>
        <p:spPr>
          <a:xfrm>
            <a:off x="762000" y="2418151"/>
            <a:ext cx="10668000" cy="1680000"/>
          </a:xfrm>
          <a:prstGeom prst="roundRect">
            <a:avLst>
              <a:gd fmla="val 2834" name="adj"/>
            </a:avLst>
          </a:prstGeom>
          <a:solidFill>
            <a:srgbClr val="EE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1" name="Google Shape;1151;p21"/>
          <p:cNvCxnSpPr/>
          <p:nvPr/>
        </p:nvCxnSpPr>
        <p:spPr>
          <a:xfrm>
            <a:off x="785812" y="2418151"/>
            <a:ext cx="0" cy="1680000"/>
          </a:xfrm>
          <a:prstGeom prst="straightConnector1">
            <a:avLst/>
          </a:prstGeom>
          <a:noFill/>
          <a:ln cap="flat" cmpd="sng" w="47625">
            <a:solidFill>
              <a:srgbClr val="1F5F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2" name="Google Shape;1152;p21"/>
          <p:cNvSpPr/>
          <p:nvPr/>
        </p:nvSpPr>
        <p:spPr>
          <a:xfrm>
            <a:off x="956072" y="2737982"/>
            <a:ext cx="1813500" cy="227400"/>
          </a:xfrm>
          <a:prstGeom prst="roundRect">
            <a:avLst>
              <a:gd fmla="val 50000" name="adj"/>
            </a:avLst>
          </a:prstGeom>
          <a:solidFill>
            <a:srgbClr val="1F5F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21"/>
          <p:cNvSpPr txBox="1"/>
          <p:nvPr/>
        </p:nvSpPr>
        <p:spPr>
          <a:xfrm>
            <a:off x="800100" y="852488"/>
            <a:ext cx="6272212" cy="600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rPr b="0" i="0" lang="en-US" sz="35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Parte 2 — Expressão diferencial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21"/>
          <p:cNvSpPr txBox="1"/>
          <p:nvPr/>
        </p:nvSpPr>
        <p:spPr>
          <a:xfrm>
            <a:off x="800100" y="1655564"/>
            <a:ext cx="301317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2"/>
              <a:buFont typeface="Arial"/>
              <a:buNone/>
            </a:pPr>
            <a:r>
              <a:rPr b="1" i="0" lang="en-US" sz="1162" u="none" cap="none" strike="noStrike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LIMMA, LOGFC E VOLCANO PLOTS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21"/>
          <p:cNvSpPr txBox="1"/>
          <p:nvPr/>
        </p:nvSpPr>
        <p:spPr>
          <a:xfrm>
            <a:off x="800100" y="1993999"/>
            <a:ext cx="37497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8"/>
              <a:buFont typeface="Arial"/>
              <a:buNone/>
            </a:pPr>
            <a:r>
              <a:rPr b="0" i="0" lang="en-US" sz="1968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02_expressao_diferencial.R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21"/>
          <p:cNvSpPr txBox="1"/>
          <p:nvPr/>
        </p:nvSpPr>
        <p:spPr>
          <a:xfrm>
            <a:off x="4576614" y="1955899"/>
            <a:ext cx="167283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8"/>
              <a:buFont typeface="Arial"/>
              <a:buNone/>
            </a:pPr>
            <a:r>
              <a:rPr b="0" i="0" lang="en-US" sz="1968" u="none" cap="none" strike="noStrike">
                <a:solidFill>
                  <a:srgbClr val="1F5F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21"/>
          <p:cNvSpPr txBox="1"/>
          <p:nvPr/>
        </p:nvSpPr>
        <p:spPr>
          <a:xfrm>
            <a:off x="4770834" y="1993999"/>
            <a:ext cx="260776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8"/>
              <a:buFont typeface="Arial"/>
              <a:buNone/>
            </a:pPr>
            <a:r>
              <a:rPr b="0" i="0" lang="en-US" sz="1968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03_volcano_plots.R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21"/>
          <p:cNvSpPr txBox="1"/>
          <p:nvPr/>
        </p:nvSpPr>
        <p:spPr>
          <a:xfrm>
            <a:off x="1035993" y="2744382"/>
            <a:ext cx="16920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rPr b="1" i="0" lang="en-US" sz="126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MÉTODOS DA ETAPA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21"/>
          <p:cNvSpPr txBox="1"/>
          <p:nvPr/>
        </p:nvSpPr>
        <p:spPr>
          <a:xfrm>
            <a:off x="2879229" y="2706282"/>
            <a:ext cx="612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21"/>
          <p:cNvSpPr txBox="1"/>
          <p:nvPr/>
        </p:nvSpPr>
        <p:spPr>
          <a:xfrm>
            <a:off x="3506539" y="2706282"/>
            <a:ext cx="97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21"/>
          <p:cNvSpPr txBox="1"/>
          <p:nvPr/>
        </p:nvSpPr>
        <p:spPr>
          <a:xfrm>
            <a:off x="3565624" y="2734857"/>
            <a:ext cx="1410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limma::lmFit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21"/>
          <p:cNvSpPr txBox="1"/>
          <p:nvPr/>
        </p:nvSpPr>
        <p:spPr>
          <a:xfrm>
            <a:off x="4938564" y="2706282"/>
            <a:ext cx="80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21"/>
          <p:cNvSpPr txBox="1"/>
          <p:nvPr/>
        </p:nvSpPr>
        <p:spPr>
          <a:xfrm>
            <a:off x="5034409" y="2734857"/>
            <a:ext cx="152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contrasts.fit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21"/>
          <p:cNvSpPr txBox="1"/>
          <p:nvPr/>
        </p:nvSpPr>
        <p:spPr>
          <a:xfrm>
            <a:off x="6521797" y="2706282"/>
            <a:ext cx="80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21"/>
          <p:cNvSpPr txBox="1"/>
          <p:nvPr/>
        </p:nvSpPr>
        <p:spPr>
          <a:xfrm>
            <a:off x="6617643" y="2734857"/>
            <a:ext cx="72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eBayes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21"/>
          <p:cNvSpPr txBox="1"/>
          <p:nvPr/>
        </p:nvSpPr>
        <p:spPr>
          <a:xfrm>
            <a:off x="7304187" y="2706282"/>
            <a:ext cx="80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21"/>
          <p:cNvSpPr txBox="1"/>
          <p:nvPr/>
        </p:nvSpPr>
        <p:spPr>
          <a:xfrm>
            <a:off x="7400032" y="2734857"/>
            <a:ext cx="95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topTable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21"/>
          <p:cNvSpPr txBox="1"/>
          <p:nvPr/>
        </p:nvSpPr>
        <p:spPr>
          <a:xfrm>
            <a:off x="8315325" y="2706282"/>
            <a:ext cx="25815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ajusta um modelo linear por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21"/>
          <p:cNvSpPr txBox="1"/>
          <p:nvPr/>
        </p:nvSpPr>
        <p:spPr>
          <a:xfrm>
            <a:off x="956072" y="2986972"/>
            <a:ext cx="63777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gene, modera a variância (empirical Bayes) e calcula o logFC do contraste.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21"/>
          <p:cNvSpPr txBox="1"/>
          <p:nvPr/>
        </p:nvSpPr>
        <p:spPr>
          <a:xfrm>
            <a:off x="7348984" y="2986972"/>
            <a:ext cx="312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21"/>
          <p:cNvSpPr txBox="1"/>
          <p:nvPr/>
        </p:nvSpPr>
        <p:spPr>
          <a:xfrm>
            <a:off x="7677299" y="2986972"/>
            <a:ext cx="97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21"/>
          <p:cNvSpPr txBox="1"/>
          <p:nvPr/>
        </p:nvSpPr>
        <p:spPr>
          <a:xfrm>
            <a:off x="7736384" y="3015547"/>
            <a:ext cx="175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stats::p.adjust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21"/>
          <p:cNvSpPr txBox="1"/>
          <p:nvPr/>
        </p:nvSpPr>
        <p:spPr>
          <a:xfrm>
            <a:off x="9452670" y="2986972"/>
            <a:ext cx="14736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controla o FDR.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21"/>
          <p:cNvSpPr txBox="1"/>
          <p:nvPr/>
        </p:nvSpPr>
        <p:spPr>
          <a:xfrm>
            <a:off x="956072" y="3267662"/>
            <a:ext cx="7668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Volcano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21"/>
          <p:cNvSpPr txBox="1"/>
          <p:nvPr/>
        </p:nvSpPr>
        <p:spPr>
          <a:xfrm>
            <a:off x="1738312" y="3267662"/>
            <a:ext cx="308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21"/>
          <p:cNvSpPr txBox="1"/>
          <p:nvPr/>
        </p:nvSpPr>
        <p:spPr>
          <a:xfrm>
            <a:off x="2062162" y="3296237"/>
            <a:ext cx="83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ggplot2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21"/>
          <p:cNvSpPr txBox="1"/>
          <p:nvPr/>
        </p:nvSpPr>
        <p:spPr>
          <a:xfrm>
            <a:off x="2916585" y="3267662"/>
            <a:ext cx="1716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21"/>
          <p:cNvSpPr txBox="1"/>
          <p:nvPr/>
        </p:nvSpPr>
        <p:spPr>
          <a:xfrm>
            <a:off x="3103811" y="3296237"/>
            <a:ext cx="83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ggrepel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21"/>
          <p:cNvSpPr txBox="1"/>
          <p:nvPr/>
        </p:nvSpPr>
        <p:spPr>
          <a:xfrm>
            <a:off x="3904804" y="3267662"/>
            <a:ext cx="7033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Não se usa teste t clássico gene a gene porque o limma compartilha informação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21"/>
          <p:cNvSpPr txBox="1"/>
          <p:nvPr/>
        </p:nvSpPr>
        <p:spPr>
          <a:xfrm>
            <a:off x="956072" y="3548352"/>
            <a:ext cx="39177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entre genes e é mais estável com n pequeno.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21"/>
          <p:cNvSpPr/>
          <p:nvPr/>
        </p:nvSpPr>
        <p:spPr>
          <a:xfrm>
            <a:off x="400050" y="7239000"/>
            <a:ext cx="11391900" cy="2667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7150" spcFirstLastPara="1" rIns="57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Refs.: Ritchie et al., 2015; Benjamini, 2010.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22"/>
          <p:cNvSpPr/>
          <p:nvPr/>
        </p:nvSpPr>
        <p:spPr>
          <a:xfrm>
            <a:off x="400050" y="190500"/>
            <a:ext cx="11391900" cy="493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7" name="Google Shape;1187;p22"/>
          <p:cNvCxnSpPr/>
          <p:nvPr/>
        </p:nvCxnSpPr>
        <p:spPr>
          <a:xfrm>
            <a:off x="400050" y="67002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8" name="Google Shape;1188;p22"/>
          <p:cNvSpPr/>
          <p:nvPr/>
        </p:nvSpPr>
        <p:spPr>
          <a:xfrm>
            <a:off x="400052" y="809775"/>
            <a:ext cx="5497500" cy="253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71000" lIns="142050" spcFirstLastPara="1" rIns="142050" wrap="square" tIns="7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7"/>
              <a:buFont typeface="Arial"/>
              <a:buNone/>
            </a:pPr>
            <a:r>
              <a:t/>
            </a:r>
            <a:endParaRPr b="0" i="0" sz="27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22"/>
          <p:cNvSpPr/>
          <p:nvPr/>
        </p:nvSpPr>
        <p:spPr>
          <a:xfrm>
            <a:off x="400052" y="1105761"/>
            <a:ext cx="5516100" cy="1946100"/>
          </a:xfrm>
          <a:prstGeom prst="roundRect">
            <a:avLst>
              <a:gd fmla="val 3802" name="adj"/>
            </a:avLst>
          </a:prstGeom>
          <a:noFill/>
          <a:ln cap="flat" cmpd="sng" w="148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000" lIns="142050" spcFirstLastPara="1" rIns="142050" wrap="square" tIns="7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7"/>
              <a:buFont typeface="Arial"/>
              <a:buNone/>
            </a:pPr>
            <a:r>
              <a:t/>
            </a:r>
            <a:endParaRPr b="0" i="0" sz="27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22"/>
          <p:cNvSpPr/>
          <p:nvPr/>
        </p:nvSpPr>
        <p:spPr>
          <a:xfrm>
            <a:off x="400050" y="4732883"/>
            <a:ext cx="11391900" cy="1209973"/>
          </a:xfrm>
          <a:prstGeom prst="roundRect">
            <a:avLst>
              <a:gd fmla="val 3936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1" name="Google Shape;1191;p22"/>
          <p:cNvCxnSpPr/>
          <p:nvPr/>
        </p:nvCxnSpPr>
        <p:spPr>
          <a:xfrm>
            <a:off x="423862" y="4732883"/>
            <a:ext cx="0" cy="1209973"/>
          </a:xfrm>
          <a:prstGeom prst="straightConnector1">
            <a:avLst/>
          </a:prstGeom>
          <a:noFill/>
          <a:ln cap="flat" cmpd="sng" w="476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2" name="Google Shape;1192;p22"/>
          <p:cNvSpPr/>
          <p:nvPr/>
        </p:nvSpPr>
        <p:spPr>
          <a:xfrm>
            <a:off x="400050" y="6028581"/>
            <a:ext cx="11391900" cy="1251793"/>
          </a:xfrm>
          <a:prstGeom prst="roundRect">
            <a:avLst>
              <a:gd fmla="val 3804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22"/>
          <p:cNvSpPr txBox="1"/>
          <p:nvPr/>
        </p:nvSpPr>
        <p:spPr>
          <a:xfrm>
            <a:off x="400050" y="161925"/>
            <a:ext cx="1215926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Como 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22"/>
          <p:cNvSpPr txBox="1"/>
          <p:nvPr/>
        </p:nvSpPr>
        <p:spPr>
          <a:xfrm>
            <a:off x="1665833" y="209550"/>
            <a:ext cx="1003399" cy="390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logFC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22"/>
          <p:cNvSpPr txBox="1"/>
          <p:nvPr/>
        </p:nvSpPr>
        <p:spPr>
          <a:xfrm>
            <a:off x="2718941" y="161925"/>
            <a:ext cx="31972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 calculado no limma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22"/>
          <p:cNvSpPr txBox="1"/>
          <p:nvPr/>
        </p:nvSpPr>
        <p:spPr>
          <a:xfrm>
            <a:off x="544349" y="1250058"/>
            <a:ext cx="709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design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22"/>
          <p:cNvSpPr txBox="1"/>
          <p:nvPr/>
        </p:nvSpPr>
        <p:spPr>
          <a:xfrm>
            <a:off x="1303277" y="1250058"/>
            <a:ext cx="2760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8F5902"/>
                </a:solidFill>
                <a:latin typeface="Consolas"/>
                <a:ea typeface="Consolas"/>
                <a:cs typeface="Consolas"/>
                <a:sym typeface="Consolas"/>
              </a:rPr>
              <a:t>&lt;-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22"/>
          <p:cNvSpPr txBox="1"/>
          <p:nvPr/>
        </p:nvSpPr>
        <p:spPr>
          <a:xfrm>
            <a:off x="1628630" y="1250058"/>
            <a:ext cx="13602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1" i="0" lang="en-US" sz="1456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model.matrix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22"/>
          <p:cNvSpPr txBox="1"/>
          <p:nvPr/>
        </p:nvSpPr>
        <p:spPr>
          <a:xfrm>
            <a:off x="2929353" y="1250058"/>
            <a:ext cx="1677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22"/>
          <p:cNvSpPr txBox="1"/>
          <p:nvPr/>
        </p:nvSpPr>
        <p:spPr>
          <a:xfrm>
            <a:off x="3037804" y="1250058"/>
            <a:ext cx="1677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1" i="0" lang="en-US" sz="1456" u="none" cap="none" strike="noStrike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~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22"/>
          <p:cNvSpPr txBox="1"/>
          <p:nvPr/>
        </p:nvSpPr>
        <p:spPr>
          <a:xfrm>
            <a:off x="3254706" y="1250058"/>
            <a:ext cx="1677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000C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22"/>
          <p:cNvSpPr txBox="1"/>
          <p:nvPr/>
        </p:nvSpPr>
        <p:spPr>
          <a:xfrm>
            <a:off x="3471608" y="1250058"/>
            <a:ext cx="1677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1" i="0" lang="en-US" sz="1456" u="none" cap="none" strike="noStrike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22"/>
          <p:cNvSpPr txBox="1"/>
          <p:nvPr/>
        </p:nvSpPr>
        <p:spPr>
          <a:xfrm>
            <a:off x="3688279" y="1250058"/>
            <a:ext cx="6012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grupo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22"/>
          <p:cNvSpPr txBox="1"/>
          <p:nvPr/>
        </p:nvSpPr>
        <p:spPr>
          <a:xfrm>
            <a:off x="4338988" y="1250058"/>
            <a:ext cx="1677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1" i="0" lang="en-US" sz="1456" u="none" cap="none" strike="noStrike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22"/>
          <p:cNvSpPr txBox="1"/>
          <p:nvPr/>
        </p:nvSpPr>
        <p:spPr>
          <a:xfrm>
            <a:off x="4555659" y="1250058"/>
            <a:ext cx="4932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sexo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22"/>
          <p:cNvSpPr txBox="1"/>
          <p:nvPr/>
        </p:nvSpPr>
        <p:spPr>
          <a:xfrm>
            <a:off x="5097915" y="1250058"/>
            <a:ext cx="1677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1" i="0" lang="en-US" sz="1456" u="none" cap="none" strike="noStrike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22"/>
          <p:cNvSpPr txBox="1"/>
          <p:nvPr/>
        </p:nvSpPr>
        <p:spPr>
          <a:xfrm>
            <a:off x="5314587" y="1250058"/>
            <a:ext cx="709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idade,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22"/>
          <p:cNvSpPr txBox="1"/>
          <p:nvPr/>
        </p:nvSpPr>
        <p:spPr>
          <a:xfrm>
            <a:off x="3037572" y="1486847"/>
            <a:ext cx="709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data =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22"/>
          <p:cNvSpPr txBox="1"/>
          <p:nvPr/>
        </p:nvSpPr>
        <p:spPr>
          <a:xfrm>
            <a:off x="3796268" y="1486847"/>
            <a:ext cx="11433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metadados)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22"/>
          <p:cNvSpPr txBox="1"/>
          <p:nvPr/>
        </p:nvSpPr>
        <p:spPr>
          <a:xfrm>
            <a:off x="544349" y="1723636"/>
            <a:ext cx="3846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fit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p22"/>
          <p:cNvSpPr txBox="1"/>
          <p:nvPr/>
        </p:nvSpPr>
        <p:spPr>
          <a:xfrm>
            <a:off x="1086374" y="1723636"/>
            <a:ext cx="2760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8F5902"/>
                </a:solidFill>
                <a:latin typeface="Consolas"/>
                <a:ea typeface="Consolas"/>
                <a:cs typeface="Consolas"/>
                <a:sym typeface="Consolas"/>
              </a:rPr>
              <a:t>&lt;-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22"/>
          <p:cNvSpPr txBox="1"/>
          <p:nvPr/>
        </p:nvSpPr>
        <p:spPr>
          <a:xfrm>
            <a:off x="1411729" y="1723636"/>
            <a:ext cx="6012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1" i="0" lang="en-US" sz="1456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lmFit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22"/>
          <p:cNvSpPr txBox="1"/>
          <p:nvPr/>
        </p:nvSpPr>
        <p:spPr>
          <a:xfrm>
            <a:off x="1953754" y="1723636"/>
            <a:ext cx="1576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(expr, design)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22"/>
          <p:cNvSpPr txBox="1"/>
          <p:nvPr/>
        </p:nvSpPr>
        <p:spPr>
          <a:xfrm>
            <a:off x="544349" y="1960425"/>
            <a:ext cx="4926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fit2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5" name="Google Shape;1215;p22"/>
          <p:cNvSpPr txBox="1"/>
          <p:nvPr/>
        </p:nvSpPr>
        <p:spPr>
          <a:xfrm>
            <a:off x="1086374" y="1960425"/>
            <a:ext cx="2760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8F5902"/>
                </a:solidFill>
                <a:latin typeface="Consolas"/>
                <a:ea typeface="Consolas"/>
                <a:cs typeface="Consolas"/>
                <a:sym typeface="Consolas"/>
              </a:rPr>
              <a:t>&lt;-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22"/>
          <p:cNvSpPr txBox="1"/>
          <p:nvPr/>
        </p:nvSpPr>
        <p:spPr>
          <a:xfrm>
            <a:off x="1411729" y="1960425"/>
            <a:ext cx="14682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1" i="0" lang="en-US" sz="1456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contrasts.fit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p22"/>
          <p:cNvSpPr txBox="1"/>
          <p:nvPr/>
        </p:nvSpPr>
        <p:spPr>
          <a:xfrm>
            <a:off x="2820901" y="1960425"/>
            <a:ext cx="17937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(fit, contraste)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p22"/>
          <p:cNvSpPr txBox="1"/>
          <p:nvPr/>
        </p:nvSpPr>
        <p:spPr>
          <a:xfrm>
            <a:off x="544349" y="2197214"/>
            <a:ext cx="4926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fit2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22"/>
          <p:cNvSpPr txBox="1"/>
          <p:nvPr/>
        </p:nvSpPr>
        <p:spPr>
          <a:xfrm>
            <a:off x="1086374" y="2197214"/>
            <a:ext cx="2760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8F5902"/>
                </a:solidFill>
                <a:latin typeface="Consolas"/>
                <a:ea typeface="Consolas"/>
                <a:cs typeface="Consolas"/>
                <a:sym typeface="Consolas"/>
              </a:rPr>
              <a:t>&lt;-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22"/>
          <p:cNvSpPr txBox="1"/>
          <p:nvPr/>
        </p:nvSpPr>
        <p:spPr>
          <a:xfrm>
            <a:off x="1411729" y="2197214"/>
            <a:ext cx="709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1" i="0" lang="en-US" sz="1456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eBayes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22"/>
          <p:cNvSpPr txBox="1"/>
          <p:nvPr/>
        </p:nvSpPr>
        <p:spPr>
          <a:xfrm>
            <a:off x="2062204" y="2197214"/>
            <a:ext cx="709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(fit2,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22"/>
          <p:cNvSpPr txBox="1"/>
          <p:nvPr/>
        </p:nvSpPr>
        <p:spPr>
          <a:xfrm>
            <a:off x="2821132" y="2197214"/>
            <a:ext cx="8181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trend =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22"/>
          <p:cNvSpPr txBox="1"/>
          <p:nvPr/>
        </p:nvSpPr>
        <p:spPr>
          <a:xfrm>
            <a:off x="3688511" y="2197214"/>
            <a:ext cx="4926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8F5902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22"/>
          <p:cNvSpPr txBox="1"/>
          <p:nvPr/>
        </p:nvSpPr>
        <p:spPr>
          <a:xfrm>
            <a:off x="4122085" y="2197214"/>
            <a:ext cx="1677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p22"/>
          <p:cNvSpPr txBox="1"/>
          <p:nvPr/>
        </p:nvSpPr>
        <p:spPr>
          <a:xfrm>
            <a:off x="4338988" y="2197214"/>
            <a:ext cx="9261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robust =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p22"/>
          <p:cNvSpPr txBox="1"/>
          <p:nvPr/>
        </p:nvSpPr>
        <p:spPr>
          <a:xfrm>
            <a:off x="5314587" y="2197214"/>
            <a:ext cx="4926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8F5902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p22"/>
          <p:cNvSpPr txBox="1"/>
          <p:nvPr/>
        </p:nvSpPr>
        <p:spPr>
          <a:xfrm>
            <a:off x="5699184" y="2236836"/>
            <a:ext cx="1080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22"/>
          <p:cNvSpPr txBox="1"/>
          <p:nvPr/>
        </p:nvSpPr>
        <p:spPr>
          <a:xfrm>
            <a:off x="544349" y="2434003"/>
            <a:ext cx="2760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tt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22"/>
          <p:cNvSpPr txBox="1"/>
          <p:nvPr/>
        </p:nvSpPr>
        <p:spPr>
          <a:xfrm>
            <a:off x="869702" y="2434003"/>
            <a:ext cx="2760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8F5902"/>
                </a:solidFill>
                <a:latin typeface="Consolas"/>
                <a:ea typeface="Consolas"/>
                <a:cs typeface="Consolas"/>
                <a:sym typeface="Consolas"/>
              </a:rPr>
              <a:t>&lt;-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22"/>
          <p:cNvSpPr txBox="1"/>
          <p:nvPr/>
        </p:nvSpPr>
        <p:spPr>
          <a:xfrm>
            <a:off x="1195058" y="2434003"/>
            <a:ext cx="9261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1" i="0" lang="en-US" sz="1456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topTable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22"/>
          <p:cNvSpPr txBox="1"/>
          <p:nvPr/>
        </p:nvSpPr>
        <p:spPr>
          <a:xfrm>
            <a:off x="2062204" y="2434003"/>
            <a:ext cx="709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(fit2,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22"/>
          <p:cNvSpPr txBox="1"/>
          <p:nvPr/>
        </p:nvSpPr>
        <p:spPr>
          <a:xfrm>
            <a:off x="2821132" y="2434003"/>
            <a:ext cx="709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coef =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22"/>
          <p:cNvSpPr txBox="1"/>
          <p:nvPr/>
        </p:nvSpPr>
        <p:spPr>
          <a:xfrm>
            <a:off x="3580060" y="2434003"/>
            <a:ext cx="1677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000C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22"/>
          <p:cNvSpPr txBox="1"/>
          <p:nvPr/>
        </p:nvSpPr>
        <p:spPr>
          <a:xfrm>
            <a:off x="3688511" y="2434003"/>
            <a:ext cx="1677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22"/>
          <p:cNvSpPr txBox="1"/>
          <p:nvPr/>
        </p:nvSpPr>
        <p:spPr>
          <a:xfrm>
            <a:off x="3905413" y="2434003"/>
            <a:ext cx="9261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number =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22"/>
          <p:cNvSpPr txBox="1"/>
          <p:nvPr/>
        </p:nvSpPr>
        <p:spPr>
          <a:xfrm>
            <a:off x="4881013" y="2434003"/>
            <a:ext cx="3846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8F5902"/>
                </a:solidFill>
                <a:latin typeface="Consolas"/>
                <a:ea typeface="Consolas"/>
                <a:cs typeface="Consolas"/>
                <a:sym typeface="Consolas"/>
              </a:rPr>
              <a:t>Inf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22"/>
          <p:cNvSpPr txBox="1"/>
          <p:nvPr/>
        </p:nvSpPr>
        <p:spPr>
          <a:xfrm>
            <a:off x="5206366" y="2434003"/>
            <a:ext cx="1677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22"/>
          <p:cNvSpPr txBox="1"/>
          <p:nvPr/>
        </p:nvSpPr>
        <p:spPr>
          <a:xfrm>
            <a:off x="2170425" y="2670792"/>
            <a:ext cx="16854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adjust.method =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22"/>
          <p:cNvSpPr txBox="1"/>
          <p:nvPr/>
        </p:nvSpPr>
        <p:spPr>
          <a:xfrm>
            <a:off x="3904950" y="2670792"/>
            <a:ext cx="4926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4E9A06"/>
                </a:solidFill>
                <a:latin typeface="Consolas"/>
                <a:ea typeface="Consolas"/>
                <a:cs typeface="Consolas"/>
                <a:sym typeface="Consolas"/>
              </a:rPr>
              <a:t>"BH"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p22"/>
          <p:cNvSpPr txBox="1"/>
          <p:nvPr/>
        </p:nvSpPr>
        <p:spPr>
          <a:xfrm>
            <a:off x="4338525" y="2670792"/>
            <a:ext cx="1677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p22"/>
          <p:cNvSpPr txBox="1"/>
          <p:nvPr/>
        </p:nvSpPr>
        <p:spPr>
          <a:xfrm>
            <a:off x="6521425" y="1561843"/>
            <a:ext cx="7359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lmFit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p22"/>
          <p:cNvSpPr txBox="1"/>
          <p:nvPr/>
        </p:nvSpPr>
        <p:spPr>
          <a:xfrm>
            <a:off x="7219131" y="1523743"/>
            <a:ext cx="3577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ajusta o modelo para cada gene.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22"/>
          <p:cNvSpPr txBox="1"/>
          <p:nvPr/>
        </p:nvSpPr>
        <p:spPr>
          <a:xfrm>
            <a:off x="6521425" y="1952368"/>
            <a:ext cx="8754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eBayes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22"/>
          <p:cNvSpPr txBox="1"/>
          <p:nvPr/>
        </p:nvSpPr>
        <p:spPr>
          <a:xfrm>
            <a:off x="7358583" y="1914268"/>
            <a:ext cx="42663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modera a variância e aumenta o poder.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22"/>
          <p:cNvSpPr txBox="1"/>
          <p:nvPr/>
        </p:nvSpPr>
        <p:spPr>
          <a:xfrm>
            <a:off x="6521425" y="2342893"/>
            <a:ext cx="11544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topTable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22"/>
          <p:cNvSpPr txBox="1"/>
          <p:nvPr/>
        </p:nvSpPr>
        <p:spPr>
          <a:xfrm>
            <a:off x="7637636" y="2304793"/>
            <a:ext cx="3034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resume logFC, t, p, FDR e 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p22"/>
          <p:cNvSpPr txBox="1"/>
          <p:nvPr/>
        </p:nvSpPr>
        <p:spPr>
          <a:xfrm>
            <a:off x="619125" y="5041255"/>
            <a:ext cx="19972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p22"/>
          <p:cNvSpPr txBox="1"/>
          <p:nvPr/>
        </p:nvSpPr>
        <p:spPr>
          <a:xfrm>
            <a:off x="839539" y="5069830"/>
            <a:ext cx="666006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limma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p22"/>
          <p:cNvSpPr txBox="1"/>
          <p:nvPr/>
        </p:nvSpPr>
        <p:spPr>
          <a:xfrm>
            <a:off x="1526084" y="5041255"/>
            <a:ext cx="179590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recebe uma matriz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p22"/>
          <p:cNvSpPr txBox="1"/>
          <p:nvPr/>
        </p:nvSpPr>
        <p:spPr>
          <a:xfrm>
            <a:off x="3342531" y="5041255"/>
            <a:ext cx="24535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i="0" lang="en-US" sz="16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já em escala logarítmica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1" name="Google Shape;1251;p22"/>
          <p:cNvSpPr txBox="1"/>
          <p:nvPr/>
        </p:nvSpPr>
        <p:spPr>
          <a:xfrm>
            <a:off x="5758011" y="5041255"/>
            <a:ext cx="586293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Aqui usamos log2(TPM + 0,001), portanto não foi necessário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p22"/>
          <p:cNvSpPr txBox="1"/>
          <p:nvPr/>
        </p:nvSpPr>
        <p:spPr>
          <a:xfrm>
            <a:off x="619125" y="5366445"/>
            <a:ext cx="54039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voom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p22"/>
          <p:cNvSpPr txBox="1"/>
          <p:nvPr/>
        </p:nvSpPr>
        <p:spPr>
          <a:xfrm>
            <a:off x="1121420" y="5337870"/>
            <a:ext cx="8468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22"/>
          <p:cNvSpPr txBox="1"/>
          <p:nvPr/>
        </p:nvSpPr>
        <p:spPr>
          <a:xfrm>
            <a:off x="520898" y="6300490"/>
            <a:ext cx="22136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que cada argumento faz: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p22"/>
          <p:cNvSpPr txBox="1"/>
          <p:nvPr/>
        </p:nvSpPr>
        <p:spPr>
          <a:xfrm>
            <a:off x="2743498" y="6319540"/>
            <a:ext cx="1243608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trend = TRUE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22"/>
          <p:cNvSpPr txBox="1"/>
          <p:nvPr/>
        </p:nvSpPr>
        <p:spPr>
          <a:xfrm>
            <a:off x="3995886" y="6300490"/>
            <a:ext cx="410185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permite que a variância dependa da expressão média;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22"/>
          <p:cNvSpPr txBox="1"/>
          <p:nvPr/>
        </p:nvSpPr>
        <p:spPr>
          <a:xfrm>
            <a:off x="8106668" y="6319540"/>
            <a:ext cx="134406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robust = TRUE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22"/>
          <p:cNvSpPr txBox="1"/>
          <p:nvPr/>
        </p:nvSpPr>
        <p:spPr>
          <a:xfrm>
            <a:off x="9459516" y="6300490"/>
            <a:ext cx="21041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reduz a influência de genes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22"/>
          <p:cNvSpPr txBox="1"/>
          <p:nvPr/>
        </p:nvSpPr>
        <p:spPr>
          <a:xfrm>
            <a:off x="520898" y="6539657"/>
            <a:ext cx="17698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 variância extrema;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22"/>
          <p:cNvSpPr txBox="1"/>
          <p:nvPr/>
        </p:nvSpPr>
        <p:spPr>
          <a:xfrm>
            <a:off x="2299692" y="6558707"/>
            <a:ext cx="204728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adjust.method = "BH"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22"/>
          <p:cNvSpPr txBox="1"/>
          <p:nvPr/>
        </p:nvSpPr>
        <p:spPr>
          <a:xfrm>
            <a:off x="4355753" y="6539657"/>
            <a:ext cx="16842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transforma p em FDR.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22"/>
          <p:cNvSpPr txBox="1"/>
          <p:nvPr/>
        </p:nvSpPr>
        <p:spPr>
          <a:xfrm>
            <a:off x="6048821" y="6539657"/>
            <a:ext cx="503262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FDR não é a probabilidade de um gene específico estar errado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22"/>
          <p:cNvSpPr txBox="1"/>
          <p:nvPr/>
        </p:nvSpPr>
        <p:spPr>
          <a:xfrm>
            <a:off x="11043345" y="6539657"/>
            <a:ext cx="34617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é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22"/>
          <p:cNvSpPr txBox="1"/>
          <p:nvPr/>
        </p:nvSpPr>
        <p:spPr>
          <a:xfrm>
            <a:off x="520898" y="6778823"/>
            <a:ext cx="628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proporção esperada de falsos positivos dentro do conjunto declarado significativo.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22"/>
          <p:cNvSpPr/>
          <p:nvPr/>
        </p:nvSpPr>
        <p:spPr>
          <a:xfrm>
            <a:off x="6290444" y="1649949"/>
            <a:ext cx="81000" cy="81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22"/>
          <p:cNvSpPr/>
          <p:nvPr/>
        </p:nvSpPr>
        <p:spPr>
          <a:xfrm>
            <a:off x="6290444" y="2040474"/>
            <a:ext cx="81000" cy="81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22"/>
          <p:cNvSpPr/>
          <p:nvPr/>
        </p:nvSpPr>
        <p:spPr>
          <a:xfrm>
            <a:off x="6290444" y="2430999"/>
            <a:ext cx="81000" cy="81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22"/>
          <p:cNvSpPr/>
          <p:nvPr/>
        </p:nvSpPr>
        <p:spPr>
          <a:xfrm>
            <a:off x="6762750" y="133350"/>
            <a:ext cx="5029200" cy="2667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7150" spcFirstLastPara="1" rIns="5715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Refs.: Ritchie et al., 2015; Benjamini, 2010.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23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4" name="Google Shape;1274;p23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5" name="Google Shape;1275;p23"/>
          <p:cNvSpPr/>
          <p:nvPr/>
        </p:nvSpPr>
        <p:spPr>
          <a:xfrm>
            <a:off x="400050" y="783580"/>
            <a:ext cx="11391900" cy="1247031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23"/>
          <p:cNvSpPr/>
          <p:nvPr/>
        </p:nvSpPr>
        <p:spPr>
          <a:xfrm>
            <a:off x="404812" y="788343"/>
            <a:ext cx="1336625" cy="260598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7" name="Google Shape;1277;p23"/>
          <p:cNvCxnSpPr/>
          <p:nvPr/>
        </p:nvCxnSpPr>
        <p:spPr>
          <a:xfrm>
            <a:off x="404812" y="793105"/>
            <a:ext cx="1336626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8" name="Google Shape;1278;p23"/>
          <p:cNvCxnSpPr/>
          <p:nvPr/>
        </p:nvCxnSpPr>
        <p:spPr>
          <a:xfrm>
            <a:off x="409575" y="788343"/>
            <a:ext cx="0" cy="26059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9" name="Google Shape;1279;p23"/>
          <p:cNvSpPr/>
          <p:nvPr/>
        </p:nvSpPr>
        <p:spPr>
          <a:xfrm>
            <a:off x="1741438" y="788343"/>
            <a:ext cx="3916561" cy="260598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0" name="Google Shape;1280;p23"/>
          <p:cNvCxnSpPr/>
          <p:nvPr/>
        </p:nvCxnSpPr>
        <p:spPr>
          <a:xfrm>
            <a:off x="1741438" y="793105"/>
            <a:ext cx="3916561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1" name="Google Shape;1281;p23"/>
          <p:cNvCxnSpPr/>
          <p:nvPr/>
        </p:nvCxnSpPr>
        <p:spPr>
          <a:xfrm>
            <a:off x="1746200" y="788343"/>
            <a:ext cx="0" cy="26059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2" name="Google Shape;1282;p23"/>
          <p:cNvSpPr/>
          <p:nvPr/>
        </p:nvSpPr>
        <p:spPr>
          <a:xfrm>
            <a:off x="5657999" y="788343"/>
            <a:ext cx="1237059" cy="260598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3" name="Google Shape;1283;p23"/>
          <p:cNvCxnSpPr/>
          <p:nvPr/>
        </p:nvCxnSpPr>
        <p:spPr>
          <a:xfrm>
            <a:off x="5657999" y="793105"/>
            <a:ext cx="1237059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4" name="Google Shape;1284;p23"/>
          <p:cNvCxnSpPr/>
          <p:nvPr/>
        </p:nvCxnSpPr>
        <p:spPr>
          <a:xfrm>
            <a:off x="5662761" y="788343"/>
            <a:ext cx="0" cy="26059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5" name="Google Shape;1285;p23"/>
          <p:cNvSpPr/>
          <p:nvPr/>
        </p:nvSpPr>
        <p:spPr>
          <a:xfrm>
            <a:off x="6895058" y="788343"/>
            <a:ext cx="2270224" cy="260598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6" name="Google Shape;1286;p23"/>
          <p:cNvCxnSpPr/>
          <p:nvPr/>
        </p:nvCxnSpPr>
        <p:spPr>
          <a:xfrm>
            <a:off x="6895058" y="793105"/>
            <a:ext cx="2270224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7" name="Google Shape;1287;p23"/>
          <p:cNvCxnSpPr/>
          <p:nvPr/>
        </p:nvCxnSpPr>
        <p:spPr>
          <a:xfrm>
            <a:off x="6899821" y="788343"/>
            <a:ext cx="0" cy="26059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8" name="Google Shape;1288;p23"/>
          <p:cNvSpPr/>
          <p:nvPr/>
        </p:nvSpPr>
        <p:spPr>
          <a:xfrm>
            <a:off x="9165282" y="788343"/>
            <a:ext cx="2621905" cy="260598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9" name="Google Shape;1289;p23"/>
          <p:cNvCxnSpPr/>
          <p:nvPr/>
        </p:nvCxnSpPr>
        <p:spPr>
          <a:xfrm>
            <a:off x="9165282" y="793105"/>
            <a:ext cx="2621906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0" name="Google Shape;1290;p23"/>
          <p:cNvCxnSpPr/>
          <p:nvPr/>
        </p:nvCxnSpPr>
        <p:spPr>
          <a:xfrm>
            <a:off x="9170045" y="788343"/>
            <a:ext cx="0" cy="26059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1" name="Google Shape;1291;p23"/>
          <p:cNvSpPr/>
          <p:nvPr/>
        </p:nvSpPr>
        <p:spPr>
          <a:xfrm>
            <a:off x="404812" y="1048941"/>
            <a:ext cx="1336625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2" name="Google Shape;1292;p23"/>
          <p:cNvCxnSpPr/>
          <p:nvPr/>
        </p:nvCxnSpPr>
        <p:spPr>
          <a:xfrm>
            <a:off x="404812" y="1053703"/>
            <a:ext cx="133662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3" name="Google Shape;1293;p23"/>
          <p:cNvCxnSpPr/>
          <p:nvPr/>
        </p:nvCxnSpPr>
        <p:spPr>
          <a:xfrm>
            <a:off x="409575" y="1048941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4" name="Google Shape;1294;p23"/>
          <p:cNvSpPr/>
          <p:nvPr/>
        </p:nvSpPr>
        <p:spPr>
          <a:xfrm>
            <a:off x="1741438" y="1048941"/>
            <a:ext cx="3916561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5" name="Google Shape;1295;p23"/>
          <p:cNvCxnSpPr/>
          <p:nvPr/>
        </p:nvCxnSpPr>
        <p:spPr>
          <a:xfrm>
            <a:off x="1741438" y="1053703"/>
            <a:ext cx="391656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6" name="Google Shape;1296;p23"/>
          <p:cNvCxnSpPr/>
          <p:nvPr/>
        </p:nvCxnSpPr>
        <p:spPr>
          <a:xfrm>
            <a:off x="1746200" y="1048941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7" name="Google Shape;1297;p23"/>
          <p:cNvSpPr/>
          <p:nvPr/>
        </p:nvSpPr>
        <p:spPr>
          <a:xfrm>
            <a:off x="5657999" y="1048941"/>
            <a:ext cx="1237059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8" name="Google Shape;1298;p23"/>
          <p:cNvCxnSpPr/>
          <p:nvPr/>
        </p:nvCxnSpPr>
        <p:spPr>
          <a:xfrm>
            <a:off x="5657999" y="1053703"/>
            <a:ext cx="123705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9" name="Google Shape;1299;p23"/>
          <p:cNvCxnSpPr/>
          <p:nvPr/>
        </p:nvCxnSpPr>
        <p:spPr>
          <a:xfrm>
            <a:off x="5662761" y="1048941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0" name="Google Shape;1300;p23"/>
          <p:cNvSpPr/>
          <p:nvPr/>
        </p:nvSpPr>
        <p:spPr>
          <a:xfrm>
            <a:off x="6895058" y="1048941"/>
            <a:ext cx="2270224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1" name="Google Shape;1301;p23"/>
          <p:cNvCxnSpPr/>
          <p:nvPr/>
        </p:nvCxnSpPr>
        <p:spPr>
          <a:xfrm>
            <a:off x="6895058" y="1053703"/>
            <a:ext cx="227022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2" name="Google Shape;1302;p23"/>
          <p:cNvCxnSpPr/>
          <p:nvPr/>
        </p:nvCxnSpPr>
        <p:spPr>
          <a:xfrm>
            <a:off x="6899821" y="1048941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3" name="Google Shape;1303;p23"/>
          <p:cNvSpPr/>
          <p:nvPr/>
        </p:nvSpPr>
        <p:spPr>
          <a:xfrm>
            <a:off x="9165282" y="1048941"/>
            <a:ext cx="2621905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4" name="Google Shape;1304;p23"/>
          <p:cNvCxnSpPr/>
          <p:nvPr/>
        </p:nvCxnSpPr>
        <p:spPr>
          <a:xfrm>
            <a:off x="9165282" y="1053703"/>
            <a:ext cx="262190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5" name="Google Shape;1305;p23"/>
          <p:cNvCxnSpPr/>
          <p:nvPr/>
        </p:nvCxnSpPr>
        <p:spPr>
          <a:xfrm>
            <a:off x="9170045" y="1048941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6" name="Google Shape;1306;p23"/>
          <p:cNvSpPr/>
          <p:nvPr/>
        </p:nvSpPr>
        <p:spPr>
          <a:xfrm>
            <a:off x="404812" y="1293168"/>
            <a:ext cx="1336625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7" name="Google Shape;1307;p23"/>
          <p:cNvCxnSpPr/>
          <p:nvPr/>
        </p:nvCxnSpPr>
        <p:spPr>
          <a:xfrm>
            <a:off x="404812" y="1297930"/>
            <a:ext cx="133662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8" name="Google Shape;1308;p23"/>
          <p:cNvCxnSpPr/>
          <p:nvPr/>
        </p:nvCxnSpPr>
        <p:spPr>
          <a:xfrm>
            <a:off x="409575" y="1293168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9" name="Google Shape;1309;p23"/>
          <p:cNvSpPr/>
          <p:nvPr/>
        </p:nvSpPr>
        <p:spPr>
          <a:xfrm>
            <a:off x="1741438" y="1293168"/>
            <a:ext cx="3916561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0" name="Google Shape;1310;p23"/>
          <p:cNvCxnSpPr/>
          <p:nvPr/>
        </p:nvCxnSpPr>
        <p:spPr>
          <a:xfrm>
            <a:off x="1741438" y="1297930"/>
            <a:ext cx="391656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1" name="Google Shape;1311;p23"/>
          <p:cNvCxnSpPr/>
          <p:nvPr/>
        </p:nvCxnSpPr>
        <p:spPr>
          <a:xfrm>
            <a:off x="1746200" y="1293168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2" name="Google Shape;1312;p23"/>
          <p:cNvSpPr/>
          <p:nvPr/>
        </p:nvSpPr>
        <p:spPr>
          <a:xfrm>
            <a:off x="5657999" y="1293168"/>
            <a:ext cx="1237059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3" name="Google Shape;1313;p23"/>
          <p:cNvCxnSpPr/>
          <p:nvPr/>
        </p:nvCxnSpPr>
        <p:spPr>
          <a:xfrm>
            <a:off x="5657999" y="1297930"/>
            <a:ext cx="123705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4" name="Google Shape;1314;p23"/>
          <p:cNvCxnSpPr/>
          <p:nvPr/>
        </p:nvCxnSpPr>
        <p:spPr>
          <a:xfrm>
            <a:off x="5662761" y="1293168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5" name="Google Shape;1315;p23"/>
          <p:cNvSpPr/>
          <p:nvPr/>
        </p:nvSpPr>
        <p:spPr>
          <a:xfrm>
            <a:off x="6895058" y="1293168"/>
            <a:ext cx="2270224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6" name="Google Shape;1316;p23"/>
          <p:cNvCxnSpPr/>
          <p:nvPr/>
        </p:nvCxnSpPr>
        <p:spPr>
          <a:xfrm>
            <a:off x="6895058" y="1297930"/>
            <a:ext cx="227022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7" name="Google Shape;1317;p23"/>
          <p:cNvCxnSpPr/>
          <p:nvPr/>
        </p:nvCxnSpPr>
        <p:spPr>
          <a:xfrm>
            <a:off x="6899821" y="1293168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8" name="Google Shape;1318;p23"/>
          <p:cNvSpPr/>
          <p:nvPr/>
        </p:nvSpPr>
        <p:spPr>
          <a:xfrm>
            <a:off x="9165282" y="1293168"/>
            <a:ext cx="2621905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9" name="Google Shape;1319;p23"/>
          <p:cNvCxnSpPr/>
          <p:nvPr/>
        </p:nvCxnSpPr>
        <p:spPr>
          <a:xfrm>
            <a:off x="9165282" y="1297930"/>
            <a:ext cx="262190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0" name="Google Shape;1320;p23"/>
          <p:cNvCxnSpPr/>
          <p:nvPr/>
        </p:nvCxnSpPr>
        <p:spPr>
          <a:xfrm>
            <a:off x="9170045" y="1293168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1" name="Google Shape;1321;p23"/>
          <p:cNvSpPr/>
          <p:nvPr/>
        </p:nvSpPr>
        <p:spPr>
          <a:xfrm>
            <a:off x="404812" y="1537395"/>
            <a:ext cx="1336625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2" name="Google Shape;1322;p23"/>
          <p:cNvCxnSpPr/>
          <p:nvPr/>
        </p:nvCxnSpPr>
        <p:spPr>
          <a:xfrm>
            <a:off x="404812" y="1542157"/>
            <a:ext cx="133662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3" name="Google Shape;1323;p23"/>
          <p:cNvCxnSpPr/>
          <p:nvPr/>
        </p:nvCxnSpPr>
        <p:spPr>
          <a:xfrm>
            <a:off x="409575" y="1537395"/>
            <a:ext cx="0" cy="244226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4" name="Google Shape;1324;p23"/>
          <p:cNvSpPr/>
          <p:nvPr/>
        </p:nvSpPr>
        <p:spPr>
          <a:xfrm>
            <a:off x="1741438" y="1537395"/>
            <a:ext cx="3916561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5" name="Google Shape;1325;p23"/>
          <p:cNvCxnSpPr/>
          <p:nvPr/>
        </p:nvCxnSpPr>
        <p:spPr>
          <a:xfrm>
            <a:off x="1741438" y="1542157"/>
            <a:ext cx="391656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6" name="Google Shape;1326;p23"/>
          <p:cNvCxnSpPr/>
          <p:nvPr/>
        </p:nvCxnSpPr>
        <p:spPr>
          <a:xfrm>
            <a:off x="1746200" y="1537395"/>
            <a:ext cx="0" cy="244226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7" name="Google Shape;1327;p23"/>
          <p:cNvSpPr/>
          <p:nvPr/>
        </p:nvSpPr>
        <p:spPr>
          <a:xfrm>
            <a:off x="5657999" y="1537395"/>
            <a:ext cx="1237059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8" name="Google Shape;1328;p23"/>
          <p:cNvCxnSpPr/>
          <p:nvPr/>
        </p:nvCxnSpPr>
        <p:spPr>
          <a:xfrm>
            <a:off x="5657999" y="1542157"/>
            <a:ext cx="123705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9" name="Google Shape;1329;p23"/>
          <p:cNvCxnSpPr/>
          <p:nvPr/>
        </p:nvCxnSpPr>
        <p:spPr>
          <a:xfrm>
            <a:off x="5662761" y="1537395"/>
            <a:ext cx="0" cy="244226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0" name="Google Shape;1330;p23"/>
          <p:cNvSpPr/>
          <p:nvPr/>
        </p:nvSpPr>
        <p:spPr>
          <a:xfrm>
            <a:off x="6895058" y="1537395"/>
            <a:ext cx="2270224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1" name="Google Shape;1331;p23"/>
          <p:cNvCxnSpPr/>
          <p:nvPr/>
        </p:nvCxnSpPr>
        <p:spPr>
          <a:xfrm>
            <a:off x="6895058" y="1542157"/>
            <a:ext cx="227022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2" name="Google Shape;1332;p23"/>
          <p:cNvCxnSpPr/>
          <p:nvPr/>
        </p:nvCxnSpPr>
        <p:spPr>
          <a:xfrm>
            <a:off x="6899821" y="1537395"/>
            <a:ext cx="0" cy="244226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3" name="Google Shape;1333;p23"/>
          <p:cNvSpPr/>
          <p:nvPr/>
        </p:nvSpPr>
        <p:spPr>
          <a:xfrm>
            <a:off x="9165282" y="1537395"/>
            <a:ext cx="2621905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4" name="Google Shape;1334;p23"/>
          <p:cNvCxnSpPr/>
          <p:nvPr/>
        </p:nvCxnSpPr>
        <p:spPr>
          <a:xfrm>
            <a:off x="9165282" y="1542157"/>
            <a:ext cx="262190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5" name="Google Shape;1335;p23"/>
          <p:cNvCxnSpPr/>
          <p:nvPr/>
        </p:nvCxnSpPr>
        <p:spPr>
          <a:xfrm>
            <a:off x="9170045" y="1537395"/>
            <a:ext cx="0" cy="244226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6" name="Google Shape;1336;p23"/>
          <p:cNvSpPr/>
          <p:nvPr/>
        </p:nvSpPr>
        <p:spPr>
          <a:xfrm>
            <a:off x="404812" y="1781621"/>
            <a:ext cx="1336625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7" name="Google Shape;1337;p23"/>
          <p:cNvCxnSpPr/>
          <p:nvPr/>
        </p:nvCxnSpPr>
        <p:spPr>
          <a:xfrm>
            <a:off x="404812" y="1786384"/>
            <a:ext cx="133662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8" name="Google Shape;1338;p23"/>
          <p:cNvCxnSpPr/>
          <p:nvPr/>
        </p:nvCxnSpPr>
        <p:spPr>
          <a:xfrm>
            <a:off x="409575" y="1781621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9" name="Google Shape;1339;p23"/>
          <p:cNvSpPr/>
          <p:nvPr/>
        </p:nvSpPr>
        <p:spPr>
          <a:xfrm>
            <a:off x="1741438" y="1781621"/>
            <a:ext cx="3916561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0" name="Google Shape;1340;p23"/>
          <p:cNvCxnSpPr/>
          <p:nvPr/>
        </p:nvCxnSpPr>
        <p:spPr>
          <a:xfrm>
            <a:off x="1741438" y="1786384"/>
            <a:ext cx="391656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1" name="Google Shape;1341;p23"/>
          <p:cNvCxnSpPr/>
          <p:nvPr/>
        </p:nvCxnSpPr>
        <p:spPr>
          <a:xfrm>
            <a:off x="1746200" y="1781621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2" name="Google Shape;1342;p23"/>
          <p:cNvSpPr/>
          <p:nvPr/>
        </p:nvSpPr>
        <p:spPr>
          <a:xfrm>
            <a:off x="5657999" y="1781621"/>
            <a:ext cx="1237059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3" name="Google Shape;1343;p23"/>
          <p:cNvCxnSpPr/>
          <p:nvPr/>
        </p:nvCxnSpPr>
        <p:spPr>
          <a:xfrm>
            <a:off x="5657999" y="1786384"/>
            <a:ext cx="123705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4" name="Google Shape;1344;p23"/>
          <p:cNvCxnSpPr/>
          <p:nvPr/>
        </p:nvCxnSpPr>
        <p:spPr>
          <a:xfrm>
            <a:off x="5662761" y="1781621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5" name="Google Shape;1345;p23"/>
          <p:cNvSpPr/>
          <p:nvPr/>
        </p:nvSpPr>
        <p:spPr>
          <a:xfrm>
            <a:off x="6895058" y="1781621"/>
            <a:ext cx="2270224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6" name="Google Shape;1346;p23"/>
          <p:cNvCxnSpPr/>
          <p:nvPr/>
        </p:nvCxnSpPr>
        <p:spPr>
          <a:xfrm>
            <a:off x="6895058" y="1786384"/>
            <a:ext cx="227022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7" name="Google Shape;1347;p23"/>
          <p:cNvCxnSpPr/>
          <p:nvPr/>
        </p:nvCxnSpPr>
        <p:spPr>
          <a:xfrm>
            <a:off x="6899821" y="1781621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8" name="Google Shape;1348;p23"/>
          <p:cNvSpPr/>
          <p:nvPr/>
        </p:nvSpPr>
        <p:spPr>
          <a:xfrm>
            <a:off x="9165282" y="1781621"/>
            <a:ext cx="2621905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9" name="Google Shape;1349;p23"/>
          <p:cNvCxnSpPr/>
          <p:nvPr/>
        </p:nvCxnSpPr>
        <p:spPr>
          <a:xfrm>
            <a:off x="9165282" y="1786384"/>
            <a:ext cx="262190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0" name="Google Shape;1350;p23"/>
          <p:cNvCxnSpPr/>
          <p:nvPr/>
        </p:nvCxnSpPr>
        <p:spPr>
          <a:xfrm>
            <a:off x="9170045" y="1781621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1" name="Google Shape;1351;p23"/>
          <p:cNvSpPr/>
          <p:nvPr/>
        </p:nvSpPr>
        <p:spPr>
          <a:xfrm>
            <a:off x="400050" y="4208675"/>
            <a:ext cx="11391900" cy="1366200"/>
          </a:xfrm>
          <a:prstGeom prst="roundRect">
            <a:avLst>
              <a:gd fmla="val 4574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2" name="Google Shape;1352;p23"/>
          <p:cNvSpPr txBox="1"/>
          <p:nvPr/>
        </p:nvSpPr>
        <p:spPr>
          <a:xfrm>
            <a:off x="400050" y="161925"/>
            <a:ext cx="3629323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Exemplos reais de logFC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3" name="Google Shape;1353;p23"/>
          <p:cNvSpPr txBox="1"/>
          <p:nvPr/>
        </p:nvSpPr>
        <p:spPr>
          <a:xfrm>
            <a:off x="438150" y="818108"/>
            <a:ext cx="12649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4" name="Google Shape;1354;p23"/>
          <p:cNvSpPr txBox="1"/>
          <p:nvPr/>
        </p:nvSpPr>
        <p:spPr>
          <a:xfrm>
            <a:off x="1779270" y="818108"/>
            <a:ext cx="3840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5" name="Google Shape;1355;p23"/>
          <p:cNvSpPr txBox="1"/>
          <p:nvPr/>
        </p:nvSpPr>
        <p:spPr>
          <a:xfrm>
            <a:off x="5695950" y="818108"/>
            <a:ext cx="116109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logFC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6" name="Google Shape;1356;p23"/>
          <p:cNvSpPr txBox="1"/>
          <p:nvPr/>
        </p:nvSpPr>
        <p:spPr>
          <a:xfrm>
            <a:off x="6933247" y="818108"/>
            <a:ext cx="219360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FC aproximado (Fa</a:t>
            </a:r>
            <a:r>
              <a:rPr lang="en-US" sz="1087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tor de variação)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23"/>
          <p:cNvSpPr txBox="1"/>
          <p:nvPr/>
        </p:nvSpPr>
        <p:spPr>
          <a:xfrm>
            <a:off x="9203055" y="818108"/>
            <a:ext cx="254603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Direção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p23"/>
          <p:cNvSpPr txBox="1"/>
          <p:nvPr/>
        </p:nvSpPr>
        <p:spPr>
          <a:xfrm>
            <a:off x="438150" y="1070521"/>
            <a:ext cx="12649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GPC3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23"/>
          <p:cNvSpPr txBox="1"/>
          <p:nvPr/>
        </p:nvSpPr>
        <p:spPr>
          <a:xfrm>
            <a:off x="1779270" y="1070521"/>
            <a:ext cx="3840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tumor vs. GTEx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0" name="Google Shape;1360;p23"/>
          <p:cNvSpPr txBox="1"/>
          <p:nvPr/>
        </p:nvSpPr>
        <p:spPr>
          <a:xfrm>
            <a:off x="5695950" y="1070521"/>
            <a:ext cx="116109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6.969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23"/>
          <p:cNvSpPr txBox="1"/>
          <p:nvPr/>
        </p:nvSpPr>
        <p:spPr>
          <a:xfrm>
            <a:off x="6933247" y="1070521"/>
            <a:ext cx="219360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≈125×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23"/>
          <p:cNvSpPr txBox="1"/>
          <p:nvPr/>
        </p:nvSpPr>
        <p:spPr>
          <a:xfrm>
            <a:off x="9203055" y="1070521"/>
            <a:ext cx="254603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 no tumor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p23"/>
          <p:cNvSpPr txBox="1"/>
          <p:nvPr/>
        </p:nvSpPr>
        <p:spPr>
          <a:xfrm>
            <a:off x="438150" y="1314748"/>
            <a:ext cx="12649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4" name="Google Shape;1364;p23"/>
          <p:cNvSpPr txBox="1"/>
          <p:nvPr/>
        </p:nvSpPr>
        <p:spPr>
          <a:xfrm>
            <a:off x="1779270" y="1314748"/>
            <a:ext cx="3840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tumor vs. GTEx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23"/>
          <p:cNvSpPr txBox="1"/>
          <p:nvPr/>
        </p:nvSpPr>
        <p:spPr>
          <a:xfrm>
            <a:off x="5695950" y="1314748"/>
            <a:ext cx="116109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2.852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p23"/>
          <p:cNvSpPr txBox="1"/>
          <p:nvPr/>
        </p:nvSpPr>
        <p:spPr>
          <a:xfrm>
            <a:off x="6933247" y="1314748"/>
            <a:ext cx="219360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≈7,2×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23"/>
          <p:cNvSpPr txBox="1"/>
          <p:nvPr/>
        </p:nvSpPr>
        <p:spPr>
          <a:xfrm>
            <a:off x="9203055" y="1314748"/>
            <a:ext cx="254603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 no tumor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23"/>
          <p:cNvSpPr txBox="1"/>
          <p:nvPr/>
        </p:nvSpPr>
        <p:spPr>
          <a:xfrm>
            <a:off x="438150" y="1558975"/>
            <a:ext cx="12649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CLEC4M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p23"/>
          <p:cNvSpPr txBox="1"/>
          <p:nvPr/>
        </p:nvSpPr>
        <p:spPr>
          <a:xfrm>
            <a:off x="1779270" y="1558975"/>
            <a:ext cx="3840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tumor vs. GTEx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23"/>
          <p:cNvSpPr txBox="1"/>
          <p:nvPr/>
        </p:nvSpPr>
        <p:spPr>
          <a:xfrm>
            <a:off x="5695950" y="1558975"/>
            <a:ext cx="116109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-10.201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1" name="Google Shape;1371;p23"/>
          <p:cNvSpPr txBox="1"/>
          <p:nvPr/>
        </p:nvSpPr>
        <p:spPr>
          <a:xfrm>
            <a:off x="6933247" y="1558975"/>
            <a:ext cx="219360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≈1/1.177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2" name="Google Shape;1372;p23"/>
          <p:cNvSpPr txBox="1"/>
          <p:nvPr/>
        </p:nvSpPr>
        <p:spPr>
          <a:xfrm>
            <a:off x="9203055" y="1558975"/>
            <a:ext cx="254603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Down no tumor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23"/>
          <p:cNvSpPr txBox="1"/>
          <p:nvPr/>
        </p:nvSpPr>
        <p:spPr>
          <a:xfrm>
            <a:off x="438150" y="1803202"/>
            <a:ext cx="12649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23"/>
          <p:cNvSpPr txBox="1"/>
          <p:nvPr/>
        </p:nvSpPr>
        <p:spPr>
          <a:xfrm>
            <a:off x="1779270" y="1803202"/>
            <a:ext cx="3840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GTEx masculino vs. feminino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23"/>
          <p:cNvSpPr txBox="1"/>
          <p:nvPr/>
        </p:nvSpPr>
        <p:spPr>
          <a:xfrm>
            <a:off x="5695950" y="1803202"/>
            <a:ext cx="116109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-9.273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p23"/>
          <p:cNvSpPr txBox="1"/>
          <p:nvPr/>
        </p:nvSpPr>
        <p:spPr>
          <a:xfrm>
            <a:off x="6933247" y="1803202"/>
            <a:ext cx="219360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≈1/617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p23"/>
          <p:cNvSpPr txBox="1"/>
          <p:nvPr/>
        </p:nvSpPr>
        <p:spPr>
          <a:xfrm>
            <a:off x="9203055" y="1803202"/>
            <a:ext cx="254603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Down em homens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8" name="Google Shape;1378;p23"/>
          <p:cNvSpPr txBox="1"/>
          <p:nvPr/>
        </p:nvSpPr>
        <p:spPr>
          <a:xfrm>
            <a:off x="661988" y="2051298"/>
            <a:ext cx="70380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GPC3: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p23"/>
          <p:cNvSpPr txBox="1"/>
          <p:nvPr/>
        </p:nvSpPr>
        <p:spPr>
          <a:xfrm>
            <a:off x="1392882" y="2051298"/>
            <a:ext cx="445472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≈125× mais expresso no tumor; marcador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0" name="Google Shape;1380;p23"/>
          <p:cNvSpPr txBox="1"/>
          <p:nvPr/>
        </p:nvSpPr>
        <p:spPr>
          <a:xfrm>
            <a:off x="661988" y="2370386"/>
            <a:ext cx="174069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clássico de HCC.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23"/>
          <p:cNvSpPr txBox="1"/>
          <p:nvPr/>
        </p:nvSpPr>
        <p:spPr>
          <a:xfrm>
            <a:off x="661988" y="2741861"/>
            <a:ext cx="54024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AFP: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23"/>
          <p:cNvSpPr txBox="1"/>
          <p:nvPr/>
        </p:nvSpPr>
        <p:spPr>
          <a:xfrm>
            <a:off x="1229320" y="2741861"/>
            <a:ext cx="33099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≈7,2× mais expresso no tumor.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23"/>
          <p:cNvSpPr txBox="1"/>
          <p:nvPr/>
        </p:nvSpPr>
        <p:spPr>
          <a:xfrm>
            <a:off x="661988" y="3113336"/>
            <a:ext cx="101322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CLEC4M: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p23"/>
          <p:cNvSpPr txBox="1"/>
          <p:nvPr/>
        </p:nvSpPr>
        <p:spPr>
          <a:xfrm>
            <a:off x="1702296" y="3113336"/>
            <a:ext cx="373052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≈1.177× menor no tumor; receptor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23"/>
          <p:cNvSpPr txBox="1"/>
          <p:nvPr/>
        </p:nvSpPr>
        <p:spPr>
          <a:xfrm>
            <a:off x="661988" y="3432423"/>
            <a:ext cx="4013299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endotelial sinusoidal, consistente 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23"/>
          <p:cNvSpPr txBox="1"/>
          <p:nvPr/>
        </p:nvSpPr>
        <p:spPr>
          <a:xfrm>
            <a:off x="661988" y="3751511"/>
            <a:ext cx="185410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desdiferenciação.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23"/>
          <p:cNvSpPr txBox="1"/>
          <p:nvPr/>
        </p:nvSpPr>
        <p:spPr>
          <a:xfrm>
            <a:off x="6524625" y="2201317"/>
            <a:ext cx="60513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XIST: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8" name="Google Shape;1388;p23"/>
          <p:cNvSpPr txBox="1"/>
          <p:nvPr/>
        </p:nvSpPr>
        <p:spPr>
          <a:xfrm>
            <a:off x="7156847" y="2201317"/>
            <a:ext cx="28527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≈617× menor em homens;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9" name="Google Shape;1389;p23"/>
          <p:cNvSpPr txBox="1"/>
          <p:nvPr/>
        </p:nvSpPr>
        <p:spPr>
          <a:xfrm>
            <a:off x="10036671" y="2201317"/>
            <a:ext cx="970657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controle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23"/>
          <p:cNvSpPr txBox="1"/>
          <p:nvPr/>
        </p:nvSpPr>
        <p:spPr>
          <a:xfrm>
            <a:off x="6524625" y="2520404"/>
            <a:ext cx="936427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positivo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Google Shape;1391;p23"/>
          <p:cNvSpPr txBox="1"/>
          <p:nvPr/>
        </p:nvSpPr>
        <p:spPr>
          <a:xfrm>
            <a:off x="7488138" y="2520404"/>
            <a:ext cx="267399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 comparação por sexo.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2" name="Google Shape;1392;p23"/>
          <p:cNvSpPr txBox="1"/>
          <p:nvPr/>
        </p:nvSpPr>
        <p:spPr>
          <a:xfrm>
            <a:off x="6524625" y="2891879"/>
            <a:ext cx="5093047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sinal do logFC depende do contraste: positivo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3" name="Google Shape;1393;p23"/>
          <p:cNvSpPr txBox="1"/>
          <p:nvPr/>
        </p:nvSpPr>
        <p:spPr>
          <a:xfrm>
            <a:off x="6524625" y="3210967"/>
            <a:ext cx="385241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grupo de interesse no numerador.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23"/>
          <p:cNvSpPr txBox="1"/>
          <p:nvPr/>
        </p:nvSpPr>
        <p:spPr>
          <a:xfrm>
            <a:off x="6524625" y="3620542"/>
            <a:ext cx="12939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logFC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23"/>
          <p:cNvSpPr txBox="1"/>
          <p:nvPr/>
        </p:nvSpPr>
        <p:spPr>
          <a:xfrm>
            <a:off x="7845623" y="3582442"/>
            <a:ext cx="892969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significa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23"/>
          <p:cNvSpPr txBox="1"/>
          <p:nvPr/>
        </p:nvSpPr>
        <p:spPr>
          <a:xfrm>
            <a:off x="8765679" y="3582442"/>
            <a:ext cx="34349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23"/>
          <p:cNvSpPr txBox="1"/>
          <p:nvPr/>
        </p:nvSpPr>
        <p:spPr>
          <a:xfrm>
            <a:off x="9071074" y="3582442"/>
            <a:ext cx="95860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não 1×.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23"/>
          <p:cNvSpPr txBox="1"/>
          <p:nvPr/>
        </p:nvSpPr>
        <p:spPr>
          <a:xfrm>
            <a:off x="520898" y="4518720"/>
            <a:ext cx="270271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23"/>
          <p:cNvSpPr txBox="1"/>
          <p:nvPr/>
        </p:nvSpPr>
        <p:spPr>
          <a:xfrm>
            <a:off x="3232398" y="4518720"/>
            <a:ext cx="387146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23"/>
          <p:cNvSpPr txBox="1"/>
          <p:nvPr/>
        </p:nvSpPr>
        <p:spPr>
          <a:xfrm>
            <a:off x="7112794" y="4518720"/>
            <a:ext cx="25966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23"/>
          <p:cNvSpPr txBox="1"/>
          <p:nvPr/>
        </p:nvSpPr>
        <p:spPr>
          <a:xfrm>
            <a:off x="9671298" y="4518720"/>
            <a:ext cx="61585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23"/>
          <p:cNvSpPr txBox="1"/>
          <p:nvPr/>
        </p:nvSpPr>
        <p:spPr>
          <a:xfrm>
            <a:off x="10249049" y="4480620"/>
            <a:ext cx="398859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3" name="Google Shape;1403;p23"/>
          <p:cNvSpPr txBox="1"/>
          <p:nvPr/>
        </p:nvSpPr>
        <p:spPr>
          <a:xfrm>
            <a:off x="10609808" y="4518720"/>
            <a:ext cx="80501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4" name="Google Shape;1404;p23"/>
          <p:cNvSpPr txBox="1"/>
          <p:nvPr/>
        </p:nvSpPr>
        <p:spPr>
          <a:xfrm>
            <a:off x="520898" y="4748361"/>
            <a:ext cx="583450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5" name="Google Shape;1405;p23"/>
          <p:cNvSpPr txBox="1"/>
          <p:nvPr/>
        </p:nvSpPr>
        <p:spPr>
          <a:xfrm>
            <a:off x="6364337" y="4748361"/>
            <a:ext cx="159484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23"/>
          <p:cNvSpPr txBox="1"/>
          <p:nvPr/>
        </p:nvSpPr>
        <p:spPr>
          <a:xfrm>
            <a:off x="7921079" y="4748361"/>
            <a:ext cx="30916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p23"/>
          <p:cNvSpPr/>
          <p:nvPr/>
        </p:nvSpPr>
        <p:spPr>
          <a:xfrm>
            <a:off x="431006" y="2177504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23"/>
          <p:cNvSpPr/>
          <p:nvPr/>
        </p:nvSpPr>
        <p:spPr>
          <a:xfrm>
            <a:off x="431006" y="2868067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23"/>
          <p:cNvSpPr/>
          <p:nvPr/>
        </p:nvSpPr>
        <p:spPr>
          <a:xfrm>
            <a:off x="431006" y="3239542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p23"/>
          <p:cNvSpPr/>
          <p:nvPr/>
        </p:nvSpPr>
        <p:spPr>
          <a:xfrm>
            <a:off x="6293644" y="2327523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1" name="Google Shape;1411;p23"/>
          <p:cNvSpPr/>
          <p:nvPr/>
        </p:nvSpPr>
        <p:spPr>
          <a:xfrm>
            <a:off x="6293644" y="3018086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23"/>
          <p:cNvSpPr/>
          <p:nvPr/>
        </p:nvSpPr>
        <p:spPr>
          <a:xfrm>
            <a:off x="6293644" y="3708648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23"/>
          <p:cNvSpPr txBox="1"/>
          <p:nvPr/>
        </p:nvSpPr>
        <p:spPr>
          <a:xfrm>
            <a:off x="520900" y="4389675"/>
            <a:ext cx="110967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04A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 que o logFC é uma diferença:</a:t>
            </a:r>
            <a:r>
              <a:rPr lang="en-US" sz="1300">
                <a:solidFill>
                  <a:srgbClr val="204A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como os dados já estão em log2(TPM), o logFC é a </a:t>
            </a:r>
            <a:r>
              <a:rPr i="1" lang="en-US" sz="1300">
                <a:solidFill>
                  <a:srgbClr val="204A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diferença entre as médias dos log2</a:t>
            </a:r>
            <a:r>
              <a:rPr lang="en-US" sz="1300">
                <a:solidFill>
                  <a:srgbClr val="204A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. FC = 2 </a:t>
            </a:r>
            <a:r>
              <a:rPr baseline="30000" lang="en-US" sz="1300">
                <a:solidFill>
                  <a:srgbClr val="204A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logFC</a:t>
            </a:r>
            <a:r>
              <a:rPr lang="en-US" sz="1300">
                <a:solidFill>
                  <a:srgbClr val="204A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. Exemplo: logFC = 1,44 → FC ≈ 2,7×. “Down em homens” para XIST significa que XIST é </a:t>
            </a:r>
            <a:r>
              <a:rPr b="1" lang="en-US" sz="1300">
                <a:solidFill>
                  <a:srgbClr val="204A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maior em mulheres </a:t>
            </a:r>
            <a:r>
              <a:rPr lang="en-US" sz="1300">
                <a:solidFill>
                  <a:srgbClr val="204A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; o numerador do contraste é masculino.</a:t>
            </a:r>
            <a:endParaRPr b="1" sz="1300">
              <a:solidFill>
                <a:srgbClr val="204A87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04A87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04A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Como os dados de expressão no projeto são analisados em escala logarítmica de base 2 (log_2), o pacote estatístico calcula diretamente a diferença de médias nessa escala, chamada de </a:t>
            </a:r>
            <a:r>
              <a:rPr b="1" lang="en-US" sz="1300">
                <a:solidFill>
                  <a:srgbClr val="204A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logFC</a:t>
            </a:r>
            <a:r>
              <a:rPr lang="en-US" sz="1300">
                <a:solidFill>
                  <a:srgbClr val="204A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2more_horiz.</a:t>
            </a:r>
            <a:endParaRPr sz="1300">
              <a:solidFill>
                <a:srgbClr val="204A87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25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9" name="Google Shape;1419;p25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0" name="Google Shape;1420;p25"/>
          <p:cNvSpPr/>
          <p:nvPr/>
        </p:nvSpPr>
        <p:spPr>
          <a:xfrm>
            <a:off x="849809" y="4302323"/>
            <a:ext cx="4629596" cy="1473994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25"/>
          <p:cNvSpPr/>
          <p:nvPr/>
        </p:nvSpPr>
        <p:spPr>
          <a:xfrm>
            <a:off x="854571" y="4307086"/>
            <a:ext cx="1668363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2" name="Google Shape;1422;p25"/>
          <p:cNvCxnSpPr/>
          <p:nvPr/>
        </p:nvCxnSpPr>
        <p:spPr>
          <a:xfrm>
            <a:off x="854571" y="4311848"/>
            <a:ext cx="1668363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423" name="Google Shape;1423;p25"/>
          <p:cNvCxnSpPr/>
          <p:nvPr/>
        </p:nvCxnSpPr>
        <p:spPr>
          <a:xfrm>
            <a:off x="859334" y="4307086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424" name="Google Shape;1424;p25"/>
          <p:cNvSpPr/>
          <p:nvPr/>
        </p:nvSpPr>
        <p:spPr>
          <a:xfrm>
            <a:off x="2522934" y="4307086"/>
            <a:ext cx="2951708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5" name="Google Shape;1425;p25"/>
          <p:cNvCxnSpPr/>
          <p:nvPr/>
        </p:nvCxnSpPr>
        <p:spPr>
          <a:xfrm>
            <a:off x="2522934" y="4311848"/>
            <a:ext cx="2951709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426" name="Google Shape;1426;p25"/>
          <p:cNvCxnSpPr/>
          <p:nvPr/>
        </p:nvCxnSpPr>
        <p:spPr>
          <a:xfrm>
            <a:off x="2527697" y="4307086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427" name="Google Shape;1427;p25"/>
          <p:cNvSpPr/>
          <p:nvPr/>
        </p:nvSpPr>
        <p:spPr>
          <a:xfrm>
            <a:off x="854571" y="4599980"/>
            <a:ext cx="1668363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8" name="Google Shape;1428;p25"/>
          <p:cNvCxnSpPr/>
          <p:nvPr/>
        </p:nvCxnSpPr>
        <p:spPr>
          <a:xfrm>
            <a:off x="854571" y="4604742"/>
            <a:ext cx="1668363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429" name="Google Shape;1429;p25"/>
          <p:cNvCxnSpPr/>
          <p:nvPr/>
        </p:nvCxnSpPr>
        <p:spPr>
          <a:xfrm>
            <a:off x="859334" y="4599980"/>
            <a:ext cx="0" cy="29289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430" name="Google Shape;1430;p25"/>
          <p:cNvSpPr/>
          <p:nvPr/>
        </p:nvSpPr>
        <p:spPr>
          <a:xfrm>
            <a:off x="2522934" y="4599980"/>
            <a:ext cx="2951708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1" name="Google Shape;1431;p25"/>
          <p:cNvCxnSpPr/>
          <p:nvPr/>
        </p:nvCxnSpPr>
        <p:spPr>
          <a:xfrm>
            <a:off x="2522934" y="4604742"/>
            <a:ext cx="2951709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432" name="Google Shape;1432;p25"/>
          <p:cNvCxnSpPr/>
          <p:nvPr/>
        </p:nvCxnSpPr>
        <p:spPr>
          <a:xfrm>
            <a:off x="2527697" y="4599980"/>
            <a:ext cx="0" cy="29289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433" name="Google Shape;1433;p25"/>
          <p:cNvSpPr/>
          <p:nvPr/>
        </p:nvSpPr>
        <p:spPr>
          <a:xfrm>
            <a:off x="854571" y="4892873"/>
            <a:ext cx="1668363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4" name="Google Shape;1434;p25"/>
          <p:cNvCxnSpPr/>
          <p:nvPr/>
        </p:nvCxnSpPr>
        <p:spPr>
          <a:xfrm>
            <a:off x="854571" y="4897636"/>
            <a:ext cx="1668363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435" name="Google Shape;1435;p25"/>
          <p:cNvCxnSpPr/>
          <p:nvPr/>
        </p:nvCxnSpPr>
        <p:spPr>
          <a:xfrm>
            <a:off x="859334" y="4892873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436" name="Google Shape;1436;p25"/>
          <p:cNvSpPr/>
          <p:nvPr/>
        </p:nvSpPr>
        <p:spPr>
          <a:xfrm>
            <a:off x="2522934" y="4892873"/>
            <a:ext cx="2951708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7" name="Google Shape;1437;p25"/>
          <p:cNvCxnSpPr/>
          <p:nvPr/>
        </p:nvCxnSpPr>
        <p:spPr>
          <a:xfrm>
            <a:off x="2522934" y="4897636"/>
            <a:ext cx="2951709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438" name="Google Shape;1438;p25"/>
          <p:cNvCxnSpPr/>
          <p:nvPr/>
        </p:nvCxnSpPr>
        <p:spPr>
          <a:xfrm>
            <a:off x="2527697" y="4892873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439" name="Google Shape;1439;p25"/>
          <p:cNvSpPr/>
          <p:nvPr/>
        </p:nvSpPr>
        <p:spPr>
          <a:xfrm>
            <a:off x="854571" y="5185767"/>
            <a:ext cx="1668363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0" name="Google Shape;1440;p25"/>
          <p:cNvCxnSpPr/>
          <p:nvPr/>
        </p:nvCxnSpPr>
        <p:spPr>
          <a:xfrm>
            <a:off x="854571" y="5190530"/>
            <a:ext cx="1668363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441" name="Google Shape;1441;p25"/>
          <p:cNvCxnSpPr/>
          <p:nvPr/>
        </p:nvCxnSpPr>
        <p:spPr>
          <a:xfrm>
            <a:off x="859334" y="5185767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442" name="Google Shape;1442;p25"/>
          <p:cNvSpPr/>
          <p:nvPr/>
        </p:nvSpPr>
        <p:spPr>
          <a:xfrm>
            <a:off x="2522934" y="5185767"/>
            <a:ext cx="2951708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3" name="Google Shape;1443;p25"/>
          <p:cNvCxnSpPr/>
          <p:nvPr/>
        </p:nvCxnSpPr>
        <p:spPr>
          <a:xfrm>
            <a:off x="2522934" y="5190530"/>
            <a:ext cx="2951709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444" name="Google Shape;1444;p25"/>
          <p:cNvCxnSpPr/>
          <p:nvPr/>
        </p:nvCxnSpPr>
        <p:spPr>
          <a:xfrm>
            <a:off x="2527697" y="5185767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445" name="Google Shape;1445;p25"/>
          <p:cNvSpPr/>
          <p:nvPr/>
        </p:nvSpPr>
        <p:spPr>
          <a:xfrm>
            <a:off x="854571" y="5478661"/>
            <a:ext cx="1668363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6" name="Google Shape;1446;p25"/>
          <p:cNvCxnSpPr/>
          <p:nvPr/>
        </p:nvCxnSpPr>
        <p:spPr>
          <a:xfrm>
            <a:off x="854571" y="5483423"/>
            <a:ext cx="1668363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447" name="Google Shape;1447;p25"/>
          <p:cNvCxnSpPr/>
          <p:nvPr/>
        </p:nvCxnSpPr>
        <p:spPr>
          <a:xfrm>
            <a:off x="859334" y="5478661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448" name="Google Shape;1448;p25"/>
          <p:cNvSpPr/>
          <p:nvPr/>
        </p:nvSpPr>
        <p:spPr>
          <a:xfrm>
            <a:off x="2522934" y="5478661"/>
            <a:ext cx="2951708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9" name="Google Shape;1449;p25"/>
          <p:cNvCxnSpPr/>
          <p:nvPr/>
        </p:nvCxnSpPr>
        <p:spPr>
          <a:xfrm>
            <a:off x="2522934" y="5483423"/>
            <a:ext cx="2951709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450" name="Google Shape;1450;p25"/>
          <p:cNvCxnSpPr/>
          <p:nvPr/>
        </p:nvCxnSpPr>
        <p:spPr>
          <a:xfrm>
            <a:off x="2527697" y="5478661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451" name="Google Shape;1451;p25"/>
          <p:cNvSpPr/>
          <p:nvPr/>
        </p:nvSpPr>
        <p:spPr>
          <a:xfrm>
            <a:off x="6524625" y="1573560"/>
            <a:ext cx="340519" cy="215354"/>
          </a:xfrm>
          <a:prstGeom prst="roundRect">
            <a:avLst>
              <a:gd fmla="val 50000" name="adj"/>
            </a:avLst>
          </a:prstGeom>
          <a:solidFill>
            <a:srgbClr val="B9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2" name="Google Shape;1452;p25"/>
          <p:cNvSpPr/>
          <p:nvPr/>
        </p:nvSpPr>
        <p:spPr>
          <a:xfrm>
            <a:off x="6524625" y="1945035"/>
            <a:ext cx="539651" cy="215354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25"/>
          <p:cNvSpPr/>
          <p:nvPr/>
        </p:nvSpPr>
        <p:spPr>
          <a:xfrm>
            <a:off x="6262688" y="3207693"/>
            <a:ext cx="5529262" cy="87153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p25"/>
          <p:cNvSpPr/>
          <p:nvPr/>
        </p:nvSpPr>
        <p:spPr>
          <a:xfrm>
            <a:off x="6262688" y="3398193"/>
            <a:ext cx="5548312" cy="490538"/>
          </a:xfrm>
          <a:prstGeom prst="roundRect">
            <a:avLst>
              <a:gd fmla="val 9708" name="adj"/>
            </a:avLst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p25"/>
          <p:cNvSpPr/>
          <p:nvPr/>
        </p:nvSpPr>
        <p:spPr>
          <a:xfrm>
            <a:off x="6262688" y="4317355"/>
            <a:ext cx="5529262" cy="1478012"/>
          </a:xfrm>
          <a:prstGeom prst="roundRect">
            <a:avLst>
              <a:gd fmla="val 3222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6" name="Google Shape;1456;p25"/>
          <p:cNvCxnSpPr/>
          <p:nvPr/>
        </p:nvCxnSpPr>
        <p:spPr>
          <a:xfrm>
            <a:off x="6286500" y="4317355"/>
            <a:ext cx="0" cy="1478012"/>
          </a:xfrm>
          <a:prstGeom prst="straightConnector1">
            <a:avLst/>
          </a:prstGeom>
          <a:noFill/>
          <a:ln cap="flat" cmpd="sng" w="47625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7" name="Google Shape;1457;p25"/>
          <p:cNvSpPr/>
          <p:nvPr/>
        </p:nvSpPr>
        <p:spPr>
          <a:xfrm>
            <a:off x="6262688" y="5881092"/>
            <a:ext cx="5529262" cy="1232743"/>
          </a:xfrm>
          <a:prstGeom prst="roundRect">
            <a:avLst>
              <a:gd fmla="val 3863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25"/>
          <p:cNvSpPr txBox="1"/>
          <p:nvPr/>
        </p:nvSpPr>
        <p:spPr>
          <a:xfrm>
            <a:off x="400050" y="161925"/>
            <a:ext cx="4450556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Anatomia de um volcano plot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9" name="Google Shape;1459;p25"/>
          <p:cNvSpPr txBox="1"/>
          <p:nvPr/>
        </p:nvSpPr>
        <p:spPr>
          <a:xfrm>
            <a:off x="400050" y="2311598"/>
            <a:ext cx="61034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Eixos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0" name="Google Shape;1460;p25"/>
          <p:cNvSpPr txBox="1"/>
          <p:nvPr/>
        </p:nvSpPr>
        <p:spPr>
          <a:xfrm>
            <a:off x="661988" y="2821186"/>
            <a:ext cx="23425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p25"/>
          <p:cNvSpPr txBox="1"/>
          <p:nvPr/>
        </p:nvSpPr>
        <p:spPr>
          <a:xfrm>
            <a:off x="923479" y="2859286"/>
            <a:ext cx="735806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logFC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2" name="Google Shape;1462;p25"/>
          <p:cNvSpPr txBox="1"/>
          <p:nvPr/>
        </p:nvSpPr>
        <p:spPr>
          <a:xfrm>
            <a:off x="1686371" y="2821186"/>
            <a:ext cx="256311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magnitude e direção.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3" name="Google Shape;1463;p25"/>
          <p:cNvSpPr txBox="1"/>
          <p:nvPr/>
        </p:nvSpPr>
        <p:spPr>
          <a:xfrm>
            <a:off x="661988" y="3211711"/>
            <a:ext cx="23083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4" name="Google Shape;1464;p25"/>
          <p:cNvSpPr txBox="1"/>
          <p:nvPr/>
        </p:nvSpPr>
        <p:spPr>
          <a:xfrm>
            <a:off x="920055" y="3249811"/>
            <a:ext cx="1572964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−log10(FDR)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5" name="Google Shape;1465;p25"/>
          <p:cNvSpPr txBox="1"/>
          <p:nvPr/>
        </p:nvSpPr>
        <p:spPr>
          <a:xfrm>
            <a:off x="2520107" y="3211711"/>
            <a:ext cx="261461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significância ajustada.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6" name="Google Shape;1466;p25"/>
          <p:cNvSpPr txBox="1"/>
          <p:nvPr/>
        </p:nvSpPr>
        <p:spPr>
          <a:xfrm>
            <a:off x="400050" y="3792736"/>
            <a:ext cx="910679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Regiões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7" name="Google Shape;1467;p25"/>
          <p:cNvSpPr txBox="1"/>
          <p:nvPr/>
        </p:nvSpPr>
        <p:spPr>
          <a:xfrm>
            <a:off x="892492" y="4335661"/>
            <a:ext cx="159258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1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Região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8" name="Google Shape;1468;p25"/>
          <p:cNvSpPr txBox="1"/>
          <p:nvPr/>
        </p:nvSpPr>
        <p:spPr>
          <a:xfrm>
            <a:off x="2561272" y="4335661"/>
            <a:ext cx="2875597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1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Interpretação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9" name="Google Shape;1469;p25"/>
          <p:cNvSpPr txBox="1"/>
          <p:nvPr/>
        </p:nvSpPr>
        <p:spPr>
          <a:xfrm>
            <a:off x="892492" y="4628555"/>
            <a:ext cx="159258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Direita superior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0" name="Google Shape;1470;p25"/>
          <p:cNvSpPr txBox="1"/>
          <p:nvPr/>
        </p:nvSpPr>
        <p:spPr>
          <a:xfrm>
            <a:off x="2561272" y="4628555"/>
            <a:ext cx="2875597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up-regulado e significativo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1" name="Google Shape;1471;p25"/>
          <p:cNvSpPr txBox="1"/>
          <p:nvPr/>
        </p:nvSpPr>
        <p:spPr>
          <a:xfrm>
            <a:off x="892492" y="4921448"/>
            <a:ext cx="159258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Esquerda superior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2" name="Google Shape;1472;p25"/>
          <p:cNvSpPr txBox="1"/>
          <p:nvPr/>
        </p:nvSpPr>
        <p:spPr>
          <a:xfrm>
            <a:off x="2561272" y="4921448"/>
            <a:ext cx="2875597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down-regulado e significativo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3" name="Google Shape;1473;p25"/>
          <p:cNvSpPr txBox="1"/>
          <p:nvPr/>
        </p:nvSpPr>
        <p:spPr>
          <a:xfrm>
            <a:off x="892492" y="5214342"/>
            <a:ext cx="159258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Centro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4" name="Google Shape;1474;p25"/>
          <p:cNvSpPr txBox="1"/>
          <p:nvPr/>
        </p:nvSpPr>
        <p:spPr>
          <a:xfrm>
            <a:off x="2561272" y="5214342"/>
            <a:ext cx="2875597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sem evidência de diferença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25"/>
          <p:cNvSpPr txBox="1"/>
          <p:nvPr/>
        </p:nvSpPr>
        <p:spPr>
          <a:xfrm>
            <a:off x="892492" y="5507236"/>
            <a:ext cx="159258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Laterais inferiores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6" name="Google Shape;1476;p25"/>
          <p:cNvSpPr txBox="1"/>
          <p:nvPr/>
        </p:nvSpPr>
        <p:spPr>
          <a:xfrm>
            <a:off x="2561272" y="5507236"/>
            <a:ext cx="2875597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logFC grande, mas não significativo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7" name="Google Shape;1477;p25"/>
          <p:cNvSpPr txBox="1"/>
          <p:nvPr/>
        </p:nvSpPr>
        <p:spPr>
          <a:xfrm>
            <a:off x="6262688" y="974080"/>
            <a:ext cx="157564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Cores e linhas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8" name="Google Shape;1478;p25"/>
          <p:cNvSpPr txBox="1"/>
          <p:nvPr/>
        </p:nvSpPr>
        <p:spPr>
          <a:xfrm>
            <a:off x="6598444" y="1572816"/>
            <a:ext cx="230981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2"/>
              <a:buFont typeface="Arial"/>
              <a:buNone/>
            </a:pPr>
            <a:r>
              <a:rPr b="0" i="0" lang="en-US" sz="1162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9" name="Google Shape;1479;p25"/>
          <p:cNvSpPr txBox="1"/>
          <p:nvPr/>
        </p:nvSpPr>
        <p:spPr>
          <a:xfrm>
            <a:off x="6930330" y="1483668"/>
            <a:ext cx="102111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vermelho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0" name="Google Shape;1480;p25"/>
          <p:cNvSpPr txBox="1"/>
          <p:nvPr/>
        </p:nvSpPr>
        <p:spPr>
          <a:xfrm>
            <a:off x="6598444" y="1944291"/>
            <a:ext cx="43011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2"/>
              <a:buFont typeface="Arial"/>
              <a:buNone/>
            </a:pPr>
            <a:r>
              <a:rPr b="0" i="0" lang="en-US" sz="1162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1" name="Google Shape;1481;p25"/>
          <p:cNvSpPr txBox="1"/>
          <p:nvPr/>
        </p:nvSpPr>
        <p:spPr>
          <a:xfrm>
            <a:off x="7129462" y="1855143"/>
            <a:ext cx="45943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azul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2" name="Google Shape;1482;p25"/>
          <p:cNvSpPr txBox="1"/>
          <p:nvPr/>
        </p:nvSpPr>
        <p:spPr>
          <a:xfrm>
            <a:off x="6524625" y="2226618"/>
            <a:ext cx="2431107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Cinza: não significativo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3" name="Google Shape;1483;p25"/>
          <p:cNvSpPr txBox="1"/>
          <p:nvPr/>
        </p:nvSpPr>
        <p:spPr>
          <a:xfrm>
            <a:off x="6524625" y="2598093"/>
            <a:ext cx="453866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Linhas tracejadas: FDR = 0,05 e logFC = ±1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4" name="Google Shape;1484;p25"/>
          <p:cNvSpPr txBox="1"/>
          <p:nvPr/>
        </p:nvSpPr>
        <p:spPr>
          <a:xfrm>
            <a:off x="6355556" y="3491061"/>
            <a:ext cx="735806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regulation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5" name="Google Shape;1485;p25"/>
          <p:cNvSpPr txBox="1"/>
          <p:nvPr/>
        </p:nvSpPr>
        <p:spPr>
          <a:xfrm>
            <a:off x="7123063" y="3491061"/>
            <a:ext cx="177701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8F5902"/>
                </a:solidFill>
                <a:latin typeface="Consolas"/>
                <a:ea typeface="Consolas"/>
                <a:cs typeface="Consolas"/>
                <a:sym typeface="Consolas"/>
              </a:rPr>
              <a:t>&lt;-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6" name="Google Shape;1486;p25"/>
          <p:cNvSpPr txBox="1"/>
          <p:nvPr/>
        </p:nvSpPr>
        <p:spPr>
          <a:xfrm>
            <a:off x="7332464" y="3491061"/>
            <a:ext cx="45675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ifelse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7" name="Google Shape;1487;p25"/>
          <p:cNvSpPr txBox="1"/>
          <p:nvPr/>
        </p:nvSpPr>
        <p:spPr>
          <a:xfrm>
            <a:off x="7751118" y="3491061"/>
            <a:ext cx="735806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(adj.P.Val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8" name="Google Shape;1488;p25"/>
          <p:cNvSpPr txBox="1"/>
          <p:nvPr/>
        </p:nvSpPr>
        <p:spPr>
          <a:xfrm>
            <a:off x="8518624" y="34910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9" name="Google Shape;1489;p25"/>
          <p:cNvSpPr txBox="1"/>
          <p:nvPr/>
        </p:nvSpPr>
        <p:spPr>
          <a:xfrm>
            <a:off x="8658225" y="3491061"/>
            <a:ext cx="317153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000CF"/>
                </a:solidFill>
                <a:latin typeface="Consolas"/>
                <a:ea typeface="Consolas"/>
                <a:cs typeface="Consolas"/>
                <a:sym typeface="Consolas"/>
              </a:rPr>
              <a:t>0.05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0" name="Google Shape;1490;p25"/>
          <p:cNvSpPr txBox="1"/>
          <p:nvPr/>
        </p:nvSpPr>
        <p:spPr>
          <a:xfrm>
            <a:off x="9007078" y="34910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&amp;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1" name="Google Shape;1491;p25"/>
          <p:cNvSpPr txBox="1"/>
          <p:nvPr/>
        </p:nvSpPr>
        <p:spPr>
          <a:xfrm>
            <a:off x="9146530" y="3491061"/>
            <a:ext cx="38710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logFC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2" name="Google Shape;1492;p25"/>
          <p:cNvSpPr txBox="1"/>
          <p:nvPr/>
        </p:nvSpPr>
        <p:spPr>
          <a:xfrm>
            <a:off x="9565332" y="34910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3" name="Google Shape;1493;p25"/>
          <p:cNvSpPr txBox="1"/>
          <p:nvPr/>
        </p:nvSpPr>
        <p:spPr>
          <a:xfrm>
            <a:off x="9774734" y="34910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000C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4" name="Google Shape;1494;p25"/>
          <p:cNvSpPr txBox="1"/>
          <p:nvPr/>
        </p:nvSpPr>
        <p:spPr>
          <a:xfrm>
            <a:off x="9844534" y="34910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5" name="Google Shape;1495;p25"/>
          <p:cNvSpPr txBox="1"/>
          <p:nvPr/>
        </p:nvSpPr>
        <p:spPr>
          <a:xfrm>
            <a:off x="9984135" y="3491061"/>
            <a:ext cx="317153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4E9A06"/>
                </a:solidFill>
                <a:latin typeface="Consolas"/>
                <a:ea typeface="Consolas"/>
                <a:cs typeface="Consolas"/>
                <a:sym typeface="Consolas"/>
              </a:rPr>
              <a:t>"Up"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p25"/>
          <p:cNvSpPr txBox="1"/>
          <p:nvPr/>
        </p:nvSpPr>
        <p:spPr>
          <a:xfrm>
            <a:off x="10263188" y="34910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7" name="Google Shape;1497;p25"/>
          <p:cNvSpPr txBox="1"/>
          <p:nvPr/>
        </p:nvSpPr>
        <p:spPr>
          <a:xfrm>
            <a:off x="7332315" y="3643461"/>
            <a:ext cx="45675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ifelse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8" name="Google Shape;1498;p25"/>
          <p:cNvSpPr txBox="1"/>
          <p:nvPr/>
        </p:nvSpPr>
        <p:spPr>
          <a:xfrm>
            <a:off x="7750969" y="3643461"/>
            <a:ext cx="735806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(adj.P.Val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9" name="Google Shape;1499;p25"/>
          <p:cNvSpPr txBox="1"/>
          <p:nvPr/>
        </p:nvSpPr>
        <p:spPr>
          <a:xfrm>
            <a:off x="8518475" y="36434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0" name="Google Shape;1500;p25"/>
          <p:cNvSpPr txBox="1"/>
          <p:nvPr/>
        </p:nvSpPr>
        <p:spPr>
          <a:xfrm>
            <a:off x="8658076" y="3643461"/>
            <a:ext cx="317153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000CF"/>
                </a:solidFill>
                <a:latin typeface="Consolas"/>
                <a:ea typeface="Consolas"/>
                <a:cs typeface="Consolas"/>
                <a:sym typeface="Consolas"/>
              </a:rPr>
              <a:t>0.05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1" name="Google Shape;1501;p25"/>
          <p:cNvSpPr txBox="1"/>
          <p:nvPr/>
        </p:nvSpPr>
        <p:spPr>
          <a:xfrm>
            <a:off x="9006929" y="36434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&amp;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2" name="Google Shape;1502;p25"/>
          <p:cNvSpPr txBox="1"/>
          <p:nvPr/>
        </p:nvSpPr>
        <p:spPr>
          <a:xfrm>
            <a:off x="9146381" y="3643461"/>
            <a:ext cx="38710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logFC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3" name="Google Shape;1503;p25"/>
          <p:cNvSpPr txBox="1"/>
          <p:nvPr/>
        </p:nvSpPr>
        <p:spPr>
          <a:xfrm>
            <a:off x="9565184" y="36434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4" name="Google Shape;1504;p25"/>
          <p:cNvSpPr txBox="1"/>
          <p:nvPr/>
        </p:nvSpPr>
        <p:spPr>
          <a:xfrm>
            <a:off x="9704784" y="36434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5" name="Google Shape;1505;p25"/>
          <p:cNvSpPr txBox="1"/>
          <p:nvPr/>
        </p:nvSpPr>
        <p:spPr>
          <a:xfrm>
            <a:off x="9774585" y="36434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000C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6" name="Google Shape;1506;p25"/>
          <p:cNvSpPr txBox="1"/>
          <p:nvPr/>
        </p:nvSpPr>
        <p:spPr>
          <a:xfrm>
            <a:off x="9844385" y="36434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7" name="Google Shape;1507;p25"/>
          <p:cNvSpPr txBox="1"/>
          <p:nvPr/>
        </p:nvSpPr>
        <p:spPr>
          <a:xfrm>
            <a:off x="9983986" y="3643461"/>
            <a:ext cx="45675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4E9A06"/>
                </a:solidFill>
                <a:latin typeface="Consolas"/>
                <a:ea typeface="Consolas"/>
                <a:cs typeface="Consolas"/>
                <a:sym typeface="Consolas"/>
              </a:rPr>
              <a:t>"Down"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8" name="Google Shape;1508;p25"/>
          <p:cNvSpPr txBox="1"/>
          <p:nvPr/>
        </p:nvSpPr>
        <p:spPr>
          <a:xfrm>
            <a:off x="10402639" y="36434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9" name="Google Shape;1509;p25"/>
          <p:cNvSpPr txBox="1"/>
          <p:nvPr/>
        </p:nvSpPr>
        <p:spPr>
          <a:xfrm>
            <a:off x="10542240" y="3643461"/>
            <a:ext cx="317153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4E9A06"/>
                </a:solidFill>
                <a:latin typeface="Consolas"/>
                <a:ea typeface="Consolas"/>
                <a:cs typeface="Consolas"/>
                <a:sym typeface="Consolas"/>
              </a:rPr>
              <a:t>"NS"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0" name="Google Shape;1510;p25"/>
          <p:cNvSpPr txBox="1"/>
          <p:nvPr/>
        </p:nvSpPr>
        <p:spPr>
          <a:xfrm>
            <a:off x="10821293" y="3643461"/>
            <a:ext cx="177701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1" name="Google Shape;1511;p25"/>
          <p:cNvSpPr txBox="1"/>
          <p:nvPr/>
        </p:nvSpPr>
        <p:spPr>
          <a:xfrm>
            <a:off x="6383536" y="6153001"/>
            <a:ext cx="13500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Escala do eixo 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2" name="Google Shape;1512;p25"/>
          <p:cNvSpPr txBox="1"/>
          <p:nvPr/>
        </p:nvSpPr>
        <p:spPr>
          <a:xfrm>
            <a:off x="7742337" y="6153001"/>
            <a:ext cx="38044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−log10(FDR). FDR 0,05 → 1,3; 0,01 → 2; 0,001 → 3;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3" name="Google Shape;1513;p25"/>
          <p:cNvSpPr txBox="1"/>
          <p:nvPr/>
        </p:nvSpPr>
        <p:spPr>
          <a:xfrm>
            <a:off x="6383536" y="6382643"/>
            <a:ext cx="524931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10⁻⁶ → 6. Quanto mais alto, menor o FDR. A linha horizontal em 1,3 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4" name="Google Shape;1514;p25"/>
          <p:cNvSpPr txBox="1"/>
          <p:nvPr/>
        </p:nvSpPr>
        <p:spPr>
          <a:xfrm>
            <a:off x="6383536" y="6612285"/>
            <a:ext cx="120878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corte de 0,05.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5" name="Google Shape;1515;p25"/>
          <p:cNvSpPr/>
          <p:nvPr/>
        </p:nvSpPr>
        <p:spPr>
          <a:xfrm>
            <a:off x="431006" y="2947392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6" name="Google Shape;1516;p25"/>
          <p:cNvSpPr/>
          <p:nvPr/>
        </p:nvSpPr>
        <p:spPr>
          <a:xfrm>
            <a:off x="431006" y="3337917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7" name="Google Shape;1517;p25"/>
          <p:cNvSpPr/>
          <p:nvPr/>
        </p:nvSpPr>
        <p:spPr>
          <a:xfrm>
            <a:off x="6293644" y="1609874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8" name="Google Shape;1518;p25"/>
          <p:cNvSpPr/>
          <p:nvPr/>
        </p:nvSpPr>
        <p:spPr>
          <a:xfrm>
            <a:off x="6293644" y="1981349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9" name="Google Shape;1519;p25"/>
          <p:cNvSpPr/>
          <p:nvPr/>
        </p:nvSpPr>
        <p:spPr>
          <a:xfrm>
            <a:off x="6293644" y="2352824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0" name="Google Shape;1520;p25"/>
          <p:cNvSpPr/>
          <p:nvPr/>
        </p:nvSpPr>
        <p:spPr>
          <a:xfrm>
            <a:off x="6293644" y="2724299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1" name="Google Shape;1521;p25"/>
          <p:cNvSpPr/>
          <p:nvPr/>
        </p:nvSpPr>
        <p:spPr>
          <a:xfrm>
            <a:off x="400050" y="7142410"/>
            <a:ext cx="11391900" cy="2667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7150" spcFirstLastPara="1" rIns="57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Refs.: Ritchie et al., 2015; Benjamini, 2010.</a:t>
            </a:r>
            <a:endParaRPr/>
          </a:p>
        </p:txBody>
      </p:sp>
      <p:sp>
        <p:nvSpPr>
          <p:cNvPr id="1522" name="Google Shape;1522;p25"/>
          <p:cNvSpPr txBox="1"/>
          <p:nvPr/>
        </p:nvSpPr>
        <p:spPr>
          <a:xfrm>
            <a:off x="6324600" y="4625724"/>
            <a:ext cx="5429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volcano </a:t>
            </a:r>
            <a:r>
              <a:rPr b="1" lang="en-US" sz="1687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mostra tamanho amostral, precisão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lang="en-US" sz="1687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 confundimento de lote</a:t>
            </a:r>
            <a:r>
              <a:rPr lang="en-US" sz="1687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Um ponto up pode ser biologia, lote ou ambos.</a:t>
            </a:r>
            <a:endParaRPr sz="1687">
              <a:solidFill>
                <a:srgbClr val="1E293B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26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8" name="Google Shape;1528;p26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9" name="Google Shape;1529;p26"/>
          <p:cNvSpPr/>
          <p:nvPr/>
        </p:nvSpPr>
        <p:spPr>
          <a:xfrm>
            <a:off x="7705130" y="950268"/>
            <a:ext cx="4086820" cy="877491"/>
          </a:xfrm>
          <a:prstGeom prst="roundRect">
            <a:avLst>
              <a:gd fmla="val 542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0" name="Google Shape;1530;p26"/>
          <p:cNvCxnSpPr/>
          <p:nvPr/>
        </p:nvCxnSpPr>
        <p:spPr>
          <a:xfrm>
            <a:off x="7705130" y="969318"/>
            <a:ext cx="4086820" cy="0"/>
          </a:xfrm>
          <a:prstGeom prst="straightConnector1">
            <a:avLst/>
          </a:prstGeom>
          <a:noFill/>
          <a:ln cap="flat" cmpd="sng" w="381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1" name="Google Shape;1531;p26"/>
          <p:cNvSpPr/>
          <p:nvPr/>
        </p:nvSpPr>
        <p:spPr>
          <a:xfrm>
            <a:off x="7705130" y="2018258"/>
            <a:ext cx="4086820" cy="877491"/>
          </a:xfrm>
          <a:prstGeom prst="roundRect">
            <a:avLst>
              <a:gd fmla="val 542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2" name="Google Shape;1532;p26"/>
          <p:cNvCxnSpPr/>
          <p:nvPr/>
        </p:nvCxnSpPr>
        <p:spPr>
          <a:xfrm>
            <a:off x="7705130" y="2037308"/>
            <a:ext cx="4086820" cy="0"/>
          </a:xfrm>
          <a:prstGeom prst="straightConnector1">
            <a:avLst/>
          </a:prstGeom>
          <a:noFill/>
          <a:ln cap="flat" cmpd="sng" w="381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83f8833ee28af59f50203b40e28efa7.png" id="1533" name="Google Shape;153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527" y="1528762"/>
            <a:ext cx="6000750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4" name="Google Shape;1534;p26"/>
          <p:cNvSpPr txBox="1"/>
          <p:nvPr/>
        </p:nvSpPr>
        <p:spPr>
          <a:xfrm>
            <a:off x="400050" y="161925"/>
            <a:ext cx="5952381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Volcano 01 — TCGA tumor vs. adjacente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5" name="Google Shape;1535;p26"/>
          <p:cNvSpPr txBox="1"/>
          <p:nvPr/>
        </p:nvSpPr>
        <p:spPr>
          <a:xfrm>
            <a:off x="1496318" y="6231434"/>
            <a:ext cx="4817269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V1. 369 tumores primários vs. 50 tecidos adjacentes; limma com sexo e idade.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6" name="Google Shape;1536;p26"/>
          <p:cNvSpPr txBox="1"/>
          <p:nvPr/>
        </p:nvSpPr>
        <p:spPr>
          <a:xfrm>
            <a:off x="9273778" y="1062186"/>
            <a:ext cx="9874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6"/>
              <a:buFont typeface="Arial"/>
              <a:buNone/>
            </a:pPr>
            <a:r>
              <a:rPr b="1" i="0" lang="en-US" sz="2906" u="none" cap="none" strike="noStrike">
                <a:solidFill>
                  <a:srgbClr val="B91C1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3.322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7" name="Google Shape;1537;p26"/>
          <p:cNvSpPr txBox="1"/>
          <p:nvPr/>
        </p:nvSpPr>
        <p:spPr>
          <a:xfrm>
            <a:off x="9483030" y="1530102"/>
            <a:ext cx="56897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b="0" i="0" lang="en-US" sz="1031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genes 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8" name="Google Shape;1538;p26"/>
          <p:cNvSpPr txBox="1"/>
          <p:nvPr/>
        </p:nvSpPr>
        <p:spPr>
          <a:xfrm>
            <a:off x="9430048" y="2130177"/>
            <a:ext cx="675084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6"/>
              <a:buFont typeface="Arial"/>
              <a:buNone/>
            </a:pPr>
            <a:r>
              <a:rPr b="1" i="0" lang="en-US" sz="2906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9" name="Google Shape;1539;p26"/>
          <p:cNvSpPr txBox="1"/>
          <p:nvPr/>
        </p:nvSpPr>
        <p:spPr>
          <a:xfrm>
            <a:off x="9397305" y="2598093"/>
            <a:ext cx="74042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b="0" i="0" lang="en-US" sz="1031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genes down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0" name="Google Shape;1540;p26"/>
          <p:cNvSpPr txBox="1"/>
          <p:nvPr/>
        </p:nvSpPr>
        <p:spPr>
          <a:xfrm>
            <a:off x="7705130" y="3086249"/>
            <a:ext cx="42252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1" name="Google Shape;1541;p26"/>
          <p:cNvSpPr txBox="1"/>
          <p:nvPr/>
        </p:nvSpPr>
        <p:spPr>
          <a:xfrm>
            <a:off x="8154739" y="3086249"/>
            <a:ext cx="250552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GABRD, PLVAP, DIPK2B,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2" name="Google Shape;1542;p26"/>
          <p:cNvSpPr txBox="1"/>
          <p:nvPr/>
        </p:nvSpPr>
        <p:spPr>
          <a:xfrm>
            <a:off x="7705130" y="3405336"/>
            <a:ext cx="389736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TOMM40L, HIGD1B, UBE2T, CDC25C,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3" name="Google Shape;1543;p26"/>
          <p:cNvSpPr txBox="1"/>
          <p:nvPr/>
        </p:nvSpPr>
        <p:spPr>
          <a:xfrm>
            <a:off x="7705130" y="3724424"/>
            <a:ext cx="220012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BIRC5, GPC3, MMP9.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4" name="Google Shape;1544;p26"/>
          <p:cNvSpPr txBox="1"/>
          <p:nvPr/>
        </p:nvSpPr>
        <p:spPr>
          <a:xfrm>
            <a:off x="7705130" y="4234011"/>
            <a:ext cx="75783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Down: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5" name="Google Shape;1545;p26"/>
          <p:cNvSpPr txBox="1"/>
          <p:nvPr/>
        </p:nvSpPr>
        <p:spPr>
          <a:xfrm>
            <a:off x="8490049" y="4234011"/>
            <a:ext cx="327436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CLEC4G, CLEC4M, FCN3, GDF2,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6" name="Google Shape;1546;p26"/>
          <p:cNvSpPr txBox="1"/>
          <p:nvPr/>
        </p:nvSpPr>
        <p:spPr>
          <a:xfrm>
            <a:off x="7705130" y="4553099"/>
            <a:ext cx="335860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CRHBP, CLEC1B, MARCO, FCN2,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7" name="Google Shape;1547;p26"/>
          <p:cNvSpPr txBox="1"/>
          <p:nvPr/>
        </p:nvSpPr>
        <p:spPr>
          <a:xfrm>
            <a:off x="7705130" y="4872186"/>
            <a:ext cx="221486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ADAMTS13, CYP1A2.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8" name="Google Shape;1548;p26"/>
          <p:cNvSpPr/>
          <p:nvPr/>
        </p:nvSpPr>
        <p:spPr>
          <a:xfrm>
            <a:off x="400050" y="7175451"/>
            <a:ext cx="11391900" cy="2667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7150" spcFirstLastPara="1" rIns="57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Refs.: Ritchie et al., 2015.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36"/>
          <p:cNvSpPr/>
          <p:nvPr/>
        </p:nvSpPr>
        <p:spPr>
          <a:xfrm>
            <a:off x="400050" y="190500"/>
            <a:ext cx="11391900" cy="42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4" name="Google Shape;1554;p36"/>
          <p:cNvCxnSpPr/>
          <p:nvPr/>
        </p:nvCxnSpPr>
        <p:spPr>
          <a:xfrm>
            <a:off x="400050" y="597247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5" name="Google Shape;1555;p36"/>
          <p:cNvSpPr/>
          <p:nvPr/>
        </p:nvSpPr>
        <p:spPr>
          <a:xfrm>
            <a:off x="7690247" y="862161"/>
            <a:ext cx="4101703" cy="776288"/>
          </a:xfrm>
          <a:prstGeom prst="roundRect">
            <a:avLst>
              <a:gd fmla="val 6134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6" name="Google Shape;1556;p36"/>
          <p:cNvCxnSpPr/>
          <p:nvPr/>
        </p:nvCxnSpPr>
        <p:spPr>
          <a:xfrm>
            <a:off x="7690247" y="881211"/>
            <a:ext cx="4101703" cy="0"/>
          </a:xfrm>
          <a:prstGeom prst="straightConnector1">
            <a:avLst/>
          </a:prstGeom>
          <a:noFill/>
          <a:ln cap="flat" cmpd="sng" w="381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7" name="Google Shape;1557;p36"/>
          <p:cNvSpPr/>
          <p:nvPr/>
        </p:nvSpPr>
        <p:spPr>
          <a:xfrm>
            <a:off x="7690247" y="1806029"/>
            <a:ext cx="4101703" cy="776288"/>
          </a:xfrm>
          <a:prstGeom prst="roundRect">
            <a:avLst>
              <a:gd fmla="val 6134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8" name="Google Shape;1558;p36"/>
          <p:cNvCxnSpPr/>
          <p:nvPr/>
        </p:nvCxnSpPr>
        <p:spPr>
          <a:xfrm>
            <a:off x="7690247" y="1825079"/>
            <a:ext cx="4101703" cy="0"/>
          </a:xfrm>
          <a:prstGeom prst="straightConnector1">
            <a:avLst/>
          </a:prstGeom>
          <a:noFill/>
          <a:ln cap="flat" cmpd="sng" w="381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9" name="Google Shape;1559;p36"/>
          <p:cNvSpPr/>
          <p:nvPr/>
        </p:nvSpPr>
        <p:spPr>
          <a:xfrm>
            <a:off x="7690247" y="3922961"/>
            <a:ext cx="4101703" cy="1506438"/>
          </a:xfrm>
          <a:prstGeom prst="roundRect">
            <a:avLst>
              <a:gd fmla="val 3793" name="adj"/>
            </a:avLst>
          </a:prstGeom>
          <a:solidFill>
            <a:srgbClr val="FFF7ED"/>
          </a:solidFill>
          <a:ln cap="flat" cmpd="sng" w="19050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p36"/>
          <p:cNvSpPr/>
          <p:nvPr/>
        </p:nvSpPr>
        <p:spPr>
          <a:xfrm>
            <a:off x="7690247" y="5551884"/>
            <a:ext cx="4101703" cy="1530548"/>
          </a:xfrm>
          <a:prstGeom prst="roundRect">
            <a:avLst>
              <a:gd fmla="val 3111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1" name="Google Shape;1561;p36"/>
          <p:cNvCxnSpPr/>
          <p:nvPr/>
        </p:nvCxnSpPr>
        <p:spPr>
          <a:xfrm>
            <a:off x="7714059" y="5551884"/>
            <a:ext cx="0" cy="1530549"/>
          </a:xfrm>
          <a:prstGeom prst="straightConnector1">
            <a:avLst/>
          </a:prstGeom>
          <a:noFill/>
          <a:ln cap="flat" cmpd="sng" w="476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b9d4b2fd3d37b2a42dadc51addf67c33.png" id="1562" name="Google Shape;156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9346" y="1522512"/>
            <a:ext cx="5878264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3" name="Google Shape;1563;p36"/>
          <p:cNvSpPr txBox="1"/>
          <p:nvPr/>
        </p:nvSpPr>
        <p:spPr>
          <a:xfrm>
            <a:off x="400050" y="161925"/>
            <a:ext cx="4906714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3"/>
              <a:buFont typeface="Arial"/>
              <a:buNone/>
            </a:pPr>
            <a:r>
              <a:rPr b="0" i="0" lang="en-US" sz="2343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Volcano 11 — via LA (KEGG hsa05417)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4" name="Google Shape;1564;p36"/>
          <p:cNvSpPr txBox="1"/>
          <p:nvPr/>
        </p:nvSpPr>
        <p:spPr>
          <a:xfrm>
            <a:off x="1979861" y="6124575"/>
            <a:ext cx="3875336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Arial"/>
              <a:buNone/>
            </a:pPr>
            <a:r>
              <a:rPr b="0" i="0" lang="en-US" sz="891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V11. 213 genes da via Lipídios e Aterosclerose: tumor vs. GTEx normal.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5" name="Google Shape;1565;p36"/>
          <p:cNvSpPr txBox="1"/>
          <p:nvPr/>
        </p:nvSpPr>
        <p:spPr>
          <a:xfrm>
            <a:off x="9554319" y="958304"/>
            <a:ext cx="411659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7"/>
              <a:buFont typeface="Arial"/>
              <a:buNone/>
            </a:pPr>
            <a:r>
              <a:rPr b="1" i="0" lang="en-US" sz="2557" u="none" cap="none" strike="noStrike">
                <a:solidFill>
                  <a:srgbClr val="B91C1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6" name="Google Shape;1566;p36"/>
          <p:cNvSpPr txBox="1"/>
          <p:nvPr/>
        </p:nvSpPr>
        <p:spPr>
          <a:xfrm>
            <a:off x="9586636" y="1389300"/>
            <a:ext cx="184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7"/>
              <a:buFont typeface="Arial"/>
              <a:buNone/>
            </a:pPr>
            <a:r>
              <a:rPr b="0" i="0" lang="en-US" sz="907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7" name="Google Shape;1567;p36"/>
          <p:cNvSpPr txBox="1"/>
          <p:nvPr/>
        </p:nvSpPr>
        <p:spPr>
          <a:xfrm>
            <a:off x="9554319" y="1902172"/>
            <a:ext cx="411659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7"/>
              <a:buFont typeface="Arial"/>
              <a:buNone/>
            </a:pPr>
            <a:r>
              <a:rPr b="1" i="0" lang="en-US" sz="2557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8" name="Google Shape;1568;p36"/>
          <p:cNvSpPr txBox="1"/>
          <p:nvPr/>
        </p:nvSpPr>
        <p:spPr>
          <a:xfrm>
            <a:off x="9599116" y="2319486"/>
            <a:ext cx="322064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7"/>
              <a:buFont typeface="Arial"/>
              <a:buNone/>
            </a:pPr>
            <a:r>
              <a:rPr b="0" i="0" lang="en-US" sz="907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9" name="Google Shape;1569;p36"/>
          <p:cNvSpPr txBox="1"/>
          <p:nvPr/>
        </p:nvSpPr>
        <p:spPr>
          <a:xfrm>
            <a:off x="7870031" y="2719388"/>
            <a:ext cx="1074688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7"/>
              <a:buFont typeface="Arial"/>
              <a:buNone/>
            </a:pPr>
            <a:r>
              <a:rPr b="1" i="0" lang="en-US" sz="12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 no tumor: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0" name="Google Shape;1570;p36"/>
          <p:cNvSpPr txBox="1"/>
          <p:nvPr/>
        </p:nvSpPr>
        <p:spPr>
          <a:xfrm>
            <a:off x="8951416" y="2719388"/>
            <a:ext cx="364927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7"/>
              <a:buFont typeface="Arial"/>
              <a:buNone/>
            </a:pPr>
            <a:r>
              <a:rPr b="1" i="0" lang="en-US" sz="12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1" name="Google Shape;1571;p36"/>
          <p:cNvSpPr txBox="1"/>
          <p:nvPr/>
        </p:nvSpPr>
        <p:spPr>
          <a:xfrm>
            <a:off x="9278243" y="2719388"/>
            <a:ext cx="2143423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7"/>
              <a:buFont typeface="Arial"/>
              <a:buNone/>
            </a:pPr>
            <a:r>
              <a:rPr b="0" i="0" lang="en-US" sz="12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HSPA4, HSP90AB1, PYCARD,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2" name="Google Shape;1572;p36"/>
          <p:cNvSpPr txBox="1"/>
          <p:nvPr/>
        </p:nvSpPr>
        <p:spPr>
          <a:xfrm>
            <a:off x="7870031" y="2923580"/>
            <a:ext cx="3617714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7"/>
              <a:buFont typeface="Arial"/>
              <a:buNone/>
            </a:pPr>
            <a:r>
              <a:rPr b="0" i="0" lang="en-US" sz="12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PPARG, MMP1, LY96, ABCG1, MMP9, IKBKE, CD36,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3" name="Google Shape;1573;p36"/>
          <p:cNvSpPr txBox="1"/>
          <p:nvPr/>
        </p:nvSpPr>
        <p:spPr>
          <a:xfrm>
            <a:off x="7870031" y="3127772"/>
            <a:ext cx="1702891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7"/>
              <a:buFont typeface="Arial"/>
              <a:buNone/>
            </a:pPr>
            <a:r>
              <a:rPr b="0" i="0" lang="en-US" sz="12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VCAM1, NOX1, PIK3R2.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4" name="Google Shape;1574;p36"/>
          <p:cNvSpPr txBox="1"/>
          <p:nvPr/>
        </p:nvSpPr>
        <p:spPr>
          <a:xfrm>
            <a:off x="7870031" y="3367832"/>
            <a:ext cx="1304776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7"/>
              <a:buFont typeface="Arial"/>
              <a:buNone/>
            </a:pPr>
            <a:r>
              <a:rPr b="1" i="0" lang="en-US" sz="12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Down no tumor: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5" name="Google Shape;1575;p36"/>
          <p:cNvSpPr txBox="1"/>
          <p:nvPr/>
        </p:nvSpPr>
        <p:spPr>
          <a:xfrm>
            <a:off x="9181356" y="3367832"/>
            <a:ext cx="213866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7"/>
              <a:buFont typeface="Arial"/>
              <a:buNone/>
            </a:pPr>
            <a:r>
              <a:rPr b="0" i="0" lang="en-US" sz="12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CALML5, AGER, CXCL2, MIB2,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6" name="Google Shape;1576;p36"/>
          <p:cNvSpPr txBox="1"/>
          <p:nvPr/>
        </p:nvSpPr>
        <p:spPr>
          <a:xfrm>
            <a:off x="7870031" y="3572024"/>
            <a:ext cx="116964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7"/>
              <a:buFont typeface="Arial"/>
              <a:buNone/>
            </a:pPr>
            <a:r>
              <a:rPr b="0" i="0" lang="en-US" sz="12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CALML6, IKBKB.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7" name="Google Shape;1577;p36"/>
          <p:cNvSpPr txBox="1"/>
          <p:nvPr/>
        </p:nvSpPr>
        <p:spPr>
          <a:xfrm>
            <a:off x="7838331" y="4205883"/>
            <a:ext cx="1618804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Arial"/>
              <a:buNone/>
            </a:pPr>
            <a:r>
              <a:rPr b="1" i="0" lang="en-US" sz="1452" u="none" cap="none" strike="noStrike">
                <a:solidFill>
                  <a:srgbClr val="C2410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BAX em destaque: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8" name="Google Shape;1578;p36"/>
          <p:cNvSpPr txBox="1"/>
          <p:nvPr/>
        </p:nvSpPr>
        <p:spPr>
          <a:xfrm>
            <a:off x="9469487" y="4205883"/>
            <a:ext cx="207079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Arial"/>
              <a:buNone/>
            </a:pPr>
            <a:r>
              <a:rPr b="0" i="0" lang="en-US" sz="145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efetor pró-apoptótico 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9" name="Google Shape;1579;p36"/>
          <p:cNvSpPr txBox="1"/>
          <p:nvPr/>
        </p:nvSpPr>
        <p:spPr>
          <a:xfrm>
            <a:off x="7838331" y="4436269"/>
            <a:ext cx="200784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Arial"/>
              <a:buNone/>
            </a:pPr>
            <a:r>
              <a:rPr b="0" i="0" lang="en-US" sz="145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família BCL-2. Na via LA: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0" name="Google Shape;1580;p36"/>
          <p:cNvSpPr txBox="1"/>
          <p:nvPr/>
        </p:nvSpPr>
        <p:spPr>
          <a:xfrm>
            <a:off x="9858673" y="4436269"/>
            <a:ext cx="1259086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Arial"/>
              <a:buNone/>
            </a:pPr>
            <a:r>
              <a:rPr b="1" i="0" lang="en-US" sz="1452" u="none" cap="none" strike="noStrike">
                <a:solidFill>
                  <a:srgbClr val="C2410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logFC = +1,30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1" name="Google Shape;1581;p36"/>
          <p:cNvSpPr txBox="1"/>
          <p:nvPr/>
        </p:nvSpPr>
        <p:spPr>
          <a:xfrm>
            <a:off x="7838331" y="4666655"/>
            <a:ext cx="68074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Arial"/>
              <a:buNone/>
            </a:pPr>
            <a:r>
              <a:rPr b="0" i="0" lang="en-US" sz="145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(≈2,5×),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2" name="Google Shape;1582;p36"/>
          <p:cNvSpPr txBox="1"/>
          <p:nvPr/>
        </p:nvSpPr>
        <p:spPr>
          <a:xfrm>
            <a:off x="8531423" y="4666655"/>
            <a:ext cx="155510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Arial"/>
              <a:buNone/>
            </a:pPr>
            <a:r>
              <a:rPr b="1" i="0" lang="en-US" sz="1452" u="none" cap="none" strike="noStrike">
                <a:solidFill>
                  <a:srgbClr val="C2410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FDR = 5,5 × 10⁻⁴⁹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3" name="Google Shape;1583;p36"/>
          <p:cNvSpPr txBox="1"/>
          <p:nvPr/>
        </p:nvSpPr>
        <p:spPr>
          <a:xfrm>
            <a:off x="7888635" y="5836444"/>
            <a:ext cx="2025997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Via remodelada no HCC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4" name="Google Shape;1584;p36"/>
          <p:cNvSpPr txBox="1"/>
          <p:nvPr/>
        </p:nvSpPr>
        <p:spPr>
          <a:xfrm>
            <a:off x="7888635" y="6072039"/>
            <a:ext cx="3158133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(inflamação/oxidação e receptores 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5" name="Google Shape;1585;p36"/>
          <p:cNvSpPr txBox="1"/>
          <p:nvPr/>
        </p:nvSpPr>
        <p:spPr>
          <a:xfrm>
            <a:off x="7888635" y="6307634"/>
            <a:ext cx="3751213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lipídios); interpretação limitada pelo n e pelo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6" name="Google Shape;1586;p36"/>
          <p:cNvSpPr txBox="1"/>
          <p:nvPr/>
        </p:nvSpPr>
        <p:spPr>
          <a:xfrm>
            <a:off x="7888635" y="6543229"/>
            <a:ext cx="2495996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confundimento TCGA × GTEx.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7" name="Google Shape;1587;p36"/>
          <p:cNvSpPr/>
          <p:nvPr/>
        </p:nvSpPr>
        <p:spPr>
          <a:xfrm>
            <a:off x="7711486" y="2810664"/>
            <a:ext cx="55573" cy="55573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8" name="Google Shape;1588;p36"/>
          <p:cNvSpPr/>
          <p:nvPr/>
        </p:nvSpPr>
        <p:spPr>
          <a:xfrm>
            <a:off x="7711486" y="3459108"/>
            <a:ext cx="55573" cy="55573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p36"/>
          <p:cNvSpPr/>
          <p:nvPr/>
        </p:nvSpPr>
        <p:spPr>
          <a:xfrm>
            <a:off x="400050" y="7201721"/>
            <a:ext cx="11391900" cy="2667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7150" spcFirstLastPara="1" rIns="57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Refs.: Ritchie et al., 2015.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p38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5" name="Google Shape;1595;p38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6" name="Google Shape;1596;p38"/>
          <p:cNvSpPr/>
          <p:nvPr/>
        </p:nvSpPr>
        <p:spPr>
          <a:xfrm>
            <a:off x="400050" y="5128171"/>
            <a:ext cx="11391900" cy="1190923"/>
          </a:xfrm>
          <a:prstGeom prst="roundRect">
            <a:avLst>
              <a:gd fmla="val 3999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7" name="Google Shape;1597;p38"/>
          <p:cNvCxnSpPr/>
          <p:nvPr/>
        </p:nvCxnSpPr>
        <p:spPr>
          <a:xfrm>
            <a:off x="423862" y="5128171"/>
            <a:ext cx="0" cy="1190922"/>
          </a:xfrm>
          <a:prstGeom prst="straightConnector1">
            <a:avLst/>
          </a:prstGeom>
          <a:noFill/>
          <a:ln cap="flat" cmpd="sng" w="476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8" name="Google Shape;1598;p38"/>
          <p:cNvSpPr txBox="1"/>
          <p:nvPr/>
        </p:nvSpPr>
        <p:spPr>
          <a:xfrm>
            <a:off x="400050" y="161925"/>
            <a:ext cx="6208216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Síntese biológica da expressão diferencial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9" name="Google Shape;1599;p38"/>
          <p:cNvSpPr txBox="1"/>
          <p:nvPr/>
        </p:nvSpPr>
        <p:spPr>
          <a:xfrm>
            <a:off x="400050" y="1643211"/>
            <a:ext cx="329743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Perda de identidade hepática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0" name="Google Shape;1600;p38"/>
          <p:cNvSpPr txBox="1"/>
          <p:nvPr/>
        </p:nvSpPr>
        <p:spPr>
          <a:xfrm>
            <a:off x="400050" y="2152799"/>
            <a:ext cx="534412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CLEC4M, CLEC4G, CLEC1B, FCN2/3, CYP1A2, GDF2,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1" name="Google Shape;1601;p38"/>
          <p:cNvSpPr txBox="1"/>
          <p:nvPr/>
        </p:nvSpPr>
        <p:spPr>
          <a:xfrm>
            <a:off x="400050" y="2471886"/>
            <a:ext cx="306481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MARCO, CRHBP, ADAMTS13.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2" name="Google Shape;1602;p38"/>
          <p:cNvSpPr txBox="1"/>
          <p:nvPr/>
        </p:nvSpPr>
        <p:spPr>
          <a:xfrm>
            <a:off x="400050" y="2981474"/>
            <a:ext cx="139020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Proliferação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3" name="Google Shape;1603;p38"/>
          <p:cNvSpPr txBox="1"/>
          <p:nvPr/>
        </p:nvSpPr>
        <p:spPr>
          <a:xfrm>
            <a:off x="400050" y="3491061"/>
            <a:ext cx="500806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BIRC5, UBE2T, CDC25C, AURKB, CCNB1, CDC20,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4" name="Google Shape;1604;p38"/>
          <p:cNvSpPr txBox="1"/>
          <p:nvPr/>
        </p:nvSpPr>
        <p:spPr>
          <a:xfrm>
            <a:off x="400050" y="3810149"/>
            <a:ext cx="138663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NUF2, KIF2C.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5" name="Google Shape;1605;p38"/>
          <p:cNvSpPr txBox="1"/>
          <p:nvPr/>
        </p:nvSpPr>
        <p:spPr>
          <a:xfrm>
            <a:off x="6262688" y="974080"/>
            <a:ext cx="393918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Remodelamento vascular/matricial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6" name="Google Shape;1606;p38"/>
          <p:cNvSpPr txBox="1"/>
          <p:nvPr/>
        </p:nvSpPr>
        <p:spPr>
          <a:xfrm>
            <a:off x="6262688" y="1483668"/>
            <a:ext cx="518279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PLVAP, CD34, MMP9, MMP1, VIM, SPP1, COL1A1,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7" name="Google Shape;1607;p38"/>
          <p:cNvSpPr txBox="1"/>
          <p:nvPr/>
        </p:nvSpPr>
        <p:spPr>
          <a:xfrm>
            <a:off x="6262688" y="1802755"/>
            <a:ext cx="875109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VCAM1.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8" name="Google Shape;1608;p38"/>
          <p:cNvSpPr txBox="1"/>
          <p:nvPr/>
        </p:nvSpPr>
        <p:spPr>
          <a:xfrm>
            <a:off x="6262688" y="2312343"/>
            <a:ext cx="308282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Hipóxia / estágio avançado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9" name="Google Shape;1609;p38"/>
          <p:cNvSpPr txBox="1"/>
          <p:nvPr/>
        </p:nvSpPr>
        <p:spPr>
          <a:xfrm>
            <a:off x="6262688" y="2821930"/>
            <a:ext cx="489227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CA9, MIR210HG, SLC6A8 (up); GNMT, CYP2C9,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0" name="Google Shape;1610;p38"/>
          <p:cNvSpPr txBox="1"/>
          <p:nvPr/>
        </p:nvSpPr>
        <p:spPr>
          <a:xfrm>
            <a:off x="6262688" y="3141018"/>
            <a:ext cx="3974157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ACOT12, FTCD, HPX, SLC10A1 (down).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1" name="Google Shape;1611;p38"/>
          <p:cNvSpPr txBox="1"/>
          <p:nvPr/>
        </p:nvSpPr>
        <p:spPr>
          <a:xfrm>
            <a:off x="6262688" y="3650605"/>
            <a:ext cx="2241649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Apoptose / estresse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2" name="Google Shape;1612;p38"/>
          <p:cNvSpPr txBox="1"/>
          <p:nvPr/>
        </p:nvSpPr>
        <p:spPr>
          <a:xfrm>
            <a:off x="6262688" y="4160193"/>
            <a:ext cx="5143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3" name="Google Shape;1613;p38"/>
          <p:cNvSpPr txBox="1"/>
          <p:nvPr/>
        </p:nvSpPr>
        <p:spPr>
          <a:xfrm>
            <a:off x="6738938" y="4160193"/>
            <a:ext cx="506045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PYCARD, HSPA4, HSP90AB1 (up no tumor; BAX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4" name="Google Shape;1614;p38"/>
          <p:cNvSpPr txBox="1"/>
          <p:nvPr/>
        </p:nvSpPr>
        <p:spPr>
          <a:xfrm>
            <a:off x="6262688" y="4479280"/>
            <a:ext cx="231234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também no pareado).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5" name="Google Shape;1615;p38"/>
          <p:cNvSpPr txBox="1"/>
          <p:nvPr/>
        </p:nvSpPr>
        <p:spPr>
          <a:xfrm>
            <a:off x="619125" y="5436543"/>
            <a:ext cx="183400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i="0" lang="en-US" sz="16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Controle positivo: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6" name="Google Shape;1616;p38"/>
          <p:cNvSpPr txBox="1"/>
          <p:nvPr/>
        </p:nvSpPr>
        <p:spPr>
          <a:xfrm>
            <a:off x="2473672" y="5436543"/>
            <a:ext cx="89750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genes do cromossomo Y e XIST na comparação por sexo — o pipeline recupera sinal biológico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7" name="Google Shape;1617;p38"/>
          <p:cNvSpPr txBox="1"/>
          <p:nvPr/>
        </p:nvSpPr>
        <p:spPr>
          <a:xfrm>
            <a:off x="619125" y="5723632"/>
            <a:ext cx="43219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8" name="Google Shape;1618;p38"/>
          <p:cNvSpPr/>
          <p:nvPr/>
        </p:nvSpPr>
        <p:spPr>
          <a:xfrm>
            <a:off x="6762750" y="133350"/>
            <a:ext cx="5029200" cy="2667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7150" spcFirstLastPara="1" rIns="5715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Refs.: Czabotar et al., 2014.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3" name="Google Shape;1623;p39"/>
          <p:cNvCxnSpPr/>
          <p:nvPr/>
        </p:nvCxnSpPr>
        <p:spPr>
          <a:xfrm>
            <a:off x="38100" y="0"/>
            <a:ext cx="0" cy="7620000"/>
          </a:xfrm>
          <a:prstGeom prst="straightConnector1">
            <a:avLst/>
          </a:prstGeom>
          <a:noFill/>
          <a:ln cap="flat" cmpd="sng" w="762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4" name="Google Shape;1624;p39"/>
          <p:cNvSpPr/>
          <p:nvPr/>
        </p:nvSpPr>
        <p:spPr>
          <a:xfrm>
            <a:off x="800100" y="881062"/>
            <a:ext cx="10668000" cy="6256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5" name="Google Shape;1625;p39"/>
          <p:cNvCxnSpPr/>
          <p:nvPr/>
        </p:nvCxnSpPr>
        <p:spPr>
          <a:xfrm>
            <a:off x="800100" y="1492448"/>
            <a:ext cx="106680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6" name="Google Shape;1626;p39"/>
          <p:cNvSpPr/>
          <p:nvPr/>
        </p:nvSpPr>
        <p:spPr>
          <a:xfrm>
            <a:off x="800100" y="2733377"/>
            <a:ext cx="10668000" cy="903833"/>
          </a:xfrm>
          <a:prstGeom prst="roundRect">
            <a:avLst>
              <a:gd fmla="val 5269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7" name="Google Shape;1627;p39"/>
          <p:cNvCxnSpPr/>
          <p:nvPr/>
        </p:nvCxnSpPr>
        <p:spPr>
          <a:xfrm>
            <a:off x="823912" y="2733377"/>
            <a:ext cx="0" cy="903834"/>
          </a:xfrm>
          <a:prstGeom prst="straightConnector1">
            <a:avLst/>
          </a:prstGeom>
          <a:noFill/>
          <a:ln cap="flat" cmpd="sng" w="476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8" name="Google Shape;1628;p39"/>
          <p:cNvSpPr/>
          <p:nvPr/>
        </p:nvSpPr>
        <p:spPr>
          <a:xfrm>
            <a:off x="800100" y="3754338"/>
            <a:ext cx="10668000" cy="1418332"/>
          </a:xfrm>
          <a:prstGeom prst="roundRect">
            <a:avLst>
              <a:gd fmla="val 3357" name="adj"/>
            </a:avLst>
          </a:prstGeom>
          <a:solidFill>
            <a:srgbClr val="EE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9" name="Google Shape;1629;p39"/>
          <p:cNvCxnSpPr/>
          <p:nvPr/>
        </p:nvCxnSpPr>
        <p:spPr>
          <a:xfrm>
            <a:off x="823912" y="3754338"/>
            <a:ext cx="0" cy="1418332"/>
          </a:xfrm>
          <a:prstGeom prst="straightConnector1">
            <a:avLst/>
          </a:prstGeom>
          <a:noFill/>
          <a:ln cap="flat" cmpd="sng" w="47625">
            <a:solidFill>
              <a:srgbClr val="1F5F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0" name="Google Shape;1630;p39"/>
          <p:cNvSpPr/>
          <p:nvPr/>
        </p:nvSpPr>
        <p:spPr>
          <a:xfrm>
            <a:off x="994172" y="4074170"/>
            <a:ext cx="1813620" cy="227261"/>
          </a:xfrm>
          <a:prstGeom prst="roundRect">
            <a:avLst>
              <a:gd fmla="val 50000" name="adj"/>
            </a:avLst>
          </a:prstGeom>
          <a:solidFill>
            <a:srgbClr val="1F5F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1" name="Google Shape;1631;p39"/>
          <p:cNvSpPr txBox="1"/>
          <p:nvPr/>
        </p:nvSpPr>
        <p:spPr>
          <a:xfrm>
            <a:off x="800100" y="852488"/>
            <a:ext cx="3700462" cy="600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rPr b="0" i="0" lang="en-US" sz="35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Parte 3 — ComBat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2" name="Google Shape;1632;p39"/>
          <p:cNvSpPr txBox="1"/>
          <p:nvPr/>
        </p:nvSpPr>
        <p:spPr>
          <a:xfrm>
            <a:off x="800100" y="1655564"/>
            <a:ext cx="4573339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2"/>
              <a:buFont typeface="Arial"/>
              <a:buNone/>
            </a:pPr>
            <a:r>
              <a:rPr b="1" i="0" lang="en-US" sz="1162" u="none" cap="none" strike="noStrike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CORREÇÃO DE LOTE, DEMONSTRAÇÃO E LIMITAÇÃO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3" name="Google Shape;1633;p39"/>
          <p:cNvSpPr txBox="1"/>
          <p:nvPr/>
        </p:nvSpPr>
        <p:spPr>
          <a:xfrm>
            <a:off x="800100" y="1993999"/>
            <a:ext cx="346427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8"/>
              <a:buFont typeface="Arial"/>
              <a:buNone/>
            </a:pPr>
            <a:r>
              <a:rPr b="0" i="0" lang="en-US" sz="1968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04_ComBat_demonstracao.R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4" name="Google Shape;1634;p39"/>
          <p:cNvSpPr txBox="1"/>
          <p:nvPr/>
        </p:nvSpPr>
        <p:spPr>
          <a:xfrm>
            <a:off x="4291161" y="1955899"/>
            <a:ext cx="2659856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8"/>
              <a:buFont typeface="Arial"/>
              <a:buNone/>
            </a:pPr>
            <a:r>
              <a:rPr b="0" i="0" lang="en-US" sz="1968" u="none" cap="none" strike="noStrike">
                <a:solidFill>
                  <a:srgbClr val="1F5F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figuras 13–14 e tabela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5" name="Google Shape;1635;p39"/>
          <p:cNvSpPr txBox="1"/>
          <p:nvPr/>
        </p:nvSpPr>
        <p:spPr>
          <a:xfrm>
            <a:off x="800100" y="2274975"/>
            <a:ext cx="60471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8"/>
              <a:buFont typeface="Arial"/>
              <a:buNone/>
            </a:pPr>
            <a:r>
              <a:rPr b="0" i="0" lang="en-US" sz="1968" u="none" cap="none" strike="noStrike">
                <a:solidFill>
                  <a:srgbClr val="1F5F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DE/COMPARACAO_ComBat_antes_depois.csv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6" name="Google Shape;1636;p39"/>
          <p:cNvSpPr txBox="1"/>
          <p:nvPr/>
        </p:nvSpPr>
        <p:spPr>
          <a:xfrm>
            <a:off x="862012" y="3041749"/>
            <a:ext cx="105679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Pergunta: o ComBat consegue separar o efeito de lote TCGA × GTEx do efeito biológico tumor × normal?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7" name="Google Shape;1637;p39"/>
          <p:cNvSpPr txBox="1"/>
          <p:nvPr/>
        </p:nvSpPr>
        <p:spPr>
          <a:xfrm>
            <a:off x="1074093" y="4080570"/>
            <a:ext cx="1691878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rPr b="1" i="0" lang="en-US" sz="126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MÉTODOS DA ETAPA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8" name="Google Shape;1638;p39"/>
          <p:cNvSpPr txBox="1"/>
          <p:nvPr/>
        </p:nvSpPr>
        <p:spPr>
          <a:xfrm>
            <a:off x="2917329" y="4042470"/>
            <a:ext cx="76453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ComBat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9" name="Google Shape;1639;p39"/>
          <p:cNvSpPr txBox="1"/>
          <p:nvPr/>
        </p:nvSpPr>
        <p:spPr>
          <a:xfrm>
            <a:off x="3697188" y="4042470"/>
            <a:ext cx="97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0" name="Google Shape;1640;p39"/>
          <p:cNvSpPr txBox="1"/>
          <p:nvPr/>
        </p:nvSpPr>
        <p:spPr>
          <a:xfrm>
            <a:off x="3756273" y="4071045"/>
            <a:ext cx="129673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sva::ComBat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1" name="Google Shape;1641;p39"/>
          <p:cNvSpPr txBox="1"/>
          <p:nvPr/>
        </p:nvSpPr>
        <p:spPr>
          <a:xfrm>
            <a:off x="5014912" y="4042470"/>
            <a:ext cx="633085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corrige lote de forma empírico-bayesiana, estimando efeitos aditivos (γ)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2" name="Google Shape;1642;p39"/>
          <p:cNvSpPr txBox="1"/>
          <p:nvPr/>
        </p:nvSpPr>
        <p:spPr>
          <a:xfrm>
            <a:off x="994172" y="4323159"/>
            <a:ext cx="46958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 multiplicativos (δ) por gene e por lote. O argumento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3" name="Google Shape;1643;p39"/>
          <p:cNvSpPr txBox="1"/>
          <p:nvPr/>
        </p:nvSpPr>
        <p:spPr>
          <a:xfrm>
            <a:off x="5705326" y="4351734"/>
            <a:ext cx="3814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mod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4" name="Google Shape;1644;p39"/>
          <p:cNvSpPr txBox="1"/>
          <p:nvPr/>
        </p:nvSpPr>
        <p:spPr>
          <a:xfrm>
            <a:off x="6102102" y="4323159"/>
            <a:ext cx="276671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informa a biologia que deve ser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5" name="Google Shape;1645;p39"/>
          <p:cNvSpPr txBox="1"/>
          <p:nvPr/>
        </p:nvSpPr>
        <p:spPr>
          <a:xfrm>
            <a:off x="8884295" y="4323159"/>
            <a:ext cx="96098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1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preservada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6" name="Google Shape;1646;p39"/>
          <p:cNvSpPr txBox="1"/>
          <p:nvPr/>
        </p:nvSpPr>
        <p:spPr>
          <a:xfrm>
            <a:off x="9807178" y="4323159"/>
            <a:ext cx="1336774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Em seguida, 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7" name="Google Shape;1647;p39"/>
          <p:cNvSpPr txBox="1"/>
          <p:nvPr/>
        </p:nvSpPr>
        <p:spPr>
          <a:xfrm>
            <a:off x="994172" y="4603849"/>
            <a:ext cx="182865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efeito é medido 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8" name="Google Shape;1648;p39"/>
          <p:cNvSpPr txBox="1"/>
          <p:nvPr/>
        </p:nvSpPr>
        <p:spPr>
          <a:xfrm>
            <a:off x="2838301" y="4603849"/>
            <a:ext cx="61198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9" name="Google Shape;1649;p39"/>
          <p:cNvSpPr txBox="1"/>
          <p:nvPr/>
        </p:nvSpPr>
        <p:spPr>
          <a:xfrm>
            <a:off x="3465612" y="4603849"/>
            <a:ext cx="97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0" name="Google Shape;1650;p39"/>
          <p:cNvSpPr txBox="1"/>
          <p:nvPr/>
        </p:nvSpPr>
        <p:spPr>
          <a:xfrm>
            <a:off x="3524696" y="4632424"/>
            <a:ext cx="6101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limma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1" name="Google Shape;1651;p39"/>
          <p:cNvSpPr txBox="1"/>
          <p:nvPr/>
        </p:nvSpPr>
        <p:spPr>
          <a:xfrm>
            <a:off x="4096792" y="4603849"/>
            <a:ext cx="146491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e resumido por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2" name="Google Shape;1652;p39"/>
          <p:cNvSpPr txBox="1"/>
          <p:nvPr/>
        </p:nvSpPr>
        <p:spPr>
          <a:xfrm>
            <a:off x="5577185" y="4603849"/>
            <a:ext cx="71869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Jaccard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3" name="Google Shape;1653;p39"/>
          <p:cNvSpPr txBox="1"/>
          <p:nvPr/>
        </p:nvSpPr>
        <p:spPr>
          <a:xfrm>
            <a:off x="6311205" y="4603849"/>
            <a:ext cx="88106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(base R) 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4" name="Google Shape;1654;p39"/>
          <p:cNvSpPr txBox="1"/>
          <p:nvPr/>
        </p:nvSpPr>
        <p:spPr>
          <a:xfrm>
            <a:off x="7207597" y="4603849"/>
            <a:ext cx="95979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Spearman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5" name="Google Shape;1655;p39"/>
          <p:cNvSpPr txBox="1"/>
          <p:nvPr/>
        </p:nvSpPr>
        <p:spPr>
          <a:xfrm>
            <a:off x="8182719" y="4603849"/>
            <a:ext cx="97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6" name="Google Shape;1656;p39"/>
          <p:cNvSpPr txBox="1"/>
          <p:nvPr/>
        </p:nvSpPr>
        <p:spPr>
          <a:xfrm>
            <a:off x="8241804" y="4632424"/>
            <a:ext cx="17543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stats::cor.test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7" name="Google Shape;1657;p39"/>
          <p:cNvSpPr txBox="1"/>
          <p:nvPr/>
        </p:nvSpPr>
        <p:spPr>
          <a:xfrm>
            <a:off x="9958090" y="4603849"/>
            <a:ext cx="13945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8" name="Google Shape;1658;p39"/>
          <p:cNvSpPr/>
          <p:nvPr/>
        </p:nvSpPr>
        <p:spPr>
          <a:xfrm>
            <a:off x="400050" y="7239000"/>
            <a:ext cx="11391900" cy="2667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7150" spcFirstLastPara="1" rIns="57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Refs.: Johnson et al., 2007; Leek et al., 2012; Zhang et al., 2020.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2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p40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4" name="Google Shape;1664;p40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5" name="Google Shape;1665;p40"/>
          <p:cNvSpPr/>
          <p:nvPr/>
        </p:nvSpPr>
        <p:spPr>
          <a:xfrm>
            <a:off x="400050" y="3327050"/>
            <a:ext cx="5529300" cy="1711200"/>
          </a:xfrm>
          <a:prstGeom prst="roundRect">
            <a:avLst>
              <a:gd fmla="val 2783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6" name="Google Shape;1666;p40"/>
          <p:cNvSpPr/>
          <p:nvPr/>
        </p:nvSpPr>
        <p:spPr>
          <a:xfrm>
            <a:off x="6262688" y="1925092"/>
            <a:ext cx="5529262" cy="178593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7" name="Google Shape;1667;p40"/>
          <p:cNvSpPr/>
          <p:nvPr/>
        </p:nvSpPr>
        <p:spPr>
          <a:xfrm>
            <a:off x="6262688" y="2115592"/>
            <a:ext cx="5548312" cy="1404938"/>
          </a:xfrm>
          <a:prstGeom prst="roundRect">
            <a:avLst>
              <a:gd fmla="val 3389" name="adj"/>
            </a:avLst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8" name="Google Shape;1668;p40"/>
          <p:cNvSpPr txBox="1"/>
          <p:nvPr/>
        </p:nvSpPr>
        <p:spPr>
          <a:xfrm>
            <a:off x="400050" y="161925"/>
            <a:ext cx="2895154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que é o ComBat?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9" name="Google Shape;1669;p40"/>
          <p:cNvSpPr txBox="1"/>
          <p:nvPr/>
        </p:nvSpPr>
        <p:spPr>
          <a:xfrm>
            <a:off x="400050" y="974080"/>
            <a:ext cx="1101179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Definição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0" name="Google Shape;1670;p40"/>
          <p:cNvSpPr txBox="1"/>
          <p:nvPr/>
        </p:nvSpPr>
        <p:spPr>
          <a:xfrm>
            <a:off x="400050" y="1483668"/>
            <a:ext cx="339194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Função do pacote Bioconductor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1" name="Google Shape;1671;p40"/>
          <p:cNvSpPr txBox="1"/>
          <p:nvPr/>
        </p:nvSpPr>
        <p:spPr>
          <a:xfrm>
            <a:off x="3819079" y="1521768"/>
            <a:ext cx="456754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2" name="Google Shape;1672;p40"/>
          <p:cNvSpPr txBox="1"/>
          <p:nvPr/>
        </p:nvSpPr>
        <p:spPr>
          <a:xfrm>
            <a:off x="4302919" y="1483668"/>
            <a:ext cx="13220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para corrigir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3" name="Google Shape;1673;p40"/>
          <p:cNvSpPr txBox="1"/>
          <p:nvPr/>
        </p:nvSpPr>
        <p:spPr>
          <a:xfrm>
            <a:off x="400050" y="1821805"/>
            <a:ext cx="1638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efeitos de lote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4" name="Google Shape;1674;p40"/>
          <p:cNvSpPr txBox="1"/>
          <p:nvPr/>
        </p:nvSpPr>
        <p:spPr>
          <a:xfrm>
            <a:off x="2065437" y="1821805"/>
            <a:ext cx="329029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 dados de expressão de alta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5" name="Google Shape;1675;p40"/>
          <p:cNvSpPr txBox="1"/>
          <p:nvPr/>
        </p:nvSpPr>
        <p:spPr>
          <a:xfrm>
            <a:off x="400050" y="2140893"/>
            <a:ext cx="111383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dimensão.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6" name="Google Shape;1676;p40"/>
          <p:cNvSpPr txBox="1"/>
          <p:nvPr/>
        </p:nvSpPr>
        <p:spPr>
          <a:xfrm>
            <a:off x="520898" y="3598959"/>
            <a:ext cx="169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 palavras simples: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7" name="Google Shape;1677;p40"/>
          <p:cNvSpPr txBox="1"/>
          <p:nvPr/>
        </p:nvSpPr>
        <p:spPr>
          <a:xfrm>
            <a:off x="2228404" y="3598959"/>
            <a:ext cx="340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ComBat tenta alinhar a média e a variância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8" name="Google Shape;1678;p40"/>
          <p:cNvSpPr txBox="1"/>
          <p:nvPr/>
        </p:nvSpPr>
        <p:spPr>
          <a:xfrm>
            <a:off x="520898" y="3828601"/>
            <a:ext cx="194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 cada gene entre lotes.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9" name="Google Shape;1679;p40"/>
          <p:cNvSpPr txBox="1"/>
          <p:nvPr/>
        </p:nvSpPr>
        <p:spPr>
          <a:xfrm>
            <a:off x="2472035" y="3847651"/>
            <a:ext cx="339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mod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0" name="Google Shape;1680;p40"/>
          <p:cNvSpPr txBox="1"/>
          <p:nvPr/>
        </p:nvSpPr>
        <p:spPr>
          <a:xfrm>
            <a:off x="2820293" y="3828601"/>
            <a:ext cx="2957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protege o efeito biológico que se quer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1" name="Google Shape;1681;p40"/>
          <p:cNvSpPr txBox="1"/>
          <p:nvPr/>
        </p:nvSpPr>
        <p:spPr>
          <a:xfrm>
            <a:off x="520898" y="4067768"/>
            <a:ext cx="522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manter; sem ele, o método pode remover também tumor vs. normal.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2" name="Google Shape;1682;p40"/>
          <p:cNvSpPr txBox="1"/>
          <p:nvPr/>
        </p:nvSpPr>
        <p:spPr>
          <a:xfrm>
            <a:off x="520898" y="4297410"/>
            <a:ext cx="101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ComBat-seq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3" name="Google Shape;1683;p40"/>
          <p:cNvSpPr txBox="1"/>
          <p:nvPr/>
        </p:nvSpPr>
        <p:spPr>
          <a:xfrm>
            <a:off x="1541562" y="4297410"/>
            <a:ext cx="41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 a versão para contagens brutas; aqui os dados já são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4" name="Google Shape;1684;p40"/>
          <p:cNvSpPr txBox="1"/>
          <p:nvPr/>
        </p:nvSpPr>
        <p:spPr>
          <a:xfrm>
            <a:off x="520898" y="4527052"/>
            <a:ext cx="186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log2(TPM), então usa-se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5" name="Google Shape;1685;p40"/>
          <p:cNvSpPr txBox="1"/>
          <p:nvPr/>
        </p:nvSpPr>
        <p:spPr>
          <a:xfrm>
            <a:off x="2398068" y="4546102"/>
            <a:ext cx="640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ComBat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6" name="Google Shape;1686;p40"/>
          <p:cNvSpPr txBox="1"/>
          <p:nvPr/>
        </p:nvSpPr>
        <p:spPr>
          <a:xfrm>
            <a:off x="3047702" y="4527052"/>
            <a:ext cx="65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clássico.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7" name="Google Shape;1687;p40"/>
          <p:cNvSpPr txBox="1"/>
          <p:nvPr/>
        </p:nvSpPr>
        <p:spPr>
          <a:xfrm>
            <a:off x="6262688" y="1367879"/>
            <a:ext cx="257264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Argumentos principais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8" name="Google Shape;1688;p40"/>
          <p:cNvSpPr txBox="1"/>
          <p:nvPr/>
        </p:nvSpPr>
        <p:spPr>
          <a:xfrm>
            <a:off x="6355556" y="2208461"/>
            <a:ext cx="247501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9" name="Google Shape;1689;p40"/>
          <p:cNvSpPr txBox="1"/>
          <p:nvPr/>
        </p:nvSpPr>
        <p:spPr>
          <a:xfrm>
            <a:off x="6564957" y="2208461"/>
            <a:ext cx="177701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0" name="Google Shape;1690;p40"/>
          <p:cNvSpPr txBox="1"/>
          <p:nvPr/>
        </p:nvSpPr>
        <p:spPr>
          <a:xfrm>
            <a:off x="6704558" y="2208461"/>
            <a:ext cx="45675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ComBat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1" name="Google Shape;1691;p40"/>
          <p:cNvSpPr txBox="1"/>
          <p:nvPr/>
        </p:nvSpPr>
        <p:spPr>
          <a:xfrm>
            <a:off x="7123212" y="22084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2" name="Google Shape;1692;p40"/>
          <p:cNvSpPr txBox="1"/>
          <p:nvPr/>
        </p:nvSpPr>
        <p:spPr>
          <a:xfrm>
            <a:off x="6495157" y="2360861"/>
            <a:ext cx="80560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dat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3" name="Google Shape;1693;p40"/>
          <p:cNvSpPr txBox="1"/>
          <p:nvPr/>
        </p:nvSpPr>
        <p:spPr>
          <a:xfrm>
            <a:off x="7332315" y="2360861"/>
            <a:ext cx="87540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matriz_log2,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4" name="Google Shape;1694;p40"/>
          <p:cNvSpPr txBox="1"/>
          <p:nvPr/>
        </p:nvSpPr>
        <p:spPr>
          <a:xfrm>
            <a:off x="6495157" y="2513261"/>
            <a:ext cx="80560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batch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5" name="Google Shape;1695;p40"/>
          <p:cNvSpPr txBox="1"/>
          <p:nvPr/>
        </p:nvSpPr>
        <p:spPr>
          <a:xfrm>
            <a:off x="7332315" y="2513261"/>
            <a:ext cx="1015008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vetor_de_lote,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6" name="Google Shape;1696;p40"/>
          <p:cNvSpPr txBox="1"/>
          <p:nvPr/>
        </p:nvSpPr>
        <p:spPr>
          <a:xfrm>
            <a:off x="6495157" y="2665661"/>
            <a:ext cx="80560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mod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7" name="Google Shape;1697;p40"/>
          <p:cNvSpPr txBox="1"/>
          <p:nvPr/>
        </p:nvSpPr>
        <p:spPr>
          <a:xfrm>
            <a:off x="7332464" y="2665661"/>
            <a:ext cx="875258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model.matrix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8" name="Google Shape;1698;p40"/>
          <p:cNvSpPr txBox="1"/>
          <p:nvPr/>
        </p:nvSpPr>
        <p:spPr>
          <a:xfrm>
            <a:off x="8169622" y="26656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9" name="Google Shape;1699;p40"/>
          <p:cNvSpPr txBox="1"/>
          <p:nvPr/>
        </p:nvSpPr>
        <p:spPr>
          <a:xfrm>
            <a:off x="8239423" y="26656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~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0" name="Google Shape;1700;p40"/>
          <p:cNvSpPr txBox="1"/>
          <p:nvPr/>
        </p:nvSpPr>
        <p:spPr>
          <a:xfrm>
            <a:off x="8378875" y="2665661"/>
            <a:ext cx="38710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grupo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1" name="Google Shape;1701;p40"/>
          <p:cNvSpPr txBox="1"/>
          <p:nvPr/>
        </p:nvSpPr>
        <p:spPr>
          <a:xfrm>
            <a:off x="8797677" y="26656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2" name="Google Shape;1702;p40"/>
          <p:cNvSpPr txBox="1"/>
          <p:nvPr/>
        </p:nvSpPr>
        <p:spPr>
          <a:xfrm>
            <a:off x="8937129" y="2665661"/>
            <a:ext cx="31730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sexo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3" name="Google Shape;1703;p40"/>
          <p:cNvSpPr txBox="1"/>
          <p:nvPr/>
        </p:nvSpPr>
        <p:spPr>
          <a:xfrm>
            <a:off x="9286131" y="26656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4" name="Google Shape;1704;p40"/>
          <p:cNvSpPr txBox="1"/>
          <p:nvPr/>
        </p:nvSpPr>
        <p:spPr>
          <a:xfrm>
            <a:off x="9425583" y="2665661"/>
            <a:ext cx="45690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idade,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5" name="Google Shape;1705;p40"/>
          <p:cNvSpPr txBox="1"/>
          <p:nvPr/>
        </p:nvSpPr>
        <p:spPr>
          <a:xfrm>
            <a:off x="9914037" y="2665661"/>
            <a:ext cx="45675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data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6" name="Google Shape;1706;p40"/>
          <p:cNvSpPr txBox="1"/>
          <p:nvPr/>
        </p:nvSpPr>
        <p:spPr>
          <a:xfrm>
            <a:off x="10402342" y="2665661"/>
            <a:ext cx="45690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meta),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7" name="Google Shape;1707;p40"/>
          <p:cNvSpPr txBox="1"/>
          <p:nvPr/>
        </p:nvSpPr>
        <p:spPr>
          <a:xfrm>
            <a:off x="6495157" y="2818061"/>
            <a:ext cx="80560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par.prior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8" name="Google Shape;1708;p40"/>
          <p:cNvSpPr txBox="1"/>
          <p:nvPr/>
        </p:nvSpPr>
        <p:spPr>
          <a:xfrm>
            <a:off x="7332464" y="2818061"/>
            <a:ext cx="317153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8F5902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9" name="Google Shape;1709;p40"/>
          <p:cNvSpPr txBox="1"/>
          <p:nvPr/>
        </p:nvSpPr>
        <p:spPr>
          <a:xfrm>
            <a:off x="7611517" y="28180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0" name="Google Shape;1710;p40"/>
          <p:cNvSpPr txBox="1"/>
          <p:nvPr/>
        </p:nvSpPr>
        <p:spPr>
          <a:xfrm>
            <a:off x="6495157" y="2970461"/>
            <a:ext cx="80560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mean.only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1" name="Google Shape;1711;p40"/>
          <p:cNvSpPr txBox="1"/>
          <p:nvPr/>
        </p:nvSpPr>
        <p:spPr>
          <a:xfrm>
            <a:off x="7332464" y="2970461"/>
            <a:ext cx="386953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8F5902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2" name="Google Shape;1712;p40"/>
          <p:cNvSpPr txBox="1"/>
          <p:nvPr/>
        </p:nvSpPr>
        <p:spPr>
          <a:xfrm>
            <a:off x="7681317" y="29704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3" name="Google Shape;1713;p40"/>
          <p:cNvSpPr txBox="1"/>
          <p:nvPr/>
        </p:nvSpPr>
        <p:spPr>
          <a:xfrm>
            <a:off x="6495157" y="3122861"/>
            <a:ext cx="80560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ref.batch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4" name="Google Shape;1714;p40"/>
          <p:cNvSpPr txBox="1"/>
          <p:nvPr/>
        </p:nvSpPr>
        <p:spPr>
          <a:xfrm>
            <a:off x="7332464" y="3122861"/>
            <a:ext cx="317153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8F5902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5" name="Google Shape;1715;p40"/>
          <p:cNvSpPr txBox="1"/>
          <p:nvPr/>
        </p:nvSpPr>
        <p:spPr>
          <a:xfrm>
            <a:off x="6355556" y="32752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6" name="Google Shape;1716;p40"/>
          <p:cNvSpPr txBox="1"/>
          <p:nvPr/>
        </p:nvSpPr>
        <p:spPr>
          <a:xfrm>
            <a:off x="6262688" y="3949154"/>
            <a:ext cx="197837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que ele não faz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7" name="Google Shape;1717;p40"/>
          <p:cNvSpPr txBox="1"/>
          <p:nvPr/>
        </p:nvSpPr>
        <p:spPr>
          <a:xfrm>
            <a:off x="6524625" y="4458742"/>
            <a:ext cx="408012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resolve confundimento estrutural.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8" name="Google Shape;1718;p40"/>
          <p:cNvSpPr txBox="1"/>
          <p:nvPr/>
        </p:nvSpPr>
        <p:spPr>
          <a:xfrm>
            <a:off x="6524625" y="4830217"/>
            <a:ext cx="442451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substitui bom desenho experimental.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9" name="Google Shape;1719;p40"/>
          <p:cNvSpPr txBox="1"/>
          <p:nvPr/>
        </p:nvSpPr>
        <p:spPr>
          <a:xfrm>
            <a:off x="6524625" y="5201692"/>
            <a:ext cx="314176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Pode remover sinal biológico.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0" name="Google Shape;1720;p40"/>
          <p:cNvSpPr txBox="1"/>
          <p:nvPr/>
        </p:nvSpPr>
        <p:spPr>
          <a:xfrm>
            <a:off x="6524625" y="5573167"/>
            <a:ext cx="453851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é indicado para contagens brutas (use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1" name="Google Shape;1721;p40"/>
          <p:cNvSpPr txBox="1"/>
          <p:nvPr/>
        </p:nvSpPr>
        <p:spPr>
          <a:xfrm>
            <a:off x="6524625" y="5930354"/>
            <a:ext cx="1433364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ComBat-seq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2" name="Google Shape;1722;p40"/>
          <p:cNvSpPr txBox="1"/>
          <p:nvPr/>
        </p:nvSpPr>
        <p:spPr>
          <a:xfrm>
            <a:off x="7919889" y="5892254"/>
            <a:ext cx="161627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3" name="Google Shape;1723;p40"/>
          <p:cNvSpPr txBox="1"/>
          <p:nvPr/>
        </p:nvSpPr>
        <p:spPr>
          <a:xfrm>
            <a:off x="6524625" y="6282779"/>
            <a:ext cx="523800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 sensível a lotes pequenos e efeitos não lineares.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4" name="Google Shape;1724;p40"/>
          <p:cNvSpPr/>
          <p:nvPr/>
        </p:nvSpPr>
        <p:spPr>
          <a:xfrm>
            <a:off x="6293644" y="4584948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5" name="Google Shape;1725;p40"/>
          <p:cNvSpPr/>
          <p:nvPr/>
        </p:nvSpPr>
        <p:spPr>
          <a:xfrm>
            <a:off x="6293644" y="4956423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6" name="Google Shape;1726;p40"/>
          <p:cNvSpPr/>
          <p:nvPr/>
        </p:nvSpPr>
        <p:spPr>
          <a:xfrm>
            <a:off x="6293644" y="5327898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7" name="Google Shape;1727;p40"/>
          <p:cNvSpPr/>
          <p:nvPr/>
        </p:nvSpPr>
        <p:spPr>
          <a:xfrm>
            <a:off x="6293644" y="5699373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8" name="Google Shape;1728;p40"/>
          <p:cNvSpPr/>
          <p:nvPr/>
        </p:nvSpPr>
        <p:spPr>
          <a:xfrm>
            <a:off x="6293644" y="6408986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9" name="Google Shape;1729;p40"/>
          <p:cNvSpPr/>
          <p:nvPr/>
        </p:nvSpPr>
        <p:spPr>
          <a:xfrm>
            <a:off x="400050" y="7076777"/>
            <a:ext cx="11391900" cy="2667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7150" spcFirstLastPara="1" rIns="57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Refs.: Johnson et al., 2007; Leek et al., 2012; Zhang et al., 2020.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3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41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5" name="Google Shape;1735;p41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6" name="Google Shape;1736;p41"/>
          <p:cNvSpPr/>
          <p:nvPr/>
        </p:nvSpPr>
        <p:spPr>
          <a:xfrm>
            <a:off x="400050" y="1531293"/>
            <a:ext cx="5529262" cy="87153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7" name="Google Shape;1737;p41"/>
          <p:cNvSpPr/>
          <p:nvPr/>
        </p:nvSpPr>
        <p:spPr>
          <a:xfrm>
            <a:off x="400050" y="1721793"/>
            <a:ext cx="5548312" cy="490538"/>
          </a:xfrm>
          <a:prstGeom prst="roundRect">
            <a:avLst>
              <a:gd fmla="val 9708" name="adj"/>
            </a:avLst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8" name="Google Shape;1738;p41"/>
          <p:cNvSpPr/>
          <p:nvPr/>
        </p:nvSpPr>
        <p:spPr>
          <a:xfrm>
            <a:off x="400050" y="3150543"/>
            <a:ext cx="5548312" cy="490538"/>
          </a:xfrm>
          <a:prstGeom prst="roundRect">
            <a:avLst>
              <a:gd fmla="val 9708" name="adj"/>
            </a:avLst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9" name="Google Shape;1739;p41"/>
          <p:cNvSpPr/>
          <p:nvPr/>
        </p:nvSpPr>
        <p:spPr>
          <a:xfrm>
            <a:off x="400050" y="5217468"/>
            <a:ext cx="5529262" cy="71913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0" name="Google Shape;1740;p41"/>
          <p:cNvSpPr/>
          <p:nvPr/>
        </p:nvSpPr>
        <p:spPr>
          <a:xfrm>
            <a:off x="400050" y="5407968"/>
            <a:ext cx="5548312" cy="338138"/>
          </a:xfrm>
          <a:prstGeom prst="roundRect">
            <a:avLst>
              <a:gd fmla="val 14084" name="adj"/>
            </a:avLst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1" name="Google Shape;1741;p41"/>
          <p:cNvSpPr/>
          <p:nvPr/>
        </p:nvSpPr>
        <p:spPr>
          <a:xfrm>
            <a:off x="6262688" y="1826865"/>
            <a:ext cx="5529262" cy="1735485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2" name="Google Shape;1742;p41"/>
          <p:cNvSpPr/>
          <p:nvPr/>
        </p:nvSpPr>
        <p:spPr>
          <a:xfrm>
            <a:off x="6267450" y="1831628"/>
            <a:ext cx="2761506" cy="260598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3" name="Google Shape;1743;p41"/>
          <p:cNvCxnSpPr/>
          <p:nvPr/>
        </p:nvCxnSpPr>
        <p:spPr>
          <a:xfrm>
            <a:off x="6267450" y="1836390"/>
            <a:ext cx="2761506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4" name="Google Shape;1744;p41"/>
          <p:cNvCxnSpPr/>
          <p:nvPr/>
        </p:nvCxnSpPr>
        <p:spPr>
          <a:xfrm>
            <a:off x="6272212" y="1831628"/>
            <a:ext cx="0" cy="26059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5" name="Google Shape;1745;p41"/>
          <p:cNvSpPr/>
          <p:nvPr/>
        </p:nvSpPr>
        <p:spPr>
          <a:xfrm>
            <a:off x="9028956" y="1831628"/>
            <a:ext cx="635050" cy="260598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6" name="Google Shape;1746;p41"/>
          <p:cNvCxnSpPr/>
          <p:nvPr/>
        </p:nvCxnSpPr>
        <p:spPr>
          <a:xfrm>
            <a:off x="9028956" y="1836390"/>
            <a:ext cx="635049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7" name="Google Shape;1747;p41"/>
          <p:cNvCxnSpPr/>
          <p:nvPr/>
        </p:nvCxnSpPr>
        <p:spPr>
          <a:xfrm>
            <a:off x="9033718" y="1831628"/>
            <a:ext cx="0" cy="26059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8" name="Google Shape;1748;p41"/>
          <p:cNvSpPr/>
          <p:nvPr/>
        </p:nvSpPr>
        <p:spPr>
          <a:xfrm>
            <a:off x="9664005" y="1831628"/>
            <a:ext cx="2123182" cy="260598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9" name="Google Shape;1749;p41"/>
          <p:cNvCxnSpPr/>
          <p:nvPr/>
        </p:nvCxnSpPr>
        <p:spPr>
          <a:xfrm>
            <a:off x="9664005" y="1836390"/>
            <a:ext cx="2123183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0" name="Google Shape;1750;p41"/>
          <p:cNvCxnSpPr/>
          <p:nvPr/>
        </p:nvCxnSpPr>
        <p:spPr>
          <a:xfrm>
            <a:off x="9668768" y="1831628"/>
            <a:ext cx="0" cy="26059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1" name="Google Shape;1751;p41"/>
          <p:cNvSpPr/>
          <p:nvPr/>
        </p:nvSpPr>
        <p:spPr>
          <a:xfrm>
            <a:off x="6267450" y="2092226"/>
            <a:ext cx="2761506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2" name="Google Shape;1752;p41"/>
          <p:cNvCxnSpPr/>
          <p:nvPr/>
        </p:nvCxnSpPr>
        <p:spPr>
          <a:xfrm>
            <a:off x="6267450" y="2096988"/>
            <a:ext cx="276150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3" name="Google Shape;1753;p41"/>
          <p:cNvCxnSpPr/>
          <p:nvPr/>
        </p:nvCxnSpPr>
        <p:spPr>
          <a:xfrm>
            <a:off x="6272212" y="2092226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4" name="Google Shape;1754;p41"/>
          <p:cNvSpPr/>
          <p:nvPr/>
        </p:nvSpPr>
        <p:spPr>
          <a:xfrm>
            <a:off x="9028956" y="2092226"/>
            <a:ext cx="635050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5" name="Google Shape;1755;p41"/>
          <p:cNvCxnSpPr/>
          <p:nvPr/>
        </p:nvCxnSpPr>
        <p:spPr>
          <a:xfrm>
            <a:off x="9028956" y="2096988"/>
            <a:ext cx="63504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6" name="Google Shape;1756;p41"/>
          <p:cNvCxnSpPr/>
          <p:nvPr/>
        </p:nvCxnSpPr>
        <p:spPr>
          <a:xfrm>
            <a:off x="9033718" y="2092226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7" name="Google Shape;1757;p41"/>
          <p:cNvSpPr/>
          <p:nvPr/>
        </p:nvSpPr>
        <p:spPr>
          <a:xfrm>
            <a:off x="9664005" y="2092226"/>
            <a:ext cx="2123182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8" name="Google Shape;1758;p41"/>
          <p:cNvCxnSpPr/>
          <p:nvPr/>
        </p:nvCxnSpPr>
        <p:spPr>
          <a:xfrm>
            <a:off x="9664005" y="2096988"/>
            <a:ext cx="212318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9" name="Google Shape;1759;p41"/>
          <p:cNvCxnSpPr/>
          <p:nvPr/>
        </p:nvCxnSpPr>
        <p:spPr>
          <a:xfrm>
            <a:off x="9668768" y="2092226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0" name="Google Shape;1760;p41"/>
          <p:cNvSpPr/>
          <p:nvPr/>
        </p:nvSpPr>
        <p:spPr>
          <a:xfrm>
            <a:off x="6267450" y="2336453"/>
            <a:ext cx="2761506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1" name="Google Shape;1761;p41"/>
          <p:cNvCxnSpPr/>
          <p:nvPr/>
        </p:nvCxnSpPr>
        <p:spPr>
          <a:xfrm>
            <a:off x="6267450" y="2341215"/>
            <a:ext cx="276150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2" name="Google Shape;1762;p41"/>
          <p:cNvCxnSpPr/>
          <p:nvPr/>
        </p:nvCxnSpPr>
        <p:spPr>
          <a:xfrm>
            <a:off x="6272212" y="2336453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3" name="Google Shape;1763;p41"/>
          <p:cNvSpPr/>
          <p:nvPr/>
        </p:nvSpPr>
        <p:spPr>
          <a:xfrm>
            <a:off x="9028956" y="2336453"/>
            <a:ext cx="635050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4" name="Google Shape;1764;p41"/>
          <p:cNvCxnSpPr/>
          <p:nvPr/>
        </p:nvCxnSpPr>
        <p:spPr>
          <a:xfrm>
            <a:off x="9028956" y="2341215"/>
            <a:ext cx="63504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5" name="Google Shape;1765;p41"/>
          <p:cNvCxnSpPr/>
          <p:nvPr/>
        </p:nvCxnSpPr>
        <p:spPr>
          <a:xfrm>
            <a:off x="9033718" y="2336453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6" name="Google Shape;1766;p41"/>
          <p:cNvSpPr/>
          <p:nvPr/>
        </p:nvSpPr>
        <p:spPr>
          <a:xfrm>
            <a:off x="9664005" y="2336453"/>
            <a:ext cx="2123182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7" name="Google Shape;1767;p41"/>
          <p:cNvCxnSpPr/>
          <p:nvPr/>
        </p:nvCxnSpPr>
        <p:spPr>
          <a:xfrm>
            <a:off x="9664005" y="2341215"/>
            <a:ext cx="212318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8" name="Google Shape;1768;p41"/>
          <p:cNvCxnSpPr/>
          <p:nvPr/>
        </p:nvCxnSpPr>
        <p:spPr>
          <a:xfrm>
            <a:off x="9668768" y="2336453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9" name="Google Shape;1769;p41"/>
          <p:cNvSpPr/>
          <p:nvPr/>
        </p:nvSpPr>
        <p:spPr>
          <a:xfrm>
            <a:off x="6267450" y="2580680"/>
            <a:ext cx="2761506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0" name="Google Shape;1770;p41"/>
          <p:cNvCxnSpPr/>
          <p:nvPr/>
        </p:nvCxnSpPr>
        <p:spPr>
          <a:xfrm>
            <a:off x="6267450" y="2585442"/>
            <a:ext cx="276150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1" name="Google Shape;1771;p41"/>
          <p:cNvCxnSpPr/>
          <p:nvPr/>
        </p:nvCxnSpPr>
        <p:spPr>
          <a:xfrm>
            <a:off x="6272212" y="2580680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2" name="Google Shape;1772;p41"/>
          <p:cNvSpPr/>
          <p:nvPr/>
        </p:nvSpPr>
        <p:spPr>
          <a:xfrm>
            <a:off x="9028956" y="2580680"/>
            <a:ext cx="635050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3" name="Google Shape;1773;p41"/>
          <p:cNvCxnSpPr/>
          <p:nvPr/>
        </p:nvCxnSpPr>
        <p:spPr>
          <a:xfrm>
            <a:off x="9028956" y="2585442"/>
            <a:ext cx="63504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4" name="Google Shape;1774;p41"/>
          <p:cNvCxnSpPr/>
          <p:nvPr/>
        </p:nvCxnSpPr>
        <p:spPr>
          <a:xfrm>
            <a:off x="9033718" y="2580680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5" name="Google Shape;1775;p41"/>
          <p:cNvSpPr/>
          <p:nvPr/>
        </p:nvSpPr>
        <p:spPr>
          <a:xfrm>
            <a:off x="9664005" y="2580680"/>
            <a:ext cx="2123182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6" name="Google Shape;1776;p41"/>
          <p:cNvCxnSpPr/>
          <p:nvPr/>
        </p:nvCxnSpPr>
        <p:spPr>
          <a:xfrm>
            <a:off x="9664005" y="2585442"/>
            <a:ext cx="212318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7" name="Google Shape;1777;p41"/>
          <p:cNvCxnSpPr/>
          <p:nvPr/>
        </p:nvCxnSpPr>
        <p:spPr>
          <a:xfrm>
            <a:off x="9668768" y="2580680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8" name="Google Shape;1778;p41"/>
          <p:cNvSpPr/>
          <p:nvPr/>
        </p:nvSpPr>
        <p:spPr>
          <a:xfrm>
            <a:off x="6267450" y="2824907"/>
            <a:ext cx="2761506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9" name="Google Shape;1779;p41"/>
          <p:cNvCxnSpPr/>
          <p:nvPr/>
        </p:nvCxnSpPr>
        <p:spPr>
          <a:xfrm>
            <a:off x="6267450" y="2829669"/>
            <a:ext cx="276150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0" name="Google Shape;1780;p41"/>
          <p:cNvCxnSpPr/>
          <p:nvPr/>
        </p:nvCxnSpPr>
        <p:spPr>
          <a:xfrm>
            <a:off x="6272212" y="2824907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1" name="Google Shape;1781;p41"/>
          <p:cNvSpPr/>
          <p:nvPr/>
        </p:nvSpPr>
        <p:spPr>
          <a:xfrm>
            <a:off x="9028956" y="2824907"/>
            <a:ext cx="635050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2" name="Google Shape;1782;p41"/>
          <p:cNvCxnSpPr/>
          <p:nvPr/>
        </p:nvCxnSpPr>
        <p:spPr>
          <a:xfrm>
            <a:off x="9028956" y="2829669"/>
            <a:ext cx="63504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3" name="Google Shape;1783;p41"/>
          <p:cNvCxnSpPr/>
          <p:nvPr/>
        </p:nvCxnSpPr>
        <p:spPr>
          <a:xfrm>
            <a:off x="9033718" y="2824907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4" name="Google Shape;1784;p41"/>
          <p:cNvSpPr/>
          <p:nvPr/>
        </p:nvSpPr>
        <p:spPr>
          <a:xfrm>
            <a:off x="9664005" y="2824907"/>
            <a:ext cx="2123182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5" name="Google Shape;1785;p41"/>
          <p:cNvCxnSpPr/>
          <p:nvPr/>
        </p:nvCxnSpPr>
        <p:spPr>
          <a:xfrm>
            <a:off x="9664005" y="2829669"/>
            <a:ext cx="212318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6" name="Google Shape;1786;p41"/>
          <p:cNvCxnSpPr/>
          <p:nvPr/>
        </p:nvCxnSpPr>
        <p:spPr>
          <a:xfrm>
            <a:off x="9668768" y="2824907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7" name="Google Shape;1787;p41"/>
          <p:cNvSpPr/>
          <p:nvPr/>
        </p:nvSpPr>
        <p:spPr>
          <a:xfrm>
            <a:off x="6267450" y="3069134"/>
            <a:ext cx="2761506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8" name="Google Shape;1788;p41"/>
          <p:cNvCxnSpPr/>
          <p:nvPr/>
        </p:nvCxnSpPr>
        <p:spPr>
          <a:xfrm>
            <a:off x="6267450" y="3073896"/>
            <a:ext cx="276150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9" name="Google Shape;1789;p41"/>
          <p:cNvCxnSpPr/>
          <p:nvPr/>
        </p:nvCxnSpPr>
        <p:spPr>
          <a:xfrm>
            <a:off x="6272212" y="3069134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0" name="Google Shape;1790;p41"/>
          <p:cNvSpPr/>
          <p:nvPr/>
        </p:nvSpPr>
        <p:spPr>
          <a:xfrm>
            <a:off x="9028956" y="3069134"/>
            <a:ext cx="635050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1" name="Google Shape;1791;p41"/>
          <p:cNvCxnSpPr/>
          <p:nvPr/>
        </p:nvCxnSpPr>
        <p:spPr>
          <a:xfrm>
            <a:off x="9028956" y="3073896"/>
            <a:ext cx="63504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2" name="Google Shape;1792;p41"/>
          <p:cNvCxnSpPr/>
          <p:nvPr/>
        </p:nvCxnSpPr>
        <p:spPr>
          <a:xfrm>
            <a:off x="9033718" y="3069134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3" name="Google Shape;1793;p41"/>
          <p:cNvSpPr/>
          <p:nvPr/>
        </p:nvSpPr>
        <p:spPr>
          <a:xfrm>
            <a:off x="9664005" y="3069134"/>
            <a:ext cx="2123182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4" name="Google Shape;1794;p41"/>
          <p:cNvCxnSpPr/>
          <p:nvPr/>
        </p:nvCxnSpPr>
        <p:spPr>
          <a:xfrm>
            <a:off x="9664005" y="3073896"/>
            <a:ext cx="212318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5" name="Google Shape;1795;p41"/>
          <p:cNvCxnSpPr/>
          <p:nvPr/>
        </p:nvCxnSpPr>
        <p:spPr>
          <a:xfrm>
            <a:off x="9668768" y="3069134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6" name="Google Shape;1796;p41"/>
          <p:cNvSpPr/>
          <p:nvPr/>
        </p:nvSpPr>
        <p:spPr>
          <a:xfrm>
            <a:off x="6267450" y="3313361"/>
            <a:ext cx="2761506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7" name="Google Shape;1797;p41"/>
          <p:cNvCxnSpPr/>
          <p:nvPr/>
        </p:nvCxnSpPr>
        <p:spPr>
          <a:xfrm>
            <a:off x="6267450" y="3318123"/>
            <a:ext cx="276150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8" name="Google Shape;1798;p41"/>
          <p:cNvCxnSpPr/>
          <p:nvPr/>
        </p:nvCxnSpPr>
        <p:spPr>
          <a:xfrm>
            <a:off x="6272212" y="3313361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9" name="Google Shape;1799;p41"/>
          <p:cNvSpPr/>
          <p:nvPr/>
        </p:nvSpPr>
        <p:spPr>
          <a:xfrm>
            <a:off x="9028956" y="3313361"/>
            <a:ext cx="635050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0" name="Google Shape;1800;p41"/>
          <p:cNvCxnSpPr/>
          <p:nvPr/>
        </p:nvCxnSpPr>
        <p:spPr>
          <a:xfrm>
            <a:off x="9028956" y="3318123"/>
            <a:ext cx="63504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1" name="Google Shape;1801;p41"/>
          <p:cNvCxnSpPr/>
          <p:nvPr/>
        </p:nvCxnSpPr>
        <p:spPr>
          <a:xfrm>
            <a:off x="9033718" y="3313361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2" name="Google Shape;1802;p41"/>
          <p:cNvSpPr/>
          <p:nvPr/>
        </p:nvSpPr>
        <p:spPr>
          <a:xfrm>
            <a:off x="9664005" y="3313361"/>
            <a:ext cx="2123182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3" name="Google Shape;1803;p41"/>
          <p:cNvCxnSpPr/>
          <p:nvPr/>
        </p:nvCxnSpPr>
        <p:spPr>
          <a:xfrm>
            <a:off x="9664005" y="3318123"/>
            <a:ext cx="212318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4" name="Google Shape;1804;p41"/>
          <p:cNvCxnSpPr/>
          <p:nvPr/>
        </p:nvCxnSpPr>
        <p:spPr>
          <a:xfrm>
            <a:off x="9668768" y="3313361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5" name="Google Shape;1805;p41"/>
          <p:cNvSpPr/>
          <p:nvPr/>
        </p:nvSpPr>
        <p:spPr>
          <a:xfrm>
            <a:off x="6262688" y="3701653"/>
            <a:ext cx="5529262" cy="1478012"/>
          </a:xfrm>
          <a:prstGeom prst="roundRect">
            <a:avLst>
              <a:gd fmla="val 3222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6" name="Google Shape;1806;p41"/>
          <p:cNvCxnSpPr/>
          <p:nvPr/>
        </p:nvCxnSpPr>
        <p:spPr>
          <a:xfrm>
            <a:off x="6286500" y="3701653"/>
            <a:ext cx="0" cy="1478012"/>
          </a:xfrm>
          <a:prstGeom prst="straightConnector1">
            <a:avLst/>
          </a:prstGeom>
          <a:noFill/>
          <a:ln cap="flat" cmpd="sng" w="4762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7" name="Google Shape;1807;p41"/>
          <p:cNvSpPr txBox="1"/>
          <p:nvPr/>
        </p:nvSpPr>
        <p:spPr>
          <a:xfrm>
            <a:off x="400050" y="161925"/>
            <a:ext cx="6180386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Demonstração: confundimento estrutural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8" name="Google Shape;1808;p41"/>
          <p:cNvSpPr txBox="1"/>
          <p:nvPr/>
        </p:nvSpPr>
        <p:spPr>
          <a:xfrm>
            <a:off x="400050" y="974080"/>
            <a:ext cx="453791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Cenário 1 — tentar preservar a condição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9" name="Google Shape;1809;p41"/>
          <p:cNvSpPr txBox="1"/>
          <p:nvPr/>
        </p:nvSpPr>
        <p:spPr>
          <a:xfrm>
            <a:off x="492919" y="1814661"/>
            <a:ext cx="247501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mod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0" name="Google Shape;1810;p41"/>
          <p:cNvSpPr txBox="1"/>
          <p:nvPr/>
        </p:nvSpPr>
        <p:spPr>
          <a:xfrm>
            <a:off x="771971" y="1814661"/>
            <a:ext cx="177701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8F5902"/>
                </a:solidFill>
                <a:latin typeface="Consolas"/>
                <a:ea typeface="Consolas"/>
                <a:cs typeface="Consolas"/>
                <a:sym typeface="Consolas"/>
              </a:rPr>
              <a:t>&lt;-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1" name="Google Shape;1811;p41"/>
          <p:cNvSpPr txBox="1"/>
          <p:nvPr/>
        </p:nvSpPr>
        <p:spPr>
          <a:xfrm>
            <a:off x="981373" y="1814661"/>
            <a:ext cx="875258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model.matrix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2" name="Google Shape;1812;p41"/>
          <p:cNvSpPr txBox="1"/>
          <p:nvPr/>
        </p:nvSpPr>
        <p:spPr>
          <a:xfrm>
            <a:off x="1818531" y="18146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3" name="Google Shape;1813;p41"/>
          <p:cNvSpPr txBox="1"/>
          <p:nvPr/>
        </p:nvSpPr>
        <p:spPr>
          <a:xfrm>
            <a:off x="1888331" y="18146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~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4" name="Google Shape;1814;p41"/>
          <p:cNvSpPr txBox="1"/>
          <p:nvPr/>
        </p:nvSpPr>
        <p:spPr>
          <a:xfrm>
            <a:off x="2027783" y="1814661"/>
            <a:ext cx="66615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group_tg,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5" name="Google Shape;1815;p41"/>
          <p:cNvSpPr txBox="1"/>
          <p:nvPr/>
        </p:nvSpPr>
        <p:spPr>
          <a:xfrm>
            <a:off x="2725638" y="1814661"/>
            <a:ext cx="45675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data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6" name="Google Shape;1816;p41"/>
          <p:cNvSpPr txBox="1"/>
          <p:nvPr/>
        </p:nvSpPr>
        <p:spPr>
          <a:xfrm>
            <a:off x="3213943" y="1814661"/>
            <a:ext cx="59635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meta_cb)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7" name="Google Shape;1817;p41"/>
          <p:cNvSpPr txBox="1"/>
          <p:nvPr/>
        </p:nvSpPr>
        <p:spPr>
          <a:xfrm>
            <a:off x="492919" y="1967061"/>
            <a:ext cx="45675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ComBat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8" name="Google Shape;1818;p41"/>
          <p:cNvSpPr txBox="1"/>
          <p:nvPr/>
        </p:nvSpPr>
        <p:spPr>
          <a:xfrm>
            <a:off x="911572" y="19670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9" name="Google Shape;1819;p41"/>
          <p:cNvSpPr txBox="1"/>
          <p:nvPr/>
        </p:nvSpPr>
        <p:spPr>
          <a:xfrm>
            <a:off x="981373" y="1967061"/>
            <a:ext cx="386953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dat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0" name="Google Shape;1820;p41"/>
          <p:cNvSpPr txBox="1"/>
          <p:nvPr/>
        </p:nvSpPr>
        <p:spPr>
          <a:xfrm>
            <a:off x="1399877" y="1967061"/>
            <a:ext cx="1778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X,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1" name="Google Shape;1821;p41"/>
          <p:cNvSpPr txBox="1"/>
          <p:nvPr/>
        </p:nvSpPr>
        <p:spPr>
          <a:xfrm>
            <a:off x="1609279" y="1967061"/>
            <a:ext cx="52655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batch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2" name="Google Shape;1822;p41"/>
          <p:cNvSpPr txBox="1"/>
          <p:nvPr/>
        </p:nvSpPr>
        <p:spPr>
          <a:xfrm>
            <a:off x="2167384" y="1967061"/>
            <a:ext cx="45690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study,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3" name="Google Shape;1823;p41"/>
          <p:cNvSpPr txBox="1"/>
          <p:nvPr/>
        </p:nvSpPr>
        <p:spPr>
          <a:xfrm>
            <a:off x="2655838" y="1967061"/>
            <a:ext cx="386953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mod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4" name="Google Shape;1824;p41"/>
          <p:cNvSpPr txBox="1"/>
          <p:nvPr/>
        </p:nvSpPr>
        <p:spPr>
          <a:xfrm>
            <a:off x="3074343" y="1967061"/>
            <a:ext cx="31730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mod)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5" name="Google Shape;1825;p41"/>
          <p:cNvSpPr txBox="1"/>
          <p:nvPr/>
        </p:nvSpPr>
        <p:spPr>
          <a:xfrm>
            <a:off x="438150" y="2640955"/>
            <a:ext cx="5791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Resultado: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6" name="Google Shape;1826;p41"/>
          <p:cNvSpPr txBox="1"/>
          <p:nvPr/>
        </p:nvSpPr>
        <p:spPr>
          <a:xfrm>
            <a:off x="492919" y="3243411"/>
            <a:ext cx="3247281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Error: The covariate is confounded with batch!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7" name="Google Shape;1827;p41"/>
          <p:cNvSpPr txBox="1"/>
          <p:nvPr/>
        </p:nvSpPr>
        <p:spPr>
          <a:xfrm>
            <a:off x="492919" y="3395811"/>
            <a:ext cx="2619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Remove the covariate and rerun ComBat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8" name="Google Shape;1828;p41"/>
          <p:cNvSpPr txBox="1"/>
          <p:nvPr/>
        </p:nvSpPr>
        <p:spPr>
          <a:xfrm>
            <a:off x="400050" y="3831580"/>
            <a:ext cx="327258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próprio ComBat detecta 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9" name="Google Shape;1829;p41"/>
          <p:cNvSpPr txBox="1"/>
          <p:nvPr/>
        </p:nvSpPr>
        <p:spPr>
          <a:xfrm>
            <a:off x="3699867" y="3831580"/>
            <a:ext cx="163800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tumor/normal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0" name="Google Shape;1830;p41"/>
          <p:cNvSpPr txBox="1"/>
          <p:nvPr/>
        </p:nvSpPr>
        <p:spPr>
          <a:xfrm>
            <a:off x="5364956" y="3831580"/>
            <a:ext cx="162669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1" name="Google Shape;1831;p41"/>
          <p:cNvSpPr txBox="1"/>
          <p:nvPr/>
        </p:nvSpPr>
        <p:spPr>
          <a:xfrm>
            <a:off x="400050" y="4150668"/>
            <a:ext cx="3304729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perfeitamente confundido 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2" name="Google Shape;1832;p41"/>
          <p:cNvSpPr txBox="1"/>
          <p:nvPr/>
        </p:nvSpPr>
        <p:spPr>
          <a:xfrm>
            <a:off x="3731865" y="4150668"/>
            <a:ext cx="131549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TCGA/GTEx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3" name="Google Shape;1833;p41"/>
          <p:cNvSpPr txBox="1"/>
          <p:nvPr/>
        </p:nvSpPr>
        <p:spPr>
          <a:xfrm>
            <a:off x="5009257" y="4150668"/>
            <a:ext cx="8974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4" name="Google Shape;1834;p41"/>
          <p:cNvSpPr txBox="1"/>
          <p:nvPr/>
        </p:nvSpPr>
        <p:spPr>
          <a:xfrm>
            <a:off x="400050" y="4660255"/>
            <a:ext cx="406598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Cenário 2 — ComBat sem covariável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5" name="Google Shape;1835;p41"/>
          <p:cNvSpPr txBox="1"/>
          <p:nvPr/>
        </p:nvSpPr>
        <p:spPr>
          <a:xfrm>
            <a:off x="492919" y="5500836"/>
            <a:ext cx="386953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X_cor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6" name="Google Shape;1836;p41"/>
          <p:cNvSpPr txBox="1"/>
          <p:nvPr/>
        </p:nvSpPr>
        <p:spPr>
          <a:xfrm>
            <a:off x="911572" y="5500836"/>
            <a:ext cx="177701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8F5902"/>
                </a:solidFill>
                <a:latin typeface="Consolas"/>
                <a:ea typeface="Consolas"/>
                <a:cs typeface="Consolas"/>
                <a:sym typeface="Consolas"/>
              </a:rPr>
              <a:t>&lt;-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7" name="Google Shape;1837;p41"/>
          <p:cNvSpPr txBox="1"/>
          <p:nvPr/>
        </p:nvSpPr>
        <p:spPr>
          <a:xfrm>
            <a:off x="1120973" y="5500836"/>
            <a:ext cx="45675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ComBat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8" name="Google Shape;1838;p41"/>
          <p:cNvSpPr txBox="1"/>
          <p:nvPr/>
        </p:nvSpPr>
        <p:spPr>
          <a:xfrm>
            <a:off x="1539627" y="5500836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9" name="Google Shape;1839;p41"/>
          <p:cNvSpPr txBox="1"/>
          <p:nvPr/>
        </p:nvSpPr>
        <p:spPr>
          <a:xfrm>
            <a:off x="1609427" y="5500836"/>
            <a:ext cx="386953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dat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0" name="Google Shape;1840;p41"/>
          <p:cNvSpPr txBox="1"/>
          <p:nvPr/>
        </p:nvSpPr>
        <p:spPr>
          <a:xfrm>
            <a:off x="2027932" y="5500836"/>
            <a:ext cx="1778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X,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1" name="Google Shape;1841;p41"/>
          <p:cNvSpPr txBox="1"/>
          <p:nvPr/>
        </p:nvSpPr>
        <p:spPr>
          <a:xfrm>
            <a:off x="2237333" y="5500836"/>
            <a:ext cx="52655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batch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2" name="Google Shape;1842;p41"/>
          <p:cNvSpPr txBox="1"/>
          <p:nvPr/>
        </p:nvSpPr>
        <p:spPr>
          <a:xfrm>
            <a:off x="2795439" y="5500836"/>
            <a:ext cx="45690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study,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3" name="Google Shape;1843;p41"/>
          <p:cNvSpPr txBox="1"/>
          <p:nvPr/>
        </p:nvSpPr>
        <p:spPr>
          <a:xfrm>
            <a:off x="3283893" y="5500836"/>
            <a:ext cx="386953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mod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4" name="Google Shape;1844;p41"/>
          <p:cNvSpPr txBox="1"/>
          <p:nvPr/>
        </p:nvSpPr>
        <p:spPr>
          <a:xfrm>
            <a:off x="3702546" y="5500836"/>
            <a:ext cx="317153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8F5902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5" name="Google Shape;1845;p41"/>
          <p:cNvSpPr txBox="1"/>
          <p:nvPr/>
        </p:nvSpPr>
        <p:spPr>
          <a:xfrm>
            <a:off x="3981599" y="5500836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6" name="Google Shape;1846;p41"/>
          <p:cNvSpPr txBox="1"/>
          <p:nvPr/>
        </p:nvSpPr>
        <p:spPr>
          <a:xfrm>
            <a:off x="6305550" y="1861393"/>
            <a:ext cx="268509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Métrica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7" name="Google Shape;1847;p41"/>
          <p:cNvSpPr txBox="1"/>
          <p:nvPr/>
        </p:nvSpPr>
        <p:spPr>
          <a:xfrm>
            <a:off x="9066847" y="1861393"/>
            <a:ext cx="55911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8" name="Google Shape;1848;p41"/>
          <p:cNvSpPr txBox="1"/>
          <p:nvPr/>
        </p:nvSpPr>
        <p:spPr>
          <a:xfrm>
            <a:off x="9702165" y="1861393"/>
            <a:ext cx="204692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Depois (sem covariável)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9" name="Google Shape;1849;p41"/>
          <p:cNvSpPr txBox="1"/>
          <p:nvPr/>
        </p:nvSpPr>
        <p:spPr>
          <a:xfrm>
            <a:off x="6305550" y="2113806"/>
            <a:ext cx="268509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DEGs (FDR &lt; 0,05 e |logFC| &gt; 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0" name="Google Shape;1850;p41"/>
          <p:cNvSpPr txBox="1"/>
          <p:nvPr/>
        </p:nvSpPr>
        <p:spPr>
          <a:xfrm>
            <a:off x="9066847" y="2113806"/>
            <a:ext cx="55911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3.388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1" name="Google Shape;1851;p41"/>
          <p:cNvSpPr txBox="1"/>
          <p:nvPr/>
        </p:nvSpPr>
        <p:spPr>
          <a:xfrm>
            <a:off x="9702165" y="2113806"/>
            <a:ext cx="204692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2" name="Google Shape;1852;p41"/>
          <p:cNvSpPr txBox="1"/>
          <p:nvPr/>
        </p:nvSpPr>
        <p:spPr>
          <a:xfrm>
            <a:off x="6305550" y="2358033"/>
            <a:ext cx="268509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Up-regulados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3" name="Google Shape;1853;p41"/>
          <p:cNvSpPr txBox="1"/>
          <p:nvPr/>
        </p:nvSpPr>
        <p:spPr>
          <a:xfrm>
            <a:off x="9066847" y="2358033"/>
            <a:ext cx="55911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2.245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4" name="Google Shape;1854;p41"/>
          <p:cNvSpPr txBox="1"/>
          <p:nvPr/>
        </p:nvSpPr>
        <p:spPr>
          <a:xfrm>
            <a:off x="9702165" y="2358033"/>
            <a:ext cx="204692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5" name="Google Shape;1855;p41"/>
          <p:cNvSpPr txBox="1"/>
          <p:nvPr/>
        </p:nvSpPr>
        <p:spPr>
          <a:xfrm>
            <a:off x="6305550" y="2602260"/>
            <a:ext cx="268509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Down-regulados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6" name="Google Shape;1856;p41"/>
          <p:cNvSpPr txBox="1"/>
          <p:nvPr/>
        </p:nvSpPr>
        <p:spPr>
          <a:xfrm>
            <a:off x="9066847" y="2602260"/>
            <a:ext cx="55911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1.143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7" name="Google Shape;1857;p41"/>
          <p:cNvSpPr txBox="1"/>
          <p:nvPr/>
        </p:nvSpPr>
        <p:spPr>
          <a:xfrm>
            <a:off x="9702165" y="2602260"/>
            <a:ext cx="204692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8" name="Google Shape;1858;p41"/>
          <p:cNvSpPr txBox="1"/>
          <p:nvPr/>
        </p:nvSpPr>
        <p:spPr>
          <a:xfrm>
            <a:off x="6305550" y="2846487"/>
            <a:ext cx="268509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DEGs em comum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9" name="Google Shape;1859;p41"/>
          <p:cNvSpPr txBox="1"/>
          <p:nvPr/>
        </p:nvSpPr>
        <p:spPr>
          <a:xfrm>
            <a:off x="9066847" y="2846487"/>
            <a:ext cx="55911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0" name="Google Shape;1860;p41"/>
          <p:cNvSpPr txBox="1"/>
          <p:nvPr/>
        </p:nvSpPr>
        <p:spPr>
          <a:xfrm>
            <a:off x="9702165" y="2846487"/>
            <a:ext cx="204692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1" name="Google Shape;1861;p41"/>
          <p:cNvSpPr txBox="1"/>
          <p:nvPr/>
        </p:nvSpPr>
        <p:spPr>
          <a:xfrm>
            <a:off x="6305550" y="3090714"/>
            <a:ext cx="268509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Jaccard dos DEGs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2" name="Google Shape;1862;p41"/>
          <p:cNvSpPr txBox="1"/>
          <p:nvPr/>
        </p:nvSpPr>
        <p:spPr>
          <a:xfrm>
            <a:off x="9066847" y="3090714"/>
            <a:ext cx="55911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3" name="Google Shape;1863;p41"/>
          <p:cNvSpPr txBox="1"/>
          <p:nvPr/>
        </p:nvSpPr>
        <p:spPr>
          <a:xfrm>
            <a:off x="9702165" y="3090714"/>
            <a:ext cx="204692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4" name="Google Shape;1864;p41"/>
          <p:cNvSpPr txBox="1"/>
          <p:nvPr/>
        </p:nvSpPr>
        <p:spPr>
          <a:xfrm>
            <a:off x="6305550" y="3334941"/>
            <a:ext cx="268509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Correlação de logFC (Spearman)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5" name="Google Shape;1865;p41"/>
          <p:cNvSpPr txBox="1"/>
          <p:nvPr/>
        </p:nvSpPr>
        <p:spPr>
          <a:xfrm>
            <a:off x="9066847" y="3334941"/>
            <a:ext cx="55911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6" name="Google Shape;1866;p41"/>
          <p:cNvSpPr txBox="1"/>
          <p:nvPr/>
        </p:nvSpPr>
        <p:spPr>
          <a:xfrm>
            <a:off x="9702165" y="3334941"/>
            <a:ext cx="204692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0,647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7" name="Google Shape;1867;p41"/>
          <p:cNvSpPr txBox="1"/>
          <p:nvPr/>
        </p:nvSpPr>
        <p:spPr>
          <a:xfrm>
            <a:off x="6481762" y="4010025"/>
            <a:ext cx="294620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ComBat removeu o lote — 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8" name="Google Shape;1868;p41"/>
          <p:cNvSpPr txBox="1"/>
          <p:nvPr/>
        </p:nvSpPr>
        <p:spPr>
          <a:xfrm>
            <a:off x="9448651" y="4010025"/>
            <a:ext cx="199935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i="0" lang="en-US" sz="16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removeu também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9" name="Google Shape;1869;p41"/>
          <p:cNvSpPr txBox="1"/>
          <p:nvPr/>
        </p:nvSpPr>
        <p:spPr>
          <a:xfrm>
            <a:off x="6481762" y="4297114"/>
            <a:ext cx="86379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i="0" lang="en-US" sz="16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biologia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0" name="Google Shape;1870;p41"/>
          <p:cNvSpPr txBox="1"/>
          <p:nvPr/>
        </p:nvSpPr>
        <p:spPr>
          <a:xfrm>
            <a:off x="7307461" y="4297114"/>
            <a:ext cx="371445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A redução de 3.388 DEGs para 1 é 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1" name="Google Shape;1871;p41"/>
          <p:cNvSpPr txBox="1"/>
          <p:nvPr/>
        </p:nvSpPr>
        <p:spPr>
          <a:xfrm>
            <a:off x="6481762" y="4584204"/>
            <a:ext cx="11456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exemplo 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2" name="Google Shape;1872;p41"/>
          <p:cNvSpPr txBox="1"/>
          <p:nvPr/>
        </p:nvSpPr>
        <p:spPr>
          <a:xfrm>
            <a:off x="7648129" y="4584204"/>
            <a:ext cx="146551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i="0" lang="en-US" sz="16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sobrecorreção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3" name="Google Shape;1873;p41"/>
          <p:cNvSpPr txBox="1"/>
          <p:nvPr/>
        </p:nvSpPr>
        <p:spPr>
          <a:xfrm>
            <a:off x="9075539" y="4584204"/>
            <a:ext cx="8468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4" name="Google Shape;1874;p41"/>
          <p:cNvSpPr/>
          <p:nvPr/>
        </p:nvSpPr>
        <p:spPr>
          <a:xfrm>
            <a:off x="400050" y="5965181"/>
            <a:ext cx="11391900" cy="2667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7150" spcFirstLastPara="1" rIns="57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Refs.: Johnson et al., 2007; Leek et al., 2012.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8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p43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0" name="Google Shape;1880;p43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1" name="Google Shape;1881;p43"/>
          <p:cNvSpPr txBox="1"/>
          <p:nvPr/>
        </p:nvSpPr>
        <p:spPr>
          <a:xfrm>
            <a:off x="400050" y="161925"/>
            <a:ext cx="3348186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Decisão metodológica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2" name="Google Shape;1882;p43"/>
          <p:cNvSpPr txBox="1"/>
          <p:nvPr/>
        </p:nvSpPr>
        <p:spPr>
          <a:xfrm>
            <a:off x="400050" y="1242120"/>
            <a:ext cx="39179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que fazemos na análise principal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3" name="Google Shape;1883;p43"/>
          <p:cNvSpPr txBox="1"/>
          <p:nvPr/>
        </p:nvSpPr>
        <p:spPr>
          <a:xfrm>
            <a:off x="661988" y="1751707"/>
            <a:ext cx="50006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4" name="Google Shape;1884;p43"/>
          <p:cNvSpPr txBox="1"/>
          <p:nvPr/>
        </p:nvSpPr>
        <p:spPr>
          <a:xfrm>
            <a:off x="1189137" y="1751707"/>
            <a:ext cx="416614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aplicamos ComBat à comparação TCGA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5" name="Google Shape;1885;p43"/>
          <p:cNvSpPr txBox="1"/>
          <p:nvPr/>
        </p:nvSpPr>
        <p:spPr>
          <a:xfrm>
            <a:off x="661988" y="2070795"/>
            <a:ext cx="2344489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tumor × GTEx normal.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6" name="Google Shape;1886;p43"/>
          <p:cNvSpPr txBox="1"/>
          <p:nvPr/>
        </p:nvSpPr>
        <p:spPr>
          <a:xfrm>
            <a:off x="661988" y="2442270"/>
            <a:ext cx="86960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Usamos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7" name="Google Shape;1887;p43"/>
          <p:cNvSpPr txBox="1"/>
          <p:nvPr/>
        </p:nvSpPr>
        <p:spPr>
          <a:xfrm>
            <a:off x="1558677" y="2480370"/>
            <a:ext cx="735806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limma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8" name="Google Shape;1888;p43"/>
          <p:cNvSpPr txBox="1"/>
          <p:nvPr/>
        </p:nvSpPr>
        <p:spPr>
          <a:xfrm>
            <a:off x="2321570" y="2442270"/>
            <a:ext cx="49277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9" name="Google Shape;1889;p43"/>
          <p:cNvSpPr txBox="1"/>
          <p:nvPr/>
        </p:nvSpPr>
        <p:spPr>
          <a:xfrm>
            <a:off x="2841575" y="2442270"/>
            <a:ext cx="142443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sexo e 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0" name="Google Shape;1890;p43"/>
          <p:cNvSpPr txBox="1"/>
          <p:nvPr/>
        </p:nvSpPr>
        <p:spPr>
          <a:xfrm>
            <a:off x="4293096" y="2442270"/>
            <a:ext cx="63237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1" name="Google Shape;1891;p43"/>
          <p:cNvSpPr txBox="1"/>
          <p:nvPr/>
        </p:nvSpPr>
        <p:spPr>
          <a:xfrm>
            <a:off x="661988" y="2780407"/>
            <a:ext cx="123348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covariáveis.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2" name="Google Shape;1892;p43"/>
          <p:cNvSpPr txBox="1"/>
          <p:nvPr/>
        </p:nvSpPr>
        <p:spPr>
          <a:xfrm>
            <a:off x="661988" y="3151882"/>
            <a:ext cx="9937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Tratamos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3" name="Google Shape;1893;p43"/>
          <p:cNvSpPr txBox="1"/>
          <p:nvPr/>
        </p:nvSpPr>
        <p:spPr>
          <a:xfrm>
            <a:off x="1682800" y="3151882"/>
            <a:ext cx="34623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tumor × TCGA adjacente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4" name="Google Shape;1894;p43"/>
          <p:cNvSpPr txBox="1"/>
          <p:nvPr/>
        </p:nvSpPr>
        <p:spPr>
          <a:xfrm>
            <a:off x="5172224" y="3151882"/>
            <a:ext cx="63237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5" name="Google Shape;1895;p43"/>
          <p:cNvSpPr txBox="1"/>
          <p:nvPr/>
        </p:nvSpPr>
        <p:spPr>
          <a:xfrm>
            <a:off x="661988" y="3470970"/>
            <a:ext cx="356517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comparação interna mais limpa.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6" name="Google Shape;1896;p43"/>
          <p:cNvSpPr txBox="1"/>
          <p:nvPr/>
        </p:nvSpPr>
        <p:spPr>
          <a:xfrm>
            <a:off x="661988" y="3842445"/>
            <a:ext cx="86960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Usamos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7" name="Google Shape;1897;p43"/>
          <p:cNvSpPr txBox="1"/>
          <p:nvPr/>
        </p:nvSpPr>
        <p:spPr>
          <a:xfrm>
            <a:off x="1558677" y="3842445"/>
            <a:ext cx="351919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adjacente × GTEx normal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8" name="Google Shape;1898;p43"/>
          <p:cNvSpPr txBox="1"/>
          <p:nvPr/>
        </p:nvSpPr>
        <p:spPr>
          <a:xfrm>
            <a:off x="5104954" y="3842445"/>
            <a:ext cx="503337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9" name="Google Shape;1899;p43"/>
          <p:cNvSpPr txBox="1"/>
          <p:nvPr/>
        </p:nvSpPr>
        <p:spPr>
          <a:xfrm>
            <a:off x="661988" y="4161532"/>
            <a:ext cx="462736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estimar o componente não tumoral/estudo.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0" name="Google Shape;1900;p43"/>
          <p:cNvSpPr txBox="1"/>
          <p:nvPr/>
        </p:nvSpPr>
        <p:spPr>
          <a:xfrm>
            <a:off x="661988" y="4533007"/>
            <a:ext cx="434831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Interpretamos TCGA × GTEx com cautela.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1" name="Google Shape;1901;p43"/>
          <p:cNvSpPr txBox="1"/>
          <p:nvPr/>
        </p:nvSpPr>
        <p:spPr>
          <a:xfrm>
            <a:off x="6262688" y="974080"/>
            <a:ext cx="358631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 que essa é a escolha correta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2" name="Google Shape;1902;p43"/>
          <p:cNvSpPr txBox="1"/>
          <p:nvPr/>
        </p:nvSpPr>
        <p:spPr>
          <a:xfrm>
            <a:off x="6524625" y="1483668"/>
            <a:ext cx="212973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Lote e condição são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3" name="Google Shape;1903;p43"/>
          <p:cNvSpPr txBox="1"/>
          <p:nvPr/>
        </p:nvSpPr>
        <p:spPr>
          <a:xfrm>
            <a:off x="8681591" y="1483668"/>
            <a:ext cx="309741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perfeitamente confundidos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4" name="Google Shape;1904;p43"/>
          <p:cNvSpPr txBox="1"/>
          <p:nvPr/>
        </p:nvSpPr>
        <p:spPr>
          <a:xfrm>
            <a:off x="6524625" y="1802755"/>
            <a:ext cx="178772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(Cramér’s V = 1).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5" name="Google Shape;1905;p43"/>
          <p:cNvSpPr txBox="1"/>
          <p:nvPr/>
        </p:nvSpPr>
        <p:spPr>
          <a:xfrm>
            <a:off x="6524625" y="2174230"/>
            <a:ext cx="262681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efeito tumor × normal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6" name="Google Shape;1906;p43"/>
          <p:cNvSpPr txBox="1"/>
          <p:nvPr/>
        </p:nvSpPr>
        <p:spPr>
          <a:xfrm>
            <a:off x="9178677" y="2174230"/>
            <a:ext cx="2089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é identificável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7" name="Google Shape;1907;p43"/>
          <p:cNvSpPr txBox="1"/>
          <p:nvPr/>
        </p:nvSpPr>
        <p:spPr>
          <a:xfrm>
            <a:off x="6524625" y="2493318"/>
            <a:ext cx="25241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separadamente do lote.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8" name="Google Shape;1908;p43"/>
          <p:cNvSpPr txBox="1"/>
          <p:nvPr/>
        </p:nvSpPr>
        <p:spPr>
          <a:xfrm>
            <a:off x="6524625" y="2864793"/>
            <a:ext cx="488409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conclusão honesta é reconhecer a limitação,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9" name="Google Shape;1909;p43"/>
          <p:cNvSpPr txBox="1"/>
          <p:nvPr/>
        </p:nvSpPr>
        <p:spPr>
          <a:xfrm>
            <a:off x="6524625" y="3183880"/>
            <a:ext cx="513948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“corrigir” o problema removendo a biologia.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0" name="Google Shape;1910;p43"/>
          <p:cNvSpPr/>
          <p:nvPr/>
        </p:nvSpPr>
        <p:spPr>
          <a:xfrm>
            <a:off x="431006" y="1877913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1" name="Google Shape;1911;p43"/>
          <p:cNvSpPr/>
          <p:nvPr/>
        </p:nvSpPr>
        <p:spPr>
          <a:xfrm>
            <a:off x="431006" y="2568476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2" name="Google Shape;1912;p43"/>
          <p:cNvSpPr/>
          <p:nvPr/>
        </p:nvSpPr>
        <p:spPr>
          <a:xfrm>
            <a:off x="431006" y="3278088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3" name="Google Shape;1913;p43"/>
          <p:cNvSpPr/>
          <p:nvPr/>
        </p:nvSpPr>
        <p:spPr>
          <a:xfrm>
            <a:off x="431006" y="3968651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4" name="Google Shape;1914;p43"/>
          <p:cNvSpPr/>
          <p:nvPr/>
        </p:nvSpPr>
        <p:spPr>
          <a:xfrm>
            <a:off x="431006" y="4659213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5" name="Google Shape;1915;p43"/>
          <p:cNvSpPr/>
          <p:nvPr/>
        </p:nvSpPr>
        <p:spPr>
          <a:xfrm>
            <a:off x="6293644" y="1609874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6" name="Google Shape;1916;p43"/>
          <p:cNvSpPr/>
          <p:nvPr/>
        </p:nvSpPr>
        <p:spPr>
          <a:xfrm>
            <a:off x="6293644" y="2300436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7" name="Google Shape;1917;p43"/>
          <p:cNvSpPr/>
          <p:nvPr/>
        </p:nvSpPr>
        <p:spPr>
          <a:xfrm>
            <a:off x="6293644" y="2990999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8" name="Google Shape;1918;p43"/>
          <p:cNvSpPr/>
          <p:nvPr/>
        </p:nvSpPr>
        <p:spPr>
          <a:xfrm>
            <a:off x="400050" y="5201245"/>
            <a:ext cx="11391900" cy="2667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7150" spcFirstLastPara="1" rIns="57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Refs.: Johnson et al., 2007; Leek et al., 2012; Zhang et al., 2020.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2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Google Shape;1923;p44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4" name="Google Shape;1924;p44"/>
          <p:cNvCxnSpPr/>
          <p:nvPr/>
        </p:nvCxnSpPr>
        <p:spPr>
          <a:xfrm>
            <a:off x="38100" y="0"/>
            <a:ext cx="0" cy="7620000"/>
          </a:xfrm>
          <a:prstGeom prst="straightConnector1">
            <a:avLst/>
          </a:prstGeom>
          <a:noFill/>
          <a:ln cap="flat" cmpd="sng" w="762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5" name="Google Shape;1925;p44"/>
          <p:cNvSpPr/>
          <p:nvPr/>
        </p:nvSpPr>
        <p:spPr>
          <a:xfrm>
            <a:off x="800100" y="881062"/>
            <a:ext cx="10668000" cy="6256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6" name="Google Shape;1926;p44"/>
          <p:cNvCxnSpPr/>
          <p:nvPr/>
        </p:nvCxnSpPr>
        <p:spPr>
          <a:xfrm>
            <a:off x="800100" y="1492448"/>
            <a:ext cx="106680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7" name="Google Shape;1927;p44"/>
          <p:cNvSpPr/>
          <p:nvPr/>
        </p:nvSpPr>
        <p:spPr>
          <a:xfrm>
            <a:off x="800100" y="2433340"/>
            <a:ext cx="10668000" cy="1190923"/>
          </a:xfrm>
          <a:prstGeom prst="roundRect">
            <a:avLst>
              <a:gd fmla="val 3999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8" name="Google Shape;1928;p44"/>
          <p:cNvCxnSpPr/>
          <p:nvPr/>
        </p:nvCxnSpPr>
        <p:spPr>
          <a:xfrm>
            <a:off x="823912" y="2433340"/>
            <a:ext cx="0" cy="1190922"/>
          </a:xfrm>
          <a:prstGeom prst="straightConnector1">
            <a:avLst/>
          </a:prstGeom>
          <a:noFill/>
          <a:ln cap="flat" cmpd="sng" w="47625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9" name="Google Shape;1929;p44"/>
          <p:cNvSpPr/>
          <p:nvPr/>
        </p:nvSpPr>
        <p:spPr>
          <a:xfrm>
            <a:off x="800100" y="3741390"/>
            <a:ext cx="10668000" cy="1979712"/>
          </a:xfrm>
          <a:prstGeom prst="roundRect">
            <a:avLst>
              <a:gd fmla="val 2405" name="adj"/>
            </a:avLst>
          </a:prstGeom>
          <a:solidFill>
            <a:srgbClr val="EE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0" name="Google Shape;1930;p44"/>
          <p:cNvCxnSpPr/>
          <p:nvPr/>
        </p:nvCxnSpPr>
        <p:spPr>
          <a:xfrm>
            <a:off x="823912" y="3741390"/>
            <a:ext cx="0" cy="1979712"/>
          </a:xfrm>
          <a:prstGeom prst="straightConnector1">
            <a:avLst/>
          </a:prstGeom>
          <a:noFill/>
          <a:ln cap="flat" cmpd="sng" w="47625">
            <a:solidFill>
              <a:srgbClr val="1F5F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1" name="Google Shape;1931;p44"/>
          <p:cNvSpPr/>
          <p:nvPr/>
        </p:nvSpPr>
        <p:spPr>
          <a:xfrm>
            <a:off x="994172" y="4061222"/>
            <a:ext cx="1813620" cy="227261"/>
          </a:xfrm>
          <a:prstGeom prst="roundRect">
            <a:avLst>
              <a:gd fmla="val 50000" name="adj"/>
            </a:avLst>
          </a:prstGeom>
          <a:solidFill>
            <a:srgbClr val="1F5F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2" name="Google Shape;1932;p44"/>
          <p:cNvSpPr txBox="1"/>
          <p:nvPr/>
        </p:nvSpPr>
        <p:spPr>
          <a:xfrm>
            <a:off x="800100" y="852488"/>
            <a:ext cx="8693646" cy="600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rPr b="0" i="0" lang="en-US" sz="35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Parte 4 — Fenótipos avançados e sobrevida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3" name="Google Shape;1933;p44"/>
          <p:cNvSpPr txBox="1"/>
          <p:nvPr/>
        </p:nvSpPr>
        <p:spPr>
          <a:xfrm>
            <a:off x="800100" y="1655564"/>
            <a:ext cx="462736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2"/>
              <a:buFont typeface="Arial"/>
              <a:buNone/>
            </a:pPr>
            <a:r>
              <a:rPr b="1" i="0" lang="en-US" sz="1162" u="none" cap="none" strike="noStrike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MISSINGNESS, ASSOCIAÇÕES, KAPLAN-MEIER E COX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4" name="Google Shape;1934;p44"/>
          <p:cNvSpPr txBox="1"/>
          <p:nvPr/>
        </p:nvSpPr>
        <p:spPr>
          <a:xfrm>
            <a:off x="800100" y="1993999"/>
            <a:ext cx="346427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8"/>
              <a:buFont typeface="Arial"/>
              <a:buNone/>
            </a:pPr>
            <a:r>
              <a:rPr b="0" i="0" lang="en-US" sz="1968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05_fenotipos_avancados.R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5" name="Google Shape;1935;p44"/>
          <p:cNvSpPr txBox="1"/>
          <p:nvPr/>
        </p:nvSpPr>
        <p:spPr>
          <a:xfrm>
            <a:off x="4291161" y="1955899"/>
            <a:ext cx="3485257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8"/>
              <a:buFont typeface="Arial"/>
              <a:buNone/>
            </a:pPr>
            <a:r>
              <a:rPr b="0" i="0" lang="en-US" sz="1968" u="none" cap="none" strike="noStrike">
                <a:solidFill>
                  <a:srgbClr val="1F5F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tabelas 13–20 e figuras 15–25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6" name="Google Shape;1936;p44"/>
          <p:cNvSpPr txBox="1"/>
          <p:nvPr/>
        </p:nvSpPr>
        <p:spPr>
          <a:xfrm>
            <a:off x="1019175" y="2741712"/>
            <a:ext cx="314250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Todas as análises desta parte são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7" name="Google Shape;1937;p44"/>
          <p:cNvSpPr txBox="1"/>
          <p:nvPr/>
        </p:nvSpPr>
        <p:spPr>
          <a:xfrm>
            <a:off x="4182368" y="2741712"/>
            <a:ext cx="309339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i="0" lang="en-US" sz="16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exploratórias e observacionais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8" name="Google Shape;1938;p44"/>
          <p:cNvSpPr txBox="1"/>
          <p:nvPr/>
        </p:nvSpPr>
        <p:spPr>
          <a:xfrm>
            <a:off x="7237661" y="2741712"/>
            <a:ext cx="364122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Missingness elevado limita o poder 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9" name="Google Shape;1939;p44"/>
          <p:cNvSpPr txBox="1"/>
          <p:nvPr/>
        </p:nvSpPr>
        <p:spPr>
          <a:xfrm>
            <a:off x="1019175" y="3028801"/>
            <a:ext cx="260211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pode gerar viés de seleção.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0" name="Google Shape;1940;p44"/>
          <p:cNvSpPr txBox="1"/>
          <p:nvPr/>
        </p:nvSpPr>
        <p:spPr>
          <a:xfrm>
            <a:off x="1074093" y="4067621"/>
            <a:ext cx="1691878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rPr b="1" i="0" lang="en-US" sz="126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MÉTODOS DA ETAPA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1" name="Google Shape;1941;p44"/>
          <p:cNvSpPr txBox="1"/>
          <p:nvPr/>
        </p:nvSpPr>
        <p:spPr>
          <a:xfrm>
            <a:off x="2917329" y="4029521"/>
            <a:ext cx="1957239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Qui-quadrado/Fisher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2" name="Google Shape;1942;p44"/>
          <p:cNvSpPr txBox="1"/>
          <p:nvPr/>
        </p:nvSpPr>
        <p:spPr>
          <a:xfrm>
            <a:off x="4889897" y="4029521"/>
            <a:ext cx="97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3" name="Google Shape;1943;p44"/>
          <p:cNvSpPr txBox="1"/>
          <p:nvPr/>
        </p:nvSpPr>
        <p:spPr>
          <a:xfrm>
            <a:off x="4948982" y="4058096"/>
            <a:ext cx="19831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stats::chisq.test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4" name="Google Shape;1944;p44"/>
          <p:cNvSpPr txBox="1"/>
          <p:nvPr/>
        </p:nvSpPr>
        <p:spPr>
          <a:xfrm>
            <a:off x="6894016" y="4029521"/>
            <a:ext cx="8051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5" name="Google Shape;1945;p44"/>
          <p:cNvSpPr txBox="1"/>
          <p:nvPr/>
        </p:nvSpPr>
        <p:spPr>
          <a:xfrm>
            <a:off x="6989862" y="4058096"/>
            <a:ext cx="20975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stats::fisher.test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6" name="Google Shape;1946;p44"/>
          <p:cNvSpPr txBox="1"/>
          <p:nvPr/>
        </p:nvSpPr>
        <p:spPr>
          <a:xfrm>
            <a:off x="9049345" y="4029521"/>
            <a:ext cx="159127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para associações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7" name="Google Shape;1947;p44"/>
          <p:cNvSpPr txBox="1"/>
          <p:nvPr/>
        </p:nvSpPr>
        <p:spPr>
          <a:xfrm>
            <a:off x="994172" y="4310211"/>
            <a:ext cx="105534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categóricas;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8" name="Google Shape;1948;p44"/>
          <p:cNvSpPr txBox="1"/>
          <p:nvPr/>
        </p:nvSpPr>
        <p:spPr>
          <a:xfrm>
            <a:off x="2064841" y="4310211"/>
            <a:ext cx="228659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Wilcoxon/Kruskal-Wallis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9" name="Google Shape;1949;p44"/>
          <p:cNvSpPr txBox="1"/>
          <p:nvPr/>
        </p:nvSpPr>
        <p:spPr>
          <a:xfrm>
            <a:off x="4366766" y="4310211"/>
            <a:ext cx="97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0" name="Google Shape;1950;p44"/>
          <p:cNvSpPr txBox="1"/>
          <p:nvPr/>
        </p:nvSpPr>
        <p:spPr>
          <a:xfrm>
            <a:off x="4425851" y="4338786"/>
            <a:ext cx="20975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stats::wilcox.test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1" name="Google Shape;1951;p44"/>
          <p:cNvSpPr txBox="1"/>
          <p:nvPr/>
        </p:nvSpPr>
        <p:spPr>
          <a:xfrm>
            <a:off x="6485334" y="4310211"/>
            <a:ext cx="8051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2" name="Google Shape;1952;p44"/>
          <p:cNvSpPr txBox="1"/>
          <p:nvPr/>
        </p:nvSpPr>
        <p:spPr>
          <a:xfrm>
            <a:off x="6581180" y="4338786"/>
            <a:ext cx="2212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stats::kruskal.test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3" name="Google Shape;1953;p44"/>
          <p:cNvSpPr txBox="1"/>
          <p:nvPr/>
        </p:nvSpPr>
        <p:spPr>
          <a:xfrm>
            <a:off x="8755112" y="4310211"/>
            <a:ext cx="224626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para variáveis contínuas;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4" name="Google Shape;1954;p44"/>
          <p:cNvSpPr txBox="1"/>
          <p:nvPr/>
        </p:nvSpPr>
        <p:spPr>
          <a:xfrm>
            <a:off x="11016704" y="4310211"/>
            <a:ext cx="31298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5" name="Google Shape;1955;p44"/>
          <p:cNvSpPr txBox="1"/>
          <p:nvPr/>
        </p:nvSpPr>
        <p:spPr>
          <a:xfrm>
            <a:off x="994172" y="4590901"/>
            <a:ext cx="9703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6" name="Google Shape;1956;p44"/>
          <p:cNvSpPr txBox="1"/>
          <p:nvPr/>
        </p:nvSpPr>
        <p:spPr>
          <a:xfrm>
            <a:off x="1053108" y="4619476"/>
            <a:ext cx="17543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stats::p.adjust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7" name="Google Shape;1957;p44"/>
          <p:cNvSpPr txBox="1"/>
          <p:nvPr/>
        </p:nvSpPr>
        <p:spPr>
          <a:xfrm>
            <a:off x="2769394" y="4590901"/>
            <a:ext cx="198224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para múltiplos testes;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8" name="Google Shape;1958;p44"/>
          <p:cNvSpPr txBox="1"/>
          <p:nvPr/>
        </p:nvSpPr>
        <p:spPr>
          <a:xfrm>
            <a:off x="4767114" y="4590901"/>
            <a:ext cx="128007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Kaplan-Meier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9" name="Google Shape;1959;p44"/>
          <p:cNvSpPr txBox="1"/>
          <p:nvPr/>
        </p:nvSpPr>
        <p:spPr>
          <a:xfrm>
            <a:off x="6062514" y="4590901"/>
            <a:ext cx="14034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0" name="Google Shape;1960;p44"/>
          <p:cNvSpPr txBox="1"/>
          <p:nvPr/>
        </p:nvSpPr>
        <p:spPr>
          <a:xfrm>
            <a:off x="6218188" y="4590901"/>
            <a:ext cx="82287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log-rank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p44"/>
          <p:cNvSpPr txBox="1"/>
          <p:nvPr/>
        </p:nvSpPr>
        <p:spPr>
          <a:xfrm>
            <a:off x="7056388" y="4590901"/>
            <a:ext cx="97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p44"/>
          <p:cNvSpPr txBox="1"/>
          <p:nvPr/>
        </p:nvSpPr>
        <p:spPr>
          <a:xfrm>
            <a:off x="7115473" y="4619476"/>
            <a:ext cx="19831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survival::survfit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3" name="Google Shape;1963;p44"/>
          <p:cNvSpPr txBox="1"/>
          <p:nvPr/>
        </p:nvSpPr>
        <p:spPr>
          <a:xfrm>
            <a:off x="9060507" y="4590901"/>
            <a:ext cx="8051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4" name="Google Shape;1964;p44"/>
          <p:cNvSpPr txBox="1"/>
          <p:nvPr/>
        </p:nvSpPr>
        <p:spPr>
          <a:xfrm>
            <a:off x="9156353" y="4619476"/>
            <a:ext cx="20975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survival::survdiff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5" name="Google Shape;1965;p44"/>
          <p:cNvSpPr txBox="1"/>
          <p:nvPr/>
        </p:nvSpPr>
        <p:spPr>
          <a:xfrm>
            <a:off x="11215836" y="4590901"/>
            <a:ext cx="13945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6" name="Google Shape;1966;p44"/>
          <p:cNvSpPr txBox="1"/>
          <p:nvPr/>
        </p:nvSpPr>
        <p:spPr>
          <a:xfrm>
            <a:off x="994172" y="4871591"/>
            <a:ext cx="38338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7" name="Google Shape;1967;p44"/>
          <p:cNvSpPr txBox="1"/>
          <p:nvPr/>
        </p:nvSpPr>
        <p:spPr>
          <a:xfrm>
            <a:off x="1392882" y="4871591"/>
            <a:ext cx="14034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8" name="Google Shape;1968;p44"/>
          <p:cNvSpPr txBox="1"/>
          <p:nvPr/>
        </p:nvSpPr>
        <p:spPr>
          <a:xfrm>
            <a:off x="1548557" y="4871591"/>
            <a:ext cx="74027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cox.zph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9" name="Google Shape;1969;p44"/>
          <p:cNvSpPr txBox="1"/>
          <p:nvPr/>
        </p:nvSpPr>
        <p:spPr>
          <a:xfrm>
            <a:off x="2304157" y="4871591"/>
            <a:ext cx="97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0" name="Google Shape;1970;p44"/>
          <p:cNvSpPr txBox="1"/>
          <p:nvPr/>
        </p:nvSpPr>
        <p:spPr>
          <a:xfrm>
            <a:off x="2363242" y="4900166"/>
            <a:ext cx="17543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survival::coxph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1" name="Google Shape;1971;p44"/>
          <p:cNvSpPr txBox="1"/>
          <p:nvPr/>
        </p:nvSpPr>
        <p:spPr>
          <a:xfrm>
            <a:off x="4079528" y="4871591"/>
            <a:ext cx="8051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2" name="Google Shape;1972;p44"/>
          <p:cNvSpPr txBox="1"/>
          <p:nvPr/>
        </p:nvSpPr>
        <p:spPr>
          <a:xfrm>
            <a:off x="4175373" y="4900166"/>
            <a:ext cx="19831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survival::cox.zph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3" name="Google Shape;1973;p44"/>
          <p:cNvSpPr txBox="1"/>
          <p:nvPr/>
        </p:nvSpPr>
        <p:spPr>
          <a:xfrm>
            <a:off x="6120408" y="4871591"/>
            <a:ext cx="13945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4" name="Google Shape;1974;p44"/>
          <p:cNvSpPr txBox="1"/>
          <p:nvPr/>
        </p:nvSpPr>
        <p:spPr>
          <a:xfrm>
            <a:off x="6275189" y="4871591"/>
            <a:ext cx="95979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Spearman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5" name="Google Shape;1975;p44"/>
          <p:cNvSpPr txBox="1"/>
          <p:nvPr/>
        </p:nvSpPr>
        <p:spPr>
          <a:xfrm>
            <a:off x="7250311" y="4871591"/>
            <a:ext cx="97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6" name="Google Shape;1976;p44"/>
          <p:cNvSpPr txBox="1"/>
          <p:nvPr/>
        </p:nvSpPr>
        <p:spPr>
          <a:xfrm>
            <a:off x="7309396" y="4900166"/>
            <a:ext cx="17543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stats::cor.test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7" name="Google Shape;1977;p44"/>
          <p:cNvSpPr txBox="1"/>
          <p:nvPr/>
        </p:nvSpPr>
        <p:spPr>
          <a:xfrm>
            <a:off x="9025682" y="4871591"/>
            <a:ext cx="1194197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). Curvas 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8" name="Google Shape;1978;p44"/>
          <p:cNvSpPr txBox="1"/>
          <p:nvPr/>
        </p:nvSpPr>
        <p:spPr>
          <a:xfrm>
            <a:off x="10235208" y="4900166"/>
            <a:ext cx="106784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survminer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9" name="Google Shape;1979;p44"/>
          <p:cNvSpPr txBox="1"/>
          <p:nvPr/>
        </p:nvSpPr>
        <p:spPr>
          <a:xfrm>
            <a:off x="11264950" y="4871591"/>
            <a:ext cx="8051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0" name="Google Shape;1980;p44"/>
          <p:cNvSpPr txBox="1"/>
          <p:nvPr/>
        </p:nvSpPr>
        <p:spPr>
          <a:xfrm>
            <a:off x="994172" y="5152281"/>
            <a:ext cx="1105644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floresta 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1" name="Google Shape;1981;p44"/>
          <p:cNvSpPr txBox="1"/>
          <p:nvPr/>
        </p:nvSpPr>
        <p:spPr>
          <a:xfrm>
            <a:off x="2115145" y="5180856"/>
            <a:ext cx="8390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ggplot2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2" name="Google Shape;1982;p44"/>
          <p:cNvSpPr txBox="1"/>
          <p:nvPr/>
        </p:nvSpPr>
        <p:spPr>
          <a:xfrm>
            <a:off x="2916138" y="5152281"/>
            <a:ext cx="8051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6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p45"/>
          <p:cNvSpPr/>
          <p:nvPr/>
        </p:nvSpPr>
        <p:spPr>
          <a:xfrm>
            <a:off x="400050" y="190500"/>
            <a:ext cx="11391900" cy="42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8" name="Google Shape;1988;p45"/>
          <p:cNvCxnSpPr/>
          <p:nvPr/>
        </p:nvCxnSpPr>
        <p:spPr>
          <a:xfrm>
            <a:off x="400050" y="597247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9" name="Google Shape;1989;p45"/>
          <p:cNvSpPr/>
          <p:nvPr/>
        </p:nvSpPr>
        <p:spPr>
          <a:xfrm>
            <a:off x="400050" y="1116509"/>
            <a:ext cx="5549205" cy="3209925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0" name="Google Shape;1990;p45"/>
          <p:cNvSpPr/>
          <p:nvPr/>
        </p:nvSpPr>
        <p:spPr>
          <a:xfrm>
            <a:off x="404812" y="1121271"/>
            <a:ext cx="2092821" cy="200025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1" name="Google Shape;1991;p45"/>
          <p:cNvCxnSpPr/>
          <p:nvPr/>
        </p:nvCxnSpPr>
        <p:spPr>
          <a:xfrm>
            <a:off x="404812" y="1126034"/>
            <a:ext cx="2092822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2" name="Google Shape;1992;p45"/>
          <p:cNvCxnSpPr/>
          <p:nvPr/>
        </p:nvCxnSpPr>
        <p:spPr>
          <a:xfrm>
            <a:off x="409575" y="1121271"/>
            <a:ext cx="0" cy="200025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3" name="Google Shape;1993;p45"/>
          <p:cNvSpPr/>
          <p:nvPr/>
        </p:nvSpPr>
        <p:spPr>
          <a:xfrm>
            <a:off x="2497634" y="1121271"/>
            <a:ext cx="2768947" cy="200025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4" name="Google Shape;1994;p45"/>
          <p:cNvCxnSpPr/>
          <p:nvPr/>
        </p:nvCxnSpPr>
        <p:spPr>
          <a:xfrm>
            <a:off x="2497634" y="1126034"/>
            <a:ext cx="2768947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5" name="Google Shape;1995;p45"/>
          <p:cNvCxnSpPr/>
          <p:nvPr/>
        </p:nvCxnSpPr>
        <p:spPr>
          <a:xfrm>
            <a:off x="2502396" y="1121271"/>
            <a:ext cx="0" cy="200025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6" name="Google Shape;1996;p45"/>
          <p:cNvSpPr/>
          <p:nvPr/>
        </p:nvSpPr>
        <p:spPr>
          <a:xfrm>
            <a:off x="5266581" y="1121271"/>
            <a:ext cx="677912" cy="200025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7" name="Google Shape;1997;p45"/>
          <p:cNvCxnSpPr/>
          <p:nvPr/>
        </p:nvCxnSpPr>
        <p:spPr>
          <a:xfrm>
            <a:off x="5266581" y="1126034"/>
            <a:ext cx="677912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8" name="Google Shape;1998;p45"/>
          <p:cNvCxnSpPr/>
          <p:nvPr/>
        </p:nvCxnSpPr>
        <p:spPr>
          <a:xfrm>
            <a:off x="5271343" y="1121271"/>
            <a:ext cx="0" cy="200025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9" name="Google Shape;1999;p45"/>
          <p:cNvSpPr/>
          <p:nvPr/>
        </p:nvSpPr>
        <p:spPr>
          <a:xfrm>
            <a:off x="404812" y="1321296"/>
            <a:ext cx="2092821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0" name="Google Shape;2000;p45"/>
          <p:cNvCxnSpPr/>
          <p:nvPr/>
        </p:nvCxnSpPr>
        <p:spPr>
          <a:xfrm>
            <a:off x="404812" y="1326059"/>
            <a:ext cx="20928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1" name="Google Shape;2001;p45"/>
          <p:cNvCxnSpPr/>
          <p:nvPr/>
        </p:nvCxnSpPr>
        <p:spPr>
          <a:xfrm>
            <a:off x="409575" y="1321296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2" name="Google Shape;2002;p45"/>
          <p:cNvSpPr/>
          <p:nvPr/>
        </p:nvSpPr>
        <p:spPr>
          <a:xfrm>
            <a:off x="2497634" y="1321296"/>
            <a:ext cx="2768947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3" name="Google Shape;2003;p45"/>
          <p:cNvCxnSpPr/>
          <p:nvPr/>
        </p:nvCxnSpPr>
        <p:spPr>
          <a:xfrm>
            <a:off x="2497634" y="1326059"/>
            <a:ext cx="276894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4" name="Google Shape;2004;p45"/>
          <p:cNvCxnSpPr/>
          <p:nvPr/>
        </p:nvCxnSpPr>
        <p:spPr>
          <a:xfrm>
            <a:off x="2502396" y="1321296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5" name="Google Shape;2005;p45"/>
          <p:cNvSpPr/>
          <p:nvPr/>
        </p:nvSpPr>
        <p:spPr>
          <a:xfrm>
            <a:off x="5266581" y="1321296"/>
            <a:ext cx="677912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6" name="Google Shape;2006;p45"/>
          <p:cNvCxnSpPr/>
          <p:nvPr/>
        </p:nvCxnSpPr>
        <p:spPr>
          <a:xfrm>
            <a:off x="5266581" y="1326059"/>
            <a:ext cx="67791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7" name="Google Shape;2007;p45"/>
          <p:cNvCxnSpPr/>
          <p:nvPr/>
        </p:nvCxnSpPr>
        <p:spPr>
          <a:xfrm>
            <a:off x="5271343" y="1321296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8" name="Google Shape;2008;p45"/>
          <p:cNvSpPr/>
          <p:nvPr/>
        </p:nvSpPr>
        <p:spPr>
          <a:xfrm>
            <a:off x="404812" y="1508820"/>
            <a:ext cx="2092821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9" name="Google Shape;2009;p45"/>
          <p:cNvCxnSpPr/>
          <p:nvPr/>
        </p:nvCxnSpPr>
        <p:spPr>
          <a:xfrm>
            <a:off x="404812" y="1513582"/>
            <a:ext cx="20928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0" name="Google Shape;2010;p45"/>
          <p:cNvCxnSpPr/>
          <p:nvPr/>
        </p:nvCxnSpPr>
        <p:spPr>
          <a:xfrm>
            <a:off x="409575" y="1508820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1" name="Google Shape;2011;p45"/>
          <p:cNvSpPr/>
          <p:nvPr/>
        </p:nvSpPr>
        <p:spPr>
          <a:xfrm>
            <a:off x="2497634" y="1508820"/>
            <a:ext cx="2768947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2" name="Google Shape;2012;p45"/>
          <p:cNvCxnSpPr/>
          <p:nvPr/>
        </p:nvCxnSpPr>
        <p:spPr>
          <a:xfrm>
            <a:off x="2497634" y="1513582"/>
            <a:ext cx="276894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3" name="Google Shape;2013;p45"/>
          <p:cNvCxnSpPr/>
          <p:nvPr/>
        </p:nvCxnSpPr>
        <p:spPr>
          <a:xfrm>
            <a:off x="2502396" y="1508820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4" name="Google Shape;2014;p45"/>
          <p:cNvSpPr/>
          <p:nvPr/>
        </p:nvSpPr>
        <p:spPr>
          <a:xfrm>
            <a:off x="5266581" y="1508820"/>
            <a:ext cx="677912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5" name="Google Shape;2015;p45"/>
          <p:cNvCxnSpPr/>
          <p:nvPr/>
        </p:nvCxnSpPr>
        <p:spPr>
          <a:xfrm>
            <a:off x="5266581" y="1513582"/>
            <a:ext cx="67791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6" name="Google Shape;2016;p45"/>
          <p:cNvCxnSpPr/>
          <p:nvPr/>
        </p:nvCxnSpPr>
        <p:spPr>
          <a:xfrm>
            <a:off x="5271343" y="1508820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7" name="Google Shape;2017;p45"/>
          <p:cNvSpPr/>
          <p:nvPr/>
        </p:nvSpPr>
        <p:spPr>
          <a:xfrm>
            <a:off x="404812" y="1696343"/>
            <a:ext cx="2092821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8" name="Google Shape;2018;p45"/>
          <p:cNvCxnSpPr/>
          <p:nvPr/>
        </p:nvCxnSpPr>
        <p:spPr>
          <a:xfrm>
            <a:off x="404812" y="1701105"/>
            <a:ext cx="20928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9" name="Google Shape;2019;p45"/>
          <p:cNvCxnSpPr/>
          <p:nvPr/>
        </p:nvCxnSpPr>
        <p:spPr>
          <a:xfrm>
            <a:off x="409575" y="1696343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0" name="Google Shape;2020;p45"/>
          <p:cNvSpPr/>
          <p:nvPr/>
        </p:nvSpPr>
        <p:spPr>
          <a:xfrm>
            <a:off x="2497634" y="1696343"/>
            <a:ext cx="2768947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1" name="Google Shape;2021;p45"/>
          <p:cNvCxnSpPr/>
          <p:nvPr/>
        </p:nvCxnSpPr>
        <p:spPr>
          <a:xfrm>
            <a:off x="2497634" y="1701105"/>
            <a:ext cx="276894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2" name="Google Shape;2022;p45"/>
          <p:cNvCxnSpPr/>
          <p:nvPr/>
        </p:nvCxnSpPr>
        <p:spPr>
          <a:xfrm>
            <a:off x="2502396" y="1696343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3" name="Google Shape;2023;p45"/>
          <p:cNvSpPr/>
          <p:nvPr/>
        </p:nvSpPr>
        <p:spPr>
          <a:xfrm>
            <a:off x="5266581" y="1696343"/>
            <a:ext cx="677912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4" name="Google Shape;2024;p45"/>
          <p:cNvCxnSpPr/>
          <p:nvPr/>
        </p:nvCxnSpPr>
        <p:spPr>
          <a:xfrm>
            <a:off x="5266581" y="1701105"/>
            <a:ext cx="67791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5" name="Google Shape;2025;p45"/>
          <p:cNvCxnSpPr/>
          <p:nvPr/>
        </p:nvCxnSpPr>
        <p:spPr>
          <a:xfrm>
            <a:off x="5271343" y="1696343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6" name="Google Shape;2026;p45"/>
          <p:cNvSpPr/>
          <p:nvPr/>
        </p:nvSpPr>
        <p:spPr>
          <a:xfrm>
            <a:off x="404812" y="1883866"/>
            <a:ext cx="2092821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7" name="Google Shape;2027;p45"/>
          <p:cNvCxnSpPr/>
          <p:nvPr/>
        </p:nvCxnSpPr>
        <p:spPr>
          <a:xfrm>
            <a:off x="404812" y="1888629"/>
            <a:ext cx="20928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8" name="Google Shape;2028;p45"/>
          <p:cNvCxnSpPr/>
          <p:nvPr/>
        </p:nvCxnSpPr>
        <p:spPr>
          <a:xfrm>
            <a:off x="409575" y="1883866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9" name="Google Shape;2029;p45"/>
          <p:cNvSpPr/>
          <p:nvPr/>
        </p:nvSpPr>
        <p:spPr>
          <a:xfrm>
            <a:off x="2497634" y="1883866"/>
            <a:ext cx="2768947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0" name="Google Shape;2030;p45"/>
          <p:cNvCxnSpPr/>
          <p:nvPr/>
        </p:nvCxnSpPr>
        <p:spPr>
          <a:xfrm>
            <a:off x="2497634" y="1888629"/>
            <a:ext cx="276894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1" name="Google Shape;2031;p45"/>
          <p:cNvCxnSpPr/>
          <p:nvPr/>
        </p:nvCxnSpPr>
        <p:spPr>
          <a:xfrm>
            <a:off x="2502396" y="1883866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2" name="Google Shape;2032;p45"/>
          <p:cNvSpPr/>
          <p:nvPr/>
        </p:nvSpPr>
        <p:spPr>
          <a:xfrm>
            <a:off x="5266581" y="1883866"/>
            <a:ext cx="677912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3" name="Google Shape;2033;p45"/>
          <p:cNvCxnSpPr/>
          <p:nvPr/>
        </p:nvCxnSpPr>
        <p:spPr>
          <a:xfrm>
            <a:off x="5266581" y="1888629"/>
            <a:ext cx="67791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4" name="Google Shape;2034;p45"/>
          <p:cNvCxnSpPr/>
          <p:nvPr/>
        </p:nvCxnSpPr>
        <p:spPr>
          <a:xfrm>
            <a:off x="5271343" y="1883866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5" name="Google Shape;2035;p45"/>
          <p:cNvSpPr/>
          <p:nvPr/>
        </p:nvSpPr>
        <p:spPr>
          <a:xfrm>
            <a:off x="404812" y="2071390"/>
            <a:ext cx="2092821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6" name="Google Shape;2036;p45"/>
          <p:cNvCxnSpPr/>
          <p:nvPr/>
        </p:nvCxnSpPr>
        <p:spPr>
          <a:xfrm>
            <a:off x="404812" y="2076152"/>
            <a:ext cx="20928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7" name="Google Shape;2037;p45"/>
          <p:cNvCxnSpPr/>
          <p:nvPr/>
        </p:nvCxnSpPr>
        <p:spPr>
          <a:xfrm>
            <a:off x="409575" y="2071390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8" name="Google Shape;2038;p45"/>
          <p:cNvSpPr/>
          <p:nvPr/>
        </p:nvSpPr>
        <p:spPr>
          <a:xfrm>
            <a:off x="2497634" y="2071390"/>
            <a:ext cx="2768947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9" name="Google Shape;2039;p45"/>
          <p:cNvCxnSpPr/>
          <p:nvPr/>
        </p:nvCxnSpPr>
        <p:spPr>
          <a:xfrm>
            <a:off x="2497634" y="2076152"/>
            <a:ext cx="276894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0" name="Google Shape;2040;p45"/>
          <p:cNvCxnSpPr/>
          <p:nvPr/>
        </p:nvCxnSpPr>
        <p:spPr>
          <a:xfrm>
            <a:off x="2502396" y="2071390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1" name="Google Shape;2041;p45"/>
          <p:cNvSpPr/>
          <p:nvPr/>
        </p:nvSpPr>
        <p:spPr>
          <a:xfrm>
            <a:off x="5266581" y="2071390"/>
            <a:ext cx="677912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2" name="Google Shape;2042;p45"/>
          <p:cNvCxnSpPr/>
          <p:nvPr/>
        </p:nvCxnSpPr>
        <p:spPr>
          <a:xfrm>
            <a:off x="5266581" y="2076152"/>
            <a:ext cx="67791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3" name="Google Shape;2043;p45"/>
          <p:cNvCxnSpPr/>
          <p:nvPr/>
        </p:nvCxnSpPr>
        <p:spPr>
          <a:xfrm>
            <a:off x="5271343" y="2071390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4" name="Google Shape;2044;p45"/>
          <p:cNvSpPr/>
          <p:nvPr/>
        </p:nvSpPr>
        <p:spPr>
          <a:xfrm>
            <a:off x="404812" y="2258913"/>
            <a:ext cx="2092821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5" name="Google Shape;2045;p45"/>
          <p:cNvCxnSpPr/>
          <p:nvPr/>
        </p:nvCxnSpPr>
        <p:spPr>
          <a:xfrm>
            <a:off x="404812" y="2263676"/>
            <a:ext cx="20928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6" name="Google Shape;2046;p45"/>
          <p:cNvCxnSpPr/>
          <p:nvPr/>
        </p:nvCxnSpPr>
        <p:spPr>
          <a:xfrm>
            <a:off x="409575" y="2258913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7" name="Google Shape;2047;p45"/>
          <p:cNvSpPr/>
          <p:nvPr/>
        </p:nvSpPr>
        <p:spPr>
          <a:xfrm>
            <a:off x="2497634" y="2258913"/>
            <a:ext cx="2768947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8" name="Google Shape;2048;p45"/>
          <p:cNvCxnSpPr/>
          <p:nvPr/>
        </p:nvCxnSpPr>
        <p:spPr>
          <a:xfrm>
            <a:off x="2497634" y="2263676"/>
            <a:ext cx="276894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9" name="Google Shape;2049;p45"/>
          <p:cNvCxnSpPr/>
          <p:nvPr/>
        </p:nvCxnSpPr>
        <p:spPr>
          <a:xfrm>
            <a:off x="2502396" y="2258913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0" name="Google Shape;2050;p45"/>
          <p:cNvSpPr/>
          <p:nvPr/>
        </p:nvSpPr>
        <p:spPr>
          <a:xfrm>
            <a:off x="5266581" y="2258913"/>
            <a:ext cx="677912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1" name="Google Shape;2051;p45"/>
          <p:cNvCxnSpPr/>
          <p:nvPr/>
        </p:nvCxnSpPr>
        <p:spPr>
          <a:xfrm>
            <a:off x="5266581" y="2263676"/>
            <a:ext cx="67791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2" name="Google Shape;2052;p45"/>
          <p:cNvCxnSpPr/>
          <p:nvPr/>
        </p:nvCxnSpPr>
        <p:spPr>
          <a:xfrm>
            <a:off x="5271343" y="2258913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3" name="Google Shape;2053;p45"/>
          <p:cNvSpPr/>
          <p:nvPr/>
        </p:nvSpPr>
        <p:spPr>
          <a:xfrm>
            <a:off x="404812" y="2446437"/>
            <a:ext cx="2092821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4" name="Google Shape;2054;p45"/>
          <p:cNvCxnSpPr/>
          <p:nvPr/>
        </p:nvCxnSpPr>
        <p:spPr>
          <a:xfrm>
            <a:off x="404812" y="2451199"/>
            <a:ext cx="20928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5" name="Google Shape;2055;p45"/>
          <p:cNvCxnSpPr/>
          <p:nvPr/>
        </p:nvCxnSpPr>
        <p:spPr>
          <a:xfrm>
            <a:off x="409575" y="2446437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6" name="Google Shape;2056;p45"/>
          <p:cNvSpPr/>
          <p:nvPr/>
        </p:nvSpPr>
        <p:spPr>
          <a:xfrm>
            <a:off x="2497634" y="2446437"/>
            <a:ext cx="2768947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7" name="Google Shape;2057;p45"/>
          <p:cNvCxnSpPr/>
          <p:nvPr/>
        </p:nvCxnSpPr>
        <p:spPr>
          <a:xfrm>
            <a:off x="2497634" y="2451199"/>
            <a:ext cx="276894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8" name="Google Shape;2058;p45"/>
          <p:cNvCxnSpPr/>
          <p:nvPr/>
        </p:nvCxnSpPr>
        <p:spPr>
          <a:xfrm>
            <a:off x="2502396" y="2446437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9" name="Google Shape;2059;p45"/>
          <p:cNvSpPr/>
          <p:nvPr/>
        </p:nvSpPr>
        <p:spPr>
          <a:xfrm>
            <a:off x="5266581" y="2446437"/>
            <a:ext cx="677912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0" name="Google Shape;2060;p45"/>
          <p:cNvCxnSpPr/>
          <p:nvPr/>
        </p:nvCxnSpPr>
        <p:spPr>
          <a:xfrm>
            <a:off x="5266581" y="2451199"/>
            <a:ext cx="67791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1" name="Google Shape;2061;p45"/>
          <p:cNvCxnSpPr/>
          <p:nvPr/>
        </p:nvCxnSpPr>
        <p:spPr>
          <a:xfrm>
            <a:off x="5271343" y="2446437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2" name="Google Shape;2062;p45"/>
          <p:cNvSpPr/>
          <p:nvPr/>
        </p:nvSpPr>
        <p:spPr>
          <a:xfrm>
            <a:off x="404812" y="2633960"/>
            <a:ext cx="2092821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3" name="Google Shape;2063;p45"/>
          <p:cNvCxnSpPr/>
          <p:nvPr/>
        </p:nvCxnSpPr>
        <p:spPr>
          <a:xfrm>
            <a:off x="404812" y="2638723"/>
            <a:ext cx="20928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4" name="Google Shape;2064;p45"/>
          <p:cNvCxnSpPr/>
          <p:nvPr/>
        </p:nvCxnSpPr>
        <p:spPr>
          <a:xfrm>
            <a:off x="409575" y="2633960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5" name="Google Shape;2065;p45"/>
          <p:cNvSpPr/>
          <p:nvPr/>
        </p:nvSpPr>
        <p:spPr>
          <a:xfrm>
            <a:off x="2497634" y="2633960"/>
            <a:ext cx="2768947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6" name="Google Shape;2066;p45"/>
          <p:cNvCxnSpPr/>
          <p:nvPr/>
        </p:nvCxnSpPr>
        <p:spPr>
          <a:xfrm>
            <a:off x="2497634" y="2638723"/>
            <a:ext cx="276894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7" name="Google Shape;2067;p45"/>
          <p:cNvCxnSpPr/>
          <p:nvPr/>
        </p:nvCxnSpPr>
        <p:spPr>
          <a:xfrm>
            <a:off x="2502396" y="2633960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8" name="Google Shape;2068;p45"/>
          <p:cNvSpPr/>
          <p:nvPr/>
        </p:nvSpPr>
        <p:spPr>
          <a:xfrm>
            <a:off x="5266581" y="2633960"/>
            <a:ext cx="677912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9" name="Google Shape;2069;p45"/>
          <p:cNvCxnSpPr/>
          <p:nvPr/>
        </p:nvCxnSpPr>
        <p:spPr>
          <a:xfrm>
            <a:off x="5266581" y="2638723"/>
            <a:ext cx="67791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0" name="Google Shape;2070;p45"/>
          <p:cNvCxnSpPr/>
          <p:nvPr/>
        </p:nvCxnSpPr>
        <p:spPr>
          <a:xfrm>
            <a:off x="5271343" y="2633960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1" name="Google Shape;2071;p45"/>
          <p:cNvSpPr/>
          <p:nvPr/>
        </p:nvSpPr>
        <p:spPr>
          <a:xfrm>
            <a:off x="404812" y="2821484"/>
            <a:ext cx="2092821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2" name="Google Shape;2072;p45"/>
          <p:cNvCxnSpPr/>
          <p:nvPr/>
        </p:nvCxnSpPr>
        <p:spPr>
          <a:xfrm>
            <a:off x="404812" y="2826246"/>
            <a:ext cx="20928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3" name="Google Shape;2073;p45"/>
          <p:cNvCxnSpPr/>
          <p:nvPr/>
        </p:nvCxnSpPr>
        <p:spPr>
          <a:xfrm>
            <a:off x="409575" y="2821484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4" name="Google Shape;2074;p45"/>
          <p:cNvSpPr/>
          <p:nvPr/>
        </p:nvSpPr>
        <p:spPr>
          <a:xfrm>
            <a:off x="2497634" y="2821484"/>
            <a:ext cx="2768947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5" name="Google Shape;2075;p45"/>
          <p:cNvCxnSpPr/>
          <p:nvPr/>
        </p:nvCxnSpPr>
        <p:spPr>
          <a:xfrm>
            <a:off x="2497634" y="2826246"/>
            <a:ext cx="276894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6" name="Google Shape;2076;p45"/>
          <p:cNvCxnSpPr/>
          <p:nvPr/>
        </p:nvCxnSpPr>
        <p:spPr>
          <a:xfrm>
            <a:off x="2502396" y="2821484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7" name="Google Shape;2077;p45"/>
          <p:cNvSpPr/>
          <p:nvPr/>
        </p:nvSpPr>
        <p:spPr>
          <a:xfrm>
            <a:off x="5266581" y="2821484"/>
            <a:ext cx="677912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8" name="Google Shape;2078;p45"/>
          <p:cNvCxnSpPr/>
          <p:nvPr/>
        </p:nvCxnSpPr>
        <p:spPr>
          <a:xfrm>
            <a:off x="5266581" y="2826246"/>
            <a:ext cx="67791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9" name="Google Shape;2079;p45"/>
          <p:cNvCxnSpPr/>
          <p:nvPr/>
        </p:nvCxnSpPr>
        <p:spPr>
          <a:xfrm>
            <a:off x="5271343" y="2821484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0" name="Google Shape;2080;p45"/>
          <p:cNvSpPr/>
          <p:nvPr/>
        </p:nvSpPr>
        <p:spPr>
          <a:xfrm>
            <a:off x="404812" y="3009007"/>
            <a:ext cx="2092821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1" name="Google Shape;2081;p45"/>
          <p:cNvCxnSpPr/>
          <p:nvPr/>
        </p:nvCxnSpPr>
        <p:spPr>
          <a:xfrm>
            <a:off x="404812" y="3013770"/>
            <a:ext cx="20928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2" name="Google Shape;2082;p45"/>
          <p:cNvCxnSpPr/>
          <p:nvPr/>
        </p:nvCxnSpPr>
        <p:spPr>
          <a:xfrm>
            <a:off x="409575" y="3009007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3" name="Google Shape;2083;p45"/>
          <p:cNvSpPr/>
          <p:nvPr/>
        </p:nvSpPr>
        <p:spPr>
          <a:xfrm>
            <a:off x="2497634" y="3009007"/>
            <a:ext cx="2768947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4" name="Google Shape;2084;p45"/>
          <p:cNvCxnSpPr/>
          <p:nvPr/>
        </p:nvCxnSpPr>
        <p:spPr>
          <a:xfrm>
            <a:off x="2497634" y="3013770"/>
            <a:ext cx="276894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5" name="Google Shape;2085;p45"/>
          <p:cNvCxnSpPr/>
          <p:nvPr/>
        </p:nvCxnSpPr>
        <p:spPr>
          <a:xfrm>
            <a:off x="2502396" y="3009007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6" name="Google Shape;2086;p45"/>
          <p:cNvSpPr/>
          <p:nvPr/>
        </p:nvSpPr>
        <p:spPr>
          <a:xfrm>
            <a:off x="5266581" y="3009007"/>
            <a:ext cx="677912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7" name="Google Shape;2087;p45"/>
          <p:cNvCxnSpPr/>
          <p:nvPr/>
        </p:nvCxnSpPr>
        <p:spPr>
          <a:xfrm>
            <a:off x="5266581" y="3013770"/>
            <a:ext cx="67791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8" name="Google Shape;2088;p45"/>
          <p:cNvCxnSpPr/>
          <p:nvPr/>
        </p:nvCxnSpPr>
        <p:spPr>
          <a:xfrm>
            <a:off x="5271343" y="3009007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9" name="Google Shape;2089;p45"/>
          <p:cNvSpPr/>
          <p:nvPr/>
        </p:nvSpPr>
        <p:spPr>
          <a:xfrm>
            <a:off x="404812" y="3196530"/>
            <a:ext cx="2092821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0" name="Google Shape;2090;p45"/>
          <p:cNvCxnSpPr/>
          <p:nvPr/>
        </p:nvCxnSpPr>
        <p:spPr>
          <a:xfrm>
            <a:off x="404812" y="3201293"/>
            <a:ext cx="20928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1" name="Google Shape;2091;p45"/>
          <p:cNvCxnSpPr/>
          <p:nvPr/>
        </p:nvCxnSpPr>
        <p:spPr>
          <a:xfrm>
            <a:off x="409575" y="3196530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2" name="Google Shape;2092;p45"/>
          <p:cNvSpPr/>
          <p:nvPr/>
        </p:nvSpPr>
        <p:spPr>
          <a:xfrm>
            <a:off x="2497634" y="3196530"/>
            <a:ext cx="2768947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3" name="Google Shape;2093;p45"/>
          <p:cNvCxnSpPr/>
          <p:nvPr/>
        </p:nvCxnSpPr>
        <p:spPr>
          <a:xfrm>
            <a:off x="2497634" y="3201293"/>
            <a:ext cx="276894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4" name="Google Shape;2094;p45"/>
          <p:cNvCxnSpPr/>
          <p:nvPr/>
        </p:nvCxnSpPr>
        <p:spPr>
          <a:xfrm>
            <a:off x="2502396" y="3196530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5" name="Google Shape;2095;p45"/>
          <p:cNvSpPr/>
          <p:nvPr/>
        </p:nvSpPr>
        <p:spPr>
          <a:xfrm>
            <a:off x="5266581" y="3196530"/>
            <a:ext cx="677912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6" name="Google Shape;2096;p45"/>
          <p:cNvCxnSpPr/>
          <p:nvPr/>
        </p:nvCxnSpPr>
        <p:spPr>
          <a:xfrm>
            <a:off x="5266581" y="3201293"/>
            <a:ext cx="67791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7" name="Google Shape;2097;p45"/>
          <p:cNvCxnSpPr/>
          <p:nvPr/>
        </p:nvCxnSpPr>
        <p:spPr>
          <a:xfrm>
            <a:off x="5271343" y="3196530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8" name="Google Shape;2098;p45"/>
          <p:cNvSpPr/>
          <p:nvPr/>
        </p:nvSpPr>
        <p:spPr>
          <a:xfrm>
            <a:off x="404812" y="3384054"/>
            <a:ext cx="2092821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9" name="Google Shape;2099;p45"/>
          <p:cNvCxnSpPr/>
          <p:nvPr/>
        </p:nvCxnSpPr>
        <p:spPr>
          <a:xfrm>
            <a:off x="404812" y="3388816"/>
            <a:ext cx="20928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0" name="Google Shape;2100;p45"/>
          <p:cNvCxnSpPr/>
          <p:nvPr/>
        </p:nvCxnSpPr>
        <p:spPr>
          <a:xfrm>
            <a:off x="409575" y="3384054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1" name="Google Shape;2101;p45"/>
          <p:cNvSpPr/>
          <p:nvPr/>
        </p:nvSpPr>
        <p:spPr>
          <a:xfrm>
            <a:off x="2497634" y="3384054"/>
            <a:ext cx="2768947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2" name="Google Shape;2102;p45"/>
          <p:cNvCxnSpPr/>
          <p:nvPr/>
        </p:nvCxnSpPr>
        <p:spPr>
          <a:xfrm>
            <a:off x="2497634" y="3388816"/>
            <a:ext cx="276894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3" name="Google Shape;2103;p45"/>
          <p:cNvCxnSpPr/>
          <p:nvPr/>
        </p:nvCxnSpPr>
        <p:spPr>
          <a:xfrm>
            <a:off x="2502396" y="3384054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4" name="Google Shape;2104;p45"/>
          <p:cNvSpPr/>
          <p:nvPr/>
        </p:nvSpPr>
        <p:spPr>
          <a:xfrm>
            <a:off x="5266581" y="3384054"/>
            <a:ext cx="677912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5" name="Google Shape;2105;p45"/>
          <p:cNvCxnSpPr/>
          <p:nvPr/>
        </p:nvCxnSpPr>
        <p:spPr>
          <a:xfrm>
            <a:off x="5266581" y="3388816"/>
            <a:ext cx="67791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6" name="Google Shape;2106;p45"/>
          <p:cNvCxnSpPr/>
          <p:nvPr/>
        </p:nvCxnSpPr>
        <p:spPr>
          <a:xfrm>
            <a:off x="5271343" y="3384054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7" name="Google Shape;2107;p45"/>
          <p:cNvSpPr/>
          <p:nvPr/>
        </p:nvSpPr>
        <p:spPr>
          <a:xfrm>
            <a:off x="404812" y="3571577"/>
            <a:ext cx="2092821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8" name="Google Shape;2108;p45"/>
          <p:cNvCxnSpPr/>
          <p:nvPr/>
        </p:nvCxnSpPr>
        <p:spPr>
          <a:xfrm>
            <a:off x="404812" y="3576340"/>
            <a:ext cx="20928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9" name="Google Shape;2109;p45"/>
          <p:cNvCxnSpPr/>
          <p:nvPr/>
        </p:nvCxnSpPr>
        <p:spPr>
          <a:xfrm>
            <a:off x="409575" y="3571577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0" name="Google Shape;2110;p45"/>
          <p:cNvSpPr/>
          <p:nvPr/>
        </p:nvSpPr>
        <p:spPr>
          <a:xfrm>
            <a:off x="2497634" y="3571577"/>
            <a:ext cx="2768947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1" name="Google Shape;2111;p45"/>
          <p:cNvCxnSpPr/>
          <p:nvPr/>
        </p:nvCxnSpPr>
        <p:spPr>
          <a:xfrm>
            <a:off x="2497634" y="3576340"/>
            <a:ext cx="276894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2" name="Google Shape;2112;p45"/>
          <p:cNvCxnSpPr/>
          <p:nvPr/>
        </p:nvCxnSpPr>
        <p:spPr>
          <a:xfrm>
            <a:off x="2502396" y="3571577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3" name="Google Shape;2113;p45"/>
          <p:cNvSpPr/>
          <p:nvPr/>
        </p:nvSpPr>
        <p:spPr>
          <a:xfrm>
            <a:off x="5266581" y="3571577"/>
            <a:ext cx="677912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4" name="Google Shape;2114;p45"/>
          <p:cNvCxnSpPr/>
          <p:nvPr/>
        </p:nvCxnSpPr>
        <p:spPr>
          <a:xfrm>
            <a:off x="5266581" y="3576340"/>
            <a:ext cx="67791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5" name="Google Shape;2115;p45"/>
          <p:cNvCxnSpPr/>
          <p:nvPr/>
        </p:nvCxnSpPr>
        <p:spPr>
          <a:xfrm>
            <a:off x="5271343" y="3571577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6" name="Google Shape;2116;p45"/>
          <p:cNvSpPr/>
          <p:nvPr/>
        </p:nvSpPr>
        <p:spPr>
          <a:xfrm>
            <a:off x="404812" y="3759101"/>
            <a:ext cx="2092821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7" name="Google Shape;2117;p45"/>
          <p:cNvCxnSpPr/>
          <p:nvPr/>
        </p:nvCxnSpPr>
        <p:spPr>
          <a:xfrm>
            <a:off x="404812" y="3763863"/>
            <a:ext cx="20928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8" name="Google Shape;2118;p45"/>
          <p:cNvCxnSpPr/>
          <p:nvPr/>
        </p:nvCxnSpPr>
        <p:spPr>
          <a:xfrm>
            <a:off x="409575" y="3759101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9" name="Google Shape;2119;p45"/>
          <p:cNvSpPr/>
          <p:nvPr/>
        </p:nvSpPr>
        <p:spPr>
          <a:xfrm>
            <a:off x="2497634" y="3759101"/>
            <a:ext cx="2768947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0" name="Google Shape;2120;p45"/>
          <p:cNvCxnSpPr/>
          <p:nvPr/>
        </p:nvCxnSpPr>
        <p:spPr>
          <a:xfrm>
            <a:off x="2497634" y="3763863"/>
            <a:ext cx="276894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1" name="Google Shape;2121;p45"/>
          <p:cNvCxnSpPr/>
          <p:nvPr/>
        </p:nvCxnSpPr>
        <p:spPr>
          <a:xfrm>
            <a:off x="2502396" y="3759101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2" name="Google Shape;2122;p45"/>
          <p:cNvSpPr/>
          <p:nvPr/>
        </p:nvSpPr>
        <p:spPr>
          <a:xfrm>
            <a:off x="5266581" y="3759101"/>
            <a:ext cx="677912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3" name="Google Shape;2123;p45"/>
          <p:cNvCxnSpPr/>
          <p:nvPr/>
        </p:nvCxnSpPr>
        <p:spPr>
          <a:xfrm>
            <a:off x="5266581" y="3763863"/>
            <a:ext cx="67791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4" name="Google Shape;2124;p45"/>
          <p:cNvCxnSpPr/>
          <p:nvPr/>
        </p:nvCxnSpPr>
        <p:spPr>
          <a:xfrm>
            <a:off x="5271343" y="3759101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5" name="Google Shape;2125;p45"/>
          <p:cNvSpPr/>
          <p:nvPr/>
        </p:nvSpPr>
        <p:spPr>
          <a:xfrm>
            <a:off x="404812" y="3946624"/>
            <a:ext cx="2092821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6" name="Google Shape;2126;p45"/>
          <p:cNvCxnSpPr/>
          <p:nvPr/>
        </p:nvCxnSpPr>
        <p:spPr>
          <a:xfrm>
            <a:off x="404812" y="3951387"/>
            <a:ext cx="20928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7" name="Google Shape;2127;p45"/>
          <p:cNvCxnSpPr/>
          <p:nvPr/>
        </p:nvCxnSpPr>
        <p:spPr>
          <a:xfrm>
            <a:off x="409575" y="3946624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8" name="Google Shape;2128;p45"/>
          <p:cNvSpPr/>
          <p:nvPr/>
        </p:nvSpPr>
        <p:spPr>
          <a:xfrm>
            <a:off x="2497634" y="3946624"/>
            <a:ext cx="2768947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9" name="Google Shape;2129;p45"/>
          <p:cNvCxnSpPr/>
          <p:nvPr/>
        </p:nvCxnSpPr>
        <p:spPr>
          <a:xfrm>
            <a:off x="2497634" y="3951387"/>
            <a:ext cx="276894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0" name="Google Shape;2130;p45"/>
          <p:cNvCxnSpPr/>
          <p:nvPr/>
        </p:nvCxnSpPr>
        <p:spPr>
          <a:xfrm>
            <a:off x="2502396" y="3946624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1" name="Google Shape;2131;p45"/>
          <p:cNvSpPr/>
          <p:nvPr/>
        </p:nvSpPr>
        <p:spPr>
          <a:xfrm>
            <a:off x="5266581" y="3946624"/>
            <a:ext cx="677912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2" name="Google Shape;2132;p45"/>
          <p:cNvCxnSpPr/>
          <p:nvPr/>
        </p:nvCxnSpPr>
        <p:spPr>
          <a:xfrm>
            <a:off x="5266581" y="3951387"/>
            <a:ext cx="67791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3" name="Google Shape;2133;p45"/>
          <p:cNvCxnSpPr/>
          <p:nvPr/>
        </p:nvCxnSpPr>
        <p:spPr>
          <a:xfrm>
            <a:off x="5271343" y="3946624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4" name="Google Shape;2134;p45"/>
          <p:cNvSpPr/>
          <p:nvPr/>
        </p:nvSpPr>
        <p:spPr>
          <a:xfrm>
            <a:off x="404812" y="4134148"/>
            <a:ext cx="2092821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5" name="Google Shape;2135;p45"/>
          <p:cNvCxnSpPr/>
          <p:nvPr/>
        </p:nvCxnSpPr>
        <p:spPr>
          <a:xfrm>
            <a:off x="404812" y="4138910"/>
            <a:ext cx="20928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6" name="Google Shape;2136;p45"/>
          <p:cNvCxnSpPr/>
          <p:nvPr/>
        </p:nvCxnSpPr>
        <p:spPr>
          <a:xfrm>
            <a:off x="409575" y="4134148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7" name="Google Shape;2137;p45"/>
          <p:cNvSpPr/>
          <p:nvPr/>
        </p:nvSpPr>
        <p:spPr>
          <a:xfrm>
            <a:off x="2497634" y="4134148"/>
            <a:ext cx="2768947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8" name="Google Shape;2138;p45"/>
          <p:cNvCxnSpPr/>
          <p:nvPr/>
        </p:nvCxnSpPr>
        <p:spPr>
          <a:xfrm>
            <a:off x="2497634" y="4138910"/>
            <a:ext cx="276894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9" name="Google Shape;2139;p45"/>
          <p:cNvCxnSpPr/>
          <p:nvPr/>
        </p:nvCxnSpPr>
        <p:spPr>
          <a:xfrm>
            <a:off x="2502396" y="4134148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0" name="Google Shape;2140;p45"/>
          <p:cNvSpPr/>
          <p:nvPr/>
        </p:nvSpPr>
        <p:spPr>
          <a:xfrm>
            <a:off x="5266581" y="4134148"/>
            <a:ext cx="677912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1" name="Google Shape;2141;p45"/>
          <p:cNvCxnSpPr/>
          <p:nvPr/>
        </p:nvCxnSpPr>
        <p:spPr>
          <a:xfrm>
            <a:off x="5266581" y="4138910"/>
            <a:ext cx="67791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42" name="Google Shape;2142;p45"/>
          <p:cNvCxnSpPr/>
          <p:nvPr/>
        </p:nvCxnSpPr>
        <p:spPr>
          <a:xfrm>
            <a:off x="5271343" y="4134148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3" name="Google Shape;2143;p45"/>
          <p:cNvSpPr/>
          <p:nvPr/>
        </p:nvSpPr>
        <p:spPr>
          <a:xfrm>
            <a:off x="400050" y="4829026"/>
            <a:ext cx="11391900" cy="1059359"/>
          </a:xfrm>
          <a:prstGeom prst="roundRect">
            <a:avLst>
              <a:gd fmla="val 4495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4" name="Google Shape;2144;p45"/>
          <p:cNvCxnSpPr/>
          <p:nvPr/>
        </p:nvCxnSpPr>
        <p:spPr>
          <a:xfrm>
            <a:off x="423862" y="4829026"/>
            <a:ext cx="0" cy="1059359"/>
          </a:xfrm>
          <a:prstGeom prst="straightConnector1">
            <a:avLst/>
          </a:prstGeom>
          <a:noFill/>
          <a:ln cap="flat" cmpd="sng" w="4762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5" name="Google Shape;2145;p45"/>
          <p:cNvSpPr/>
          <p:nvPr/>
        </p:nvSpPr>
        <p:spPr>
          <a:xfrm>
            <a:off x="400050" y="5963692"/>
            <a:ext cx="11391900" cy="1280815"/>
          </a:xfrm>
          <a:prstGeom prst="roundRect">
            <a:avLst>
              <a:gd fmla="val 3718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3a0cfed95df09636cd41374768f8acd2.png" id="2146" name="Google Shape;214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6316" y="715566"/>
            <a:ext cx="5541764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7" name="Google Shape;2147;p45"/>
          <p:cNvSpPr txBox="1"/>
          <p:nvPr/>
        </p:nvSpPr>
        <p:spPr>
          <a:xfrm>
            <a:off x="400050" y="161925"/>
            <a:ext cx="4399359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3"/>
              <a:buFont typeface="Arial"/>
              <a:buNone/>
            </a:pPr>
            <a:r>
              <a:rPr b="0" i="0" lang="en-US" sz="2343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Missingness clínico (TCGA tumor)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8" name="Google Shape;2148;p45"/>
          <p:cNvSpPr txBox="1"/>
          <p:nvPr/>
        </p:nvSpPr>
        <p:spPr>
          <a:xfrm>
            <a:off x="461962" y="1140470"/>
            <a:ext cx="1997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Variável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9" name="Google Shape;2149;p45"/>
          <p:cNvSpPr txBox="1"/>
          <p:nvPr/>
        </p:nvSpPr>
        <p:spPr>
          <a:xfrm>
            <a:off x="2535555" y="1140470"/>
            <a:ext cx="26927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Ausente/desconhecido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0" name="Google Shape;2150;p45"/>
          <p:cNvSpPr txBox="1"/>
          <p:nvPr/>
        </p:nvSpPr>
        <p:spPr>
          <a:xfrm>
            <a:off x="5304472" y="1140470"/>
            <a:ext cx="6019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1" name="Google Shape;2151;p45"/>
          <p:cNvSpPr txBox="1"/>
          <p:nvPr/>
        </p:nvSpPr>
        <p:spPr>
          <a:xfrm>
            <a:off x="461962" y="1334244"/>
            <a:ext cx="1997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Invasão vascular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2" name="Google Shape;2152;p45"/>
          <p:cNvSpPr txBox="1"/>
          <p:nvPr/>
        </p:nvSpPr>
        <p:spPr>
          <a:xfrm>
            <a:off x="2535555" y="1334244"/>
            <a:ext cx="26927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3" name="Google Shape;2153;p45"/>
          <p:cNvSpPr txBox="1"/>
          <p:nvPr/>
        </p:nvSpPr>
        <p:spPr>
          <a:xfrm>
            <a:off x="5304472" y="1334244"/>
            <a:ext cx="6019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70.7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4" name="Google Shape;2154;p45"/>
          <p:cNvSpPr txBox="1"/>
          <p:nvPr/>
        </p:nvSpPr>
        <p:spPr>
          <a:xfrm>
            <a:off x="461962" y="1521768"/>
            <a:ext cx="1997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Sorologia viral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5" name="Google Shape;2155;p45"/>
          <p:cNvSpPr txBox="1"/>
          <p:nvPr/>
        </p:nvSpPr>
        <p:spPr>
          <a:xfrm>
            <a:off x="2535555" y="1521768"/>
            <a:ext cx="26927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6" name="Google Shape;2156;p45"/>
          <p:cNvSpPr txBox="1"/>
          <p:nvPr/>
        </p:nvSpPr>
        <p:spPr>
          <a:xfrm>
            <a:off x="5304472" y="1521768"/>
            <a:ext cx="6019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55.8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7" name="Google Shape;2157;p45"/>
          <p:cNvSpPr txBox="1"/>
          <p:nvPr/>
        </p:nvSpPr>
        <p:spPr>
          <a:xfrm>
            <a:off x="461962" y="1709291"/>
            <a:ext cx="1997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Fibrose (Ishak)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8" name="Google Shape;2158;p45"/>
          <p:cNvSpPr txBox="1"/>
          <p:nvPr/>
        </p:nvSpPr>
        <p:spPr>
          <a:xfrm>
            <a:off x="2535555" y="1709291"/>
            <a:ext cx="26927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9" name="Google Shape;2159;p45"/>
          <p:cNvSpPr txBox="1"/>
          <p:nvPr/>
        </p:nvSpPr>
        <p:spPr>
          <a:xfrm>
            <a:off x="5304472" y="1709291"/>
            <a:ext cx="6019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43.1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0" name="Google Shape;2160;p45"/>
          <p:cNvSpPr txBox="1"/>
          <p:nvPr/>
        </p:nvSpPr>
        <p:spPr>
          <a:xfrm>
            <a:off x="461962" y="1896814"/>
            <a:ext cx="1997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Fibrose avançada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1" name="Google Shape;2161;p45"/>
          <p:cNvSpPr txBox="1"/>
          <p:nvPr/>
        </p:nvSpPr>
        <p:spPr>
          <a:xfrm>
            <a:off x="2535555" y="1896814"/>
            <a:ext cx="26927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2" name="Google Shape;2162;p45"/>
          <p:cNvSpPr txBox="1"/>
          <p:nvPr/>
        </p:nvSpPr>
        <p:spPr>
          <a:xfrm>
            <a:off x="5304472" y="1896814"/>
            <a:ext cx="6019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43.1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3" name="Google Shape;2163;p45"/>
          <p:cNvSpPr txBox="1"/>
          <p:nvPr/>
        </p:nvSpPr>
        <p:spPr>
          <a:xfrm>
            <a:off x="461962" y="2084338"/>
            <a:ext cx="1997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Child-Pugh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4" name="Google Shape;2164;p45"/>
          <p:cNvSpPr txBox="1"/>
          <p:nvPr/>
        </p:nvSpPr>
        <p:spPr>
          <a:xfrm>
            <a:off x="2535555" y="2084338"/>
            <a:ext cx="26927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5" name="Google Shape;2165;p45"/>
          <p:cNvSpPr txBox="1"/>
          <p:nvPr/>
        </p:nvSpPr>
        <p:spPr>
          <a:xfrm>
            <a:off x="5304472" y="2084338"/>
            <a:ext cx="6019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35.8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6" name="Google Shape;2166;p45"/>
          <p:cNvSpPr txBox="1"/>
          <p:nvPr/>
        </p:nvSpPr>
        <p:spPr>
          <a:xfrm>
            <a:off x="461962" y="2271861"/>
            <a:ext cx="1997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7" name="Google Shape;2167;p45"/>
          <p:cNvSpPr txBox="1"/>
          <p:nvPr/>
        </p:nvSpPr>
        <p:spPr>
          <a:xfrm>
            <a:off x="2535555" y="2271861"/>
            <a:ext cx="26927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8" name="Google Shape;2168;p45"/>
          <p:cNvSpPr txBox="1"/>
          <p:nvPr/>
        </p:nvSpPr>
        <p:spPr>
          <a:xfrm>
            <a:off x="5304472" y="2271861"/>
            <a:ext cx="6019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9" name="Google Shape;2169;p45"/>
          <p:cNvSpPr txBox="1"/>
          <p:nvPr/>
        </p:nvSpPr>
        <p:spPr>
          <a:xfrm>
            <a:off x="461962" y="2459385"/>
            <a:ext cx="1997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AFP ≥400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0" name="Google Shape;2170;p45"/>
          <p:cNvSpPr txBox="1"/>
          <p:nvPr/>
        </p:nvSpPr>
        <p:spPr>
          <a:xfrm>
            <a:off x="2535555" y="2459385"/>
            <a:ext cx="26927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1" name="Google Shape;2171;p45"/>
          <p:cNvSpPr txBox="1"/>
          <p:nvPr/>
        </p:nvSpPr>
        <p:spPr>
          <a:xfrm>
            <a:off x="5304472" y="2459385"/>
            <a:ext cx="6019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2" name="Google Shape;2172;p45"/>
          <p:cNvSpPr txBox="1"/>
          <p:nvPr/>
        </p:nvSpPr>
        <p:spPr>
          <a:xfrm>
            <a:off x="461962" y="2646908"/>
            <a:ext cx="1997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3" name="Google Shape;2173;p45"/>
          <p:cNvSpPr txBox="1"/>
          <p:nvPr/>
        </p:nvSpPr>
        <p:spPr>
          <a:xfrm>
            <a:off x="2535555" y="2646908"/>
            <a:ext cx="26927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4" name="Google Shape;2174;p45"/>
          <p:cNvSpPr txBox="1"/>
          <p:nvPr/>
        </p:nvSpPr>
        <p:spPr>
          <a:xfrm>
            <a:off x="5304472" y="2646908"/>
            <a:ext cx="6019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5" name="Google Shape;2175;p45"/>
          <p:cNvSpPr txBox="1"/>
          <p:nvPr/>
        </p:nvSpPr>
        <p:spPr>
          <a:xfrm>
            <a:off x="461962" y="2834432"/>
            <a:ext cx="1997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Etnia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6" name="Google Shape;2176;p45"/>
          <p:cNvSpPr txBox="1"/>
          <p:nvPr/>
        </p:nvSpPr>
        <p:spPr>
          <a:xfrm>
            <a:off x="2535555" y="2834432"/>
            <a:ext cx="26927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7" name="Google Shape;2177;p45"/>
          <p:cNvSpPr txBox="1"/>
          <p:nvPr/>
        </p:nvSpPr>
        <p:spPr>
          <a:xfrm>
            <a:off x="5304472" y="2834432"/>
            <a:ext cx="6019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8" name="Google Shape;2178;p45"/>
          <p:cNvSpPr txBox="1"/>
          <p:nvPr/>
        </p:nvSpPr>
        <p:spPr>
          <a:xfrm>
            <a:off x="461962" y="3021955"/>
            <a:ext cx="1997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Raça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9" name="Google Shape;2179;p45"/>
          <p:cNvSpPr txBox="1"/>
          <p:nvPr/>
        </p:nvSpPr>
        <p:spPr>
          <a:xfrm>
            <a:off x="2535555" y="3021955"/>
            <a:ext cx="26927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0" name="Google Shape;2180;p45"/>
          <p:cNvSpPr txBox="1"/>
          <p:nvPr/>
        </p:nvSpPr>
        <p:spPr>
          <a:xfrm>
            <a:off x="5304472" y="3021955"/>
            <a:ext cx="6019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1" name="Google Shape;2181;p45"/>
          <p:cNvSpPr txBox="1"/>
          <p:nvPr/>
        </p:nvSpPr>
        <p:spPr>
          <a:xfrm>
            <a:off x="461962" y="3209479"/>
            <a:ext cx="1997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2" name="Google Shape;2182;p45"/>
          <p:cNvSpPr txBox="1"/>
          <p:nvPr/>
        </p:nvSpPr>
        <p:spPr>
          <a:xfrm>
            <a:off x="2535555" y="3209479"/>
            <a:ext cx="26927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3" name="Google Shape;2183;p45"/>
          <p:cNvSpPr txBox="1"/>
          <p:nvPr/>
        </p:nvSpPr>
        <p:spPr>
          <a:xfrm>
            <a:off x="5304472" y="3209479"/>
            <a:ext cx="6019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4" name="Google Shape;2184;p45"/>
          <p:cNvSpPr txBox="1"/>
          <p:nvPr/>
        </p:nvSpPr>
        <p:spPr>
          <a:xfrm>
            <a:off x="461962" y="3397002"/>
            <a:ext cx="1997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5" name="Google Shape;2185;p45"/>
          <p:cNvSpPr txBox="1"/>
          <p:nvPr/>
        </p:nvSpPr>
        <p:spPr>
          <a:xfrm>
            <a:off x="2535555" y="3397002"/>
            <a:ext cx="26927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6" name="Google Shape;2186;p45"/>
          <p:cNvSpPr txBox="1"/>
          <p:nvPr/>
        </p:nvSpPr>
        <p:spPr>
          <a:xfrm>
            <a:off x="5304472" y="3397002"/>
            <a:ext cx="6019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7" name="Google Shape;2187;p45"/>
          <p:cNvSpPr txBox="1"/>
          <p:nvPr/>
        </p:nvSpPr>
        <p:spPr>
          <a:xfrm>
            <a:off x="461962" y="3584525"/>
            <a:ext cx="1997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OS/tempo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8" name="Google Shape;2188;p45"/>
          <p:cNvSpPr txBox="1"/>
          <p:nvPr/>
        </p:nvSpPr>
        <p:spPr>
          <a:xfrm>
            <a:off x="2535555" y="3584525"/>
            <a:ext cx="26927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9" name="Google Shape;2189;p45"/>
          <p:cNvSpPr txBox="1"/>
          <p:nvPr/>
        </p:nvSpPr>
        <p:spPr>
          <a:xfrm>
            <a:off x="5304472" y="3584525"/>
            <a:ext cx="6019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0" name="Google Shape;2190;p45"/>
          <p:cNvSpPr txBox="1"/>
          <p:nvPr/>
        </p:nvSpPr>
        <p:spPr>
          <a:xfrm>
            <a:off x="461962" y="3772049"/>
            <a:ext cx="1997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1" name="Google Shape;2191;p45"/>
          <p:cNvSpPr txBox="1"/>
          <p:nvPr/>
        </p:nvSpPr>
        <p:spPr>
          <a:xfrm>
            <a:off x="2535555" y="3772049"/>
            <a:ext cx="26927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2" name="Google Shape;2192;p45"/>
          <p:cNvSpPr txBox="1"/>
          <p:nvPr/>
        </p:nvSpPr>
        <p:spPr>
          <a:xfrm>
            <a:off x="5304472" y="3772049"/>
            <a:ext cx="6019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3" name="Google Shape;2193;p45"/>
          <p:cNvSpPr txBox="1"/>
          <p:nvPr/>
        </p:nvSpPr>
        <p:spPr>
          <a:xfrm>
            <a:off x="461962" y="3959572"/>
            <a:ext cx="1997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4" name="Google Shape;2194;p45"/>
          <p:cNvSpPr txBox="1"/>
          <p:nvPr/>
        </p:nvSpPr>
        <p:spPr>
          <a:xfrm>
            <a:off x="2535555" y="3959572"/>
            <a:ext cx="26927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5" name="Google Shape;2195;p45"/>
          <p:cNvSpPr txBox="1"/>
          <p:nvPr/>
        </p:nvSpPr>
        <p:spPr>
          <a:xfrm>
            <a:off x="5304472" y="3959572"/>
            <a:ext cx="6019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6" name="Google Shape;2196;p45"/>
          <p:cNvSpPr txBox="1"/>
          <p:nvPr/>
        </p:nvSpPr>
        <p:spPr>
          <a:xfrm>
            <a:off x="461962" y="4147096"/>
            <a:ext cx="1997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7" name="Google Shape;2197;p45"/>
          <p:cNvSpPr txBox="1"/>
          <p:nvPr/>
        </p:nvSpPr>
        <p:spPr>
          <a:xfrm>
            <a:off x="2535555" y="4147096"/>
            <a:ext cx="26927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8" name="Google Shape;2198;p45"/>
          <p:cNvSpPr txBox="1"/>
          <p:nvPr/>
        </p:nvSpPr>
        <p:spPr>
          <a:xfrm>
            <a:off x="5304472" y="4147096"/>
            <a:ext cx="6019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9" name="Google Shape;2199;p45"/>
          <p:cNvSpPr txBox="1"/>
          <p:nvPr/>
        </p:nvSpPr>
        <p:spPr>
          <a:xfrm>
            <a:off x="5982652" y="4555629"/>
            <a:ext cx="577119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Arial"/>
              <a:buNone/>
            </a:pPr>
            <a:r>
              <a:rPr b="0" i="0" lang="en-US" sz="891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16. Percentual de valores ausentes/desconhecidos nos 369 tumores primários.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0" name="Google Shape;2200;p45"/>
          <p:cNvSpPr txBox="1"/>
          <p:nvPr/>
        </p:nvSpPr>
        <p:spPr>
          <a:xfrm>
            <a:off x="598438" y="5113586"/>
            <a:ext cx="1071116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Invasão vascular (70,7%), sorologia viral (55,8%), fibrose (43,1%), Child-Pugh (35,8%) e AFP (25,2%) têm poder limitado. Amostras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1" name="Google Shape;2201;p45"/>
          <p:cNvSpPr txBox="1"/>
          <p:nvPr/>
        </p:nvSpPr>
        <p:spPr>
          <a:xfrm>
            <a:off x="598438" y="5349180"/>
            <a:ext cx="494258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 informação disponível podem não ser representativas.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2" name="Google Shape;2202;p45"/>
          <p:cNvSpPr txBox="1"/>
          <p:nvPr/>
        </p:nvSpPr>
        <p:spPr>
          <a:xfrm>
            <a:off x="507504" y="6217444"/>
            <a:ext cx="89148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Missingness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3" name="Google Shape;2203;p45"/>
          <p:cNvSpPr txBox="1"/>
          <p:nvPr/>
        </p:nvSpPr>
        <p:spPr>
          <a:xfrm>
            <a:off x="1402110" y="6217444"/>
            <a:ext cx="424755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proporção de valores ausentes ou “desconhecidos”. Ausência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4" name="Google Shape;2204;p45"/>
          <p:cNvSpPr txBox="1"/>
          <p:nvPr/>
        </p:nvSpPr>
        <p:spPr>
          <a:xfrm>
            <a:off x="5652939" y="6217444"/>
            <a:ext cx="1089571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é aleatória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5" name="Google Shape;2205;p45"/>
          <p:cNvSpPr txBox="1"/>
          <p:nvPr/>
        </p:nvSpPr>
        <p:spPr>
          <a:xfrm>
            <a:off x="6745635" y="6217444"/>
            <a:ext cx="47983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 definição: pacientes com sorologia desconhecida podem diferir 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6" name="Google Shape;2206;p45"/>
          <p:cNvSpPr txBox="1"/>
          <p:nvPr/>
        </p:nvSpPr>
        <p:spPr>
          <a:xfrm>
            <a:off x="507504" y="6406009"/>
            <a:ext cx="574238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demais. Por isso os testes usam apenas os casos completos e os n variam entre linhas.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7" name="Google Shape;2207;p45"/>
          <p:cNvSpPr txBox="1"/>
          <p:nvPr/>
        </p:nvSpPr>
        <p:spPr>
          <a:xfrm>
            <a:off x="507504" y="6594574"/>
            <a:ext cx="83150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Child-Pugh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8" name="Google Shape;2208;p45"/>
          <p:cNvSpPr txBox="1"/>
          <p:nvPr/>
        </p:nvSpPr>
        <p:spPr>
          <a:xfrm>
            <a:off x="1342132" y="6594574"/>
            <a:ext cx="313506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escore de função hepática A/B/C (A melhor).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9" name="Google Shape;2209;p45"/>
          <p:cNvSpPr txBox="1"/>
          <p:nvPr/>
        </p:nvSpPr>
        <p:spPr>
          <a:xfrm>
            <a:off x="4480471" y="6594574"/>
            <a:ext cx="119419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Invasão vascular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0" name="Google Shape;2210;p45"/>
          <p:cNvSpPr txBox="1"/>
          <p:nvPr/>
        </p:nvSpPr>
        <p:spPr>
          <a:xfrm>
            <a:off x="5677793" y="6594574"/>
            <a:ext cx="3308152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presença de tumor em vasos (micro ou macro).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1" name="Google Shape;2211;p45"/>
          <p:cNvSpPr txBox="1"/>
          <p:nvPr/>
        </p:nvSpPr>
        <p:spPr>
          <a:xfrm>
            <a:off x="8989219" y="6594574"/>
            <a:ext cx="31536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2" name="Google Shape;2212;p45"/>
          <p:cNvSpPr txBox="1"/>
          <p:nvPr/>
        </p:nvSpPr>
        <p:spPr>
          <a:xfrm>
            <a:off x="9307711" y="6594574"/>
            <a:ext cx="1276796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alfafetoproteína.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3" name="Google Shape;2213;p45"/>
          <p:cNvSpPr txBox="1"/>
          <p:nvPr/>
        </p:nvSpPr>
        <p:spPr>
          <a:xfrm>
            <a:off x="10587633" y="6594574"/>
            <a:ext cx="408682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Ishak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4" name="Google Shape;2214;p45"/>
          <p:cNvSpPr txBox="1"/>
          <p:nvPr/>
        </p:nvSpPr>
        <p:spPr>
          <a:xfrm>
            <a:off x="10999440" y="6594574"/>
            <a:ext cx="6390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fibrose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5" name="Google Shape;2215;p45"/>
          <p:cNvSpPr txBox="1"/>
          <p:nvPr/>
        </p:nvSpPr>
        <p:spPr>
          <a:xfrm>
            <a:off x="507504" y="6783139"/>
            <a:ext cx="60201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 0 a 6.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9" name="Shape 2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0" name="Google Shape;2220;p48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1" name="Google Shape;2221;p48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2" name="Google Shape;2222;p48"/>
          <p:cNvSpPr/>
          <p:nvPr/>
        </p:nvSpPr>
        <p:spPr>
          <a:xfrm>
            <a:off x="7705130" y="825252"/>
            <a:ext cx="4086820" cy="1507331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3" name="Google Shape;2223;p48"/>
          <p:cNvSpPr/>
          <p:nvPr/>
        </p:nvSpPr>
        <p:spPr>
          <a:xfrm>
            <a:off x="7709892" y="830014"/>
            <a:ext cx="2080320" cy="226219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4" name="Google Shape;2224;p48"/>
          <p:cNvCxnSpPr/>
          <p:nvPr/>
        </p:nvCxnSpPr>
        <p:spPr>
          <a:xfrm>
            <a:off x="7709892" y="834777"/>
            <a:ext cx="2080320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5" name="Google Shape;2225;p48"/>
          <p:cNvCxnSpPr/>
          <p:nvPr/>
        </p:nvCxnSpPr>
        <p:spPr>
          <a:xfrm>
            <a:off x="7714655" y="830014"/>
            <a:ext cx="0" cy="226219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6" name="Google Shape;2226;p48"/>
          <p:cNvSpPr/>
          <p:nvPr/>
        </p:nvSpPr>
        <p:spPr>
          <a:xfrm>
            <a:off x="9790212" y="830014"/>
            <a:ext cx="400943" cy="226219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7" name="Google Shape;2227;p48"/>
          <p:cNvCxnSpPr/>
          <p:nvPr/>
        </p:nvCxnSpPr>
        <p:spPr>
          <a:xfrm>
            <a:off x="9790212" y="834777"/>
            <a:ext cx="400943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8" name="Google Shape;2228;p48"/>
          <p:cNvCxnSpPr/>
          <p:nvPr/>
        </p:nvCxnSpPr>
        <p:spPr>
          <a:xfrm>
            <a:off x="9794974" y="830014"/>
            <a:ext cx="0" cy="226219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9" name="Google Shape;2229;p48"/>
          <p:cNvSpPr/>
          <p:nvPr/>
        </p:nvSpPr>
        <p:spPr>
          <a:xfrm>
            <a:off x="10191155" y="830014"/>
            <a:ext cx="701129" cy="226219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0" name="Google Shape;2230;p48"/>
          <p:cNvCxnSpPr/>
          <p:nvPr/>
        </p:nvCxnSpPr>
        <p:spPr>
          <a:xfrm>
            <a:off x="10191155" y="834777"/>
            <a:ext cx="701129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1" name="Google Shape;2231;p48"/>
          <p:cNvCxnSpPr/>
          <p:nvPr/>
        </p:nvCxnSpPr>
        <p:spPr>
          <a:xfrm>
            <a:off x="10195917" y="830014"/>
            <a:ext cx="0" cy="226219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2" name="Google Shape;2232;p48"/>
          <p:cNvSpPr/>
          <p:nvPr/>
        </p:nvSpPr>
        <p:spPr>
          <a:xfrm>
            <a:off x="10892284" y="830014"/>
            <a:ext cx="894904" cy="226219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3" name="Google Shape;2233;p48"/>
          <p:cNvCxnSpPr/>
          <p:nvPr/>
        </p:nvCxnSpPr>
        <p:spPr>
          <a:xfrm>
            <a:off x="10892284" y="834777"/>
            <a:ext cx="894904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4" name="Google Shape;2234;p48"/>
          <p:cNvCxnSpPr/>
          <p:nvPr/>
        </p:nvCxnSpPr>
        <p:spPr>
          <a:xfrm>
            <a:off x="10897046" y="830014"/>
            <a:ext cx="0" cy="226219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5" name="Google Shape;2235;p48"/>
          <p:cNvSpPr/>
          <p:nvPr/>
        </p:nvSpPr>
        <p:spPr>
          <a:xfrm>
            <a:off x="7709892" y="1056233"/>
            <a:ext cx="2080320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6" name="Google Shape;2236;p48"/>
          <p:cNvCxnSpPr/>
          <p:nvPr/>
        </p:nvCxnSpPr>
        <p:spPr>
          <a:xfrm>
            <a:off x="7709892" y="1060996"/>
            <a:ext cx="208032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7" name="Google Shape;2237;p48"/>
          <p:cNvCxnSpPr/>
          <p:nvPr/>
        </p:nvCxnSpPr>
        <p:spPr>
          <a:xfrm>
            <a:off x="7714655" y="1056233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8" name="Google Shape;2238;p48"/>
          <p:cNvSpPr/>
          <p:nvPr/>
        </p:nvSpPr>
        <p:spPr>
          <a:xfrm>
            <a:off x="9790212" y="1056233"/>
            <a:ext cx="400943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9" name="Google Shape;2239;p48"/>
          <p:cNvCxnSpPr/>
          <p:nvPr/>
        </p:nvCxnSpPr>
        <p:spPr>
          <a:xfrm>
            <a:off x="9790212" y="1060996"/>
            <a:ext cx="40094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0" name="Google Shape;2240;p48"/>
          <p:cNvCxnSpPr/>
          <p:nvPr/>
        </p:nvCxnSpPr>
        <p:spPr>
          <a:xfrm>
            <a:off x="9794974" y="1056233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1" name="Google Shape;2241;p48"/>
          <p:cNvSpPr/>
          <p:nvPr/>
        </p:nvSpPr>
        <p:spPr>
          <a:xfrm>
            <a:off x="10191155" y="1056233"/>
            <a:ext cx="701129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2" name="Google Shape;2242;p48"/>
          <p:cNvCxnSpPr/>
          <p:nvPr/>
        </p:nvCxnSpPr>
        <p:spPr>
          <a:xfrm>
            <a:off x="10191155" y="1060996"/>
            <a:ext cx="70112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3" name="Google Shape;2243;p48"/>
          <p:cNvCxnSpPr/>
          <p:nvPr/>
        </p:nvCxnSpPr>
        <p:spPr>
          <a:xfrm>
            <a:off x="10195917" y="1056233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4" name="Google Shape;2244;p48"/>
          <p:cNvSpPr/>
          <p:nvPr/>
        </p:nvSpPr>
        <p:spPr>
          <a:xfrm>
            <a:off x="10892284" y="1056233"/>
            <a:ext cx="894904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5" name="Google Shape;2245;p48"/>
          <p:cNvCxnSpPr/>
          <p:nvPr/>
        </p:nvCxnSpPr>
        <p:spPr>
          <a:xfrm>
            <a:off x="10892284" y="1060996"/>
            <a:ext cx="89490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6" name="Google Shape;2246;p48"/>
          <p:cNvCxnSpPr/>
          <p:nvPr/>
        </p:nvCxnSpPr>
        <p:spPr>
          <a:xfrm>
            <a:off x="10897046" y="1056233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7" name="Google Shape;2247;p48"/>
          <p:cNvSpPr/>
          <p:nvPr/>
        </p:nvSpPr>
        <p:spPr>
          <a:xfrm>
            <a:off x="7709892" y="1268164"/>
            <a:ext cx="2080320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8" name="Google Shape;2248;p48"/>
          <p:cNvCxnSpPr/>
          <p:nvPr/>
        </p:nvCxnSpPr>
        <p:spPr>
          <a:xfrm>
            <a:off x="7709892" y="1272927"/>
            <a:ext cx="208032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9" name="Google Shape;2249;p48"/>
          <p:cNvCxnSpPr/>
          <p:nvPr/>
        </p:nvCxnSpPr>
        <p:spPr>
          <a:xfrm>
            <a:off x="7714655" y="1268164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0" name="Google Shape;2250;p48"/>
          <p:cNvSpPr/>
          <p:nvPr/>
        </p:nvSpPr>
        <p:spPr>
          <a:xfrm>
            <a:off x="9790212" y="1268164"/>
            <a:ext cx="400943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1" name="Google Shape;2251;p48"/>
          <p:cNvCxnSpPr/>
          <p:nvPr/>
        </p:nvCxnSpPr>
        <p:spPr>
          <a:xfrm>
            <a:off x="9790212" y="1272927"/>
            <a:ext cx="40094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52" name="Google Shape;2252;p48"/>
          <p:cNvCxnSpPr/>
          <p:nvPr/>
        </p:nvCxnSpPr>
        <p:spPr>
          <a:xfrm>
            <a:off x="9794974" y="1268164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3" name="Google Shape;2253;p48"/>
          <p:cNvSpPr/>
          <p:nvPr/>
        </p:nvSpPr>
        <p:spPr>
          <a:xfrm>
            <a:off x="10191155" y="1268164"/>
            <a:ext cx="701129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4" name="Google Shape;2254;p48"/>
          <p:cNvCxnSpPr/>
          <p:nvPr/>
        </p:nvCxnSpPr>
        <p:spPr>
          <a:xfrm>
            <a:off x="10191155" y="1272927"/>
            <a:ext cx="70112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55" name="Google Shape;2255;p48"/>
          <p:cNvCxnSpPr/>
          <p:nvPr/>
        </p:nvCxnSpPr>
        <p:spPr>
          <a:xfrm>
            <a:off x="10195917" y="1268164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6" name="Google Shape;2256;p48"/>
          <p:cNvSpPr/>
          <p:nvPr/>
        </p:nvSpPr>
        <p:spPr>
          <a:xfrm>
            <a:off x="10892284" y="1268164"/>
            <a:ext cx="894904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7" name="Google Shape;2257;p48"/>
          <p:cNvCxnSpPr/>
          <p:nvPr/>
        </p:nvCxnSpPr>
        <p:spPr>
          <a:xfrm>
            <a:off x="10892284" y="1272927"/>
            <a:ext cx="89490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58" name="Google Shape;2258;p48"/>
          <p:cNvCxnSpPr/>
          <p:nvPr/>
        </p:nvCxnSpPr>
        <p:spPr>
          <a:xfrm>
            <a:off x="10897046" y="1268164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9" name="Google Shape;2259;p48"/>
          <p:cNvSpPr/>
          <p:nvPr/>
        </p:nvSpPr>
        <p:spPr>
          <a:xfrm>
            <a:off x="7709892" y="1480096"/>
            <a:ext cx="2080320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0" name="Google Shape;2260;p48"/>
          <p:cNvCxnSpPr/>
          <p:nvPr/>
        </p:nvCxnSpPr>
        <p:spPr>
          <a:xfrm>
            <a:off x="7709892" y="1484858"/>
            <a:ext cx="208032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61" name="Google Shape;2261;p48"/>
          <p:cNvCxnSpPr/>
          <p:nvPr/>
        </p:nvCxnSpPr>
        <p:spPr>
          <a:xfrm>
            <a:off x="7714655" y="1480096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2" name="Google Shape;2262;p48"/>
          <p:cNvSpPr/>
          <p:nvPr/>
        </p:nvSpPr>
        <p:spPr>
          <a:xfrm>
            <a:off x="9790212" y="1480096"/>
            <a:ext cx="400943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3" name="Google Shape;2263;p48"/>
          <p:cNvCxnSpPr/>
          <p:nvPr/>
        </p:nvCxnSpPr>
        <p:spPr>
          <a:xfrm>
            <a:off x="9790212" y="1484858"/>
            <a:ext cx="40094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64" name="Google Shape;2264;p48"/>
          <p:cNvCxnSpPr/>
          <p:nvPr/>
        </p:nvCxnSpPr>
        <p:spPr>
          <a:xfrm>
            <a:off x="9794974" y="1480096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5" name="Google Shape;2265;p48"/>
          <p:cNvSpPr/>
          <p:nvPr/>
        </p:nvSpPr>
        <p:spPr>
          <a:xfrm>
            <a:off x="10191155" y="1480096"/>
            <a:ext cx="701129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6" name="Google Shape;2266;p48"/>
          <p:cNvCxnSpPr/>
          <p:nvPr/>
        </p:nvCxnSpPr>
        <p:spPr>
          <a:xfrm>
            <a:off x="10191155" y="1484858"/>
            <a:ext cx="70112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67" name="Google Shape;2267;p48"/>
          <p:cNvCxnSpPr/>
          <p:nvPr/>
        </p:nvCxnSpPr>
        <p:spPr>
          <a:xfrm>
            <a:off x="10195917" y="1480096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8" name="Google Shape;2268;p48"/>
          <p:cNvSpPr/>
          <p:nvPr/>
        </p:nvSpPr>
        <p:spPr>
          <a:xfrm>
            <a:off x="10892284" y="1480096"/>
            <a:ext cx="894904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9" name="Google Shape;2269;p48"/>
          <p:cNvCxnSpPr/>
          <p:nvPr/>
        </p:nvCxnSpPr>
        <p:spPr>
          <a:xfrm>
            <a:off x="10892284" y="1484858"/>
            <a:ext cx="89490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0" name="Google Shape;2270;p48"/>
          <p:cNvCxnSpPr/>
          <p:nvPr/>
        </p:nvCxnSpPr>
        <p:spPr>
          <a:xfrm>
            <a:off x="10897046" y="1480096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1" name="Google Shape;2271;p48"/>
          <p:cNvSpPr/>
          <p:nvPr/>
        </p:nvSpPr>
        <p:spPr>
          <a:xfrm>
            <a:off x="7709892" y="1692027"/>
            <a:ext cx="2080320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2" name="Google Shape;2272;p48"/>
          <p:cNvCxnSpPr/>
          <p:nvPr/>
        </p:nvCxnSpPr>
        <p:spPr>
          <a:xfrm>
            <a:off x="7709892" y="1696789"/>
            <a:ext cx="208032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3" name="Google Shape;2273;p48"/>
          <p:cNvCxnSpPr/>
          <p:nvPr/>
        </p:nvCxnSpPr>
        <p:spPr>
          <a:xfrm>
            <a:off x="7714655" y="1692027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4" name="Google Shape;2274;p48"/>
          <p:cNvSpPr/>
          <p:nvPr/>
        </p:nvSpPr>
        <p:spPr>
          <a:xfrm>
            <a:off x="9790212" y="1692027"/>
            <a:ext cx="400943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5" name="Google Shape;2275;p48"/>
          <p:cNvCxnSpPr/>
          <p:nvPr/>
        </p:nvCxnSpPr>
        <p:spPr>
          <a:xfrm>
            <a:off x="9790212" y="1696789"/>
            <a:ext cx="40094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6" name="Google Shape;2276;p48"/>
          <p:cNvCxnSpPr/>
          <p:nvPr/>
        </p:nvCxnSpPr>
        <p:spPr>
          <a:xfrm>
            <a:off x="9794974" y="1692027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7" name="Google Shape;2277;p48"/>
          <p:cNvSpPr/>
          <p:nvPr/>
        </p:nvSpPr>
        <p:spPr>
          <a:xfrm>
            <a:off x="10191155" y="1692027"/>
            <a:ext cx="701129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8" name="Google Shape;2278;p48"/>
          <p:cNvCxnSpPr/>
          <p:nvPr/>
        </p:nvCxnSpPr>
        <p:spPr>
          <a:xfrm>
            <a:off x="10191155" y="1696789"/>
            <a:ext cx="70112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9" name="Google Shape;2279;p48"/>
          <p:cNvCxnSpPr/>
          <p:nvPr/>
        </p:nvCxnSpPr>
        <p:spPr>
          <a:xfrm>
            <a:off x="10195917" y="1692027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0" name="Google Shape;2280;p48"/>
          <p:cNvSpPr/>
          <p:nvPr/>
        </p:nvSpPr>
        <p:spPr>
          <a:xfrm>
            <a:off x="10892284" y="1692027"/>
            <a:ext cx="894904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1" name="Google Shape;2281;p48"/>
          <p:cNvCxnSpPr/>
          <p:nvPr/>
        </p:nvCxnSpPr>
        <p:spPr>
          <a:xfrm>
            <a:off x="10892284" y="1696789"/>
            <a:ext cx="89490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2" name="Google Shape;2282;p48"/>
          <p:cNvCxnSpPr/>
          <p:nvPr/>
        </p:nvCxnSpPr>
        <p:spPr>
          <a:xfrm>
            <a:off x="10897046" y="1692027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3" name="Google Shape;2283;p48"/>
          <p:cNvSpPr/>
          <p:nvPr/>
        </p:nvSpPr>
        <p:spPr>
          <a:xfrm>
            <a:off x="7709892" y="1903958"/>
            <a:ext cx="2080320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4" name="Google Shape;2284;p48"/>
          <p:cNvCxnSpPr/>
          <p:nvPr/>
        </p:nvCxnSpPr>
        <p:spPr>
          <a:xfrm>
            <a:off x="7709892" y="1908721"/>
            <a:ext cx="208032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5" name="Google Shape;2285;p48"/>
          <p:cNvCxnSpPr/>
          <p:nvPr/>
        </p:nvCxnSpPr>
        <p:spPr>
          <a:xfrm>
            <a:off x="7714655" y="1903958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6" name="Google Shape;2286;p48"/>
          <p:cNvSpPr/>
          <p:nvPr/>
        </p:nvSpPr>
        <p:spPr>
          <a:xfrm>
            <a:off x="9790212" y="1903958"/>
            <a:ext cx="400943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7" name="Google Shape;2287;p48"/>
          <p:cNvCxnSpPr/>
          <p:nvPr/>
        </p:nvCxnSpPr>
        <p:spPr>
          <a:xfrm>
            <a:off x="9790212" y="1908721"/>
            <a:ext cx="40094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8" name="Google Shape;2288;p48"/>
          <p:cNvCxnSpPr/>
          <p:nvPr/>
        </p:nvCxnSpPr>
        <p:spPr>
          <a:xfrm>
            <a:off x="9794974" y="1903958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9" name="Google Shape;2289;p48"/>
          <p:cNvSpPr/>
          <p:nvPr/>
        </p:nvSpPr>
        <p:spPr>
          <a:xfrm>
            <a:off x="10191155" y="1903958"/>
            <a:ext cx="701129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0" name="Google Shape;2290;p48"/>
          <p:cNvCxnSpPr/>
          <p:nvPr/>
        </p:nvCxnSpPr>
        <p:spPr>
          <a:xfrm>
            <a:off x="10191155" y="1908721"/>
            <a:ext cx="70112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1" name="Google Shape;2291;p48"/>
          <p:cNvCxnSpPr/>
          <p:nvPr/>
        </p:nvCxnSpPr>
        <p:spPr>
          <a:xfrm>
            <a:off x="10195917" y="1903958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2" name="Google Shape;2292;p48"/>
          <p:cNvSpPr/>
          <p:nvPr/>
        </p:nvSpPr>
        <p:spPr>
          <a:xfrm>
            <a:off x="10892284" y="1903958"/>
            <a:ext cx="894904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3" name="Google Shape;2293;p48"/>
          <p:cNvCxnSpPr/>
          <p:nvPr/>
        </p:nvCxnSpPr>
        <p:spPr>
          <a:xfrm>
            <a:off x="10892284" y="1908721"/>
            <a:ext cx="89490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4" name="Google Shape;2294;p48"/>
          <p:cNvCxnSpPr/>
          <p:nvPr/>
        </p:nvCxnSpPr>
        <p:spPr>
          <a:xfrm>
            <a:off x="10897046" y="1903958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5" name="Google Shape;2295;p48"/>
          <p:cNvSpPr/>
          <p:nvPr/>
        </p:nvSpPr>
        <p:spPr>
          <a:xfrm>
            <a:off x="7709892" y="2115889"/>
            <a:ext cx="2080320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6" name="Google Shape;2296;p48"/>
          <p:cNvCxnSpPr/>
          <p:nvPr/>
        </p:nvCxnSpPr>
        <p:spPr>
          <a:xfrm>
            <a:off x="7709892" y="2120652"/>
            <a:ext cx="208032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7" name="Google Shape;2297;p48"/>
          <p:cNvCxnSpPr/>
          <p:nvPr/>
        </p:nvCxnSpPr>
        <p:spPr>
          <a:xfrm>
            <a:off x="7714655" y="2115889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8" name="Google Shape;2298;p48"/>
          <p:cNvSpPr/>
          <p:nvPr/>
        </p:nvSpPr>
        <p:spPr>
          <a:xfrm>
            <a:off x="9790212" y="2115889"/>
            <a:ext cx="400943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9" name="Google Shape;2299;p48"/>
          <p:cNvCxnSpPr/>
          <p:nvPr/>
        </p:nvCxnSpPr>
        <p:spPr>
          <a:xfrm>
            <a:off x="9790212" y="2120652"/>
            <a:ext cx="40094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0" name="Google Shape;2300;p48"/>
          <p:cNvCxnSpPr/>
          <p:nvPr/>
        </p:nvCxnSpPr>
        <p:spPr>
          <a:xfrm>
            <a:off x="9794974" y="2115889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1" name="Google Shape;2301;p48"/>
          <p:cNvSpPr/>
          <p:nvPr/>
        </p:nvSpPr>
        <p:spPr>
          <a:xfrm>
            <a:off x="10191155" y="2115889"/>
            <a:ext cx="701129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2" name="Google Shape;2302;p48"/>
          <p:cNvCxnSpPr/>
          <p:nvPr/>
        </p:nvCxnSpPr>
        <p:spPr>
          <a:xfrm>
            <a:off x="10191155" y="2120652"/>
            <a:ext cx="70112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3" name="Google Shape;2303;p48"/>
          <p:cNvCxnSpPr/>
          <p:nvPr/>
        </p:nvCxnSpPr>
        <p:spPr>
          <a:xfrm>
            <a:off x="10195917" y="2115889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4" name="Google Shape;2304;p48"/>
          <p:cNvSpPr/>
          <p:nvPr/>
        </p:nvSpPr>
        <p:spPr>
          <a:xfrm>
            <a:off x="10892284" y="2115889"/>
            <a:ext cx="894904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5" name="Google Shape;2305;p48"/>
          <p:cNvCxnSpPr/>
          <p:nvPr/>
        </p:nvCxnSpPr>
        <p:spPr>
          <a:xfrm>
            <a:off x="10892284" y="2120652"/>
            <a:ext cx="89490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6" name="Google Shape;2306;p48"/>
          <p:cNvCxnSpPr/>
          <p:nvPr/>
        </p:nvCxnSpPr>
        <p:spPr>
          <a:xfrm>
            <a:off x="10897046" y="2115889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7" name="Google Shape;2307;p48"/>
          <p:cNvSpPr/>
          <p:nvPr/>
        </p:nvSpPr>
        <p:spPr>
          <a:xfrm>
            <a:off x="7705130" y="2471886"/>
            <a:ext cx="4086820" cy="1478012"/>
          </a:xfrm>
          <a:prstGeom prst="roundRect">
            <a:avLst>
              <a:gd fmla="val 3222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8" name="Google Shape;2308;p48"/>
          <p:cNvCxnSpPr/>
          <p:nvPr/>
        </p:nvCxnSpPr>
        <p:spPr>
          <a:xfrm>
            <a:off x="7728942" y="2471886"/>
            <a:ext cx="0" cy="1478012"/>
          </a:xfrm>
          <a:prstGeom prst="straightConnector1">
            <a:avLst/>
          </a:prstGeom>
          <a:noFill/>
          <a:ln cap="flat" cmpd="sng" w="476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9" name="Google Shape;2309;p48"/>
          <p:cNvSpPr/>
          <p:nvPr/>
        </p:nvSpPr>
        <p:spPr>
          <a:xfrm>
            <a:off x="7705130" y="4067026"/>
            <a:ext cx="4086820" cy="3492401"/>
          </a:xfrm>
          <a:prstGeom prst="roundRect">
            <a:avLst>
              <a:gd fmla="val 1363" name="adj"/>
            </a:avLst>
          </a:prstGeom>
          <a:solidFill>
            <a:srgbClr val="EE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0" name="Google Shape;2310;p48"/>
          <p:cNvCxnSpPr/>
          <p:nvPr/>
        </p:nvCxnSpPr>
        <p:spPr>
          <a:xfrm>
            <a:off x="7728942" y="4067026"/>
            <a:ext cx="0" cy="3492401"/>
          </a:xfrm>
          <a:prstGeom prst="straightConnector1">
            <a:avLst/>
          </a:prstGeom>
          <a:noFill/>
          <a:ln cap="flat" cmpd="sng" w="47625">
            <a:solidFill>
              <a:srgbClr val="1F5F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1" name="Google Shape;2311;p48"/>
          <p:cNvSpPr/>
          <p:nvPr/>
        </p:nvSpPr>
        <p:spPr>
          <a:xfrm>
            <a:off x="7899202" y="4386858"/>
            <a:ext cx="1008162" cy="227261"/>
          </a:xfrm>
          <a:prstGeom prst="roundRect">
            <a:avLst>
              <a:gd fmla="val 50000" name="adj"/>
            </a:avLst>
          </a:prstGeom>
          <a:solidFill>
            <a:srgbClr val="1F5F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7985edcab8310825f72a438979f0b8d1.png" id="2312" name="Google Shape;231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603" y="1520726"/>
            <a:ext cx="6794450" cy="5095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13" name="Google Shape;2313;p48"/>
          <p:cNvSpPr txBox="1"/>
          <p:nvPr/>
        </p:nvSpPr>
        <p:spPr>
          <a:xfrm>
            <a:off x="400050" y="161925"/>
            <a:ext cx="3787229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Sobrevida global: estágio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4" name="Google Shape;2314;p48"/>
          <p:cNvSpPr txBox="1"/>
          <p:nvPr/>
        </p:nvSpPr>
        <p:spPr>
          <a:xfrm>
            <a:off x="1956495" y="6652022"/>
            <a:ext cx="3896916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17. Curva de Kaplan-Meier para sobrevida global por estágio.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5" name="Google Shape;2315;p48"/>
          <p:cNvSpPr txBox="1"/>
          <p:nvPr/>
        </p:nvSpPr>
        <p:spPr>
          <a:xfrm>
            <a:off x="7747635" y="863352"/>
            <a:ext cx="200405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Variável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6" name="Google Shape;2316;p48"/>
          <p:cNvSpPr txBox="1"/>
          <p:nvPr/>
        </p:nvSpPr>
        <p:spPr>
          <a:xfrm>
            <a:off x="9827895" y="863352"/>
            <a:ext cx="3248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7" name="Google Shape;2317;p48"/>
          <p:cNvSpPr txBox="1"/>
          <p:nvPr/>
        </p:nvSpPr>
        <p:spPr>
          <a:xfrm>
            <a:off x="10228897" y="863352"/>
            <a:ext cx="62483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8" name="Google Shape;2318;p48"/>
          <p:cNvSpPr txBox="1"/>
          <p:nvPr/>
        </p:nvSpPr>
        <p:spPr>
          <a:xfrm>
            <a:off x="10929937" y="863352"/>
            <a:ext cx="8191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 log-rank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9" name="Google Shape;2319;p48"/>
          <p:cNvSpPr txBox="1"/>
          <p:nvPr/>
        </p:nvSpPr>
        <p:spPr>
          <a:xfrm>
            <a:off x="7747635" y="1082427"/>
            <a:ext cx="200405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 (I–II vs. III–IV)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0" name="Google Shape;2320;p48"/>
          <p:cNvSpPr txBox="1"/>
          <p:nvPr/>
        </p:nvSpPr>
        <p:spPr>
          <a:xfrm>
            <a:off x="9827895" y="1082427"/>
            <a:ext cx="3248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339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1" name="Google Shape;2321;p48"/>
          <p:cNvSpPr txBox="1"/>
          <p:nvPr/>
        </p:nvSpPr>
        <p:spPr>
          <a:xfrm>
            <a:off x="10228897" y="1082427"/>
            <a:ext cx="62483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2" name="Google Shape;2322;p48"/>
          <p:cNvSpPr txBox="1"/>
          <p:nvPr/>
        </p:nvSpPr>
        <p:spPr>
          <a:xfrm>
            <a:off x="10929937" y="1082427"/>
            <a:ext cx="8191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5.18e-07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3" name="Google Shape;2323;p48"/>
          <p:cNvSpPr txBox="1"/>
          <p:nvPr/>
        </p:nvSpPr>
        <p:spPr>
          <a:xfrm>
            <a:off x="7747635" y="1294358"/>
            <a:ext cx="200405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Grau (G1–G2 vs. G3–G4)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4" name="Google Shape;2324;p48"/>
          <p:cNvSpPr txBox="1"/>
          <p:nvPr/>
        </p:nvSpPr>
        <p:spPr>
          <a:xfrm>
            <a:off x="9827895" y="1294358"/>
            <a:ext cx="3248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5" name="Google Shape;2325;p48"/>
          <p:cNvSpPr txBox="1"/>
          <p:nvPr/>
        </p:nvSpPr>
        <p:spPr>
          <a:xfrm>
            <a:off x="10228897" y="1294358"/>
            <a:ext cx="62483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6" name="Google Shape;2326;p48"/>
          <p:cNvSpPr txBox="1"/>
          <p:nvPr/>
        </p:nvSpPr>
        <p:spPr>
          <a:xfrm>
            <a:off x="10929937" y="1294358"/>
            <a:ext cx="8191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0.682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7" name="Google Shape;2327;p48"/>
          <p:cNvSpPr txBox="1"/>
          <p:nvPr/>
        </p:nvSpPr>
        <p:spPr>
          <a:xfrm>
            <a:off x="7747635" y="1506289"/>
            <a:ext cx="200405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Sexo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8" name="Google Shape;2328;p48"/>
          <p:cNvSpPr txBox="1"/>
          <p:nvPr/>
        </p:nvSpPr>
        <p:spPr>
          <a:xfrm>
            <a:off x="9827895" y="1506289"/>
            <a:ext cx="3248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363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9" name="Google Shape;2329;p48"/>
          <p:cNvSpPr txBox="1"/>
          <p:nvPr/>
        </p:nvSpPr>
        <p:spPr>
          <a:xfrm>
            <a:off x="10228897" y="1506289"/>
            <a:ext cx="62483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0" name="Google Shape;2330;p48"/>
          <p:cNvSpPr txBox="1"/>
          <p:nvPr/>
        </p:nvSpPr>
        <p:spPr>
          <a:xfrm>
            <a:off x="10929937" y="1506289"/>
            <a:ext cx="8191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0.288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1" name="Google Shape;2331;p48"/>
          <p:cNvSpPr txBox="1"/>
          <p:nvPr/>
        </p:nvSpPr>
        <p:spPr>
          <a:xfrm>
            <a:off x="7747635" y="1718221"/>
            <a:ext cx="200405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Idade (≥65 vs. &lt;65)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2" name="Google Shape;2332;p48"/>
          <p:cNvSpPr txBox="1"/>
          <p:nvPr/>
        </p:nvSpPr>
        <p:spPr>
          <a:xfrm>
            <a:off x="9827895" y="1718221"/>
            <a:ext cx="3248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363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3" name="Google Shape;2333;p48"/>
          <p:cNvSpPr txBox="1"/>
          <p:nvPr/>
        </p:nvSpPr>
        <p:spPr>
          <a:xfrm>
            <a:off x="10228897" y="1718221"/>
            <a:ext cx="62483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4" name="Google Shape;2334;p48"/>
          <p:cNvSpPr txBox="1"/>
          <p:nvPr/>
        </p:nvSpPr>
        <p:spPr>
          <a:xfrm>
            <a:off x="10929937" y="1718221"/>
            <a:ext cx="8191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0.244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5" name="Google Shape;2335;p48"/>
          <p:cNvSpPr txBox="1"/>
          <p:nvPr/>
        </p:nvSpPr>
        <p:spPr>
          <a:xfrm>
            <a:off x="7747635" y="1930152"/>
            <a:ext cx="200405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AFP (≥400 vs. &lt;400)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6" name="Google Shape;2336;p48"/>
          <p:cNvSpPr txBox="1"/>
          <p:nvPr/>
        </p:nvSpPr>
        <p:spPr>
          <a:xfrm>
            <a:off x="9827895" y="1930152"/>
            <a:ext cx="3248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274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7" name="Google Shape;2337;p48"/>
          <p:cNvSpPr txBox="1"/>
          <p:nvPr/>
        </p:nvSpPr>
        <p:spPr>
          <a:xfrm>
            <a:off x="10228897" y="1930152"/>
            <a:ext cx="62483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8" name="Google Shape;2338;p48"/>
          <p:cNvSpPr txBox="1"/>
          <p:nvPr/>
        </p:nvSpPr>
        <p:spPr>
          <a:xfrm>
            <a:off x="10929937" y="1930152"/>
            <a:ext cx="8191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0.941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9" name="Google Shape;2339;p48"/>
          <p:cNvSpPr txBox="1"/>
          <p:nvPr/>
        </p:nvSpPr>
        <p:spPr>
          <a:xfrm>
            <a:off x="7747635" y="2142083"/>
            <a:ext cx="200405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Fibrose avançada (Ishak ≥5)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0" name="Google Shape;2340;p48"/>
          <p:cNvSpPr txBox="1"/>
          <p:nvPr/>
        </p:nvSpPr>
        <p:spPr>
          <a:xfrm>
            <a:off x="9827895" y="2142083"/>
            <a:ext cx="3248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1" name="Google Shape;2341;p48"/>
          <p:cNvSpPr txBox="1"/>
          <p:nvPr/>
        </p:nvSpPr>
        <p:spPr>
          <a:xfrm>
            <a:off x="10228897" y="2142083"/>
            <a:ext cx="62483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2" name="Google Shape;2342;p48"/>
          <p:cNvSpPr txBox="1"/>
          <p:nvPr/>
        </p:nvSpPr>
        <p:spPr>
          <a:xfrm>
            <a:off x="10929937" y="2142083"/>
            <a:ext cx="8191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0.428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3" name="Google Shape;2343;p48"/>
          <p:cNvSpPr txBox="1"/>
          <p:nvPr/>
        </p:nvSpPr>
        <p:spPr>
          <a:xfrm>
            <a:off x="7924205" y="2780258"/>
            <a:ext cx="92005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Apenas 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4" name="Google Shape;2344;p48"/>
          <p:cNvSpPr txBox="1"/>
          <p:nvPr/>
        </p:nvSpPr>
        <p:spPr>
          <a:xfrm>
            <a:off x="8864798" y="2780258"/>
            <a:ext cx="77167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i="0" lang="en-US" sz="16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5" name="Google Shape;2345;p48"/>
          <p:cNvSpPr txBox="1"/>
          <p:nvPr/>
        </p:nvSpPr>
        <p:spPr>
          <a:xfrm>
            <a:off x="9657011" y="2780258"/>
            <a:ext cx="190247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separou claramente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6" name="Google Shape;2346;p48"/>
          <p:cNvSpPr txBox="1"/>
          <p:nvPr/>
        </p:nvSpPr>
        <p:spPr>
          <a:xfrm>
            <a:off x="7924205" y="3067348"/>
            <a:ext cx="219015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 curvas: log-rank p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7" name="Google Shape;2347;p48"/>
          <p:cNvSpPr txBox="1"/>
          <p:nvPr/>
        </p:nvSpPr>
        <p:spPr>
          <a:xfrm>
            <a:off x="10135046" y="3067348"/>
            <a:ext cx="115341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i="0" lang="en-US" sz="16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5,18 × 10⁻⁷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8" name="Google Shape;2348;p48"/>
          <p:cNvSpPr txBox="1"/>
          <p:nvPr/>
        </p:nvSpPr>
        <p:spPr>
          <a:xfrm>
            <a:off x="11309003" y="3067348"/>
            <a:ext cx="22413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9" name="Google Shape;2349;p48"/>
          <p:cNvSpPr txBox="1"/>
          <p:nvPr/>
        </p:nvSpPr>
        <p:spPr>
          <a:xfrm>
            <a:off x="7924205" y="3354437"/>
            <a:ext cx="194890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339; 114 eventos).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0" name="Google Shape;2350;p48"/>
          <p:cNvSpPr txBox="1"/>
          <p:nvPr/>
        </p:nvSpPr>
        <p:spPr>
          <a:xfrm>
            <a:off x="7979122" y="4393257"/>
            <a:ext cx="88642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rPr b="1" i="0" lang="en-US" sz="126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COMO 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1" name="Google Shape;2351;p48"/>
          <p:cNvSpPr txBox="1"/>
          <p:nvPr/>
        </p:nvSpPr>
        <p:spPr>
          <a:xfrm>
            <a:off x="9016901" y="4355157"/>
            <a:ext cx="128007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Kaplan-Meier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2" name="Google Shape;2352;p48"/>
          <p:cNvSpPr txBox="1"/>
          <p:nvPr/>
        </p:nvSpPr>
        <p:spPr>
          <a:xfrm>
            <a:off x="7899202" y="4616797"/>
            <a:ext cx="9703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3" name="Google Shape;2353;p48"/>
          <p:cNvSpPr txBox="1"/>
          <p:nvPr/>
        </p:nvSpPr>
        <p:spPr>
          <a:xfrm>
            <a:off x="7958138" y="4645372"/>
            <a:ext cx="19831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survival::survfit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4" name="Google Shape;2354;p48"/>
          <p:cNvSpPr txBox="1"/>
          <p:nvPr/>
        </p:nvSpPr>
        <p:spPr>
          <a:xfrm>
            <a:off x="9903172" y="4616797"/>
            <a:ext cx="86930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estima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5" name="Google Shape;2355;p48"/>
          <p:cNvSpPr txBox="1"/>
          <p:nvPr/>
        </p:nvSpPr>
        <p:spPr>
          <a:xfrm>
            <a:off x="7899202" y="4897487"/>
            <a:ext cx="3504009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probabilidade de sobrevida ao longo 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6" name="Google Shape;2356;p48"/>
          <p:cNvSpPr txBox="1"/>
          <p:nvPr/>
        </p:nvSpPr>
        <p:spPr>
          <a:xfrm>
            <a:off x="7899202" y="5159127"/>
            <a:ext cx="3569047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tempo, incorporando censura (quem não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7" name="Google Shape;2357;p48"/>
          <p:cNvSpPr txBox="1"/>
          <p:nvPr/>
        </p:nvSpPr>
        <p:spPr>
          <a:xfrm>
            <a:off x="7899202" y="5420767"/>
            <a:ext cx="1493639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foi até o evento).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8" name="Google Shape;2358;p48"/>
          <p:cNvSpPr txBox="1"/>
          <p:nvPr/>
        </p:nvSpPr>
        <p:spPr>
          <a:xfrm>
            <a:off x="9408170" y="5420767"/>
            <a:ext cx="82287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log-rank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9" name="Google Shape;2359;p48"/>
          <p:cNvSpPr txBox="1"/>
          <p:nvPr/>
        </p:nvSpPr>
        <p:spPr>
          <a:xfrm>
            <a:off x="7899202" y="5682407"/>
            <a:ext cx="9703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0" name="Google Shape;2360;p48"/>
          <p:cNvSpPr txBox="1"/>
          <p:nvPr/>
        </p:nvSpPr>
        <p:spPr>
          <a:xfrm>
            <a:off x="7958138" y="5710982"/>
            <a:ext cx="20975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survival::survdiff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1" name="Google Shape;2361;p48"/>
          <p:cNvSpPr txBox="1"/>
          <p:nvPr/>
        </p:nvSpPr>
        <p:spPr>
          <a:xfrm>
            <a:off x="10017621" y="5682407"/>
            <a:ext cx="163919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testa se as curvas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2" name="Google Shape;2362;p48"/>
          <p:cNvSpPr txBox="1"/>
          <p:nvPr/>
        </p:nvSpPr>
        <p:spPr>
          <a:xfrm>
            <a:off x="7899202" y="5963096"/>
            <a:ext cx="3113484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são iguais. A curva não mostra risco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3" name="Google Shape;2363;p48"/>
          <p:cNvSpPr txBox="1"/>
          <p:nvPr/>
        </p:nvSpPr>
        <p:spPr>
          <a:xfrm>
            <a:off x="7899202" y="6224736"/>
            <a:ext cx="3686324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individual nem ajuste por covariáveis; para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4" name="Google Shape;2364;p48"/>
          <p:cNvSpPr txBox="1"/>
          <p:nvPr/>
        </p:nvSpPr>
        <p:spPr>
          <a:xfrm>
            <a:off x="7899202" y="6486376"/>
            <a:ext cx="210145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isso, use Cox. Na tabela,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5" name="Google Shape;2365;p48"/>
          <p:cNvSpPr txBox="1"/>
          <p:nvPr/>
        </p:nvSpPr>
        <p:spPr>
          <a:xfrm>
            <a:off x="10015984" y="6486376"/>
            <a:ext cx="15627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6" name="Google Shape;2366;p48"/>
          <p:cNvSpPr txBox="1"/>
          <p:nvPr/>
        </p:nvSpPr>
        <p:spPr>
          <a:xfrm>
            <a:off x="10187583" y="6486376"/>
            <a:ext cx="1466999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pacientes 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7" name="Google Shape;2367;p48"/>
          <p:cNvSpPr txBox="1"/>
          <p:nvPr/>
        </p:nvSpPr>
        <p:spPr>
          <a:xfrm>
            <a:off x="7899202" y="6748016"/>
            <a:ext cx="1620738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dado disponível;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8" name="Google Shape;2368;p48"/>
          <p:cNvSpPr txBox="1"/>
          <p:nvPr/>
        </p:nvSpPr>
        <p:spPr>
          <a:xfrm>
            <a:off x="9535269" y="6748016"/>
            <a:ext cx="752029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9" name="Google Shape;2369;p48"/>
          <p:cNvSpPr txBox="1"/>
          <p:nvPr/>
        </p:nvSpPr>
        <p:spPr>
          <a:xfrm>
            <a:off x="10302627" y="6748016"/>
            <a:ext cx="765274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óbitos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0" name="Google Shape;2370;p48"/>
          <p:cNvSpPr txBox="1"/>
          <p:nvPr/>
        </p:nvSpPr>
        <p:spPr>
          <a:xfrm>
            <a:off x="7899202" y="7009656"/>
            <a:ext cx="106769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observados.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4" name="Shape 2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" name="Google Shape;2375;p49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6" name="Google Shape;2376;p49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7" name="Google Shape;2377;p49"/>
          <p:cNvSpPr/>
          <p:nvPr/>
        </p:nvSpPr>
        <p:spPr>
          <a:xfrm>
            <a:off x="400050" y="4938564"/>
            <a:ext cx="11391900" cy="903833"/>
          </a:xfrm>
          <a:prstGeom prst="roundRect">
            <a:avLst>
              <a:gd fmla="val 5269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8" name="Google Shape;2378;p49"/>
          <p:cNvCxnSpPr/>
          <p:nvPr/>
        </p:nvCxnSpPr>
        <p:spPr>
          <a:xfrm>
            <a:off x="423862" y="4938564"/>
            <a:ext cx="0" cy="903833"/>
          </a:xfrm>
          <a:prstGeom prst="straightConnector1">
            <a:avLst/>
          </a:prstGeom>
          <a:noFill/>
          <a:ln cap="flat" cmpd="sng" w="47625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72a6d9e15038d85fe466b261b1b475ab.png" id="2379" name="Google Shape;237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632" y="783580"/>
            <a:ext cx="50799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e599ca038e543a01a5fac2d00f77bb6.png" id="2380" name="Google Shape;2380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7269" y="783580"/>
            <a:ext cx="50799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1" name="Google Shape;2381;p49"/>
          <p:cNvSpPr txBox="1"/>
          <p:nvPr/>
        </p:nvSpPr>
        <p:spPr>
          <a:xfrm>
            <a:off x="400050" y="161925"/>
            <a:ext cx="4409777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Sobrevida global: grau e sexo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2" name="Google Shape;2382;p49"/>
          <p:cNvSpPr txBox="1"/>
          <p:nvPr/>
        </p:nvSpPr>
        <p:spPr>
          <a:xfrm>
            <a:off x="1985070" y="4629001"/>
            <a:ext cx="2397323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18. Sobrevida por grau (p = 0,682).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3" name="Google Shape;2383;p49"/>
          <p:cNvSpPr txBox="1"/>
          <p:nvPr/>
        </p:nvSpPr>
        <p:spPr>
          <a:xfrm>
            <a:off x="7848898" y="4629001"/>
            <a:ext cx="239494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19. Sobrevida por sexo (p = 0,288).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4" name="Google Shape;2384;p49"/>
          <p:cNvSpPr txBox="1"/>
          <p:nvPr/>
        </p:nvSpPr>
        <p:spPr>
          <a:xfrm>
            <a:off x="619125" y="5246936"/>
            <a:ext cx="711353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Nem grau nem sexo separaram as curvas de sobrevida global nesta coorte.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8" name="Shape 2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9" name="Google Shape;2389;p53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0" name="Google Shape;2390;p53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1" name="Google Shape;2391;p53"/>
          <p:cNvSpPr/>
          <p:nvPr/>
        </p:nvSpPr>
        <p:spPr>
          <a:xfrm>
            <a:off x="7705130" y="820192"/>
            <a:ext cx="4086820" cy="2084784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2" name="Google Shape;2392;p53"/>
          <p:cNvSpPr/>
          <p:nvPr/>
        </p:nvSpPr>
        <p:spPr>
          <a:xfrm>
            <a:off x="7709892" y="824954"/>
            <a:ext cx="596950" cy="200025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3" name="Google Shape;2393;p53"/>
          <p:cNvCxnSpPr/>
          <p:nvPr/>
        </p:nvCxnSpPr>
        <p:spPr>
          <a:xfrm>
            <a:off x="7709892" y="829717"/>
            <a:ext cx="596950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4" name="Google Shape;2394;p53"/>
          <p:cNvCxnSpPr/>
          <p:nvPr/>
        </p:nvCxnSpPr>
        <p:spPr>
          <a:xfrm>
            <a:off x="7714655" y="824954"/>
            <a:ext cx="0" cy="200025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5" name="Google Shape;2395;p53"/>
          <p:cNvSpPr/>
          <p:nvPr/>
        </p:nvSpPr>
        <p:spPr>
          <a:xfrm>
            <a:off x="8306842" y="824954"/>
            <a:ext cx="1790700" cy="200025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6" name="Google Shape;2396;p53"/>
          <p:cNvCxnSpPr/>
          <p:nvPr/>
        </p:nvCxnSpPr>
        <p:spPr>
          <a:xfrm>
            <a:off x="8306842" y="829717"/>
            <a:ext cx="1790700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7" name="Google Shape;2397;p53"/>
          <p:cNvCxnSpPr/>
          <p:nvPr/>
        </p:nvCxnSpPr>
        <p:spPr>
          <a:xfrm>
            <a:off x="8311604" y="824954"/>
            <a:ext cx="0" cy="200025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8" name="Google Shape;2398;p53"/>
          <p:cNvSpPr/>
          <p:nvPr/>
        </p:nvSpPr>
        <p:spPr>
          <a:xfrm>
            <a:off x="10097542" y="824954"/>
            <a:ext cx="1049238" cy="200025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9" name="Google Shape;2399;p53"/>
          <p:cNvCxnSpPr/>
          <p:nvPr/>
        </p:nvCxnSpPr>
        <p:spPr>
          <a:xfrm>
            <a:off x="10097542" y="829717"/>
            <a:ext cx="1049238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0" name="Google Shape;2400;p53"/>
          <p:cNvCxnSpPr/>
          <p:nvPr/>
        </p:nvCxnSpPr>
        <p:spPr>
          <a:xfrm>
            <a:off x="10102304" y="824954"/>
            <a:ext cx="0" cy="200025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1" name="Google Shape;2401;p53"/>
          <p:cNvSpPr/>
          <p:nvPr/>
        </p:nvSpPr>
        <p:spPr>
          <a:xfrm>
            <a:off x="11146780" y="824954"/>
            <a:ext cx="640407" cy="200025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2" name="Google Shape;2402;p53"/>
          <p:cNvCxnSpPr/>
          <p:nvPr/>
        </p:nvCxnSpPr>
        <p:spPr>
          <a:xfrm>
            <a:off x="11146780" y="829717"/>
            <a:ext cx="640408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3" name="Google Shape;2403;p53"/>
          <p:cNvCxnSpPr/>
          <p:nvPr/>
        </p:nvCxnSpPr>
        <p:spPr>
          <a:xfrm>
            <a:off x="11151543" y="824954"/>
            <a:ext cx="0" cy="200025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4" name="Google Shape;2404;p53"/>
          <p:cNvSpPr/>
          <p:nvPr/>
        </p:nvSpPr>
        <p:spPr>
          <a:xfrm>
            <a:off x="7709892" y="1024979"/>
            <a:ext cx="596950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5" name="Google Shape;2405;p53"/>
          <p:cNvCxnSpPr/>
          <p:nvPr/>
        </p:nvCxnSpPr>
        <p:spPr>
          <a:xfrm>
            <a:off x="7709892" y="1029742"/>
            <a:ext cx="59695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6" name="Google Shape;2406;p53"/>
          <p:cNvCxnSpPr/>
          <p:nvPr/>
        </p:nvCxnSpPr>
        <p:spPr>
          <a:xfrm>
            <a:off x="7714655" y="1024979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7" name="Google Shape;2407;p53"/>
          <p:cNvSpPr/>
          <p:nvPr/>
        </p:nvSpPr>
        <p:spPr>
          <a:xfrm>
            <a:off x="8306842" y="1024979"/>
            <a:ext cx="1790700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8" name="Google Shape;2408;p53"/>
          <p:cNvCxnSpPr/>
          <p:nvPr/>
        </p:nvCxnSpPr>
        <p:spPr>
          <a:xfrm>
            <a:off x="8306842" y="1029742"/>
            <a:ext cx="17907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9" name="Google Shape;2409;p53"/>
          <p:cNvCxnSpPr/>
          <p:nvPr/>
        </p:nvCxnSpPr>
        <p:spPr>
          <a:xfrm>
            <a:off x="8311604" y="1024979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0" name="Google Shape;2410;p53"/>
          <p:cNvSpPr/>
          <p:nvPr/>
        </p:nvSpPr>
        <p:spPr>
          <a:xfrm>
            <a:off x="10097542" y="1024979"/>
            <a:ext cx="1049238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1" name="Google Shape;2411;p53"/>
          <p:cNvCxnSpPr/>
          <p:nvPr/>
        </p:nvCxnSpPr>
        <p:spPr>
          <a:xfrm>
            <a:off x="10097542" y="1029742"/>
            <a:ext cx="104923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2" name="Google Shape;2412;p53"/>
          <p:cNvCxnSpPr/>
          <p:nvPr/>
        </p:nvCxnSpPr>
        <p:spPr>
          <a:xfrm>
            <a:off x="10102304" y="1024979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3" name="Google Shape;2413;p53"/>
          <p:cNvSpPr/>
          <p:nvPr/>
        </p:nvSpPr>
        <p:spPr>
          <a:xfrm>
            <a:off x="11146780" y="1024979"/>
            <a:ext cx="640407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4" name="Google Shape;2414;p53"/>
          <p:cNvCxnSpPr/>
          <p:nvPr/>
        </p:nvCxnSpPr>
        <p:spPr>
          <a:xfrm>
            <a:off x="11146780" y="1029742"/>
            <a:ext cx="64040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5" name="Google Shape;2415;p53"/>
          <p:cNvCxnSpPr/>
          <p:nvPr/>
        </p:nvCxnSpPr>
        <p:spPr>
          <a:xfrm>
            <a:off x="11151543" y="1024979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6" name="Google Shape;2416;p53"/>
          <p:cNvSpPr/>
          <p:nvPr/>
        </p:nvSpPr>
        <p:spPr>
          <a:xfrm>
            <a:off x="7709892" y="1212503"/>
            <a:ext cx="596950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7" name="Google Shape;2417;p53"/>
          <p:cNvCxnSpPr/>
          <p:nvPr/>
        </p:nvCxnSpPr>
        <p:spPr>
          <a:xfrm>
            <a:off x="7709892" y="1217265"/>
            <a:ext cx="59695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8" name="Google Shape;2418;p53"/>
          <p:cNvCxnSpPr/>
          <p:nvPr/>
        </p:nvCxnSpPr>
        <p:spPr>
          <a:xfrm>
            <a:off x="7714655" y="1212503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9" name="Google Shape;2419;p53"/>
          <p:cNvSpPr/>
          <p:nvPr/>
        </p:nvSpPr>
        <p:spPr>
          <a:xfrm>
            <a:off x="8306842" y="1212503"/>
            <a:ext cx="1790700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0" name="Google Shape;2420;p53"/>
          <p:cNvCxnSpPr/>
          <p:nvPr/>
        </p:nvCxnSpPr>
        <p:spPr>
          <a:xfrm>
            <a:off x="8306842" y="1217265"/>
            <a:ext cx="17907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1" name="Google Shape;2421;p53"/>
          <p:cNvCxnSpPr/>
          <p:nvPr/>
        </p:nvCxnSpPr>
        <p:spPr>
          <a:xfrm>
            <a:off x="8311604" y="1212503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2" name="Google Shape;2422;p53"/>
          <p:cNvSpPr/>
          <p:nvPr/>
        </p:nvSpPr>
        <p:spPr>
          <a:xfrm>
            <a:off x="10097542" y="1212503"/>
            <a:ext cx="1049238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3" name="Google Shape;2423;p53"/>
          <p:cNvCxnSpPr/>
          <p:nvPr/>
        </p:nvCxnSpPr>
        <p:spPr>
          <a:xfrm>
            <a:off x="10097542" y="1217265"/>
            <a:ext cx="104923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4" name="Google Shape;2424;p53"/>
          <p:cNvCxnSpPr/>
          <p:nvPr/>
        </p:nvCxnSpPr>
        <p:spPr>
          <a:xfrm>
            <a:off x="10102304" y="1212503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5" name="Google Shape;2425;p53"/>
          <p:cNvSpPr/>
          <p:nvPr/>
        </p:nvSpPr>
        <p:spPr>
          <a:xfrm>
            <a:off x="11146780" y="1212503"/>
            <a:ext cx="640407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6" name="Google Shape;2426;p53"/>
          <p:cNvCxnSpPr/>
          <p:nvPr/>
        </p:nvCxnSpPr>
        <p:spPr>
          <a:xfrm>
            <a:off x="11146780" y="1217265"/>
            <a:ext cx="64040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7" name="Google Shape;2427;p53"/>
          <p:cNvCxnSpPr/>
          <p:nvPr/>
        </p:nvCxnSpPr>
        <p:spPr>
          <a:xfrm>
            <a:off x="11151543" y="1212503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8" name="Google Shape;2428;p53"/>
          <p:cNvSpPr/>
          <p:nvPr/>
        </p:nvSpPr>
        <p:spPr>
          <a:xfrm>
            <a:off x="7709892" y="1400026"/>
            <a:ext cx="596950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9" name="Google Shape;2429;p53"/>
          <p:cNvCxnSpPr/>
          <p:nvPr/>
        </p:nvCxnSpPr>
        <p:spPr>
          <a:xfrm>
            <a:off x="7709892" y="1404789"/>
            <a:ext cx="59695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30" name="Google Shape;2430;p53"/>
          <p:cNvCxnSpPr/>
          <p:nvPr/>
        </p:nvCxnSpPr>
        <p:spPr>
          <a:xfrm>
            <a:off x="7714655" y="1400026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1" name="Google Shape;2431;p53"/>
          <p:cNvSpPr/>
          <p:nvPr/>
        </p:nvSpPr>
        <p:spPr>
          <a:xfrm>
            <a:off x="8306842" y="1400026"/>
            <a:ext cx="1790700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2" name="Google Shape;2432;p53"/>
          <p:cNvCxnSpPr/>
          <p:nvPr/>
        </p:nvCxnSpPr>
        <p:spPr>
          <a:xfrm>
            <a:off x="8306842" y="1404789"/>
            <a:ext cx="17907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33" name="Google Shape;2433;p53"/>
          <p:cNvCxnSpPr/>
          <p:nvPr/>
        </p:nvCxnSpPr>
        <p:spPr>
          <a:xfrm>
            <a:off x="8311604" y="1400026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4" name="Google Shape;2434;p53"/>
          <p:cNvSpPr/>
          <p:nvPr/>
        </p:nvSpPr>
        <p:spPr>
          <a:xfrm>
            <a:off x="10097542" y="1400026"/>
            <a:ext cx="1049238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5" name="Google Shape;2435;p53"/>
          <p:cNvCxnSpPr/>
          <p:nvPr/>
        </p:nvCxnSpPr>
        <p:spPr>
          <a:xfrm>
            <a:off x="10097542" y="1404789"/>
            <a:ext cx="104923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36" name="Google Shape;2436;p53"/>
          <p:cNvCxnSpPr/>
          <p:nvPr/>
        </p:nvCxnSpPr>
        <p:spPr>
          <a:xfrm>
            <a:off x="10102304" y="1400026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7" name="Google Shape;2437;p53"/>
          <p:cNvSpPr/>
          <p:nvPr/>
        </p:nvSpPr>
        <p:spPr>
          <a:xfrm>
            <a:off x="11146780" y="1400026"/>
            <a:ext cx="640407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8" name="Google Shape;2438;p53"/>
          <p:cNvCxnSpPr/>
          <p:nvPr/>
        </p:nvCxnSpPr>
        <p:spPr>
          <a:xfrm>
            <a:off x="11146780" y="1404789"/>
            <a:ext cx="64040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39" name="Google Shape;2439;p53"/>
          <p:cNvCxnSpPr/>
          <p:nvPr/>
        </p:nvCxnSpPr>
        <p:spPr>
          <a:xfrm>
            <a:off x="11151543" y="1400026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0" name="Google Shape;2440;p53"/>
          <p:cNvSpPr/>
          <p:nvPr/>
        </p:nvSpPr>
        <p:spPr>
          <a:xfrm>
            <a:off x="7709892" y="1587550"/>
            <a:ext cx="596950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1" name="Google Shape;2441;p53"/>
          <p:cNvCxnSpPr/>
          <p:nvPr/>
        </p:nvCxnSpPr>
        <p:spPr>
          <a:xfrm>
            <a:off x="7709892" y="1592312"/>
            <a:ext cx="59695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42" name="Google Shape;2442;p53"/>
          <p:cNvCxnSpPr/>
          <p:nvPr/>
        </p:nvCxnSpPr>
        <p:spPr>
          <a:xfrm>
            <a:off x="7714655" y="1587550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3" name="Google Shape;2443;p53"/>
          <p:cNvSpPr/>
          <p:nvPr/>
        </p:nvSpPr>
        <p:spPr>
          <a:xfrm>
            <a:off x="8306842" y="1587550"/>
            <a:ext cx="1790700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4" name="Google Shape;2444;p53"/>
          <p:cNvCxnSpPr/>
          <p:nvPr/>
        </p:nvCxnSpPr>
        <p:spPr>
          <a:xfrm>
            <a:off x="8306842" y="1592312"/>
            <a:ext cx="17907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45" name="Google Shape;2445;p53"/>
          <p:cNvCxnSpPr/>
          <p:nvPr/>
        </p:nvCxnSpPr>
        <p:spPr>
          <a:xfrm>
            <a:off x="8311604" y="1587550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6" name="Google Shape;2446;p53"/>
          <p:cNvSpPr/>
          <p:nvPr/>
        </p:nvSpPr>
        <p:spPr>
          <a:xfrm>
            <a:off x="10097542" y="1587550"/>
            <a:ext cx="1049238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7" name="Google Shape;2447;p53"/>
          <p:cNvCxnSpPr/>
          <p:nvPr/>
        </p:nvCxnSpPr>
        <p:spPr>
          <a:xfrm>
            <a:off x="10097542" y="1592312"/>
            <a:ext cx="104923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48" name="Google Shape;2448;p53"/>
          <p:cNvCxnSpPr/>
          <p:nvPr/>
        </p:nvCxnSpPr>
        <p:spPr>
          <a:xfrm>
            <a:off x="10102304" y="1587550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9" name="Google Shape;2449;p53"/>
          <p:cNvSpPr/>
          <p:nvPr/>
        </p:nvSpPr>
        <p:spPr>
          <a:xfrm>
            <a:off x="11146780" y="1587550"/>
            <a:ext cx="640407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0" name="Google Shape;2450;p53"/>
          <p:cNvCxnSpPr/>
          <p:nvPr/>
        </p:nvCxnSpPr>
        <p:spPr>
          <a:xfrm>
            <a:off x="11146780" y="1592312"/>
            <a:ext cx="64040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51" name="Google Shape;2451;p53"/>
          <p:cNvCxnSpPr/>
          <p:nvPr/>
        </p:nvCxnSpPr>
        <p:spPr>
          <a:xfrm>
            <a:off x="11151543" y="1587550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2" name="Google Shape;2452;p53"/>
          <p:cNvSpPr/>
          <p:nvPr/>
        </p:nvSpPr>
        <p:spPr>
          <a:xfrm>
            <a:off x="7709892" y="1775073"/>
            <a:ext cx="596950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3" name="Google Shape;2453;p53"/>
          <p:cNvCxnSpPr/>
          <p:nvPr/>
        </p:nvCxnSpPr>
        <p:spPr>
          <a:xfrm>
            <a:off x="7709892" y="1779836"/>
            <a:ext cx="59695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54" name="Google Shape;2454;p53"/>
          <p:cNvCxnSpPr/>
          <p:nvPr/>
        </p:nvCxnSpPr>
        <p:spPr>
          <a:xfrm>
            <a:off x="7714655" y="1775073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5" name="Google Shape;2455;p53"/>
          <p:cNvSpPr/>
          <p:nvPr/>
        </p:nvSpPr>
        <p:spPr>
          <a:xfrm>
            <a:off x="8306842" y="1775073"/>
            <a:ext cx="1790700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6" name="Google Shape;2456;p53"/>
          <p:cNvCxnSpPr/>
          <p:nvPr/>
        </p:nvCxnSpPr>
        <p:spPr>
          <a:xfrm>
            <a:off x="8306842" y="1779836"/>
            <a:ext cx="17907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57" name="Google Shape;2457;p53"/>
          <p:cNvCxnSpPr/>
          <p:nvPr/>
        </p:nvCxnSpPr>
        <p:spPr>
          <a:xfrm>
            <a:off x="8311604" y="1775073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8" name="Google Shape;2458;p53"/>
          <p:cNvSpPr/>
          <p:nvPr/>
        </p:nvSpPr>
        <p:spPr>
          <a:xfrm>
            <a:off x="10097542" y="1775073"/>
            <a:ext cx="1049238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9" name="Google Shape;2459;p53"/>
          <p:cNvCxnSpPr/>
          <p:nvPr/>
        </p:nvCxnSpPr>
        <p:spPr>
          <a:xfrm>
            <a:off x="10097542" y="1779836"/>
            <a:ext cx="104923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0" name="Google Shape;2460;p53"/>
          <p:cNvCxnSpPr/>
          <p:nvPr/>
        </p:nvCxnSpPr>
        <p:spPr>
          <a:xfrm>
            <a:off x="10102304" y="1775073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1" name="Google Shape;2461;p53"/>
          <p:cNvSpPr/>
          <p:nvPr/>
        </p:nvSpPr>
        <p:spPr>
          <a:xfrm>
            <a:off x="11146780" y="1775073"/>
            <a:ext cx="640407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2" name="Google Shape;2462;p53"/>
          <p:cNvCxnSpPr/>
          <p:nvPr/>
        </p:nvCxnSpPr>
        <p:spPr>
          <a:xfrm>
            <a:off x="11146780" y="1779836"/>
            <a:ext cx="64040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3" name="Google Shape;2463;p53"/>
          <p:cNvCxnSpPr/>
          <p:nvPr/>
        </p:nvCxnSpPr>
        <p:spPr>
          <a:xfrm>
            <a:off x="11151543" y="1775073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4" name="Google Shape;2464;p53"/>
          <p:cNvSpPr/>
          <p:nvPr/>
        </p:nvSpPr>
        <p:spPr>
          <a:xfrm>
            <a:off x="7709892" y="1962596"/>
            <a:ext cx="596950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5" name="Google Shape;2465;p53"/>
          <p:cNvCxnSpPr/>
          <p:nvPr/>
        </p:nvCxnSpPr>
        <p:spPr>
          <a:xfrm>
            <a:off x="7709892" y="1967359"/>
            <a:ext cx="59695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6" name="Google Shape;2466;p53"/>
          <p:cNvCxnSpPr/>
          <p:nvPr/>
        </p:nvCxnSpPr>
        <p:spPr>
          <a:xfrm>
            <a:off x="7714655" y="1962596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7" name="Google Shape;2467;p53"/>
          <p:cNvSpPr/>
          <p:nvPr/>
        </p:nvSpPr>
        <p:spPr>
          <a:xfrm>
            <a:off x="8306842" y="1962596"/>
            <a:ext cx="1790700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8" name="Google Shape;2468;p53"/>
          <p:cNvCxnSpPr/>
          <p:nvPr/>
        </p:nvCxnSpPr>
        <p:spPr>
          <a:xfrm>
            <a:off x="8306842" y="1967359"/>
            <a:ext cx="17907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9" name="Google Shape;2469;p53"/>
          <p:cNvCxnSpPr/>
          <p:nvPr/>
        </p:nvCxnSpPr>
        <p:spPr>
          <a:xfrm>
            <a:off x="8311604" y="1962596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0" name="Google Shape;2470;p53"/>
          <p:cNvSpPr/>
          <p:nvPr/>
        </p:nvSpPr>
        <p:spPr>
          <a:xfrm>
            <a:off x="10097542" y="1962596"/>
            <a:ext cx="1049238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1" name="Google Shape;2471;p53"/>
          <p:cNvCxnSpPr/>
          <p:nvPr/>
        </p:nvCxnSpPr>
        <p:spPr>
          <a:xfrm>
            <a:off x="10097542" y="1967359"/>
            <a:ext cx="104923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2" name="Google Shape;2472;p53"/>
          <p:cNvCxnSpPr/>
          <p:nvPr/>
        </p:nvCxnSpPr>
        <p:spPr>
          <a:xfrm>
            <a:off x="10102304" y="1962596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3" name="Google Shape;2473;p53"/>
          <p:cNvSpPr/>
          <p:nvPr/>
        </p:nvSpPr>
        <p:spPr>
          <a:xfrm>
            <a:off x="11146780" y="1962596"/>
            <a:ext cx="640407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4" name="Google Shape;2474;p53"/>
          <p:cNvCxnSpPr/>
          <p:nvPr/>
        </p:nvCxnSpPr>
        <p:spPr>
          <a:xfrm>
            <a:off x="11146780" y="1967359"/>
            <a:ext cx="64040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5" name="Google Shape;2475;p53"/>
          <p:cNvCxnSpPr/>
          <p:nvPr/>
        </p:nvCxnSpPr>
        <p:spPr>
          <a:xfrm>
            <a:off x="11151543" y="1962596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6" name="Google Shape;2476;p53"/>
          <p:cNvSpPr/>
          <p:nvPr/>
        </p:nvSpPr>
        <p:spPr>
          <a:xfrm>
            <a:off x="7709892" y="2150120"/>
            <a:ext cx="596950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7" name="Google Shape;2477;p53"/>
          <p:cNvCxnSpPr/>
          <p:nvPr/>
        </p:nvCxnSpPr>
        <p:spPr>
          <a:xfrm>
            <a:off x="7709892" y="2154882"/>
            <a:ext cx="59695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8" name="Google Shape;2478;p53"/>
          <p:cNvCxnSpPr/>
          <p:nvPr/>
        </p:nvCxnSpPr>
        <p:spPr>
          <a:xfrm>
            <a:off x="7714655" y="2150120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9" name="Google Shape;2479;p53"/>
          <p:cNvSpPr/>
          <p:nvPr/>
        </p:nvSpPr>
        <p:spPr>
          <a:xfrm>
            <a:off x="8306842" y="2150120"/>
            <a:ext cx="1790700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0" name="Google Shape;2480;p53"/>
          <p:cNvCxnSpPr/>
          <p:nvPr/>
        </p:nvCxnSpPr>
        <p:spPr>
          <a:xfrm>
            <a:off x="8306842" y="2154882"/>
            <a:ext cx="17907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1" name="Google Shape;2481;p53"/>
          <p:cNvCxnSpPr/>
          <p:nvPr/>
        </p:nvCxnSpPr>
        <p:spPr>
          <a:xfrm>
            <a:off x="8311604" y="2150120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2" name="Google Shape;2482;p53"/>
          <p:cNvSpPr/>
          <p:nvPr/>
        </p:nvSpPr>
        <p:spPr>
          <a:xfrm>
            <a:off x="10097542" y="2150120"/>
            <a:ext cx="1049238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3" name="Google Shape;2483;p53"/>
          <p:cNvCxnSpPr/>
          <p:nvPr/>
        </p:nvCxnSpPr>
        <p:spPr>
          <a:xfrm>
            <a:off x="10097542" y="2154882"/>
            <a:ext cx="104923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4" name="Google Shape;2484;p53"/>
          <p:cNvCxnSpPr/>
          <p:nvPr/>
        </p:nvCxnSpPr>
        <p:spPr>
          <a:xfrm>
            <a:off x="10102304" y="2150120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5" name="Google Shape;2485;p53"/>
          <p:cNvSpPr/>
          <p:nvPr/>
        </p:nvSpPr>
        <p:spPr>
          <a:xfrm>
            <a:off x="11146780" y="2150120"/>
            <a:ext cx="640407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6" name="Google Shape;2486;p53"/>
          <p:cNvCxnSpPr/>
          <p:nvPr/>
        </p:nvCxnSpPr>
        <p:spPr>
          <a:xfrm>
            <a:off x="11146780" y="2154882"/>
            <a:ext cx="64040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7" name="Google Shape;2487;p53"/>
          <p:cNvCxnSpPr/>
          <p:nvPr/>
        </p:nvCxnSpPr>
        <p:spPr>
          <a:xfrm>
            <a:off x="11151543" y="2150120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8" name="Google Shape;2488;p53"/>
          <p:cNvSpPr/>
          <p:nvPr/>
        </p:nvSpPr>
        <p:spPr>
          <a:xfrm>
            <a:off x="7709892" y="2337643"/>
            <a:ext cx="596950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9" name="Google Shape;2489;p53"/>
          <p:cNvCxnSpPr/>
          <p:nvPr/>
        </p:nvCxnSpPr>
        <p:spPr>
          <a:xfrm>
            <a:off x="7709892" y="2342406"/>
            <a:ext cx="59695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90" name="Google Shape;2490;p53"/>
          <p:cNvCxnSpPr/>
          <p:nvPr/>
        </p:nvCxnSpPr>
        <p:spPr>
          <a:xfrm>
            <a:off x="7714655" y="2337643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1" name="Google Shape;2491;p53"/>
          <p:cNvSpPr/>
          <p:nvPr/>
        </p:nvSpPr>
        <p:spPr>
          <a:xfrm>
            <a:off x="8306842" y="2337643"/>
            <a:ext cx="1790700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92" name="Google Shape;2492;p53"/>
          <p:cNvCxnSpPr/>
          <p:nvPr/>
        </p:nvCxnSpPr>
        <p:spPr>
          <a:xfrm>
            <a:off x="8306842" y="2342406"/>
            <a:ext cx="17907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93" name="Google Shape;2493;p53"/>
          <p:cNvCxnSpPr/>
          <p:nvPr/>
        </p:nvCxnSpPr>
        <p:spPr>
          <a:xfrm>
            <a:off x="8311604" y="2337643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4" name="Google Shape;2494;p53"/>
          <p:cNvSpPr/>
          <p:nvPr/>
        </p:nvSpPr>
        <p:spPr>
          <a:xfrm>
            <a:off x="10097542" y="2337643"/>
            <a:ext cx="1049238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95" name="Google Shape;2495;p53"/>
          <p:cNvCxnSpPr/>
          <p:nvPr/>
        </p:nvCxnSpPr>
        <p:spPr>
          <a:xfrm>
            <a:off x="10097542" y="2342406"/>
            <a:ext cx="104923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96" name="Google Shape;2496;p53"/>
          <p:cNvCxnSpPr/>
          <p:nvPr/>
        </p:nvCxnSpPr>
        <p:spPr>
          <a:xfrm>
            <a:off x="10102304" y="2337643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7" name="Google Shape;2497;p53"/>
          <p:cNvSpPr/>
          <p:nvPr/>
        </p:nvSpPr>
        <p:spPr>
          <a:xfrm>
            <a:off x="11146780" y="2337643"/>
            <a:ext cx="640407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98" name="Google Shape;2498;p53"/>
          <p:cNvCxnSpPr/>
          <p:nvPr/>
        </p:nvCxnSpPr>
        <p:spPr>
          <a:xfrm>
            <a:off x="11146780" y="2342406"/>
            <a:ext cx="64040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99" name="Google Shape;2499;p53"/>
          <p:cNvCxnSpPr/>
          <p:nvPr/>
        </p:nvCxnSpPr>
        <p:spPr>
          <a:xfrm>
            <a:off x="11151543" y="2337643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0" name="Google Shape;2500;p53"/>
          <p:cNvSpPr/>
          <p:nvPr/>
        </p:nvSpPr>
        <p:spPr>
          <a:xfrm>
            <a:off x="7709892" y="2525167"/>
            <a:ext cx="596950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1" name="Google Shape;2501;p53"/>
          <p:cNvCxnSpPr/>
          <p:nvPr/>
        </p:nvCxnSpPr>
        <p:spPr>
          <a:xfrm>
            <a:off x="7709892" y="2529929"/>
            <a:ext cx="59695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2" name="Google Shape;2502;p53"/>
          <p:cNvCxnSpPr/>
          <p:nvPr/>
        </p:nvCxnSpPr>
        <p:spPr>
          <a:xfrm>
            <a:off x="7714655" y="2525167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3" name="Google Shape;2503;p53"/>
          <p:cNvSpPr/>
          <p:nvPr/>
        </p:nvSpPr>
        <p:spPr>
          <a:xfrm>
            <a:off x="8306842" y="2525167"/>
            <a:ext cx="1790700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4" name="Google Shape;2504;p53"/>
          <p:cNvCxnSpPr/>
          <p:nvPr/>
        </p:nvCxnSpPr>
        <p:spPr>
          <a:xfrm>
            <a:off x="8306842" y="2529929"/>
            <a:ext cx="17907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5" name="Google Shape;2505;p53"/>
          <p:cNvCxnSpPr/>
          <p:nvPr/>
        </p:nvCxnSpPr>
        <p:spPr>
          <a:xfrm>
            <a:off x="8311604" y="2525167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6" name="Google Shape;2506;p53"/>
          <p:cNvSpPr/>
          <p:nvPr/>
        </p:nvSpPr>
        <p:spPr>
          <a:xfrm>
            <a:off x="10097542" y="2525167"/>
            <a:ext cx="1049238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7" name="Google Shape;2507;p53"/>
          <p:cNvCxnSpPr/>
          <p:nvPr/>
        </p:nvCxnSpPr>
        <p:spPr>
          <a:xfrm>
            <a:off x="10097542" y="2529929"/>
            <a:ext cx="104923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8" name="Google Shape;2508;p53"/>
          <p:cNvCxnSpPr/>
          <p:nvPr/>
        </p:nvCxnSpPr>
        <p:spPr>
          <a:xfrm>
            <a:off x="10102304" y="2525167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9" name="Google Shape;2509;p53"/>
          <p:cNvSpPr/>
          <p:nvPr/>
        </p:nvSpPr>
        <p:spPr>
          <a:xfrm>
            <a:off x="11146780" y="2525167"/>
            <a:ext cx="640407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0" name="Google Shape;2510;p53"/>
          <p:cNvCxnSpPr/>
          <p:nvPr/>
        </p:nvCxnSpPr>
        <p:spPr>
          <a:xfrm>
            <a:off x="11146780" y="2529929"/>
            <a:ext cx="64040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1" name="Google Shape;2511;p53"/>
          <p:cNvCxnSpPr/>
          <p:nvPr/>
        </p:nvCxnSpPr>
        <p:spPr>
          <a:xfrm>
            <a:off x="11151543" y="2525167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2" name="Google Shape;2512;p53"/>
          <p:cNvSpPr/>
          <p:nvPr/>
        </p:nvSpPr>
        <p:spPr>
          <a:xfrm>
            <a:off x="7709892" y="2712690"/>
            <a:ext cx="596950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3" name="Google Shape;2513;p53"/>
          <p:cNvCxnSpPr/>
          <p:nvPr/>
        </p:nvCxnSpPr>
        <p:spPr>
          <a:xfrm>
            <a:off x="7709892" y="2717453"/>
            <a:ext cx="59695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4" name="Google Shape;2514;p53"/>
          <p:cNvCxnSpPr/>
          <p:nvPr/>
        </p:nvCxnSpPr>
        <p:spPr>
          <a:xfrm>
            <a:off x="7714655" y="2712690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5" name="Google Shape;2515;p53"/>
          <p:cNvSpPr/>
          <p:nvPr/>
        </p:nvSpPr>
        <p:spPr>
          <a:xfrm>
            <a:off x="8306842" y="2712690"/>
            <a:ext cx="1790700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6" name="Google Shape;2516;p53"/>
          <p:cNvCxnSpPr/>
          <p:nvPr/>
        </p:nvCxnSpPr>
        <p:spPr>
          <a:xfrm>
            <a:off x="8306842" y="2717453"/>
            <a:ext cx="17907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7" name="Google Shape;2517;p53"/>
          <p:cNvCxnSpPr/>
          <p:nvPr/>
        </p:nvCxnSpPr>
        <p:spPr>
          <a:xfrm>
            <a:off x="8311604" y="2712690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8" name="Google Shape;2518;p53"/>
          <p:cNvSpPr/>
          <p:nvPr/>
        </p:nvSpPr>
        <p:spPr>
          <a:xfrm>
            <a:off x="10097542" y="2712690"/>
            <a:ext cx="1049238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9" name="Google Shape;2519;p53"/>
          <p:cNvCxnSpPr/>
          <p:nvPr/>
        </p:nvCxnSpPr>
        <p:spPr>
          <a:xfrm>
            <a:off x="10097542" y="2717453"/>
            <a:ext cx="104923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20" name="Google Shape;2520;p53"/>
          <p:cNvCxnSpPr/>
          <p:nvPr/>
        </p:nvCxnSpPr>
        <p:spPr>
          <a:xfrm>
            <a:off x="10102304" y="2712690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1" name="Google Shape;2521;p53"/>
          <p:cNvSpPr/>
          <p:nvPr/>
        </p:nvSpPr>
        <p:spPr>
          <a:xfrm>
            <a:off x="11146780" y="2712690"/>
            <a:ext cx="640407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22" name="Google Shape;2522;p53"/>
          <p:cNvCxnSpPr/>
          <p:nvPr/>
        </p:nvCxnSpPr>
        <p:spPr>
          <a:xfrm>
            <a:off x="11146780" y="2717453"/>
            <a:ext cx="64040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23" name="Google Shape;2523;p53"/>
          <p:cNvCxnSpPr/>
          <p:nvPr/>
        </p:nvCxnSpPr>
        <p:spPr>
          <a:xfrm>
            <a:off x="11151543" y="2712690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4" name="Google Shape;2524;p53"/>
          <p:cNvSpPr/>
          <p:nvPr/>
        </p:nvSpPr>
        <p:spPr>
          <a:xfrm>
            <a:off x="7705130" y="3044279"/>
            <a:ext cx="4086820" cy="2052191"/>
          </a:xfrm>
          <a:prstGeom prst="roundRect">
            <a:avLst>
              <a:gd fmla="val 2320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25" name="Google Shape;2525;p53"/>
          <p:cNvCxnSpPr/>
          <p:nvPr/>
        </p:nvCxnSpPr>
        <p:spPr>
          <a:xfrm>
            <a:off x="7728942" y="3044279"/>
            <a:ext cx="0" cy="2052191"/>
          </a:xfrm>
          <a:prstGeom prst="straightConnector1">
            <a:avLst/>
          </a:prstGeom>
          <a:noFill/>
          <a:ln cap="flat" cmpd="sng" w="476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6" name="Google Shape;2526;p53"/>
          <p:cNvSpPr/>
          <p:nvPr/>
        </p:nvSpPr>
        <p:spPr>
          <a:xfrm>
            <a:off x="7705130" y="5182195"/>
            <a:ext cx="4086820" cy="1692027"/>
          </a:xfrm>
          <a:prstGeom prst="roundRect">
            <a:avLst>
              <a:gd fmla="val 2814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5f97e77edf1f83473fa2a71a4284404f.png" id="2527" name="Google Shape;2527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50" y="1808857"/>
            <a:ext cx="6971556" cy="3834408"/>
          </a:xfrm>
          <a:prstGeom prst="rect">
            <a:avLst/>
          </a:prstGeom>
          <a:noFill/>
          <a:ln>
            <a:noFill/>
          </a:ln>
        </p:spPr>
      </p:pic>
      <p:sp>
        <p:nvSpPr>
          <p:cNvPr id="2528" name="Google Shape;2528;p53"/>
          <p:cNvSpPr txBox="1"/>
          <p:nvPr/>
        </p:nvSpPr>
        <p:spPr>
          <a:xfrm>
            <a:off x="400050" y="161925"/>
            <a:ext cx="2559695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Cox multivariado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9" name="Google Shape;2529;p53"/>
          <p:cNvSpPr txBox="1"/>
          <p:nvPr/>
        </p:nvSpPr>
        <p:spPr>
          <a:xfrm>
            <a:off x="2143423" y="5678686"/>
            <a:ext cx="3522911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24. Hazard ratios do Cox multivariado (Modelos A e B).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0" name="Google Shape;2530;p53"/>
          <p:cNvSpPr txBox="1"/>
          <p:nvPr/>
        </p:nvSpPr>
        <p:spPr>
          <a:xfrm>
            <a:off x="7747635" y="844153"/>
            <a:ext cx="5210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1" name="Google Shape;2531;p53"/>
          <p:cNvSpPr txBox="1"/>
          <p:nvPr/>
        </p:nvSpPr>
        <p:spPr>
          <a:xfrm>
            <a:off x="8344852" y="844153"/>
            <a:ext cx="171449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Termo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2" name="Google Shape;2532;p53"/>
          <p:cNvSpPr txBox="1"/>
          <p:nvPr/>
        </p:nvSpPr>
        <p:spPr>
          <a:xfrm>
            <a:off x="10135552" y="844153"/>
            <a:ext cx="97345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HR (IC 95%)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3" name="Google Shape;2533;p53"/>
          <p:cNvSpPr txBox="1"/>
          <p:nvPr/>
        </p:nvSpPr>
        <p:spPr>
          <a:xfrm>
            <a:off x="11185207" y="844153"/>
            <a:ext cx="5638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4" name="Google Shape;2534;p53"/>
          <p:cNvSpPr txBox="1"/>
          <p:nvPr/>
        </p:nvSpPr>
        <p:spPr>
          <a:xfrm>
            <a:off x="7747635" y="1037927"/>
            <a:ext cx="5210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5" name="Google Shape;2535;p53"/>
          <p:cNvSpPr txBox="1"/>
          <p:nvPr/>
        </p:nvSpPr>
        <p:spPr>
          <a:xfrm>
            <a:off x="8344852" y="1037927"/>
            <a:ext cx="171449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 III–IV vs. I–II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6" name="Google Shape;2536;p53"/>
          <p:cNvSpPr txBox="1"/>
          <p:nvPr/>
        </p:nvSpPr>
        <p:spPr>
          <a:xfrm>
            <a:off x="10135552" y="1037927"/>
            <a:ext cx="97345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2.61 (1.79–3.81)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7" name="Google Shape;2537;p53"/>
          <p:cNvSpPr txBox="1"/>
          <p:nvPr/>
        </p:nvSpPr>
        <p:spPr>
          <a:xfrm>
            <a:off x="11185207" y="1037927"/>
            <a:ext cx="5638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5.97e-07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8" name="Google Shape;2538;p53"/>
          <p:cNvSpPr txBox="1"/>
          <p:nvPr/>
        </p:nvSpPr>
        <p:spPr>
          <a:xfrm>
            <a:off x="7747635" y="1225451"/>
            <a:ext cx="5210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9" name="Google Shape;2539;p53"/>
          <p:cNvSpPr txBox="1"/>
          <p:nvPr/>
        </p:nvSpPr>
        <p:spPr>
          <a:xfrm>
            <a:off x="8344852" y="1225451"/>
            <a:ext cx="171449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Grau G3–G4 vs. G1–G2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0" name="Google Shape;2540;p53"/>
          <p:cNvSpPr txBox="1"/>
          <p:nvPr/>
        </p:nvSpPr>
        <p:spPr>
          <a:xfrm>
            <a:off x="10135552" y="1225451"/>
            <a:ext cx="97345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1.16 (0.79–1.71)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1" name="Google Shape;2541;p53"/>
          <p:cNvSpPr txBox="1"/>
          <p:nvPr/>
        </p:nvSpPr>
        <p:spPr>
          <a:xfrm>
            <a:off x="11185207" y="1225451"/>
            <a:ext cx="5638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0.450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2" name="Google Shape;2542;p53"/>
          <p:cNvSpPr txBox="1"/>
          <p:nvPr/>
        </p:nvSpPr>
        <p:spPr>
          <a:xfrm>
            <a:off x="7747635" y="1412974"/>
            <a:ext cx="5210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3" name="Google Shape;2543;p53"/>
          <p:cNvSpPr txBox="1"/>
          <p:nvPr/>
        </p:nvSpPr>
        <p:spPr>
          <a:xfrm>
            <a:off x="8344852" y="1412974"/>
            <a:ext cx="171449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Sexo masculino vs. feminino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4" name="Google Shape;2544;p53"/>
          <p:cNvSpPr txBox="1"/>
          <p:nvPr/>
        </p:nvSpPr>
        <p:spPr>
          <a:xfrm>
            <a:off x="10135552" y="1412974"/>
            <a:ext cx="97345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0.88 (0.59–1.29)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5" name="Google Shape;2545;p53"/>
          <p:cNvSpPr txBox="1"/>
          <p:nvPr/>
        </p:nvSpPr>
        <p:spPr>
          <a:xfrm>
            <a:off x="11185207" y="1412974"/>
            <a:ext cx="5638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0.508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6" name="Google Shape;2546;p53"/>
          <p:cNvSpPr txBox="1"/>
          <p:nvPr/>
        </p:nvSpPr>
        <p:spPr>
          <a:xfrm>
            <a:off x="7747635" y="1600498"/>
            <a:ext cx="5210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7" name="Google Shape;2547;p53"/>
          <p:cNvSpPr txBox="1"/>
          <p:nvPr/>
        </p:nvSpPr>
        <p:spPr>
          <a:xfrm>
            <a:off x="8344852" y="1600498"/>
            <a:ext cx="171449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Idade (por ano)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8" name="Google Shape;2548;p53"/>
          <p:cNvSpPr txBox="1"/>
          <p:nvPr/>
        </p:nvSpPr>
        <p:spPr>
          <a:xfrm>
            <a:off x="10135552" y="1600498"/>
            <a:ext cx="97345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1.01 (1.00–1.03)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9" name="Google Shape;2549;p53"/>
          <p:cNvSpPr txBox="1"/>
          <p:nvPr/>
        </p:nvSpPr>
        <p:spPr>
          <a:xfrm>
            <a:off x="11185207" y="1600498"/>
            <a:ext cx="5638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0.155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0" name="Google Shape;2550;p53"/>
          <p:cNvSpPr txBox="1"/>
          <p:nvPr/>
        </p:nvSpPr>
        <p:spPr>
          <a:xfrm>
            <a:off x="7747635" y="1788021"/>
            <a:ext cx="5210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1" name="Google Shape;2551;p53"/>
          <p:cNvSpPr txBox="1"/>
          <p:nvPr/>
        </p:nvSpPr>
        <p:spPr>
          <a:xfrm>
            <a:off x="8344852" y="1788021"/>
            <a:ext cx="171449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 III–IV vs. I–II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2" name="Google Shape;2552;p53"/>
          <p:cNvSpPr txBox="1"/>
          <p:nvPr/>
        </p:nvSpPr>
        <p:spPr>
          <a:xfrm>
            <a:off x="10135552" y="1788021"/>
            <a:ext cx="97345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2.23 (1.24–4.03)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3" name="Google Shape;2553;p53"/>
          <p:cNvSpPr txBox="1"/>
          <p:nvPr/>
        </p:nvSpPr>
        <p:spPr>
          <a:xfrm>
            <a:off x="11185207" y="1788021"/>
            <a:ext cx="5638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4" name="Google Shape;2554;p53"/>
          <p:cNvSpPr txBox="1"/>
          <p:nvPr/>
        </p:nvSpPr>
        <p:spPr>
          <a:xfrm>
            <a:off x="7747635" y="1975545"/>
            <a:ext cx="5210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5" name="Google Shape;2555;p53"/>
          <p:cNvSpPr txBox="1"/>
          <p:nvPr/>
        </p:nvSpPr>
        <p:spPr>
          <a:xfrm>
            <a:off x="8344852" y="1975545"/>
            <a:ext cx="171449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Grau G3–G4 vs. G1–G2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6" name="Google Shape;2556;p53"/>
          <p:cNvSpPr txBox="1"/>
          <p:nvPr/>
        </p:nvSpPr>
        <p:spPr>
          <a:xfrm>
            <a:off x="10135552" y="1975545"/>
            <a:ext cx="97345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1.47 (0.84–2.58)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7" name="Google Shape;2557;p53"/>
          <p:cNvSpPr txBox="1"/>
          <p:nvPr/>
        </p:nvSpPr>
        <p:spPr>
          <a:xfrm>
            <a:off x="11185207" y="1975545"/>
            <a:ext cx="5638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0.176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8" name="Google Shape;2558;p53"/>
          <p:cNvSpPr txBox="1"/>
          <p:nvPr/>
        </p:nvSpPr>
        <p:spPr>
          <a:xfrm>
            <a:off x="7747635" y="2163068"/>
            <a:ext cx="5210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9" name="Google Shape;2559;p53"/>
          <p:cNvSpPr txBox="1"/>
          <p:nvPr/>
        </p:nvSpPr>
        <p:spPr>
          <a:xfrm>
            <a:off x="8344852" y="2163068"/>
            <a:ext cx="171449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Sexo masculino vs. feminino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0" name="Google Shape;2560;p53"/>
          <p:cNvSpPr txBox="1"/>
          <p:nvPr/>
        </p:nvSpPr>
        <p:spPr>
          <a:xfrm>
            <a:off x="10135552" y="2163068"/>
            <a:ext cx="97345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0.99 (0.54–1.84)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1" name="Google Shape;2561;p53"/>
          <p:cNvSpPr txBox="1"/>
          <p:nvPr/>
        </p:nvSpPr>
        <p:spPr>
          <a:xfrm>
            <a:off x="11185207" y="2163068"/>
            <a:ext cx="5638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0.983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2" name="Google Shape;2562;p53"/>
          <p:cNvSpPr txBox="1"/>
          <p:nvPr/>
        </p:nvSpPr>
        <p:spPr>
          <a:xfrm>
            <a:off x="7747635" y="2350591"/>
            <a:ext cx="5210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3" name="Google Shape;2563;p53"/>
          <p:cNvSpPr txBox="1"/>
          <p:nvPr/>
        </p:nvSpPr>
        <p:spPr>
          <a:xfrm>
            <a:off x="8344852" y="2350591"/>
            <a:ext cx="171449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Idade (por ano)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4" name="Google Shape;2564;p53"/>
          <p:cNvSpPr txBox="1"/>
          <p:nvPr/>
        </p:nvSpPr>
        <p:spPr>
          <a:xfrm>
            <a:off x="10135552" y="2350591"/>
            <a:ext cx="97345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1.03 (1.01–1.06)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5" name="Google Shape;2565;p53"/>
          <p:cNvSpPr txBox="1"/>
          <p:nvPr/>
        </p:nvSpPr>
        <p:spPr>
          <a:xfrm>
            <a:off x="11185207" y="2350591"/>
            <a:ext cx="5638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6" name="Google Shape;2566;p53"/>
          <p:cNvSpPr txBox="1"/>
          <p:nvPr/>
        </p:nvSpPr>
        <p:spPr>
          <a:xfrm>
            <a:off x="7747635" y="2538115"/>
            <a:ext cx="5210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7" name="Google Shape;2567;p53"/>
          <p:cNvSpPr txBox="1"/>
          <p:nvPr/>
        </p:nvSpPr>
        <p:spPr>
          <a:xfrm>
            <a:off x="8344852" y="2538115"/>
            <a:ext cx="171449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AFP ≥400 vs. &lt;400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8" name="Google Shape;2568;p53"/>
          <p:cNvSpPr txBox="1"/>
          <p:nvPr/>
        </p:nvSpPr>
        <p:spPr>
          <a:xfrm>
            <a:off x="10135552" y="2538115"/>
            <a:ext cx="97345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1.04 (0.51–2.12)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9" name="Google Shape;2569;p53"/>
          <p:cNvSpPr txBox="1"/>
          <p:nvPr/>
        </p:nvSpPr>
        <p:spPr>
          <a:xfrm>
            <a:off x="11185207" y="2538115"/>
            <a:ext cx="5638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0.907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0" name="Google Shape;2570;p53"/>
          <p:cNvSpPr txBox="1"/>
          <p:nvPr/>
        </p:nvSpPr>
        <p:spPr>
          <a:xfrm>
            <a:off x="7747635" y="2725638"/>
            <a:ext cx="5210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1" name="Google Shape;2571;p53"/>
          <p:cNvSpPr txBox="1"/>
          <p:nvPr/>
        </p:nvSpPr>
        <p:spPr>
          <a:xfrm>
            <a:off x="8344852" y="2725638"/>
            <a:ext cx="171449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Fibrose avançada vs. não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2" name="Google Shape;2572;p53"/>
          <p:cNvSpPr txBox="1"/>
          <p:nvPr/>
        </p:nvSpPr>
        <p:spPr>
          <a:xfrm>
            <a:off x="10135552" y="2725638"/>
            <a:ext cx="97345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1.16 (0.62–2.17)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3" name="Google Shape;2573;p53"/>
          <p:cNvSpPr txBox="1"/>
          <p:nvPr/>
        </p:nvSpPr>
        <p:spPr>
          <a:xfrm>
            <a:off x="11185207" y="2725638"/>
            <a:ext cx="5638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0.645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4" name="Google Shape;2574;p53"/>
          <p:cNvSpPr txBox="1"/>
          <p:nvPr/>
        </p:nvSpPr>
        <p:spPr>
          <a:xfrm>
            <a:off x="7924205" y="3352651"/>
            <a:ext cx="76988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i="0" lang="en-US" sz="16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5" name="Google Shape;2575;p53"/>
          <p:cNvSpPr txBox="1"/>
          <p:nvPr/>
        </p:nvSpPr>
        <p:spPr>
          <a:xfrm>
            <a:off x="8714631" y="3352651"/>
            <a:ext cx="25305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 o preditor independente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6" name="Google Shape;2576;p53"/>
          <p:cNvSpPr txBox="1"/>
          <p:nvPr/>
        </p:nvSpPr>
        <p:spPr>
          <a:xfrm>
            <a:off x="7924205" y="3639741"/>
            <a:ext cx="340831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mais forte. No Modelo A: HR = 2,61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7" name="Google Shape;2577;p53"/>
          <p:cNvSpPr txBox="1"/>
          <p:nvPr/>
        </p:nvSpPr>
        <p:spPr>
          <a:xfrm>
            <a:off x="7924205" y="3926830"/>
            <a:ext cx="324192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(1,79–3,81; p = 6,0 × 10⁻⁷). O grau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8" name="Google Shape;2578;p53"/>
          <p:cNvSpPr txBox="1"/>
          <p:nvPr/>
        </p:nvSpPr>
        <p:spPr>
          <a:xfrm>
            <a:off x="7924205" y="4213920"/>
            <a:ext cx="339923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perde significância após ajuste pelo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9" name="Google Shape;2579;p53"/>
          <p:cNvSpPr txBox="1"/>
          <p:nvPr/>
        </p:nvSpPr>
        <p:spPr>
          <a:xfrm>
            <a:off x="7924205" y="4501009"/>
            <a:ext cx="77301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0" name="Google Shape;2580;p53"/>
          <p:cNvSpPr txBox="1"/>
          <p:nvPr/>
        </p:nvSpPr>
        <p:spPr>
          <a:xfrm>
            <a:off x="7825978" y="5454104"/>
            <a:ext cx="7564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Ajustado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1" name="Google Shape;2581;p53"/>
          <p:cNvSpPr txBox="1"/>
          <p:nvPr/>
        </p:nvSpPr>
        <p:spPr>
          <a:xfrm>
            <a:off x="8591252" y="5454104"/>
            <a:ext cx="28006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significa que o HR de cada variável 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2" name="Google Shape;2582;p53"/>
          <p:cNvSpPr txBox="1"/>
          <p:nvPr/>
        </p:nvSpPr>
        <p:spPr>
          <a:xfrm>
            <a:off x="7825978" y="5683746"/>
            <a:ext cx="371519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estimado controlando as demais. HR = 2,61 para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3" name="Google Shape;2583;p53"/>
          <p:cNvSpPr txBox="1"/>
          <p:nvPr/>
        </p:nvSpPr>
        <p:spPr>
          <a:xfrm>
            <a:off x="7825978" y="5913388"/>
            <a:ext cx="33163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III–IV vs. I–II: risco instantâneo ~2,6× maior,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4" name="Google Shape;2584;p53"/>
          <p:cNvSpPr txBox="1"/>
          <p:nvPr/>
        </p:nvSpPr>
        <p:spPr>
          <a:xfrm>
            <a:off x="7825978" y="6143030"/>
            <a:ext cx="3536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mantidos grau, sexo e idade constantes. Isso 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5" name="Google Shape;2585;p53"/>
          <p:cNvSpPr txBox="1"/>
          <p:nvPr/>
        </p:nvSpPr>
        <p:spPr>
          <a:xfrm>
            <a:off x="7825978" y="6372671"/>
            <a:ext cx="218449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associação, não causalidade.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9" name="Shape 2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" name="Google Shape;2590;p56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1" name="Google Shape;2591;p56"/>
          <p:cNvCxnSpPr/>
          <p:nvPr/>
        </p:nvCxnSpPr>
        <p:spPr>
          <a:xfrm>
            <a:off x="38100" y="0"/>
            <a:ext cx="0" cy="7620000"/>
          </a:xfrm>
          <a:prstGeom prst="straightConnector1">
            <a:avLst/>
          </a:prstGeom>
          <a:noFill/>
          <a:ln cap="flat" cmpd="sng" w="762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2" name="Google Shape;2592;p56"/>
          <p:cNvSpPr/>
          <p:nvPr/>
        </p:nvSpPr>
        <p:spPr>
          <a:xfrm>
            <a:off x="800100" y="881062"/>
            <a:ext cx="10668000" cy="6256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3" name="Google Shape;2593;p56"/>
          <p:cNvCxnSpPr/>
          <p:nvPr/>
        </p:nvCxnSpPr>
        <p:spPr>
          <a:xfrm>
            <a:off x="800100" y="1492448"/>
            <a:ext cx="106680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4" name="Google Shape;2594;p56"/>
          <p:cNvSpPr/>
          <p:nvPr/>
        </p:nvSpPr>
        <p:spPr>
          <a:xfrm>
            <a:off x="800100" y="2433340"/>
            <a:ext cx="10668000" cy="1190923"/>
          </a:xfrm>
          <a:prstGeom prst="roundRect">
            <a:avLst>
              <a:gd fmla="val 3999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5" name="Google Shape;2595;p56"/>
          <p:cNvCxnSpPr/>
          <p:nvPr/>
        </p:nvCxnSpPr>
        <p:spPr>
          <a:xfrm>
            <a:off x="823912" y="2433340"/>
            <a:ext cx="0" cy="1190922"/>
          </a:xfrm>
          <a:prstGeom prst="straightConnector1">
            <a:avLst/>
          </a:prstGeom>
          <a:noFill/>
          <a:ln cap="flat" cmpd="sng" w="476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6" name="Google Shape;2596;p56"/>
          <p:cNvSpPr/>
          <p:nvPr/>
        </p:nvSpPr>
        <p:spPr>
          <a:xfrm>
            <a:off x="800100" y="3741390"/>
            <a:ext cx="10668000" cy="1699022"/>
          </a:xfrm>
          <a:prstGeom prst="roundRect">
            <a:avLst>
              <a:gd fmla="val 2803" name="adj"/>
            </a:avLst>
          </a:prstGeom>
          <a:solidFill>
            <a:srgbClr val="EE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7" name="Google Shape;2597;p56"/>
          <p:cNvCxnSpPr/>
          <p:nvPr/>
        </p:nvCxnSpPr>
        <p:spPr>
          <a:xfrm>
            <a:off x="823912" y="3741390"/>
            <a:ext cx="0" cy="1699022"/>
          </a:xfrm>
          <a:prstGeom prst="straightConnector1">
            <a:avLst/>
          </a:prstGeom>
          <a:noFill/>
          <a:ln cap="flat" cmpd="sng" w="47625">
            <a:solidFill>
              <a:srgbClr val="1F5F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8" name="Google Shape;2598;p56"/>
          <p:cNvSpPr/>
          <p:nvPr/>
        </p:nvSpPr>
        <p:spPr>
          <a:xfrm>
            <a:off x="994172" y="4061222"/>
            <a:ext cx="1813620" cy="227261"/>
          </a:xfrm>
          <a:prstGeom prst="roundRect">
            <a:avLst>
              <a:gd fmla="val 50000" name="adj"/>
            </a:avLst>
          </a:prstGeom>
          <a:solidFill>
            <a:srgbClr val="1F5F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9" name="Google Shape;2599;p56"/>
          <p:cNvSpPr txBox="1"/>
          <p:nvPr/>
        </p:nvSpPr>
        <p:spPr>
          <a:xfrm>
            <a:off x="800100" y="852488"/>
            <a:ext cx="7149257" cy="600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rPr b="0" i="0" lang="en-US" sz="35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Parte 5 — Outros grupos nos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0" name="Google Shape;2600;p56"/>
          <p:cNvSpPr txBox="1"/>
          <p:nvPr/>
        </p:nvSpPr>
        <p:spPr>
          <a:xfrm>
            <a:off x="800100" y="1655564"/>
            <a:ext cx="553209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2"/>
              <a:buFont typeface="Arial"/>
              <a:buNone/>
            </a:pPr>
            <a:r>
              <a:rPr b="1" i="0" lang="en-US" sz="1162" u="none" cap="none" strike="noStrike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RECIDIVAS, SUBTIPOS HISTOLÓGICOS, VÍRUS E CENTROS TCGA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1" name="Google Shape;2601;p56"/>
          <p:cNvSpPr txBox="1"/>
          <p:nvPr/>
        </p:nvSpPr>
        <p:spPr>
          <a:xfrm>
            <a:off x="800100" y="1993999"/>
            <a:ext cx="346427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8"/>
              <a:buFont typeface="Arial"/>
              <a:buNone/>
            </a:pPr>
            <a:r>
              <a:rPr b="0" i="0" lang="en-US" sz="1968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06_grupos_alternativos.R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2" name="Google Shape;2602;p56"/>
          <p:cNvSpPr txBox="1"/>
          <p:nvPr/>
        </p:nvSpPr>
        <p:spPr>
          <a:xfrm>
            <a:off x="4291161" y="1955899"/>
            <a:ext cx="167283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8"/>
              <a:buFont typeface="Arial"/>
              <a:buNone/>
            </a:pPr>
            <a:r>
              <a:rPr b="0" i="0" lang="en-US" sz="1968" u="none" cap="none" strike="noStrike">
                <a:solidFill>
                  <a:srgbClr val="1F5F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3" name="Google Shape;2603;p56"/>
          <p:cNvSpPr txBox="1"/>
          <p:nvPr/>
        </p:nvSpPr>
        <p:spPr>
          <a:xfrm>
            <a:off x="4485382" y="1993999"/>
            <a:ext cx="303594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8"/>
              <a:buFont typeface="Arial"/>
              <a:buNone/>
            </a:pPr>
            <a:r>
              <a:rPr b="0" i="0" lang="en-US" sz="1968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07_grupos_separados.R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4" name="Google Shape;2604;p56"/>
          <p:cNvSpPr txBox="1"/>
          <p:nvPr/>
        </p:nvSpPr>
        <p:spPr>
          <a:xfrm>
            <a:off x="1019175" y="2741712"/>
            <a:ext cx="720581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Além de tumor primário, adjacente e GTEx normal, os dados contêm grupos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5" name="Google Shape;2605;p56"/>
          <p:cNvSpPr txBox="1"/>
          <p:nvPr/>
        </p:nvSpPr>
        <p:spPr>
          <a:xfrm>
            <a:off x="8095130" y="2741712"/>
            <a:ext cx="5091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i="0" lang="en-US" sz="16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6" name="Google Shape;2606;p56"/>
          <p:cNvSpPr txBox="1"/>
          <p:nvPr/>
        </p:nvSpPr>
        <p:spPr>
          <a:xfrm>
            <a:off x="8537079" y="2741712"/>
            <a:ext cx="24633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lang="en-US" sz="1687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</a:t>
            </a: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mas pequenos ou 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7" name="Google Shape;2607;p56"/>
          <p:cNvSpPr txBox="1"/>
          <p:nvPr/>
        </p:nvSpPr>
        <p:spPr>
          <a:xfrm>
            <a:off x="1019175" y="3028801"/>
            <a:ext cx="79137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missingness elevado. Eles são mantidos separados e analisados de forma descritiva.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8" name="Google Shape;2608;p56"/>
          <p:cNvSpPr txBox="1"/>
          <p:nvPr/>
        </p:nvSpPr>
        <p:spPr>
          <a:xfrm>
            <a:off x="1074093" y="4067621"/>
            <a:ext cx="1691878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rPr b="1" i="0" lang="en-US" sz="126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MÉTODOS DA ETAPA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9" name="Google Shape;2609;p56"/>
          <p:cNvSpPr txBox="1"/>
          <p:nvPr/>
        </p:nvSpPr>
        <p:spPr>
          <a:xfrm>
            <a:off x="2917329" y="4029521"/>
            <a:ext cx="134168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Kruskal-Wallis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0" name="Google Shape;2610;p56"/>
          <p:cNvSpPr txBox="1"/>
          <p:nvPr/>
        </p:nvSpPr>
        <p:spPr>
          <a:xfrm>
            <a:off x="4274344" y="4029521"/>
            <a:ext cx="97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1" name="Google Shape;2611;p56"/>
          <p:cNvSpPr txBox="1"/>
          <p:nvPr/>
        </p:nvSpPr>
        <p:spPr>
          <a:xfrm>
            <a:off x="4333429" y="4058096"/>
            <a:ext cx="2212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stats::kruskal.test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2" name="Google Shape;2612;p56"/>
          <p:cNvSpPr txBox="1"/>
          <p:nvPr/>
        </p:nvSpPr>
        <p:spPr>
          <a:xfrm>
            <a:off x="6507361" y="4029521"/>
            <a:ext cx="443909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para comparar marcadores entre subtipos/grupos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3" name="Google Shape;2613;p56"/>
          <p:cNvSpPr txBox="1"/>
          <p:nvPr/>
        </p:nvSpPr>
        <p:spPr>
          <a:xfrm>
            <a:off x="994172" y="4310211"/>
            <a:ext cx="900708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virais/TSS;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4" name="Google Shape;2614;p56"/>
          <p:cNvSpPr txBox="1"/>
          <p:nvPr/>
        </p:nvSpPr>
        <p:spPr>
          <a:xfrm>
            <a:off x="1910358" y="4310211"/>
            <a:ext cx="193000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Fisher/qui-quadrado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5" name="Google Shape;2615;p56"/>
          <p:cNvSpPr txBox="1"/>
          <p:nvPr/>
        </p:nvSpPr>
        <p:spPr>
          <a:xfrm>
            <a:off x="3855690" y="4310211"/>
            <a:ext cx="97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6" name="Google Shape;2616;p56"/>
          <p:cNvSpPr txBox="1"/>
          <p:nvPr/>
        </p:nvSpPr>
        <p:spPr>
          <a:xfrm>
            <a:off x="3914775" y="4338786"/>
            <a:ext cx="20975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stats::fisher.test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7" name="Google Shape;2617;p56"/>
          <p:cNvSpPr txBox="1"/>
          <p:nvPr/>
        </p:nvSpPr>
        <p:spPr>
          <a:xfrm>
            <a:off x="5974259" y="4310211"/>
            <a:ext cx="8051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8" name="Google Shape;2618;p56"/>
          <p:cNvSpPr txBox="1"/>
          <p:nvPr/>
        </p:nvSpPr>
        <p:spPr>
          <a:xfrm>
            <a:off x="6070104" y="4338786"/>
            <a:ext cx="19831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stats::chisq.test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9" name="Google Shape;2619;p56"/>
          <p:cNvSpPr txBox="1"/>
          <p:nvPr/>
        </p:nvSpPr>
        <p:spPr>
          <a:xfrm>
            <a:off x="8015139" y="4310211"/>
            <a:ext cx="2389287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para variáveis categóricas;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0" name="Google Shape;2620;p56"/>
          <p:cNvSpPr txBox="1"/>
          <p:nvPr/>
        </p:nvSpPr>
        <p:spPr>
          <a:xfrm>
            <a:off x="10419755" y="4310211"/>
            <a:ext cx="31298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1" name="Google Shape;2621;p56"/>
          <p:cNvSpPr txBox="1"/>
          <p:nvPr/>
        </p:nvSpPr>
        <p:spPr>
          <a:xfrm>
            <a:off x="994172" y="4590901"/>
            <a:ext cx="9703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2" name="Google Shape;2622;p56"/>
          <p:cNvSpPr txBox="1"/>
          <p:nvPr/>
        </p:nvSpPr>
        <p:spPr>
          <a:xfrm>
            <a:off x="1053108" y="4619476"/>
            <a:ext cx="17543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stats::p.adjust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3" name="Google Shape;2623;p56"/>
          <p:cNvSpPr txBox="1"/>
          <p:nvPr/>
        </p:nvSpPr>
        <p:spPr>
          <a:xfrm>
            <a:off x="2769394" y="4590901"/>
            <a:ext cx="198224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para múltiplos testes;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4" name="Google Shape;2624;p56"/>
          <p:cNvSpPr txBox="1"/>
          <p:nvPr/>
        </p:nvSpPr>
        <p:spPr>
          <a:xfrm>
            <a:off x="4767114" y="4590901"/>
            <a:ext cx="95979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Spearman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5" name="Google Shape;2625;p56"/>
          <p:cNvSpPr txBox="1"/>
          <p:nvPr/>
        </p:nvSpPr>
        <p:spPr>
          <a:xfrm>
            <a:off x="5742236" y="4590901"/>
            <a:ext cx="97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6" name="Google Shape;2626;p56"/>
          <p:cNvSpPr txBox="1"/>
          <p:nvPr/>
        </p:nvSpPr>
        <p:spPr>
          <a:xfrm>
            <a:off x="5801320" y="4619476"/>
            <a:ext cx="17543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stats::cor.test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7" name="Google Shape;2627;p56"/>
          <p:cNvSpPr txBox="1"/>
          <p:nvPr/>
        </p:nvSpPr>
        <p:spPr>
          <a:xfrm>
            <a:off x="7517606" y="4590901"/>
            <a:ext cx="2258169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para similaridade global;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8" name="Google Shape;2628;p56"/>
          <p:cNvSpPr txBox="1"/>
          <p:nvPr/>
        </p:nvSpPr>
        <p:spPr>
          <a:xfrm>
            <a:off x="9791254" y="4590901"/>
            <a:ext cx="692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z-score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9" name="Google Shape;2629;p56"/>
          <p:cNvSpPr txBox="1"/>
          <p:nvPr/>
        </p:nvSpPr>
        <p:spPr>
          <a:xfrm>
            <a:off x="10498782" y="4590901"/>
            <a:ext cx="14034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0" name="Google Shape;2630;p56"/>
          <p:cNvSpPr txBox="1"/>
          <p:nvPr/>
        </p:nvSpPr>
        <p:spPr>
          <a:xfrm>
            <a:off x="994172" y="4871591"/>
            <a:ext cx="96857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pheatmap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1" name="Google Shape;2631;p56"/>
          <p:cNvSpPr txBox="1"/>
          <p:nvPr/>
        </p:nvSpPr>
        <p:spPr>
          <a:xfrm>
            <a:off x="1978075" y="4871591"/>
            <a:ext cx="97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2" name="Google Shape;2632;p56"/>
          <p:cNvSpPr txBox="1"/>
          <p:nvPr/>
        </p:nvSpPr>
        <p:spPr>
          <a:xfrm>
            <a:off x="2037159" y="4900166"/>
            <a:ext cx="20975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pheatmap::pheatmap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3" name="Google Shape;2633;p56"/>
          <p:cNvSpPr txBox="1"/>
          <p:nvPr/>
        </p:nvSpPr>
        <p:spPr>
          <a:xfrm>
            <a:off x="4096643" y="4871591"/>
            <a:ext cx="1471017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para heatmaps;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4" name="Google Shape;2634;p56"/>
          <p:cNvSpPr txBox="1"/>
          <p:nvPr/>
        </p:nvSpPr>
        <p:spPr>
          <a:xfrm>
            <a:off x="5583138" y="4871591"/>
            <a:ext cx="62344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5" name="Google Shape;2635;p56"/>
          <p:cNvSpPr txBox="1"/>
          <p:nvPr/>
        </p:nvSpPr>
        <p:spPr>
          <a:xfrm>
            <a:off x="6221909" y="4871591"/>
            <a:ext cx="97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6" name="Google Shape;2636;p56"/>
          <p:cNvSpPr txBox="1"/>
          <p:nvPr/>
        </p:nvSpPr>
        <p:spPr>
          <a:xfrm>
            <a:off x="6280993" y="4900166"/>
            <a:ext cx="118229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uwot::umap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7" name="Google Shape;2637;p56"/>
          <p:cNvSpPr txBox="1"/>
          <p:nvPr/>
        </p:nvSpPr>
        <p:spPr>
          <a:xfrm>
            <a:off x="7425184" y="4871591"/>
            <a:ext cx="933748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para TSS.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1" name="Shape 2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2" name="Google Shape;2642;p57"/>
          <p:cNvSpPr/>
          <p:nvPr/>
        </p:nvSpPr>
        <p:spPr>
          <a:xfrm>
            <a:off x="400050" y="190500"/>
            <a:ext cx="11391900" cy="42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43" name="Google Shape;2643;p57"/>
          <p:cNvCxnSpPr/>
          <p:nvPr/>
        </p:nvCxnSpPr>
        <p:spPr>
          <a:xfrm>
            <a:off x="400050" y="597247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4" name="Google Shape;2644;p57"/>
          <p:cNvSpPr/>
          <p:nvPr/>
        </p:nvSpPr>
        <p:spPr>
          <a:xfrm>
            <a:off x="473668" y="1075108"/>
            <a:ext cx="5762700" cy="5940900"/>
          </a:xfrm>
          <a:prstGeom prst="rect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5" name="Google Shape;2645;p57"/>
          <p:cNvSpPr/>
          <p:nvPr/>
        </p:nvSpPr>
        <p:spPr>
          <a:xfrm>
            <a:off x="482721" y="1084162"/>
            <a:ext cx="4642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46" name="Google Shape;2646;p57"/>
          <p:cNvCxnSpPr/>
          <p:nvPr/>
        </p:nvCxnSpPr>
        <p:spPr>
          <a:xfrm>
            <a:off x="8230195" y="725091"/>
            <a:ext cx="244167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47" name="Google Shape;2647;p57"/>
          <p:cNvCxnSpPr/>
          <p:nvPr/>
        </p:nvCxnSpPr>
        <p:spPr>
          <a:xfrm>
            <a:off x="491651" y="847137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48" name="Google Shape;2648;p57"/>
          <p:cNvSpPr/>
          <p:nvPr/>
        </p:nvSpPr>
        <p:spPr>
          <a:xfrm>
            <a:off x="5124759" y="1084162"/>
            <a:ext cx="11031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49" name="Google Shape;2649;p57"/>
          <p:cNvCxnSpPr/>
          <p:nvPr/>
        </p:nvCxnSpPr>
        <p:spPr>
          <a:xfrm>
            <a:off x="10671870" y="725091"/>
            <a:ext cx="580132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50" name="Google Shape;2650;p57"/>
          <p:cNvCxnSpPr/>
          <p:nvPr/>
        </p:nvCxnSpPr>
        <p:spPr>
          <a:xfrm>
            <a:off x="5133812" y="1084162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51" name="Google Shape;2651;p57"/>
          <p:cNvSpPr/>
          <p:nvPr/>
        </p:nvSpPr>
        <p:spPr>
          <a:xfrm>
            <a:off x="482721" y="1576207"/>
            <a:ext cx="4642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52" name="Google Shape;2652;p57"/>
          <p:cNvCxnSpPr/>
          <p:nvPr/>
        </p:nvCxnSpPr>
        <p:spPr>
          <a:xfrm>
            <a:off x="482721" y="1585262"/>
            <a:ext cx="46422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53" name="Google Shape;2653;p57"/>
          <p:cNvCxnSpPr/>
          <p:nvPr/>
        </p:nvCxnSpPr>
        <p:spPr>
          <a:xfrm>
            <a:off x="491651" y="1339182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54" name="Google Shape;2654;p57"/>
          <p:cNvSpPr/>
          <p:nvPr/>
        </p:nvSpPr>
        <p:spPr>
          <a:xfrm>
            <a:off x="5124759" y="1576207"/>
            <a:ext cx="11031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55" name="Google Shape;2655;p57"/>
          <p:cNvCxnSpPr/>
          <p:nvPr/>
        </p:nvCxnSpPr>
        <p:spPr>
          <a:xfrm>
            <a:off x="5124759" y="1585262"/>
            <a:ext cx="11031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56" name="Google Shape;2656;p57"/>
          <p:cNvCxnSpPr/>
          <p:nvPr/>
        </p:nvCxnSpPr>
        <p:spPr>
          <a:xfrm>
            <a:off x="5133812" y="1576207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57" name="Google Shape;2657;p57"/>
          <p:cNvSpPr/>
          <p:nvPr/>
        </p:nvSpPr>
        <p:spPr>
          <a:xfrm>
            <a:off x="482721" y="2068253"/>
            <a:ext cx="4642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58" name="Google Shape;2658;p57"/>
          <p:cNvCxnSpPr/>
          <p:nvPr/>
        </p:nvCxnSpPr>
        <p:spPr>
          <a:xfrm>
            <a:off x="482721" y="2077308"/>
            <a:ext cx="46422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59" name="Google Shape;2659;p57"/>
          <p:cNvCxnSpPr/>
          <p:nvPr/>
        </p:nvCxnSpPr>
        <p:spPr>
          <a:xfrm>
            <a:off x="491651" y="1831228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60" name="Google Shape;2660;p57"/>
          <p:cNvSpPr/>
          <p:nvPr/>
        </p:nvSpPr>
        <p:spPr>
          <a:xfrm>
            <a:off x="5124759" y="2068253"/>
            <a:ext cx="11031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61" name="Google Shape;2661;p57"/>
          <p:cNvCxnSpPr/>
          <p:nvPr/>
        </p:nvCxnSpPr>
        <p:spPr>
          <a:xfrm>
            <a:off x="5124759" y="2077308"/>
            <a:ext cx="11031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62" name="Google Shape;2662;p57"/>
          <p:cNvCxnSpPr/>
          <p:nvPr/>
        </p:nvCxnSpPr>
        <p:spPr>
          <a:xfrm>
            <a:off x="5133812" y="2068253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63" name="Google Shape;2663;p57"/>
          <p:cNvSpPr/>
          <p:nvPr/>
        </p:nvSpPr>
        <p:spPr>
          <a:xfrm>
            <a:off x="482721" y="2560298"/>
            <a:ext cx="4642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64" name="Google Shape;2664;p57"/>
          <p:cNvCxnSpPr/>
          <p:nvPr/>
        </p:nvCxnSpPr>
        <p:spPr>
          <a:xfrm>
            <a:off x="482721" y="2569353"/>
            <a:ext cx="46422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65" name="Google Shape;2665;p57"/>
          <p:cNvCxnSpPr/>
          <p:nvPr/>
        </p:nvCxnSpPr>
        <p:spPr>
          <a:xfrm>
            <a:off x="491651" y="2323273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66" name="Google Shape;2666;p57"/>
          <p:cNvSpPr/>
          <p:nvPr/>
        </p:nvSpPr>
        <p:spPr>
          <a:xfrm>
            <a:off x="5124759" y="2560298"/>
            <a:ext cx="11031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67" name="Google Shape;2667;p57"/>
          <p:cNvCxnSpPr/>
          <p:nvPr/>
        </p:nvCxnSpPr>
        <p:spPr>
          <a:xfrm>
            <a:off x="5124759" y="2569353"/>
            <a:ext cx="11031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68" name="Google Shape;2668;p57"/>
          <p:cNvCxnSpPr/>
          <p:nvPr/>
        </p:nvCxnSpPr>
        <p:spPr>
          <a:xfrm>
            <a:off x="5133812" y="2560298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69" name="Google Shape;2669;p57"/>
          <p:cNvSpPr/>
          <p:nvPr/>
        </p:nvSpPr>
        <p:spPr>
          <a:xfrm>
            <a:off x="482721" y="3052345"/>
            <a:ext cx="4642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0" name="Google Shape;2670;p57"/>
          <p:cNvCxnSpPr/>
          <p:nvPr/>
        </p:nvCxnSpPr>
        <p:spPr>
          <a:xfrm>
            <a:off x="482721" y="3061399"/>
            <a:ext cx="46422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71" name="Google Shape;2671;p57"/>
          <p:cNvCxnSpPr/>
          <p:nvPr/>
        </p:nvCxnSpPr>
        <p:spPr>
          <a:xfrm>
            <a:off x="491651" y="2815320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72" name="Google Shape;2672;p57"/>
          <p:cNvSpPr/>
          <p:nvPr/>
        </p:nvSpPr>
        <p:spPr>
          <a:xfrm>
            <a:off x="5124759" y="3052345"/>
            <a:ext cx="11031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3" name="Google Shape;2673;p57"/>
          <p:cNvCxnSpPr/>
          <p:nvPr/>
        </p:nvCxnSpPr>
        <p:spPr>
          <a:xfrm>
            <a:off x="5124759" y="3061399"/>
            <a:ext cx="11031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74" name="Google Shape;2674;p57"/>
          <p:cNvCxnSpPr/>
          <p:nvPr/>
        </p:nvCxnSpPr>
        <p:spPr>
          <a:xfrm>
            <a:off x="5133812" y="3052345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75" name="Google Shape;2675;p57"/>
          <p:cNvSpPr/>
          <p:nvPr/>
        </p:nvSpPr>
        <p:spPr>
          <a:xfrm>
            <a:off x="482721" y="3544391"/>
            <a:ext cx="4642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6" name="Google Shape;2676;p57"/>
          <p:cNvCxnSpPr/>
          <p:nvPr/>
        </p:nvCxnSpPr>
        <p:spPr>
          <a:xfrm>
            <a:off x="482721" y="3553444"/>
            <a:ext cx="46422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77" name="Google Shape;2677;p57"/>
          <p:cNvCxnSpPr/>
          <p:nvPr/>
        </p:nvCxnSpPr>
        <p:spPr>
          <a:xfrm>
            <a:off x="491651" y="3307366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78" name="Google Shape;2678;p57"/>
          <p:cNvSpPr/>
          <p:nvPr/>
        </p:nvSpPr>
        <p:spPr>
          <a:xfrm>
            <a:off x="5124759" y="3544391"/>
            <a:ext cx="11031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9" name="Google Shape;2679;p57"/>
          <p:cNvCxnSpPr/>
          <p:nvPr/>
        </p:nvCxnSpPr>
        <p:spPr>
          <a:xfrm>
            <a:off x="5124759" y="3553444"/>
            <a:ext cx="11031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80" name="Google Shape;2680;p57"/>
          <p:cNvCxnSpPr/>
          <p:nvPr/>
        </p:nvCxnSpPr>
        <p:spPr>
          <a:xfrm>
            <a:off x="5133812" y="3544391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81" name="Google Shape;2681;p57"/>
          <p:cNvSpPr/>
          <p:nvPr/>
        </p:nvSpPr>
        <p:spPr>
          <a:xfrm>
            <a:off x="482721" y="4036436"/>
            <a:ext cx="4642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2" name="Google Shape;2682;p57"/>
          <p:cNvCxnSpPr/>
          <p:nvPr/>
        </p:nvCxnSpPr>
        <p:spPr>
          <a:xfrm>
            <a:off x="482721" y="4045490"/>
            <a:ext cx="46422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83" name="Google Shape;2683;p57"/>
          <p:cNvCxnSpPr/>
          <p:nvPr/>
        </p:nvCxnSpPr>
        <p:spPr>
          <a:xfrm>
            <a:off x="491651" y="3799411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84" name="Google Shape;2684;p57"/>
          <p:cNvSpPr/>
          <p:nvPr/>
        </p:nvSpPr>
        <p:spPr>
          <a:xfrm>
            <a:off x="5124759" y="4036436"/>
            <a:ext cx="11031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5" name="Google Shape;2685;p57"/>
          <p:cNvCxnSpPr/>
          <p:nvPr/>
        </p:nvCxnSpPr>
        <p:spPr>
          <a:xfrm>
            <a:off x="5124759" y="4045490"/>
            <a:ext cx="11031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86" name="Google Shape;2686;p57"/>
          <p:cNvCxnSpPr/>
          <p:nvPr/>
        </p:nvCxnSpPr>
        <p:spPr>
          <a:xfrm>
            <a:off x="5133812" y="4036436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87" name="Google Shape;2687;p57"/>
          <p:cNvSpPr/>
          <p:nvPr/>
        </p:nvSpPr>
        <p:spPr>
          <a:xfrm>
            <a:off x="482721" y="4528482"/>
            <a:ext cx="4642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8" name="Google Shape;2688;p57"/>
          <p:cNvCxnSpPr/>
          <p:nvPr/>
        </p:nvCxnSpPr>
        <p:spPr>
          <a:xfrm>
            <a:off x="482721" y="4537535"/>
            <a:ext cx="46422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89" name="Google Shape;2689;p57"/>
          <p:cNvCxnSpPr/>
          <p:nvPr/>
        </p:nvCxnSpPr>
        <p:spPr>
          <a:xfrm>
            <a:off x="491651" y="4291457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90" name="Google Shape;2690;p57"/>
          <p:cNvSpPr/>
          <p:nvPr/>
        </p:nvSpPr>
        <p:spPr>
          <a:xfrm>
            <a:off x="5124759" y="4528482"/>
            <a:ext cx="11031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91" name="Google Shape;2691;p57"/>
          <p:cNvCxnSpPr/>
          <p:nvPr/>
        </p:nvCxnSpPr>
        <p:spPr>
          <a:xfrm>
            <a:off x="5124759" y="4537535"/>
            <a:ext cx="11031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92" name="Google Shape;2692;p57"/>
          <p:cNvCxnSpPr/>
          <p:nvPr/>
        </p:nvCxnSpPr>
        <p:spPr>
          <a:xfrm>
            <a:off x="5133812" y="4528482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93" name="Google Shape;2693;p57"/>
          <p:cNvSpPr/>
          <p:nvPr/>
        </p:nvSpPr>
        <p:spPr>
          <a:xfrm>
            <a:off x="482721" y="5020527"/>
            <a:ext cx="4642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94" name="Google Shape;2694;p57"/>
          <p:cNvCxnSpPr/>
          <p:nvPr/>
        </p:nvCxnSpPr>
        <p:spPr>
          <a:xfrm>
            <a:off x="482721" y="5029583"/>
            <a:ext cx="46422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95" name="Google Shape;2695;p57"/>
          <p:cNvCxnSpPr/>
          <p:nvPr/>
        </p:nvCxnSpPr>
        <p:spPr>
          <a:xfrm>
            <a:off x="491651" y="4783502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96" name="Google Shape;2696;p57"/>
          <p:cNvSpPr/>
          <p:nvPr/>
        </p:nvSpPr>
        <p:spPr>
          <a:xfrm>
            <a:off x="5124759" y="5020527"/>
            <a:ext cx="11031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97" name="Google Shape;2697;p57"/>
          <p:cNvCxnSpPr/>
          <p:nvPr/>
        </p:nvCxnSpPr>
        <p:spPr>
          <a:xfrm>
            <a:off x="5124759" y="5029583"/>
            <a:ext cx="11031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98" name="Google Shape;2698;p57"/>
          <p:cNvCxnSpPr/>
          <p:nvPr/>
        </p:nvCxnSpPr>
        <p:spPr>
          <a:xfrm>
            <a:off x="5133812" y="5020527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99" name="Google Shape;2699;p57"/>
          <p:cNvSpPr/>
          <p:nvPr/>
        </p:nvSpPr>
        <p:spPr>
          <a:xfrm>
            <a:off x="482721" y="5512573"/>
            <a:ext cx="4642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0" name="Google Shape;2700;p57"/>
          <p:cNvCxnSpPr/>
          <p:nvPr/>
        </p:nvCxnSpPr>
        <p:spPr>
          <a:xfrm>
            <a:off x="482721" y="5521628"/>
            <a:ext cx="46422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701" name="Google Shape;2701;p57"/>
          <p:cNvCxnSpPr/>
          <p:nvPr/>
        </p:nvCxnSpPr>
        <p:spPr>
          <a:xfrm>
            <a:off x="491651" y="5275548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702" name="Google Shape;2702;p57"/>
          <p:cNvSpPr/>
          <p:nvPr/>
        </p:nvSpPr>
        <p:spPr>
          <a:xfrm>
            <a:off x="5124759" y="5512573"/>
            <a:ext cx="11031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3" name="Google Shape;2703;p57"/>
          <p:cNvCxnSpPr/>
          <p:nvPr/>
        </p:nvCxnSpPr>
        <p:spPr>
          <a:xfrm>
            <a:off x="5124759" y="5521628"/>
            <a:ext cx="11031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704" name="Google Shape;2704;p57"/>
          <p:cNvCxnSpPr/>
          <p:nvPr/>
        </p:nvCxnSpPr>
        <p:spPr>
          <a:xfrm>
            <a:off x="5133812" y="5512573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705" name="Google Shape;2705;p57"/>
          <p:cNvSpPr/>
          <p:nvPr/>
        </p:nvSpPr>
        <p:spPr>
          <a:xfrm>
            <a:off x="482721" y="6004618"/>
            <a:ext cx="4642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6" name="Google Shape;2706;p57"/>
          <p:cNvCxnSpPr/>
          <p:nvPr/>
        </p:nvCxnSpPr>
        <p:spPr>
          <a:xfrm>
            <a:off x="482721" y="6013674"/>
            <a:ext cx="46422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707" name="Google Shape;2707;p57"/>
          <p:cNvCxnSpPr/>
          <p:nvPr/>
        </p:nvCxnSpPr>
        <p:spPr>
          <a:xfrm>
            <a:off x="491651" y="5767593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708" name="Google Shape;2708;p57"/>
          <p:cNvSpPr/>
          <p:nvPr/>
        </p:nvSpPr>
        <p:spPr>
          <a:xfrm>
            <a:off x="5124759" y="6004618"/>
            <a:ext cx="11031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9" name="Google Shape;2709;p57"/>
          <p:cNvCxnSpPr/>
          <p:nvPr/>
        </p:nvCxnSpPr>
        <p:spPr>
          <a:xfrm>
            <a:off x="5124759" y="6013674"/>
            <a:ext cx="11031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710" name="Google Shape;2710;p57"/>
          <p:cNvCxnSpPr/>
          <p:nvPr/>
        </p:nvCxnSpPr>
        <p:spPr>
          <a:xfrm>
            <a:off x="5133812" y="6004618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711" name="Google Shape;2711;p57"/>
          <p:cNvSpPr/>
          <p:nvPr/>
        </p:nvSpPr>
        <p:spPr>
          <a:xfrm>
            <a:off x="482721" y="6496664"/>
            <a:ext cx="46422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12" name="Google Shape;2712;p57"/>
          <p:cNvCxnSpPr/>
          <p:nvPr/>
        </p:nvCxnSpPr>
        <p:spPr>
          <a:xfrm>
            <a:off x="482721" y="6505719"/>
            <a:ext cx="46422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713" name="Google Shape;2713;p57"/>
          <p:cNvCxnSpPr/>
          <p:nvPr/>
        </p:nvCxnSpPr>
        <p:spPr>
          <a:xfrm>
            <a:off x="491651" y="6259639"/>
            <a:ext cx="0" cy="5100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714" name="Google Shape;2714;p57"/>
          <p:cNvSpPr/>
          <p:nvPr/>
        </p:nvSpPr>
        <p:spPr>
          <a:xfrm>
            <a:off x="5124759" y="6496664"/>
            <a:ext cx="11031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15" name="Google Shape;2715;p57"/>
          <p:cNvCxnSpPr/>
          <p:nvPr/>
        </p:nvCxnSpPr>
        <p:spPr>
          <a:xfrm>
            <a:off x="5124759" y="6505719"/>
            <a:ext cx="11031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716" name="Google Shape;2716;p57"/>
          <p:cNvCxnSpPr/>
          <p:nvPr/>
        </p:nvCxnSpPr>
        <p:spPr>
          <a:xfrm>
            <a:off x="5133812" y="6496664"/>
            <a:ext cx="0" cy="5100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717" name="Google Shape;2717;p57"/>
          <p:cNvSpPr/>
          <p:nvPr/>
        </p:nvSpPr>
        <p:spPr>
          <a:xfrm>
            <a:off x="7690247" y="3962846"/>
            <a:ext cx="4101703" cy="1314004"/>
          </a:xfrm>
          <a:prstGeom prst="roundRect">
            <a:avLst>
              <a:gd fmla="val 3624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18" name="Google Shape;2718;p57"/>
          <p:cNvCxnSpPr/>
          <p:nvPr/>
        </p:nvCxnSpPr>
        <p:spPr>
          <a:xfrm>
            <a:off x="7714059" y="3962846"/>
            <a:ext cx="0" cy="1314004"/>
          </a:xfrm>
          <a:prstGeom prst="straightConnector1">
            <a:avLst/>
          </a:prstGeom>
          <a:noFill/>
          <a:ln cap="flat" cmpd="sng" w="47625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9" name="Google Shape;2719;p57"/>
          <p:cNvSpPr/>
          <p:nvPr/>
        </p:nvSpPr>
        <p:spPr>
          <a:xfrm>
            <a:off x="7690247" y="5352157"/>
            <a:ext cx="4101703" cy="1478905"/>
          </a:xfrm>
          <a:prstGeom prst="roundRect">
            <a:avLst>
              <a:gd fmla="val 322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0" name="Google Shape;2720;p57"/>
          <p:cNvSpPr txBox="1"/>
          <p:nvPr/>
        </p:nvSpPr>
        <p:spPr>
          <a:xfrm>
            <a:off x="400050" y="161925"/>
            <a:ext cx="276731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3"/>
              <a:buFont typeface="Arial"/>
              <a:buNone/>
            </a:pPr>
            <a:r>
              <a:rPr b="0" i="0" lang="en-US" sz="2343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Inventário de grupos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1" name="Google Shape;2721;p57"/>
          <p:cNvSpPr txBox="1"/>
          <p:nvPr/>
        </p:nvSpPr>
        <p:spPr>
          <a:xfrm>
            <a:off x="555834" y="1130849"/>
            <a:ext cx="44967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1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Grupo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2" name="Google Shape;2722;p57"/>
          <p:cNvSpPr txBox="1"/>
          <p:nvPr/>
        </p:nvSpPr>
        <p:spPr>
          <a:xfrm>
            <a:off x="5197080" y="1130849"/>
            <a:ext cx="958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1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3" name="Google Shape;2723;p57"/>
          <p:cNvSpPr txBox="1"/>
          <p:nvPr/>
        </p:nvSpPr>
        <p:spPr>
          <a:xfrm>
            <a:off x="555834" y="1622894"/>
            <a:ext cx="44967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Tumor primário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4" name="Google Shape;2724;p57"/>
          <p:cNvSpPr txBox="1"/>
          <p:nvPr/>
        </p:nvSpPr>
        <p:spPr>
          <a:xfrm>
            <a:off x="5197080" y="1622894"/>
            <a:ext cx="958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369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5" name="Google Shape;2725;p57"/>
          <p:cNvSpPr txBox="1"/>
          <p:nvPr/>
        </p:nvSpPr>
        <p:spPr>
          <a:xfrm>
            <a:off x="555834" y="2114940"/>
            <a:ext cx="44967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Tecido adjacente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6" name="Google Shape;2726;p57"/>
          <p:cNvSpPr txBox="1"/>
          <p:nvPr/>
        </p:nvSpPr>
        <p:spPr>
          <a:xfrm>
            <a:off x="5197080" y="2114940"/>
            <a:ext cx="958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7" name="Google Shape;2727;p57"/>
          <p:cNvSpPr txBox="1"/>
          <p:nvPr/>
        </p:nvSpPr>
        <p:spPr>
          <a:xfrm>
            <a:off x="555834" y="2606985"/>
            <a:ext cx="44967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GTEx normal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8" name="Google Shape;2728;p57"/>
          <p:cNvSpPr txBox="1"/>
          <p:nvPr/>
        </p:nvSpPr>
        <p:spPr>
          <a:xfrm>
            <a:off x="5197080" y="2606985"/>
            <a:ext cx="958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110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9" name="Google Shape;2729;p57"/>
          <p:cNvSpPr txBox="1"/>
          <p:nvPr/>
        </p:nvSpPr>
        <p:spPr>
          <a:xfrm>
            <a:off x="555834" y="3099031"/>
            <a:ext cx="44967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1" i="0" lang="en-US" sz="2196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Recidiva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0" name="Google Shape;2730;p57"/>
          <p:cNvSpPr txBox="1"/>
          <p:nvPr/>
        </p:nvSpPr>
        <p:spPr>
          <a:xfrm>
            <a:off x="5197080" y="3099031"/>
            <a:ext cx="958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1" i="0" lang="en-US" sz="2196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1" name="Google Shape;2731;p57"/>
          <p:cNvSpPr txBox="1"/>
          <p:nvPr/>
        </p:nvSpPr>
        <p:spPr>
          <a:xfrm>
            <a:off x="555834" y="3591076"/>
            <a:ext cx="44967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HCC clássico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2" name="Google Shape;2732;p57"/>
          <p:cNvSpPr txBox="1"/>
          <p:nvPr/>
        </p:nvSpPr>
        <p:spPr>
          <a:xfrm>
            <a:off x="5197080" y="3591076"/>
            <a:ext cx="958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359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3" name="Google Shape;2733;p57"/>
          <p:cNvSpPr txBox="1"/>
          <p:nvPr/>
        </p:nvSpPr>
        <p:spPr>
          <a:xfrm>
            <a:off x="555834" y="4083121"/>
            <a:ext cx="44967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Hepatocolangiocarcinoma misto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4" name="Google Shape;2734;p57"/>
          <p:cNvSpPr txBox="1"/>
          <p:nvPr/>
        </p:nvSpPr>
        <p:spPr>
          <a:xfrm>
            <a:off x="5197080" y="4083121"/>
            <a:ext cx="958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5" name="Google Shape;2735;p57"/>
          <p:cNvSpPr txBox="1"/>
          <p:nvPr/>
        </p:nvSpPr>
        <p:spPr>
          <a:xfrm>
            <a:off x="555834" y="4575169"/>
            <a:ext cx="44967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Fibrolamelar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6" name="Google Shape;2736;p57"/>
          <p:cNvSpPr txBox="1"/>
          <p:nvPr/>
        </p:nvSpPr>
        <p:spPr>
          <a:xfrm>
            <a:off x="5197080" y="4575169"/>
            <a:ext cx="958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7" name="Google Shape;2737;p57"/>
          <p:cNvSpPr txBox="1"/>
          <p:nvPr/>
        </p:nvSpPr>
        <p:spPr>
          <a:xfrm>
            <a:off x="555834" y="5067214"/>
            <a:ext cx="44967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HBV (marcador)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8" name="Google Shape;2738;p57"/>
          <p:cNvSpPr txBox="1"/>
          <p:nvPr/>
        </p:nvSpPr>
        <p:spPr>
          <a:xfrm>
            <a:off x="5197080" y="5067214"/>
            <a:ext cx="958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59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9" name="Google Shape;2739;p57"/>
          <p:cNvSpPr txBox="1"/>
          <p:nvPr/>
        </p:nvSpPr>
        <p:spPr>
          <a:xfrm>
            <a:off x="555834" y="5559260"/>
            <a:ext cx="44967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HCV (marcador)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0" name="Google Shape;2740;p57"/>
          <p:cNvSpPr txBox="1"/>
          <p:nvPr/>
        </p:nvSpPr>
        <p:spPr>
          <a:xfrm>
            <a:off x="5197080" y="5559260"/>
            <a:ext cx="958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1" name="Google Shape;2741;p57"/>
          <p:cNvSpPr txBox="1"/>
          <p:nvPr/>
        </p:nvSpPr>
        <p:spPr>
          <a:xfrm>
            <a:off x="555834" y="6051305"/>
            <a:ext cx="44967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HBV+HCV (marcadores)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2" name="Google Shape;2742;p57"/>
          <p:cNvSpPr txBox="1"/>
          <p:nvPr/>
        </p:nvSpPr>
        <p:spPr>
          <a:xfrm>
            <a:off x="5197080" y="6051305"/>
            <a:ext cx="958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85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3" name="Google Shape;2743;p57"/>
          <p:cNvSpPr txBox="1"/>
          <p:nvPr/>
        </p:nvSpPr>
        <p:spPr>
          <a:xfrm>
            <a:off x="5197080" y="6543351"/>
            <a:ext cx="958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206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4" name="Google Shape;2744;p57"/>
          <p:cNvSpPr txBox="1"/>
          <p:nvPr/>
        </p:nvSpPr>
        <p:spPr>
          <a:xfrm>
            <a:off x="7888635" y="4247406"/>
            <a:ext cx="20066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1" i="0" lang="en-US" sz="148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38 centros TCGA (TSS)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5" name="Google Shape;2745;p57"/>
          <p:cNvSpPr txBox="1"/>
          <p:nvPr/>
        </p:nvSpPr>
        <p:spPr>
          <a:xfrm>
            <a:off x="9857184" y="4247406"/>
            <a:ext cx="79028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6" name="Google Shape;2746;p57"/>
          <p:cNvSpPr txBox="1"/>
          <p:nvPr/>
        </p:nvSpPr>
        <p:spPr>
          <a:xfrm>
            <a:off x="9949755" y="4275981"/>
            <a:ext cx="25911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DD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7" name="Google Shape;2747;p57"/>
          <p:cNvSpPr txBox="1"/>
          <p:nvPr/>
        </p:nvSpPr>
        <p:spPr>
          <a:xfrm>
            <a:off x="10222260" y="4247406"/>
            <a:ext cx="121667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concentra 144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8" name="Google Shape;2748;p57"/>
          <p:cNvSpPr txBox="1"/>
          <p:nvPr/>
        </p:nvSpPr>
        <p:spPr>
          <a:xfrm>
            <a:off x="7888635" y="4502051"/>
            <a:ext cx="3563094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tumores (39,0%). É uma fonte potencial 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9" name="Google Shape;2749;p57"/>
          <p:cNvSpPr txBox="1"/>
          <p:nvPr/>
        </p:nvSpPr>
        <p:spPr>
          <a:xfrm>
            <a:off x="7888635" y="4737646"/>
            <a:ext cx="1837581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efeito de lote técnico.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0" name="Google Shape;2750;p57"/>
          <p:cNvSpPr txBox="1"/>
          <p:nvPr/>
        </p:nvSpPr>
        <p:spPr>
          <a:xfrm>
            <a:off x="7797701" y="5605909"/>
            <a:ext cx="1489918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Códigos de amostra: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1" name="Google Shape;2751;p57"/>
          <p:cNvSpPr txBox="1"/>
          <p:nvPr/>
        </p:nvSpPr>
        <p:spPr>
          <a:xfrm>
            <a:off x="9290745" y="5605909"/>
            <a:ext cx="109314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TCGA-XX-YYYY-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2" name="Google Shape;2752;p57"/>
          <p:cNvSpPr txBox="1"/>
          <p:nvPr/>
        </p:nvSpPr>
        <p:spPr>
          <a:xfrm>
            <a:off x="10345787" y="5605909"/>
            <a:ext cx="211782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3" name="Google Shape;2753;p57"/>
          <p:cNvSpPr txBox="1"/>
          <p:nvPr/>
        </p:nvSpPr>
        <p:spPr>
          <a:xfrm>
            <a:off x="10560695" y="5605909"/>
            <a:ext cx="59010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tumor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4" name="Google Shape;2754;p57"/>
          <p:cNvSpPr txBox="1"/>
          <p:nvPr/>
        </p:nvSpPr>
        <p:spPr>
          <a:xfrm>
            <a:off x="7797701" y="5794474"/>
            <a:ext cx="6326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primário;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5" name="Google Shape;2755;p57"/>
          <p:cNvSpPr txBox="1"/>
          <p:nvPr/>
        </p:nvSpPr>
        <p:spPr>
          <a:xfrm>
            <a:off x="8433643" y="5794474"/>
            <a:ext cx="272802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6" name="Google Shape;2756;p57"/>
          <p:cNvSpPr txBox="1"/>
          <p:nvPr/>
        </p:nvSpPr>
        <p:spPr>
          <a:xfrm>
            <a:off x="8709571" y="5794474"/>
            <a:ext cx="727472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recidiva;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7" name="Google Shape;2757;p57"/>
          <p:cNvSpPr txBox="1"/>
          <p:nvPr/>
        </p:nvSpPr>
        <p:spPr>
          <a:xfrm>
            <a:off x="9440317" y="5794474"/>
            <a:ext cx="272802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8" name="Google Shape;2758;p57"/>
          <p:cNvSpPr txBox="1"/>
          <p:nvPr/>
        </p:nvSpPr>
        <p:spPr>
          <a:xfrm>
            <a:off x="9716244" y="5794474"/>
            <a:ext cx="1313259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tecido adjacente.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9" name="Google Shape;2759;p57"/>
          <p:cNvSpPr txBox="1"/>
          <p:nvPr/>
        </p:nvSpPr>
        <p:spPr>
          <a:xfrm>
            <a:off x="11032778" y="5794474"/>
            <a:ext cx="295721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0" name="Google Shape;2760;p57"/>
          <p:cNvSpPr txBox="1"/>
          <p:nvPr/>
        </p:nvSpPr>
        <p:spPr>
          <a:xfrm>
            <a:off x="11331625" y="5794474"/>
            <a:ext cx="141536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1" name="Google Shape;2761;p57"/>
          <p:cNvSpPr txBox="1"/>
          <p:nvPr/>
        </p:nvSpPr>
        <p:spPr>
          <a:xfrm>
            <a:off x="7797701" y="5983039"/>
            <a:ext cx="1183779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1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Tissue Source Site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2" name="Google Shape;2762;p57"/>
          <p:cNvSpPr txBox="1"/>
          <p:nvPr/>
        </p:nvSpPr>
        <p:spPr>
          <a:xfrm>
            <a:off x="8943380" y="5983039"/>
            <a:ext cx="250150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o centro que coletou a amostra (ex.: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3" name="Google Shape;2763;p57"/>
          <p:cNvSpPr txBox="1"/>
          <p:nvPr/>
        </p:nvSpPr>
        <p:spPr>
          <a:xfrm>
            <a:off x="7797701" y="6190655"/>
            <a:ext cx="214908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DD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4" name="Google Shape;2764;p57"/>
          <p:cNvSpPr txBox="1"/>
          <p:nvPr/>
        </p:nvSpPr>
        <p:spPr>
          <a:xfrm>
            <a:off x="7974509" y="6171605"/>
            <a:ext cx="11638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5" name="Google Shape;2765;p57"/>
          <p:cNvSpPr txBox="1"/>
          <p:nvPr/>
        </p:nvSpPr>
        <p:spPr>
          <a:xfrm>
            <a:off x="8094166" y="6171605"/>
            <a:ext cx="71794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Unknown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6" name="Google Shape;2766;p57"/>
          <p:cNvSpPr txBox="1"/>
          <p:nvPr/>
        </p:nvSpPr>
        <p:spPr>
          <a:xfrm>
            <a:off x="8815239" y="6171605"/>
            <a:ext cx="1851422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sorologia não informada;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7" name="Google Shape;2767;p57"/>
          <p:cNvSpPr txBox="1"/>
          <p:nvPr/>
        </p:nvSpPr>
        <p:spPr>
          <a:xfrm>
            <a:off x="10669935" y="6171605"/>
            <a:ext cx="30286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8" name="Google Shape;2768;p57"/>
          <p:cNvSpPr txBox="1"/>
          <p:nvPr/>
        </p:nvSpPr>
        <p:spPr>
          <a:xfrm>
            <a:off x="10975925" y="6171605"/>
            <a:ext cx="57983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significa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9" name="Google Shape;2769;p57"/>
          <p:cNvSpPr txBox="1"/>
          <p:nvPr/>
        </p:nvSpPr>
        <p:spPr>
          <a:xfrm>
            <a:off x="7797701" y="6369695"/>
            <a:ext cx="809476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“sem vírus”.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0" name="Google Shape;2770;p57"/>
          <p:cNvSpPr txBox="1"/>
          <p:nvPr/>
        </p:nvSpPr>
        <p:spPr>
          <a:xfrm>
            <a:off x="555825" y="6543350"/>
            <a:ext cx="29991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Viral</a:t>
            </a:r>
            <a:r>
              <a:rPr lang="en-US" sz="2662"/>
              <a:t> </a:t>
            </a: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(não informado)</a:t>
            </a:r>
            <a:endParaRPr sz="2662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4" name="Shape 2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" name="Google Shape;2775;p58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76" name="Google Shape;2776;p58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7" name="Google Shape;2777;p58"/>
          <p:cNvSpPr/>
          <p:nvPr/>
        </p:nvSpPr>
        <p:spPr>
          <a:xfrm>
            <a:off x="7705130" y="825252"/>
            <a:ext cx="4086820" cy="1507331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8" name="Google Shape;2778;p58"/>
          <p:cNvSpPr/>
          <p:nvPr/>
        </p:nvSpPr>
        <p:spPr>
          <a:xfrm>
            <a:off x="7709892" y="830014"/>
            <a:ext cx="559445" cy="226219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79" name="Google Shape;2779;p58"/>
          <p:cNvCxnSpPr/>
          <p:nvPr/>
        </p:nvCxnSpPr>
        <p:spPr>
          <a:xfrm>
            <a:off x="7709892" y="834777"/>
            <a:ext cx="559445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0" name="Google Shape;2780;p58"/>
          <p:cNvCxnSpPr/>
          <p:nvPr/>
        </p:nvCxnSpPr>
        <p:spPr>
          <a:xfrm>
            <a:off x="7714655" y="830014"/>
            <a:ext cx="0" cy="226219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1" name="Google Shape;2781;p58"/>
          <p:cNvSpPr/>
          <p:nvPr/>
        </p:nvSpPr>
        <p:spPr>
          <a:xfrm>
            <a:off x="8269337" y="830014"/>
            <a:ext cx="1412230" cy="226219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2" name="Google Shape;2782;p58"/>
          <p:cNvCxnSpPr/>
          <p:nvPr/>
        </p:nvCxnSpPr>
        <p:spPr>
          <a:xfrm>
            <a:off x="8269337" y="834777"/>
            <a:ext cx="1412230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3" name="Google Shape;2783;p58"/>
          <p:cNvCxnSpPr/>
          <p:nvPr/>
        </p:nvCxnSpPr>
        <p:spPr>
          <a:xfrm>
            <a:off x="8274100" y="830014"/>
            <a:ext cx="0" cy="226219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4" name="Google Shape;2784;p58"/>
          <p:cNvSpPr/>
          <p:nvPr/>
        </p:nvSpPr>
        <p:spPr>
          <a:xfrm>
            <a:off x="9681567" y="830014"/>
            <a:ext cx="841772" cy="226219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5" name="Google Shape;2785;p58"/>
          <p:cNvCxnSpPr/>
          <p:nvPr/>
        </p:nvCxnSpPr>
        <p:spPr>
          <a:xfrm>
            <a:off x="9681567" y="834777"/>
            <a:ext cx="841772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6" name="Google Shape;2786;p58"/>
          <p:cNvCxnSpPr/>
          <p:nvPr/>
        </p:nvCxnSpPr>
        <p:spPr>
          <a:xfrm>
            <a:off x="9686330" y="830014"/>
            <a:ext cx="0" cy="226219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7" name="Google Shape;2787;p58"/>
          <p:cNvSpPr/>
          <p:nvPr/>
        </p:nvSpPr>
        <p:spPr>
          <a:xfrm>
            <a:off x="10523339" y="830014"/>
            <a:ext cx="1263848" cy="226219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8" name="Google Shape;2788;p58"/>
          <p:cNvCxnSpPr/>
          <p:nvPr/>
        </p:nvCxnSpPr>
        <p:spPr>
          <a:xfrm>
            <a:off x="10523339" y="834777"/>
            <a:ext cx="1263849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9" name="Google Shape;2789;p58"/>
          <p:cNvCxnSpPr/>
          <p:nvPr/>
        </p:nvCxnSpPr>
        <p:spPr>
          <a:xfrm>
            <a:off x="10528102" y="830014"/>
            <a:ext cx="0" cy="226219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0" name="Google Shape;2790;p58"/>
          <p:cNvSpPr/>
          <p:nvPr/>
        </p:nvSpPr>
        <p:spPr>
          <a:xfrm>
            <a:off x="7709892" y="1056233"/>
            <a:ext cx="559445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1" name="Google Shape;2791;p58"/>
          <p:cNvCxnSpPr/>
          <p:nvPr/>
        </p:nvCxnSpPr>
        <p:spPr>
          <a:xfrm>
            <a:off x="7709892" y="1060996"/>
            <a:ext cx="559445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92" name="Google Shape;2792;p58"/>
          <p:cNvCxnSpPr/>
          <p:nvPr/>
        </p:nvCxnSpPr>
        <p:spPr>
          <a:xfrm>
            <a:off x="7714655" y="1056233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3" name="Google Shape;2793;p58"/>
          <p:cNvSpPr/>
          <p:nvPr/>
        </p:nvSpPr>
        <p:spPr>
          <a:xfrm>
            <a:off x="8269337" y="1056233"/>
            <a:ext cx="1412230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4" name="Google Shape;2794;p58"/>
          <p:cNvCxnSpPr/>
          <p:nvPr/>
        </p:nvCxnSpPr>
        <p:spPr>
          <a:xfrm>
            <a:off x="8269337" y="1060996"/>
            <a:ext cx="141223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95" name="Google Shape;2795;p58"/>
          <p:cNvCxnSpPr/>
          <p:nvPr/>
        </p:nvCxnSpPr>
        <p:spPr>
          <a:xfrm>
            <a:off x="8274100" y="1056233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6" name="Google Shape;2796;p58"/>
          <p:cNvSpPr/>
          <p:nvPr/>
        </p:nvSpPr>
        <p:spPr>
          <a:xfrm>
            <a:off x="9681567" y="1056233"/>
            <a:ext cx="841772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7" name="Google Shape;2797;p58"/>
          <p:cNvCxnSpPr/>
          <p:nvPr/>
        </p:nvCxnSpPr>
        <p:spPr>
          <a:xfrm>
            <a:off x="9681567" y="1060996"/>
            <a:ext cx="8417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98" name="Google Shape;2798;p58"/>
          <p:cNvCxnSpPr/>
          <p:nvPr/>
        </p:nvCxnSpPr>
        <p:spPr>
          <a:xfrm>
            <a:off x="9686330" y="1056233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9" name="Google Shape;2799;p58"/>
          <p:cNvSpPr/>
          <p:nvPr/>
        </p:nvSpPr>
        <p:spPr>
          <a:xfrm>
            <a:off x="10523339" y="1056233"/>
            <a:ext cx="1263848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0" name="Google Shape;2800;p58"/>
          <p:cNvCxnSpPr/>
          <p:nvPr/>
        </p:nvCxnSpPr>
        <p:spPr>
          <a:xfrm>
            <a:off x="10523339" y="1060996"/>
            <a:ext cx="126384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01" name="Google Shape;2801;p58"/>
          <p:cNvCxnSpPr/>
          <p:nvPr/>
        </p:nvCxnSpPr>
        <p:spPr>
          <a:xfrm>
            <a:off x="10528102" y="1056233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2" name="Google Shape;2802;p58"/>
          <p:cNvSpPr/>
          <p:nvPr/>
        </p:nvSpPr>
        <p:spPr>
          <a:xfrm>
            <a:off x="7709892" y="1268164"/>
            <a:ext cx="559445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3" name="Google Shape;2803;p58"/>
          <p:cNvCxnSpPr/>
          <p:nvPr/>
        </p:nvCxnSpPr>
        <p:spPr>
          <a:xfrm>
            <a:off x="7709892" y="1272927"/>
            <a:ext cx="559445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04" name="Google Shape;2804;p58"/>
          <p:cNvCxnSpPr/>
          <p:nvPr/>
        </p:nvCxnSpPr>
        <p:spPr>
          <a:xfrm>
            <a:off x="7714655" y="1268164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5" name="Google Shape;2805;p58"/>
          <p:cNvSpPr/>
          <p:nvPr/>
        </p:nvSpPr>
        <p:spPr>
          <a:xfrm>
            <a:off x="8269337" y="1268164"/>
            <a:ext cx="1412230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6" name="Google Shape;2806;p58"/>
          <p:cNvCxnSpPr/>
          <p:nvPr/>
        </p:nvCxnSpPr>
        <p:spPr>
          <a:xfrm>
            <a:off x="8269337" y="1272927"/>
            <a:ext cx="141223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07" name="Google Shape;2807;p58"/>
          <p:cNvCxnSpPr/>
          <p:nvPr/>
        </p:nvCxnSpPr>
        <p:spPr>
          <a:xfrm>
            <a:off x="8274100" y="1268164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8" name="Google Shape;2808;p58"/>
          <p:cNvSpPr/>
          <p:nvPr/>
        </p:nvSpPr>
        <p:spPr>
          <a:xfrm>
            <a:off x="9681567" y="1268164"/>
            <a:ext cx="841772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9" name="Google Shape;2809;p58"/>
          <p:cNvCxnSpPr/>
          <p:nvPr/>
        </p:nvCxnSpPr>
        <p:spPr>
          <a:xfrm>
            <a:off x="9681567" y="1272927"/>
            <a:ext cx="8417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0" name="Google Shape;2810;p58"/>
          <p:cNvCxnSpPr/>
          <p:nvPr/>
        </p:nvCxnSpPr>
        <p:spPr>
          <a:xfrm>
            <a:off x="9686330" y="1268164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1" name="Google Shape;2811;p58"/>
          <p:cNvSpPr/>
          <p:nvPr/>
        </p:nvSpPr>
        <p:spPr>
          <a:xfrm>
            <a:off x="10523339" y="1268164"/>
            <a:ext cx="1263848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2" name="Google Shape;2812;p58"/>
          <p:cNvCxnSpPr/>
          <p:nvPr/>
        </p:nvCxnSpPr>
        <p:spPr>
          <a:xfrm>
            <a:off x="10523339" y="1272927"/>
            <a:ext cx="126384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3" name="Google Shape;2813;p58"/>
          <p:cNvCxnSpPr/>
          <p:nvPr/>
        </p:nvCxnSpPr>
        <p:spPr>
          <a:xfrm>
            <a:off x="10528102" y="1268164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4" name="Google Shape;2814;p58"/>
          <p:cNvSpPr/>
          <p:nvPr/>
        </p:nvSpPr>
        <p:spPr>
          <a:xfrm>
            <a:off x="7709892" y="1480096"/>
            <a:ext cx="559445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5" name="Google Shape;2815;p58"/>
          <p:cNvCxnSpPr/>
          <p:nvPr/>
        </p:nvCxnSpPr>
        <p:spPr>
          <a:xfrm>
            <a:off x="7709892" y="1484858"/>
            <a:ext cx="559445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6" name="Google Shape;2816;p58"/>
          <p:cNvCxnSpPr/>
          <p:nvPr/>
        </p:nvCxnSpPr>
        <p:spPr>
          <a:xfrm>
            <a:off x="7714655" y="1480096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7" name="Google Shape;2817;p58"/>
          <p:cNvSpPr/>
          <p:nvPr/>
        </p:nvSpPr>
        <p:spPr>
          <a:xfrm>
            <a:off x="8269337" y="1480096"/>
            <a:ext cx="1412230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8" name="Google Shape;2818;p58"/>
          <p:cNvCxnSpPr/>
          <p:nvPr/>
        </p:nvCxnSpPr>
        <p:spPr>
          <a:xfrm>
            <a:off x="8269337" y="1484858"/>
            <a:ext cx="141223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9" name="Google Shape;2819;p58"/>
          <p:cNvCxnSpPr/>
          <p:nvPr/>
        </p:nvCxnSpPr>
        <p:spPr>
          <a:xfrm>
            <a:off x="8274100" y="1480096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0" name="Google Shape;2820;p58"/>
          <p:cNvSpPr/>
          <p:nvPr/>
        </p:nvSpPr>
        <p:spPr>
          <a:xfrm>
            <a:off x="9681567" y="1480096"/>
            <a:ext cx="841772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1" name="Google Shape;2821;p58"/>
          <p:cNvCxnSpPr/>
          <p:nvPr/>
        </p:nvCxnSpPr>
        <p:spPr>
          <a:xfrm>
            <a:off x="9681567" y="1484858"/>
            <a:ext cx="8417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2" name="Google Shape;2822;p58"/>
          <p:cNvCxnSpPr/>
          <p:nvPr/>
        </p:nvCxnSpPr>
        <p:spPr>
          <a:xfrm>
            <a:off x="9686330" y="1480096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3" name="Google Shape;2823;p58"/>
          <p:cNvSpPr/>
          <p:nvPr/>
        </p:nvSpPr>
        <p:spPr>
          <a:xfrm>
            <a:off x="10523339" y="1480096"/>
            <a:ext cx="1263848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4" name="Google Shape;2824;p58"/>
          <p:cNvCxnSpPr/>
          <p:nvPr/>
        </p:nvCxnSpPr>
        <p:spPr>
          <a:xfrm>
            <a:off x="10523339" y="1484858"/>
            <a:ext cx="126384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5" name="Google Shape;2825;p58"/>
          <p:cNvCxnSpPr/>
          <p:nvPr/>
        </p:nvCxnSpPr>
        <p:spPr>
          <a:xfrm>
            <a:off x="10528102" y="1480096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6" name="Google Shape;2826;p58"/>
          <p:cNvSpPr/>
          <p:nvPr/>
        </p:nvSpPr>
        <p:spPr>
          <a:xfrm>
            <a:off x="7709892" y="1692027"/>
            <a:ext cx="559445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7" name="Google Shape;2827;p58"/>
          <p:cNvCxnSpPr/>
          <p:nvPr/>
        </p:nvCxnSpPr>
        <p:spPr>
          <a:xfrm>
            <a:off x="7709892" y="1696789"/>
            <a:ext cx="559445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8" name="Google Shape;2828;p58"/>
          <p:cNvCxnSpPr/>
          <p:nvPr/>
        </p:nvCxnSpPr>
        <p:spPr>
          <a:xfrm>
            <a:off x="7714655" y="1692027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9" name="Google Shape;2829;p58"/>
          <p:cNvSpPr/>
          <p:nvPr/>
        </p:nvSpPr>
        <p:spPr>
          <a:xfrm>
            <a:off x="8269337" y="1692027"/>
            <a:ext cx="1412230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0" name="Google Shape;2830;p58"/>
          <p:cNvCxnSpPr/>
          <p:nvPr/>
        </p:nvCxnSpPr>
        <p:spPr>
          <a:xfrm>
            <a:off x="8269337" y="1696789"/>
            <a:ext cx="141223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1" name="Google Shape;2831;p58"/>
          <p:cNvCxnSpPr/>
          <p:nvPr/>
        </p:nvCxnSpPr>
        <p:spPr>
          <a:xfrm>
            <a:off x="8274100" y="1692027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2" name="Google Shape;2832;p58"/>
          <p:cNvSpPr/>
          <p:nvPr/>
        </p:nvSpPr>
        <p:spPr>
          <a:xfrm>
            <a:off x="9681567" y="1692027"/>
            <a:ext cx="841772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3" name="Google Shape;2833;p58"/>
          <p:cNvCxnSpPr/>
          <p:nvPr/>
        </p:nvCxnSpPr>
        <p:spPr>
          <a:xfrm>
            <a:off x="9681567" y="1696789"/>
            <a:ext cx="8417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4" name="Google Shape;2834;p58"/>
          <p:cNvCxnSpPr/>
          <p:nvPr/>
        </p:nvCxnSpPr>
        <p:spPr>
          <a:xfrm>
            <a:off x="9686330" y="1692027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5" name="Google Shape;2835;p58"/>
          <p:cNvSpPr/>
          <p:nvPr/>
        </p:nvSpPr>
        <p:spPr>
          <a:xfrm>
            <a:off x="10523339" y="1692027"/>
            <a:ext cx="1263848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6" name="Google Shape;2836;p58"/>
          <p:cNvCxnSpPr/>
          <p:nvPr/>
        </p:nvCxnSpPr>
        <p:spPr>
          <a:xfrm>
            <a:off x="10523339" y="1696789"/>
            <a:ext cx="126384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7" name="Google Shape;2837;p58"/>
          <p:cNvCxnSpPr/>
          <p:nvPr/>
        </p:nvCxnSpPr>
        <p:spPr>
          <a:xfrm>
            <a:off x="10528102" y="1692027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8" name="Google Shape;2838;p58"/>
          <p:cNvSpPr/>
          <p:nvPr/>
        </p:nvSpPr>
        <p:spPr>
          <a:xfrm>
            <a:off x="7709892" y="1903958"/>
            <a:ext cx="559445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9" name="Google Shape;2839;p58"/>
          <p:cNvCxnSpPr/>
          <p:nvPr/>
        </p:nvCxnSpPr>
        <p:spPr>
          <a:xfrm>
            <a:off x="7709892" y="1908721"/>
            <a:ext cx="559445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0" name="Google Shape;2840;p58"/>
          <p:cNvCxnSpPr/>
          <p:nvPr/>
        </p:nvCxnSpPr>
        <p:spPr>
          <a:xfrm>
            <a:off x="7714655" y="1903958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1" name="Google Shape;2841;p58"/>
          <p:cNvSpPr/>
          <p:nvPr/>
        </p:nvSpPr>
        <p:spPr>
          <a:xfrm>
            <a:off x="8269337" y="1903958"/>
            <a:ext cx="1412230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2" name="Google Shape;2842;p58"/>
          <p:cNvCxnSpPr/>
          <p:nvPr/>
        </p:nvCxnSpPr>
        <p:spPr>
          <a:xfrm>
            <a:off x="8269337" y="1908721"/>
            <a:ext cx="141223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3" name="Google Shape;2843;p58"/>
          <p:cNvCxnSpPr/>
          <p:nvPr/>
        </p:nvCxnSpPr>
        <p:spPr>
          <a:xfrm>
            <a:off x="8274100" y="1903958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4" name="Google Shape;2844;p58"/>
          <p:cNvSpPr/>
          <p:nvPr/>
        </p:nvSpPr>
        <p:spPr>
          <a:xfrm>
            <a:off x="9681567" y="1903958"/>
            <a:ext cx="841772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5" name="Google Shape;2845;p58"/>
          <p:cNvCxnSpPr/>
          <p:nvPr/>
        </p:nvCxnSpPr>
        <p:spPr>
          <a:xfrm>
            <a:off x="9681567" y="1908721"/>
            <a:ext cx="8417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6" name="Google Shape;2846;p58"/>
          <p:cNvCxnSpPr/>
          <p:nvPr/>
        </p:nvCxnSpPr>
        <p:spPr>
          <a:xfrm>
            <a:off x="9686330" y="1903958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7" name="Google Shape;2847;p58"/>
          <p:cNvSpPr/>
          <p:nvPr/>
        </p:nvSpPr>
        <p:spPr>
          <a:xfrm>
            <a:off x="10523339" y="1903958"/>
            <a:ext cx="1263848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8" name="Google Shape;2848;p58"/>
          <p:cNvCxnSpPr/>
          <p:nvPr/>
        </p:nvCxnSpPr>
        <p:spPr>
          <a:xfrm>
            <a:off x="10523339" y="1908721"/>
            <a:ext cx="126384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9" name="Google Shape;2849;p58"/>
          <p:cNvCxnSpPr/>
          <p:nvPr/>
        </p:nvCxnSpPr>
        <p:spPr>
          <a:xfrm>
            <a:off x="10528102" y="1903958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0" name="Google Shape;2850;p58"/>
          <p:cNvSpPr/>
          <p:nvPr/>
        </p:nvSpPr>
        <p:spPr>
          <a:xfrm>
            <a:off x="7709892" y="2115889"/>
            <a:ext cx="559445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1" name="Google Shape;2851;p58"/>
          <p:cNvCxnSpPr/>
          <p:nvPr/>
        </p:nvCxnSpPr>
        <p:spPr>
          <a:xfrm>
            <a:off x="7709892" y="2120652"/>
            <a:ext cx="559445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52" name="Google Shape;2852;p58"/>
          <p:cNvCxnSpPr/>
          <p:nvPr/>
        </p:nvCxnSpPr>
        <p:spPr>
          <a:xfrm>
            <a:off x="7714655" y="2115889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3" name="Google Shape;2853;p58"/>
          <p:cNvSpPr/>
          <p:nvPr/>
        </p:nvSpPr>
        <p:spPr>
          <a:xfrm>
            <a:off x="8269337" y="2115889"/>
            <a:ext cx="1412230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4" name="Google Shape;2854;p58"/>
          <p:cNvCxnSpPr/>
          <p:nvPr/>
        </p:nvCxnSpPr>
        <p:spPr>
          <a:xfrm>
            <a:off x="8269337" y="2120652"/>
            <a:ext cx="141223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55" name="Google Shape;2855;p58"/>
          <p:cNvCxnSpPr/>
          <p:nvPr/>
        </p:nvCxnSpPr>
        <p:spPr>
          <a:xfrm>
            <a:off x="8274100" y="2115889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6" name="Google Shape;2856;p58"/>
          <p:cNvSpPr/>
          <p:nvPr/>
        </p:nvSpPr>
        <p:spPr>
          <a:xfrm>
            <a:off x="9681567" y="2115889"/>
            <a:ext cx="841772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7" name="Google Shape;2857;p58"/>
          <p:cNvCxnSpPr/>
          <p:nvPr/>
        </p:nvCxnSpPr>
        <p:spPr>
          <a:xfrm>
            <a:off x="9681567" y="2120652"/>
            <a:ext cx="8417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58" name="Google Shape;2858;p58"/>
          <p:cNvCxnSpPr/>
          <p:nvPr/>
        </p:nvCxnSpPr>
        <p:spPr>
          <a:xfrm>
            <a:off x="9686330" y="2115889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9" name="Google Shape;2859;p58"/>
          <p:cNvSpPr/>
          <p:nvPr/>
        </p:nvSpPr>
        <p:spPr>
          <a:xfrm>
            <a:off x="10523339" y="2115889"/>
            <a:ext cx="1263848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0" name="Google Shape;2860;p58"/>
          <p:cNvCxnSpPr/>
          <p:nvPr/>
        </p:nvCxnSpPr>
        <p:spPr>
          <a:xfrm>
            <a:off x="10523339" y="2120652"/>
            <a:ext cx="126384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61" name="Google Shape;2861;p58"/>
          <p:cNvCxnSpPr/>
          <p:nvPr/>
        </p:nvCxnSpPr>
        <p:spPr>
          <a:xfrm>
            <a:off x="10528102" y="2115889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2" name="Google Shape;2862;p58"/>
          <p:cNvSpPr/>
          <p:nvPr/>
        </p:nvSpPr>
        <p:spPr>
          <a:xfrm>
            <a:off x="7705130" y="2471886"/>
            <a:ext cx="4086820" cy="2339280"/>
          </a:xfrm>
          <a:prstGeom prst="roundRect">
            <a:avLst>
              <a:gd fmla="val 2035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3" name="Google Shape;2863;p58"/>
          <p:cNvCxnSpPr/>
          <p:nvPr/>
        </p:nvCxnSpPr>
        <p:spPr>
          <a:xfrm>
            <a:off x="7728942" y="2471886"/>
            <a:ext cx="0" cy="2339281"/>
          </a:xfrm>
          <a:prstGeom prst="straightConnector1">
            <a:avLst/>
          </a:prstGeom>
          <a:noFill/>
          <a:ln cap="flat" cmpd="sng" w="476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4" name="Google Shape;2864;p58"/>
          <p:cNvSpPr/>
          <p:nvPr/>
        </p:nvSpPr>
        <p:spPr>
          <a:xfrm>
            <a:off x="7705130" y="4896892"/>
            <a:ext cx="4086820" cy="1692027"/>
          </a:xfrm>
          <a:prstGeom prst="roundRect">
            <a:avLst>
              <a:gd fmla="val 2814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e6c6b872cbebc658a4bdd3b8702ecd2.png" id="2865" name="Google Shape;2865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50" y="1206698"/>
            <a:ext cx="6971556" cy="4753421"/>
          </a:xfrm>
          <a:prstGeom prst="rect">
            <a:avLst/>
          </a:prstGeom>
          <a:noFill/>
          <a:ln>
            <a:noFill/>
          </a:ln>
        </p:spPr>
      </p:pic>
      <p:sp>
        <p:nvSpPr>
          <p:cNvPr id="2866" name="Google Shape;2866;p58"/>
          <p:cNvSpPr txBox="1"/>
          <p:nvPr/>
        </p:nvSpPr>
        <p:spPr>
          <a:xfrm>
            <a:off x="400050" y="161925"/>
            <a:ext cx="3637657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Histologia e marcadores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7" name="Google Shape;2867;p58"/>
          <p:cNvSpPr txBox="1"/>
          <p:nvPr/>
        </p:nvSpPr>
        <p:spPr>
          <a:xfrm>
            <a:off x="707082" y="5995541"/>
            <a:ext cx="6395591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27. Expressão de marcadores por subtipo histológico. Cada ponto é uma amostra; barra preta = mediana.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8" name="Google Shape;2868;p58"/>
          <p:cNvSpPr txBox="1"/>
          <p:nvPr/>
        </p:nvSpPr>
        <p:spPr>
          <a:xfrm>
            <a:off x="7747635" y="863352"/>
            <a:ext cx="483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9" name="Google Shape;2869;p58"/>
          <p:cNvSpPr txBox="1"/>
          <p:nvPr/>
        </p:nvSpPr>
        <p:spPr>
          <a:xfrm>
            <a:off x="8307705" y="863352"/>
            <a:ext cx="1335404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HCC clássico (n=359)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0" name="Google Shape;2870;p58"/>
          <p:cNvSpPr txBox="1"/>
          <p:nvPr/>
        </p:nvSpPr>
        <p:spPr>
          <a:xfrm>
            <a:off x="9719310" y="863352"/>
            <a:ext cx="76580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Misto (n=7)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1" name="Google Shape;2871;p58"/>
          <p:cNvSpPr txBox="1"/>
          <p:nvPr/>
        </p:nvSpPr>
        <p:spPr>
          <a:xfrm>
            <a:off x="10561320" y="863352"/>
            <a:ext cx="118776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Fibrolamelar (n=3)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2" name="Google Shape;2872;p58"/>
          <p:cNvSpPr txBox="1"/>
          <p:nvPr/>
        </p:nvSpPr>
        <p:spPr>
          <a:xfrm>
            <a:off x="7747635" y="1082427"/>
            <a:ext cx="483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GPC3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3" name="Google Shape;2873;p58"/>
          <p:cNvSpPr txBox="1"/>
          <p:nvPr/>
        </p:nvSpPr>
        <p:spPr>
          <a:xfrm>
            <a:off x="8307705" y="1082427"/>
            <a:ext cx="1335404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4" name="Google Shape;2874;p58"/>
          <p:cNvSpPr txBox="1"/>
          <p:nvPr/>
        </p:nvSpPr>
        <p:spPr>
          <a:xfrm>
            <a:off x="9719310" y="1082427"/>
            <a:ext cx="76580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5" name="Google Shape;2875;p58"/>
          <p:cNvSpPr txBox="1"/>
          <p:nvPr/>
        </p:nvSpPr>
        <p:spPr>
          <a:xfrm>
            <a:off x="10561320" y="1082427"/>
            <a:ext cx="118776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4.58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6" name="Google Shape;2876;p58"/>
          <p:cNvSpPr txBox="1"/>
          <p:nvPr/>
        </p:nvSpPr>
        <p:spPr>
          <a:xfrm>
            <a:off x="7747635" y="1294358"/>
            <a:ext cx="483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7" name="Google Shape;2877;p58"/>
          <p:cNvSpPr txBox="1"/>
          <p:nvPr/>
        </p:nvSpPr>
        <p:spPr>
          <a:xfrm>
            <a:off x="8307705" y="1294358"/>
            <a:ext cx="1335404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3.53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8" name="Google Shape;2878;p58"/>
          <p:cNvSpPr txBox="1"/>
          <p:nvPr/>
        </p:nvSpPr>
        <p:spPr>
          <a:xfrm>
            <a:off x="9719310" y="1294358"/>
            <a:ext cx="76580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2.93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9" name="Google Shape;2879;p58"/>
          <p:cNvSpPr txBox="1"/>
          <p:nvPr/>
        </p:nvSpPr>
        <p:spPr>
          <a:xfrm>
            <a:off x="10561320" y="1294358"/>
            <a:ext cx="118776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1.95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0" name="Google Shape;2880;p58"/>
          <p:cNvSpPr txBox="1"/>
          <p:nvPr/>
        </p:nvSpPr>
        <p:spPr>
          <a:xfrm>
            <a:off x="7747635" y="1506289"/>
            <a:ext cx="483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KRT19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1" name="Google Shape;2881;p58"/>
          <p:cNvSpPr txBox="1"/>
          <p:nvPr/>
        </p:nvSpPr>
        <p:spPr>
          <a:xfrm>
            <a:off x="8307705" y="1506289"/>
            <a:ext cx="1335404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-0.28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2" name="Google Shape;2882;p58"/>
          <p:cNvSpPr txBox="1"/>
          <p:nvPr/>
        </p:nvSpPr>
        <p:spPr>
          <a:xfrm>
            <a:off x="9719310" y="1506289"/>
            <a:ext cx="76580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3" name="Google Shape;2883;p58"/>
          <p:cNvSpPr txBox="1"/>
          <p:nvPr/>
        </p:nvSpPr>
        <p:spPr>
          <a:xfrm>
            <a:off x="10561320" y="1506289"/>
            <a:ext cx="118776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-0.81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4" name="Google Shape;2884;p58"/>
          <p:cNvSpPr txBox="1"/>
          <p:nvPr/>
        </p:nvSpPr>
        <p:spPr>
          <a:xfrm>
            <a:off x="7747635" y="1718221"/>
            <a:ext cx="483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EPCAM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5" name="Google Shape;2885;p58"/>
          <p:cNvSpPr txBox="1"/>
          <p:nvPr/>
        </p:nvSpPr>
        <p:spPr>
          <a:xfrm>
            <a:off x="8307705" y="1718221"/>
            <a:ext cx="1335404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-0.23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6" name="Google Shape;2886;p58"/>
          <p:cNvSpPr txBox="1"/>
          <p:nvPr/>
        </p:nvSpPr>
        <p:spPr>
          <a:xfrm>
            <a:off x="9719310" y="1718221"/>
            <a:ext cx="76580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6.53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7" name="Google Shape;2887;p58"/>
          <p:cNvSpPr txBox="1"/>
          <p:nvPr/>
        </p:nvSpPr>
        <p:spPr>
          <a:xfrm>
            <a:off x="10561320" y="1718221"/>
            <a:ext cx="118776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8" name="Google Shape;2888;p58"/>
          <p:cNvSpPr txBox="1"/>
          <p:nvPr/>
        </p:nvSpPr>
        <p:spPr>
          <a:xfrm>
            <a:off x="7747635" y="1930152"/>
            <a:ext cx="483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BIRC5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9" name="Google Shape;2889;p58"/>
          <p:cNvSpPr txBox="1"/>
          <p:nvPr/>
        </p:nvSpPr>
        <p:spPr>
          <a:xfrm>
            <a:off x="8307705" y="1930152"/>
            <a:ext cx="1335404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2.77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0" name="Google Shape;2890;p58"/>
          <p:cNvSpPr txBox="1"/>
          <p:nvPr/>
        </p:nvSpPr>
        <p:spPr>
          <a:xfrm>
            <a:off x="9719310" y="1930152"/>
            <a:ext cx="76580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3.79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1" name="Google Shape;2891;p58"/>
          <p:cNvSpPr txBox="1"/>
          <p:nvPr/>
        </p:nvSpPr>
        <p:spPr>
          <a:xfrm>
            <a:off x="10561320" y="1930152"/>
            <a:ext cx="118776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0.62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2" name="Google Shape;2892;p58"/>
          <p:cNvSpPr txBox="1"/>
          <p:nvPr/>
        </p:nvSpPr>
        <p:spPr>
          <a:xfrm>
            <a:off x="7747635" y="2142083"/>
            <a:ext cx="483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3" name="Google Shape;2893;p58"/>
          <p:cNvSpPr txBox="1"/>
          <p:nvPr/>
        </p:nvSpPr>
        <p:spPr>
          <a:xfrm>
            <a:off x="8307705" y="2142083"/>
            <a:ext cx="1335404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4" name="Google Shape;2894;p58"/>
          <p:cNvSpPr txBox="1"/>
          <p:nvPr/>
        </p:nvSpPr>
        <p:spPr>
          <a:xfrm>
            <a:off x="9719310" y="2142083"/>
            <a:ext cx="76580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8.48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5" name="Google Shape;2895;p58"/>
          <p:cNvSpPr txBox="1"/>
          <p:nvPr/>
        </p:nvSpPr>
        <p:spPr>
          <a:xfrm>
            <a:off x="10561320" y="2142083"/>
            <a:ext cx="118776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8.94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6" name="Google Shape;2896;p58"/>
          <p:cNvSpPr txBox="1"/>
          <p:nvPr/>
        </p:nvSpPr>
        <p:spPr>
          <a:xfrm>
            <a:off x="7924205" y="2780258"/>
            <a:ext cx="8319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grupo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7" name="Google Shape;2897;p58"/>
          <p:cNvSpPr txBox="1"/>
          <p:nvPr/>
        </p:nvSpPr>
        <p:spPr>
          <a:xfrm>
            <a:off x="8776841" y="2780258"/>
            <a:ext cx="603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i="0" lang="en-US" sz="16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8" name="Google Shape;2898;p58"/>
          <p:cNvSpPr txBox="1"/>
          <p:nvPr/>
        </p:nvSpPr>
        <p:spPr>
          <a:xfrm>
            <a:off x="9400580" y="2780258"/>
            <a:ext cx="197375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tem KRT19 e EPCAM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9" name="Google Shape;2899;p58"/>
          <p:cNvSpPr txBox="1"/>
          <p:nvPr/>
        </p:nvSpPr>
        <p:spPr>
          <a:xfrm>
            <a:off x="7924205" y="3067348"/>
            <a:ext cx="2746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muito altos, consistente 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0" name="Google Shape;2900;p58"/>
          <p:cNvSpPr txBox="1"/>
          <p:nvPr/>
        </p:nvSpPr>
        <p:spPr>
          <a:xfrm>
            <a:off x="7924205" y="3354437"/>
            <a:ext cx="365745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componente colangiocelular/ductal. 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1" name="Google Shape;2901;p58"/>
          <p:cNvSpPr txBox="1"/>
          <p:nvPr/>
        </p:nvSpPr>
        <p:spPr>
          <a:xfrm>
            <a:off x="7924205" y="3641527"/>
            <a:ext cx="127962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i="0" lang="en-US" sz="16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fibrolamelar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2" name="Google Shape;2902;p58"/>
          <p:cNvSpPr txBox="1"/>
          <p:nvPr/>
        </p:nvSpPr>
        <p:spPr>
          <a:xfrm>
            <a:off x="9224367" y="3641527"/>
            <a:ext cx="213493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tem AFP/GPC3 baixos.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3" name="Google Shape;2903;p58"/>
          <p:cNvSpPr txBox="1"/>
          <p:nvPr/>
        </p:nvSpPr>
        <p:spPr>
          <a:xfrm>
            <a:off x="7924197" y="3928625"/>
            <a:ext cx="3397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 n = 7 e n = 3</a:t>
            </a:r>
            <a:r>
              <a:rPr lang="en-US" sz="1687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; pouco poder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4" name="Google Shape;2904;p58"/>
          <p:cNvSpPr txBox="1"/>
          <p:nvPr/>
        </p:nvSpPr>
        <p:spPr>
          <a:xfrm>
            <a:off x="7825978" y="5168801"/>
            <a:ext cx="91172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Histologia: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5" name="Google Shape;2905;p58"/>
          <p:cNvSpPr txBox="1"/>
          <p:nvPr/>
        </p:nvSpPr>
        <p:spPr>
          <a:xfrm>
            <a:off x="8746480" y="5168801"/>
            <a:ext cx="19795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HCC clássico = carcinoma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6" name="Google Shape;2906;p58"/>
          <p:cNvSpPr txBox="1"/>
          <p:nvPr/>
        </p:nvSpPr>
        <p:spPr>
          <a:xfrm>
            <a:off x="7825978" y="5398443"/>
            <a:ext cx="11043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hepatocelular;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7" name="Google Shape;2907;p58"/>
          <p:cNvSpPr txBox="1"/>
          <p:nvPr/>
        </p:nvSpPr>
        <p:spPr>
          <a:xfrm>
            <a:off x="8939212" y="5398443"/>
            <a:ext cx="49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8" name="Google Shape;2908;p58"/>
          <p:cNvSpPr txBox="1"/>
          <p:nvPr/>
        </p:nvSpPr>
        <p:spPr>
          <a:xfrm>
            <a:off x="9438233" y="5398443"/>
            <a:ext cx="188386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carcinoma combinado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9" name="Google Shape;2909;p58"/>
          <p:cNvSpPr txBox="1"/>
          <p:nvPr/>
        </p:nvSpPr>
        <p:spPr>
          <a:xfrm>
            <a:off x="7825978" y="5628084"/>
            <a:ext cx="182135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hepato-colangiocelular;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0" name="Google Shape;2910;p58"/>
          <p:cNvSpPr txBox="1"/>
          <p:nvPr/>
        </p:nvSpPr>
        <p:spPr>
          <a:xfrm>
            <a:off x="9656118" y="5628084"/>
            <a:ext cx="103123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fibrolamelar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1" name="Google Shape;2911;p58"/>
          <p:cNvSpPr txBox="1"/>
          <p:nvPr/>
        </p:nvSpPr>
        <p:spPr>
          <a:xfrm>
            <a:off x="10696129" y="5628084"/>
            <a:ext cx="80501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variante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2" name="Google Shape;2912;p58"/>
          <p:cNvSpPr txBox="1"/>
          <p:nvPr/>
        </p:nvSpPr>
        <p:spPr>
          <a:xfrm>
            <a:off x="7825978" y="5857726"/>
            <a:ext cx="37101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rara, típica de adultos jovens. Cada ponto = uma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3" name="Google Shape;2913;p58"/>
          <p:cNvSpPr txBox="1"/>
          <p:nvPr/>
        </p:nvSpPr>
        <p:spPr>
          <a:xfrm>
            <a:off x="7825978" y="6087368"/>
            <a:ext cx="367144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amostra; barra preta = mediana (não é boxplot).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7" name="Shape 2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" name="Google Shape;2918;p59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19" name="Google Shape;2919;p59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0" name="Google Shape;2920;p59"/>
          <p:cNvSpPr/>
          <p:nvPr/>
        </p:nvSpPr>
        <p:spPr>
          <a:xfrm>
            <a:off x="400050" y="783575"/>
            <a:ext cx="11081400" cy="1322700"/>
          </a:xfrm>
          <a:prstGeom prst="rect">
            <a:avLst/>
          </a:prstGeom>
          <a:noFill/>
          <a:ln cap="flat" cmpd="sng" w="19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1" name="Google Shape;2921;p59"/>
          <p:cNvSpPr/>
          <p:nvPr/>
        </p:nvSpPr>
        <p:spPr>
          <a:xfrm>
            <a:off x="404682" y="793125"/>
            <a:ext cx="2376600" cy="4536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22" name="Google Shape;2922;p59"/>
          <p:cNvCxnSpPr/>
          <p:nvPr/>
        </p:nvCxnSpPr>
        <p:spPr>
          <a:xfrm>
            <a:off x="404682" y="802674"/>
            <a:ext cx="2376600" cy="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23" name="Google Shape;2923;p59"/>
          <p:cNvCxnSpPr/>
          <p:nvPr/>
        </p:nvCxnSpPr>
        <p:spPr>
          <a:xfrm>
            <a:off x="409575" y="788343"/>
            <a:ext cx="0" cy="22621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4" name="Google Shape;2924;p59"/>
          <p:cNvSpPr/>
          <p:nvPr/>
        </p:nvSpPr>
        <p:spPr>
          <a:xfrm>
            <a:off x="2781570" y="793125"/>
            <a:ext cx="864900" cy="4536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25" name="Google Shape;2925;p59"/>
          <p:cNvCxnSpPr/>
          <p:nvPr/>
        </p:nvCxnSpPr>
        <p:spPr>
          <a:xfrm>
            <a:off x="2781570" y="802674"/>
            <a:ext cx="864900" cy="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26" name="Google Shape;2926;p59"/>
          <p:cNvCxnSpPr/>
          <p:nvPr/>
        </p:nvCxnSpPr>
        <p:spPr>
          <a:xfrm>
            <a:off x="2786203" y="793125"/>
            <a:ext cx="0" cy="45360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7" name="Google Shape;2927;p59"/>
          <p:cNvSpPr/>
          <p:nvPr/>
        </p:nvSpPr>
        <p:spPr>
          <a:xfrm>
            <a:off x="3646446" y="793125"/>
            <a:ext cx="768300" cy="4536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28" name="Google Shape;2928;p59"/>
          <p:cNvCxnSpPr/>
          <p:nvPr/>
        </p:nvCxnSpPr>
        <p:spPr>
          <a:xfrm>
            <a:off x="3646446" y="802674"/>
            <a:ext cx="768300" cy="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29" name="Google Shape;2929;p59"/>
          <p:cNvCxnSpPr/>
          <p:nvPr/>
        </p:nvCxnSpPr>
        <p:spPr>
          <a:xfrm>
            <a:off x="3651078" y="793125"/>
            <a:ext cx="0" cy="45360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0" name="Google Shape;2930;p59"/>
          <p:cNvSpPr/>
          <p:nvPr/>
        </p:nvSpPr>
        <p:spPr>
          <a:xfrm>
            <a:off x="4414757" y="793125"/>
            <a:ext cx="1050300" cy="4536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1" name="Google Shape;2931;p59"/>
          <p:cNvCxnSpPr/>
          <p:nvPr/>
        </p:nvCxnSpPr>
        <p:spPr>
          <a:xfrm>
            <a:off x="4414757" y="802674"/>
            <a:ext cx="1050300" cy="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32" name="Google Shape;2932;p59"/>
          <p:cNvCxnSpPr/>
          <p:nvPr/>
        </p:nvCxnSpPr>
        <p:spPr>
          <a:xfrm>
            <a:off x="4419390" y="793125"/>
            <a:ext cx="0" cy="45360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3" name="Google Shape;2933;p59"/>
          <p:cNvSpPr/>
          <p:nvPr/>
        </p:nvSpPr>
        <p:spPr>
          <a:xfrm>
            <a:off x="5464942" y="793125"/>
            <a:ext cx="771300" cy="4536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4" name="Google Shape;2934;p59"/>
          <p:cNvCxnSpPr/>
          <p:nvPr/>
        </p:nvCxnSpPr>
        <p:spPr>
          <a:xfrm>
            <a:off x="5464942" y="802674"/>
            <a:ext cx="771300" cy="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35" name="Google Shape;2935;p59"/>
          <p:cNvCxnSpPr/>
          <p:nvPr/>
        </p:nvCxnSpPr>
        <p:spPr>
          <a:xfrm>
            <a:off x="5469575" y="793125"/>
            <a:ext cx="0" cy="45360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6" name="Google Shape;2936;p59"/>
          <p:cNvSpPr/>
          <p:nvPr/>
        </p:nvSpPr>
        <p:spPr>
          <a:xfrm>
            <a:off x="6236005" y="793125"/>
            <a:ext cx="667800" cy="4536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7" name="Google Shape;2937;p59"/>
          <p:cNvCxnSpPr/>
          <p:nvPr/>
        </p:nvCxnSpPr>
        <p:spPr>
          <a:xfrm>
            <a:off x="6236005" y="802674"/>
            <a:ext cx="667800" cy="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38" name="Google Shape;2938;p59"/>
          <p:cNvCxnSpPr/>
          <p:nvPr/>
        </p:nvCxnSpPr>
        <p:spPr>
          <a:xfrm>
            <a:off x="6240637" y="793125"/>
            <a:ext cx="0" cy="45360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9" name="Google Shape;2939;p59"/>
          <p:cNvSpPr/>
          <p:nvPr/>
        </p:nvSpPr>
        <p:spPr>
          <a:xfrm>
            <a:off x="6903554" y="793125"/>
            <a:ext cx="1703400" cy="4536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0" name="Google Shape;2940;p59"/>
          <p:cNvCxnSpPr/>
          <p:nvPr/>
        </p:nvCxnSpPr>
        <p:spPr>
          <a:xfrm>
            <a:off x="6903554" y="802674"/>
            <a:ext cx="1703400" cy="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1" name="Google Shape;2941;p59"/>
          <p:cNvCxnSpPr/>
          <p:nvPr/>
        </p:nvCxnSpPr>
        <p:spPr>
          <a:xfrm>
            <a:off x="6908187" y="793125"/>
            <a:ext cx="0" cy="45360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2" name="Google Shape;2942;p59"/>
          <p:cNvSpPr/>
          <p:nvPr/>
        </p:nvSpPr>
        <p:spPr>
          <a:xfrm>
            <a:off x="8606812" y="793125"/>
            <a:ext cx="1360800" cy="4536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3" name="Google Shape;2943;p59"/>
          <p:cNvCxnSpPr/>
          <p:nvPr/>
        </p:nvCxnSpPr>
        <p:spPr>
          <a:xfrm>
            <a:off x="8606812" y="802674"/>
            <a:ext cx="1360800" cy="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4" name="Google Shape;2944;p59"/>
          <p:cNvCxnSpPr/>
          <p:nvPr/>
        </p:nvCxnSpPr>
        <p:spPr>
          <a:xfrm>
            <a:off x="8611444" y="793125"/>
            <a:ext cx="0" cy="45360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5" name="Google Shape;2945;p59"/>
          <p:cNvSpPr/>
          <p:nvPr/>
        </p:nvSpPr>
        <p:spPr>
          <a:xfrm>
            <a:off x="9967391" y="793125"/>
            <a:ext cx="870300" cy="4536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6" name="Google Shape;2946;p59"/>
          <p:cNvCxnSpPr/>
          <p:nvPr/>
        </p:nvCxnSpPr>
        <p:spPr>
          <a:xfrm>
            <a:off x="9967391" y="802674"/>
            <a:ext cx="870300" cy="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7" name="Google Shape;2947;p59"/>
          <p:cNvCxnSpPr/>
          <p:nvPr/>
        </p:nvCxnSpPr>
        <p:spPr>
          <a:xfrm>
            <a:off x="9972023" y="793125"/>
            <a:ext cx="0" cy="45360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8" name="Google Shape;2948;p59"/>
          <p:cNvSpPr/>
          <p:nvPr/>
        </p:nvSpPr>
        <p:spPr>
          <a:xfrm>
            <a:off x="10837912" y="793125"/>
            <a:ext cx="638700" cy="4536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9" name="Google Shape;2949;p59"/>
          <p:cNvCxnSpPr/>
          <p:nvPr/>
        </p:nvCxnSpPr>
        <p:spPr>
          <a:xfrm>
            <a:off x="10837912" y="802674"/>
            <a:ext cx="638700" cy="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0" name="Google Shape;2950;p59"/>
          <p:cNvCxnSpPr/>
          <p:nvPr/>
        </p:nvCxnSpPr>
        <p:spPr>
          <a:xfrm>
            <a:off x="10842545" y="793125"/>
            <a:ext cx="0" cy="45360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1" name="Google Shape;2951;p59"/>
          <p:cNvSpPr/>
          <p:nvPr/>
        </p:nvSpPr>
        <p:spPr>
          <a:xfrm>
            <a:off x="404682" y="1246714"/>
            <a:ext cx="23766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2" name="Google Shape;2952;p59"/>
          <p:cNvCxnSpPr/>
          <p:nvPr/>
        </p:nvCxnSpPr>
        <p:spPr>
          <a:xfrm>
            <a:off x="404682" y="1256265"/>
            <a:ext cx="23766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3" name="Google Shape;2953;p59"/>
          <p:cNvCxnSpPr/>
          <p:nvPr/>
        </p:nvCxnSpPr>
        <p:spPr>
          <a:xfrm>
            <a:off x="409575" y="1014561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4" name="Google Shape;2954;p59"/>
          <p:cNvSpPr/>
          <p:nvPr/>
        </p:nvSpPr>
        <p:spPr>
          <a:xfrm>
            <a:off x="2781570" y="1246714"/>
            <a:ext cx="864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5" name="Google Shape;2955;p59"/>
          <p:cNvCxnSpPr/>
          <p:nvPr/>
        </p:nvCxnSpPr>
        <p:spPr>
          <a:xfrm>
            <a:off x="2781570" y="1256265"/>
            <a:ext cx="8649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6" name="Google Shape;2956;p59"/>
          <p:cNvCxnSpPr/>
          <p:nvPr/>
        </p:nvCxnSpPr>
        <p:spPr>
          <a:xfrm>
            <a:off x="2786203" y="1246714"/>
            <a:ext cx="0" cy="42480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7" name="Google Shape;2957;p59"/>
          <p:cNvSpPr/>
          <p:nvPr/>
        </p:nvSpPr>
        <p:spPr>
          <a:xfrm>
            <a:off x="3646446" y="1246714"/>
            <a:ext cx="7683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8" name="Google Shape;2958;p59"/>
          <p:cNvCxnSpPr/>
          <p:nvPr/>
        </p:nvCxnSpPr>
        <p:spPr>
          <a:xfrm>
            <a:off x="3646446" y="1256265"/>
            <a:ext cx="7683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9" name="Google Shape;2959;p59"/>
          <p:cNvCxnSpPr/>
          <p:nvPr/>
        </p:nvCxnSpPr>
        <p:spPr>
          <a:xfrm>
            <a:off x="3651078" y="1246714"/>
            <a:ext cx="0" cy="42480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0" name="Google Shape;2960;p59"/>
          <p:cNvSpPr/>
          <p:nvPr/>
        </p:nvSpPr>
        <p:spPr>
          <a:xfrm>
            <a:off x="4414757" y="1246714"/>
            <a:ext cx="10503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61" name="Google Shape;2961;p59"/>
          <p:cNvCxnSpPr/>
          <p:nvPr/>
        </p:nvCxnSpPr>
        <p:spPr>
          <a:xfrm>
            <a:off x="4414757" y="1256265"/>
            <a:ext cx="10503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62" name="Google Shape;2962;p59"/>
          <p:cNvCxnSpPr/>
          <p:nvPr/>
        </p:nvCxnSpPr>
        <p:spPr>
          <a:xfrm>
            <a:off x="4419390" y="1246714"/>
            <a:ext cx="0" cy="42480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3" name="Google Shape;2963;p59"/>
          <p:cNvSpPr/>
          <p:nvPr/>
        </p:nvSpPr>
        <p:spPr>
          <a:xfrm>
            <a:off x="5464942" y="1246714"/>
            <a:ext cx="7713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64" name="Google Shape;2964;p59"/>
          <p:cNvCxnSpPr/>
          <p:nvPr/>
        </p:nvCxnSpPr>
        <p:spPr>
          <a:xfrm>
            <a:off x="5464942" y="1256265"/>
            <a:ext cx="7713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65" name="Google Shape;2965;p59"/>
          <p:cNvCxnSpPr/>
          <p:nvPr/>
        </p:nvCxnSpPr>
        <p:spPr>
          <a:xfrm>
            <a:off x="5469575" y="1246714"/>
            <a:ext cx="0" cy="42480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6" name="Google Shape;2966;p59"/>
          <p:cNvSpPr/>
          <p:nvPr/>
        </p:nvSpPr>
        <p:spPr>
          <a:xfrm>
            <a:off x="6236005" y="1246714"/>
            <a:ext cx="6678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67" name="Google Shape;2967;p59"/>
          <p:cNvCxnSpPr/>
          <p:nvPr/>
        </p:nvCxnSpPr>
        <p:spPr>
          <a:xfrm>
            <a:off x="6236005" y="1256265"/>
            <a:ext cx="6678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68" name="Google Shape;2968;p59"/>
          <p:cNvCxnSpPr/>
          <p:nvPr/>
        </p:nvCxnSpPr>
        <p:spPr>
          <a:xfrm>
            <a:off x="6240637" y="1246714"/>
            <a:ext cx="0" cy="42480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9" name="Google Shape;2969;p59"/>
          <p:cNvSpPr/>
          <p:nvPr/>
        </p:nvSpPr>
        <p:spPr>
          <a:xfrm>
            <a:off x="6903554" y="1246714"/>
            <a:ext cx="17034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0" name="Google Shape;2970;p59"/>
          <p:cNvCxnSpPr/>
          <p:nvPr/>
        </p:nvCxnSpPr>
        <p:spPr>
          <a:xfrm>
            <a:off x="6903554" y="1256265"/>
            <a:ext cx="17034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1" name="Google Shape;2971;p59"/>
          <p:cNvCxnSpPr/>
          <p:nvPr/>
        </p:nvCxnSpPr>
        <p:spPr>
          <a:xfrm>
            <a:off x="6908187" y="1246714"/>
            <a:ext cx="0" cy="42480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2" name="Google Shape;2972;p59"/>
          <p:cNvSpPr/>
          <p:nvPr/>
        </p:nvSpPr>
        <p:spPr>
          <a:xfrm>
            <a:off x="8606812" y="1246714"/>
            <a:ext cx="13608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3" name="Google Shape;2973;p59"/>
          <p:cNvCxnSpPr/>
          <p:nvPr/>
        </p:nvCxnSpPr>
        <p:spPr>
          <a:xfrm>
            <a:off x="8606812" y="1256265"/>
            <a:ext cx="13608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4" name="Google Shape;2974;p59"/>
          <p:cNvCxnSpPr/>
          <p:nvPr/>
        </p:nvCxnSpPr>
        <p:spPr>
          <a:xfrm>
            <a:off x="8611444" y="1246714"/>
            <a:ext cx="0" cy="42480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5" name="Google Shape;2975;p59"/>
          <p:cNvSpPr/>
          <p:nvPr/>
        </p:nvSpPr>
        <p:spPr>
          <a:xfrm>
            <a:off x="9967391" y="1246714"/>
            <a:ext cx="8703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6" name="Google Shape;2976;p59"/>
          <p:cNvCxnSpPr/>
          <p:nvPr/>
        </p:nvCxnSpPr>
        <p:spPr>
          <a:xfrm>
            <a:off x="9967391" y="1256265"/>
            <a:ext cx="8703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7" name="Google Shape;2977;p59"/>
          <p:cNvCxnSpPr/>
          <p:nvPr/>
        </p:nvCxnSpPr>
        <p:spPr>
          <a:xfrm>
            <a:off x="9972023" y="1246714"/>
            <a:ext cx="0" cy="42480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8" name="Google Shape;2978;p59"/>
          <p:cNvSpPr/>
          <p:nvPr/>
        </p:nvSpPr>
        <p:spPr>
          <a:xfrm>
            <a:off x="10837912" y="1246714"/>
            <a:ext cx="6387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9" name="Google Shape;2979;p59"/>
          <p:cNvCxnSpPr/>
          <p:nvPr/>
        </p:nvCxnSpPr>
        <p:spPr>
          <a:xfrm>
            <a:off x="10837912" y="1256265"/>
            <a:ext cx="6387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80" name="Google Shape;2980;p59"/>
          <p:cNvCxnSpPr/>
          <p:nvPr/>
        </p:nvCxnSpPr>
        <p:spPr>
          <a:xfrm>
            <a:off x="10842545" y="1246714"/>
            <a:ext cx="0" cy="42480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1" name="Google Shape;2981;p59"/>
          <p:cNvSpPr/>
          <p:nvPr/>
        </p:nvSpPr>
        <p:spPr>
          <a:xfrm>
            <a:off x="404682" y="1671659"/>
            <a:ext cx="2376600" cy="42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2" name="Google Shape;2982;p59"/>
          <p:cNvCxnSpPr/>
          <p:nvPr/>
        </p:nvCxnSpPr>
        <p:spPr>
          <a:xfrm>
            <a:off x="404682" y="1681207"/>
            <a:ext cx="23766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83" name="Google Shape;2983;p59"/>
          <p:cNvCxnSpPr/>
          <p:nvPr/>
        </p:nvCxnSpPr>
        <p:spPr>
          <a:xfrm>
            <a:off x="409575" y="1226493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4" name="Google Shape;2984;p59"/>
          <p:cNvSpPr/>
          <p:nvPr/>
        </p:nvSpPr>
        <p:spPr>
          <a:xfrm>
            <a:off x="2781570" y="1671659"/>
            <a:ext cx="864900" cy="42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5" name="Google Shape;2985;p59"/>
          <p:cNvCxnSpPr/>
          <p:nvPr/>
        </p:nvCxnSpPr>
        <p:spPr>
          <a:xfrm>
            <a:off x="2781570" y="1681207"/>
            <a:ext cx="8649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86" name="Google Shape;2986;p59"/>
          <p:cNvCxnSpPr/>
          <p:nvPr/>
        </p:nvCxnSpPr>
        <p:spPr>
          <a:xfrm>
            <a:off x="2786203" y="1671659"/>
            <a:ext cx="0" cy="42480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7" name="Google Shape;2987;p59"/>
          <p:cNvSpPr/>
          <p:nvPr/>
        </p:nvSpPr>
        <p:spPr>
          <a:xfrm>
            <a:off x="3646446" y="1671659"/>
            <a:ext cx="768300" cy="42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8" name="Google Shape;2988;p59"/>
          <p:cNvCxnSpPr/>
          <p:nvPr/>
        </p:nvCxnSpPr>
        <p:spPr>
          <a:xfrm>
            <a:off x="3646446" y="1681207"/>
            <a:ext cx="7683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89" name="Google Shape;2989;p59"/>
          <p:cNvCxnSpPr/>
          <p:nvPr/>
        </p:nvCxnSpPr>
        <p:spPr>
          <a:xfrm>
            <a:off x="3651078" y="1671659"/>
            <a:ext cx="0" cy="42480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0" name="Google Shape;2990;p59"/>
          <p:cNvSpPr/>
          <p:nvPr/>
        </p:nvSpPr>
        <p:spPr>
          <a:xfrm>
            <a:off x="4414757" y="1671659"/>
            <a:ext cx="1050300" cy="42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1" name="Google Shape;2991;p59"/>
          <p:cNvCxnSpPr/>
          <p:nvPr/>
        </p:nvCxnSpPr>
        <p:spPr>
          <a:xfrm>
            <a:off x="4414757" y="1681207"/>
            <a:ext cx="10503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92" name="Google Shape;2992;p59"/>
          <p:cNvCxnSpPr/>
          <p:nvPr/>
        </p:nvCxnSpPr>
        <p:spPr>
          <a:xfrm>
            <a:off x="4419390" y="1671659"/>
            <a:ext cx="0" cy="42480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3" name="Google Shape;2993;p59"/>
          <p:cNvSpPr/>
          <p:nvPr/>
        </p:nvSpPr>
        <p:spPr>
          <a:xfrm>
            <a:off x="5464942" y="1671659"/>
            <a:ext cx="771300" cy="42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4" name="Google Shape;2994;p59"/>
          <p:cNvCxnSpPr/>
          <p:nvPr/>
        </p:nvCxnSpPr>
        <p:spPr>
          <a:xfrm>
            <a:off x="5464942" y="1681207"/>
            <a:ext cx="7713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95" name="Google Shape;2995;p59"/>
          <p:cNvCxnSpPr/>
          <p:nvPr/>
        </p:nvCxnSpPr>
        <p:spPr>
          <a:xfrm>
            <a:off x="5469575" y="1671659"/>
            <a:ext cx="0" cy="42480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6" name="Google Shape;2996;p59"/>
          <p:cNvSpPr/>
          <p:nvPr/>
        </p:nvSpPr>
        <p:spPr>
          <a:xfrm>
            <a:off x="6236005" y="1671659"/>
            <a:ext cx="667800" cy="42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7" name="Google Shape;2997;p59"/>
          <p:cNvCxnSpPr/>
          <p:nvPr/>
        </p:nvCxnSpPr>
        <p:spPr>
          <a:xfrm>
            <a:off x="6236005" y="1681207"/>
            <a:ext cx="6678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98" name="Google Shape;2998;p59"/>
          <p:cNvCxnSpPr/>
          <p:nvPr/>
        </p:nvCxnSpPr>
        <p:spPr>
          <a:xfrm>
            <a:off x="6240637" y="1671659"/>
            <a:ext cx="0" cy="42480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9" name="Google Shape;2999;p59"/>
          <p:cNvSpPr/>
          <p:nvPr/>
        </p:nvSpPr>
        <p:spPr>
          <a:xfrm>
            <a:off x="6903554" y="1671659"/>
            <a:ext cx="1703400" cy="42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00" name="Google Shape;3000;p59"/>
          <p:cNvCxnSpPr/>
          <p:nvPr/>
        </p:nvCxnSpPr>
        <p:spPr>
          <a:xfrm>
            <a:off x="6903554" y="1681207"/>
            <a:ext cx="17034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01" name="Google Shape;3001;p59"/>
          <p:cNvCxnSpPr/>
          <p:nvPr/>
        </p:nvCxnSpPr>
        <p:spPr>
          <a:xfrm>
            <a:off x="6908187" y="1671659"/>
            <a:ext cx="0" cy="42480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2" name="Google Shape;3002;p59"/>
          <p:cNvSpPr/>
          <p:nvPr/>
        </p:nvSpPr>
        <p:spPr>
          <a:xfrm>
            <a:off x="8606812" y="1671659"/>
            <a:ext cx="1360800" cy="42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03" name="Google Shape;3003;p59"/>
          <p:cNvCxnSpPr/>
          <p:nvPr/>
        </p:nvCxnSpPr>
        <p:spPr>
          <a:xfrm>
            <a:off x="8606812" y="1681207"/>
            <a:ext cx="13608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04" name="Google Shape;3004;p59"/>
          <p:cNvCxnSpPr/>
          <p:nvPr/>
        </p:nvCxnSpPr>
        <p:spPr>
          <a:xfrm>
            <a:off x="8611444" y="1671659"/>
            <a:ext cx="0" cy="42480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5" name="Google Shape;3005;p59"/>
          <p:cNvSpPr/>
          <p:nvPr/>
        </p:nvSpPr>
        <p:spPr>
          <a:xfrm>
            <a:off x="9967391" y="1671659"/>
            <a:ext cx="870300" cy="42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06" name="Google Shape;3006;p59"/>
          <p:cNvCxnSpPr/>
          <p:nvPr/>
        </p:nvCxnSpPr>
        <p:spPr>
          <a:xfrm>
            <a:off x="9967391" y="1681207"/>
            <a:ext cx="8703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07" name="Google Shape;3007;p59"/>
          <p:cNvCxnSpPr/>
          <p:nvPr/>
        </p:nvCxnSpPr>
        <p:spPr>
          <a:xfrm>
            <a:off x="9972023" y="1671659"/>
            <a:ext cx="0" cy="42480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8" name="Google Shape;3008;p59"/>
          <p:cNvSpPr/>
          <p:nvPr/>
        </p:nvSpPr>
        <p:spPr>
          <a:xfrm>
            <a:off x="10837912" y="1671659"/>
            <a:ext cx="638700" cy="42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09" name="Google Shape;3009;p59"/>
          <p:cNvCxnSpPr/>
          <p:nvPr/>
        </p:nvCxnSpPr>
        <p:spPr>
          <a:xfrm>
            <a:off x="10837912" y="1681207"/>
            <a:ext cx="6387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10" name="Google Shape;3010;p59"/>
          <p:cNvCxnSpPr/>
          <p:nvPr/>
        </p:nvCxnSpPr>
        <p:spPr>
          <a:xfrm>
            <a:off x="10842545" y="1671659"/>
            <a:ext cx="0" cy="42480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1" name="Google Shape;3011;p59"/>
          <p:cNvSpPr/>
          <p:nvPr/>
        </p:nvSpPr>
        <p:spPr>
          <a:xfrm>
            <a:off x="444000" y="2511825"/>
            <a:ext cx="5539800" cy="3457200"/>
          </a:xfrm>
          <a:prstGeom prst="roundRect">
            <a:avLst>
              <a:gd fmla="val 3804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Escala de Ishak (0 a 6):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Pontuação histológica que mede a gravidade da fibrose no fígado, variando de </a:t>
            </a:r>
            <a:r>
              <a:rPr b="1"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(ausência de fibrose) a </a:t>
            </a:r>
            <a:r>
              <a:rPr b="1"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(cirrose estabelecida).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AFP (Alfafetoproteína):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Marcador tumoral em sangue. O valor </a:t>
            </a:r>
            <a:r>
              <a:rPr b="1"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 ng/mL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é considerado dentro do intervalo normal (corte clínico de alerta costuma ser &gt;- 400(ng/mL), enquanto </a:t>
            </a:r>
            <a:r>
              <a:rPr b="1"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aponta falta do registro clínico.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Status Viral (Unknown):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Indica ausência de registro sorológico no banco de dados. É um alerta metodológico para não classificar a amostra como "vírus-negativa".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Tempo de Seguimento: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Janela de tempo (em dias) em que o paciente foi acompanhado no estudo de sobrevida global (</a:t>
            </a:r>
            <a:r>
              <a:rPr i="1"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Overall Survival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).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TSS (</a:t>
            </a:r>
            <a:r>
              <a:rPr b="1" i="1"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Tissue Source Site</a:t>
            </a:r>
            <a:r>
              <a:rPr b="1"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):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Código de dois caracteres presente nos identificadores do TCGA (ex.: </a:t>
            </a:r>
            <a:r>
              <a:rPr lang="en-US" sz="1200">
                <a:solidFill>
                  <a:srgbClr val="1880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TCGA-DD-AACA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), indicando a instituição participante que coletou e enviou o tecido.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12" name="Google Shape;3012;p59"/>
          <p:cNvSpPr txBox="1"/>
          <p:nvPr/>
        </p:nvSpPr>
        <p:spPr>
          <a:xfrm>
            <a:off x="400050" y="161925"/>
            <a:ext cx="2487067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Recidivas: clínica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3" name="Google Shape;3013;p59"/>
          <p:cNvSpPr txBox="1"/>
          <p:nvPr/>
        </p:nvSpPr>
        <p:spPr>
          <a:xfrm>
            <a:off x="437112" y="859969"/>
            <a:ext cx="23070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Amostra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4" name="Google Shape;3014;p59"/>
          <p:cNvSpPr txBox="1"/>
          <p:nvPr/>
        </p:nvSpPr>
        <p:spPr>
          <a:xfrm>
            <a:off x="2818342" y="859969"/>
            <a:ext cx="7911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Idade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5" name="Google Shape;3015;p59"/>
          <p:cNvSpPr txBox="1"/>
          <p:nvPr/>
        </p:nvSpPr>
        <p:spPr>
          <a:xfrm>
            <a:off x="3683739" y="859969"/>
            <a:ext cx="6942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Sexo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6" name="Google Shape;3016;p59"/>
          <p:cNvSpPr txBox="1"/>
          <p:nvPr/>
        </p:nvSpPr>
        <p:spPr>
          <a:xfrm>
            <a:off x="4451848" y="859969"/>
            <a:ext cx="9756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7" name="Google Shape;3017;p59"/>
          <p:cNvSpPr txBox="1"/>
          <p:nvPr/>
        </p:nvSpPr>
        <p:spPr>
          <a:xfrm>
            <a:off x="5501628" y="859969"/>
            <a:ext cx="6978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Grau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8" name="Google Shape;3018;p59"/>
          <p:cNvSpPr txBox="1"/>
          <p:nvPr/>
        </p:nvSpPr>
        <p:spPr>
          <a:xfrm>
            <a:off x="6273443" y="859969"/>
            <a:ext cx="5931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AFP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9" name="Google Shape;3019;p59"/>
          <p:cNvSpPr txBox="1"/>
          <p:nvPr/>
        </p:nvSpPr>
        <p:spPr>
          <a:xfrm>
            <a:off x="6940558" y="859969"/>
            <a:ext cx="16290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Fibrose Ishak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0" name="Google Shape;3020;p59"/>
          <p:cNvSpPr txBox="1"/>
          <p:nvPr/>
        </p:nvSpPr>
        <p:spPr>
          <a:xfrm>
            <a:off x="8643554" y="859969"/>
            <a:ext cx="12867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Vírus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1" name="Google Shape;3021;p59"/>
          <p:cNvSpPr txBox="1"/>
          <p:nvPr/>
        </p:nvSpPr>
        <p:spPr>
          <a:xfrm>
            <a:off x="10004655" y="859969"/>
            <a:ext cx="7959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Óbito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2" name="Google Shape;3022;p59"/>
          <p:cNvSpPr txBox="1"/>
          <p:nvPr/>
        </p:nvSpPr>
        <p:spPr>
          <a:xfrm>
            <a:off x="10874684" y="859969"/>
            <a:ext cx="5655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TSS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3" name="Google Shape;3023;p59"/>
          <p:cNvSpPr txBox="1"/>
          <p:nvPr/>
        </p:nvSpPr>
        <p:spPr>
          <a:xfrm>
            <a:off x="437112" y="1299236"/>
            <a:ext cx="23070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TCGA-DD-AACA-02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4" name="Google Shape;3024;p59"/>
          <p:cNvSpPr txBox="1"/>
          <p:nvPr/>
        </p:nvSpPr>
        <p:spPr>
          <a:xfrm>
            <a:off x="2818342" y="1299236"/>
            <a:ext cx="7911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65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5" name="Google Shape;3025;p59"/>
          <p:cNvSpPr txBox="1"/>
          <p:nvPr/>
        </p:nvSpPr>
        <p:spPr>
          <a:xfrm>
            <a:off x="3683739" y="1299236"/>
            <a:ext cx="6942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male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6" name="Google Shape;3026;p59"/>
          <p:cNvSpPr txBox="1"/>
          <p:nvPr/>
        </p:nvSpPr>
        <p:spPr>
          <a:xfrm>
            <a:off x="4451848" y="1299236"/>
            <a:ext cx="9756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7" name="Google Shape;3027;p59"/>
          <p:cNvSpPr txBox="1"/>
          <p:nvPr/>
        </p:nvSpPr>
        <p:spPr>
          <a:xfrm>
            <a:off x="5501628" y="1299236"/>
            <a:ext cx="6978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G3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8" name="Google Shape;3028;p59"/>
          <p:cNvSpPr txBox="1"/>
          <p:nvPr/>
        </p:nvSpPr>
        <p:spPr>
          <a:xfrm>
            <a:off x="6273443" y="1299236"/>
            <a:ext cx="5931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9" name="Google Shape;3029;p59"/>
          <p:cNvSpPr txBox="1"/>
          <p:nvPr/>
        </p:nvSpPr>
        <p:spPr>
          <a:xfrm>
            <a:off x="6940558" y="1299236"/>
            <a:ext cx="16290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0" name="Google Shape;3030;p59"/>
          <p:cNvSpPr txBox="1"/>
          <p:nvPr/>
        </p:nvSpPr>
        <p:spPr>
          <a:xfrm>
            <a:off x="8643554" y="1299236"/>
            <a:ext cx="12867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Unknown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1" name="Google Shape;3031;p59"/>
          <p:cNvSpPr txBox="1"/>
          <p:nvPr/>
        </p:nvSpPr>
        <p:spPr>
          <a:xfrm>
            <a:off x="10004655" y="1299236"/>
            <a:ext cx="7959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2" name="Google Shape;3032;p59"/>
          <p:cNvSpPr txBox="1"/>
          <p:nvPr/>
        </p:nvSpPr>
        <p:spPr>
          <a:xfrm>
            <a:off x="10874684" y="1299236"/>
            <a:ext cx="5655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DD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3" name="Google Shape;3033;p59"/>
          <p:cNvSpPr txBox="1"/>
          <p:nvPr/>
        </p:nvSpPr>
        <p:spPr>
          <a:xfrm>
            <a:off x="437112" y="1724178"/>
            <a:ext cx="23070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TCGA-ZS-A9CF-02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4" name="Google Shape;3034;p59"/>
          <p:cNvSpPr txBox="1"/>
          <p:nvPr/>
        </p:nvSpPr>
        <p:spPr>
          <a:xfrm>
            <a:off x="2818342" y="1724178"/>
            <a:ext cx="7911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64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5" name="Google Shape;3035;p59"/>
          <p:cNvSpPr txBox="1"/>
          <p:nvPr/>
        </p:nvSpPr>
        <p:spPr>
          <a:xfrm>
            <a:off x="3683739" y="1724178"/>
            <a:ext cx="6942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male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6" name="Google Shape;3036;p59"/>
          <p:cNvSpPr txBox="1"/>
          <p:nvPr/>
        </p:nvSpPr>
        <p:spPr>
          <a:xfrm>
            <a:off x="4451848" y="1724178"/>
            <a:ext cx="9756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II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7" name="Google Shape;3037;p59"/>
          <p:cNvSpPr txBox="1"/>
          <p:nvPr/>
        </p:nvSpPr>
        <p:spPr>
          <a:xfrm>
            <a:off x="5501628" y="1724178"/>
            <a:ext cx="6978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G2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8" name="Google Shape;3038;p59"/>
          <p:cNvSpPr txBox="1"/>
          <p:nvPr/>
        </p:nvSpPr>
        <p:spPr>
          <a:xfrm>
            <a:off x="6273443" y="1724178"/>
            <a:ext cx="5931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9" name="Google Shape;3039;p59"/>
          <p:cNvSpPr txBox="1"/>
          <p:nvPr/>
        </p:nvSpPr>
        <p:spPr>
          <a:xfrm>
            <a:off x="6940558" y="1724178"/>
            <a:ext cx="16290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0" name="Google Shape;3040;p59"/>
          <p:cNvSpPr txBox="1"/>
          <p:nvPr/>
        </p:nvSpPr>
        <p:spPr>
          <a:xfrm>
            <a:off x="8643554" y="1724178"/>
            <a:ext cx="12867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HBV+HCV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1" name="Google Shape;3041;p59"/>
          <p:cNvSpPr txBox="1"/>
          <p:nvPr/>
        </p:nvSpPr>
        <p:spPr>
          <a:xfrm>
            <a:off x="10004655" y="1724178"/>
            <a:ext cx="7959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2" name="Google Shape;3042;p59"/>
          <p:cNvSpPr txBox="1"/>
          <p:nvPr/>
        </p:nvSpPr>
        <p:spPr>
          <a:xfrm>
            <a:off x="10874684" y="1724178"/>
            <a:ext cx="5655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ZS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3" name="Google Shape;3043;p59"/>
          <p:cNvSpPr txBox="1"/>
          <p:nvPr/>
        </p:nvSpPr>
        <p:spPr>
          <a:xfrm>
            <a:off x="6276963" y="2992096"/>
            <a:ext cx="2743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 que foram excluídas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4" name="Google Shape;3044;p59"/>
          <p:cNvSpPr txBox="1"/>
          <p:nvPr/>
        </p:nvSpPr>
        <p:spPr>
          <a:xfrm>
            <a:off x="6538900" y="3501683"/>
            <a:ext cx="30471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desenho principal é tumor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5" name="Google Shape;3045;p59"/>
          <p:cNvSpPr txBox="1"/>
          <p:nvPr/>
        </p:nvSpPr>
        <p:spPr>
          <a:xfrm>
            <a:off x="9613094" y="3501683"/>
            <a:ext cx="10044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primário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6" name="Google Shape;3046;p59"/>
          <p:cNvSpPr txBox="1"/>
          <p:nvPr/>
        </p:nvSpPr>
        <p:spPr>
          <a:xfrm>
            <a:off x="6538900" y="3820771"/>
            <a:ext cx="22701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vs. adjacente/normal.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7" name="Google Shape;3047;p59"/>
          <p:cNvSpPr txBox="1"/>
          <p:nvPr/>
        </p:nvSpPr>
        <p:spPr>
          <a:xfrm>
            <a:off x="6538900" y="4192246"/>
            <a:ext cx="47373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 = 2 não permite análise estatística robusta.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8" name="Google Shape;3048;p59"/>
          <p:cNvSpPr txBox="1"/>
          <p:nvPr/>
        </p:nvSpPr>
        <p:spPr>
          <a:xfrm>
            <a:off x="6538900" y="4563721"/>
            <a:ext cx="52101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Recidivas podem ter biologia distinta (resistência,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9" name="Google Shape;3049;p59"/>
          <p:cNvSpPr txBox="1"/>
          <p:nvPr/>
        </p:nvSpPr>
        <p:spPr>
          <a:xfrm>
            <a:off x="6538900" y="4882808"/>
            <a:ext cx="1788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evolução clonal).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0" name="Google Shape;3050;p59"/>
          <p:cNvSpPr txBox="1"/>
          <p:nvPr/>
        </p:nvSpPr>
        <p:spPr>
          <a:xfrm>
            <a:off x="6538900" y="5254283"/>
            <a:ext cx="17901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Permanecem 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1" name="Google Shape;3051;p59"/>
          <p:cNvSpPr txBox="1"/>
          <p:nvPr/>
        </p:nvSpPr>
        <p:spPr>
          <a:xfrm>
            <a:off x="8356091" y="5292383"/>
            <a:ext cx="29682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metadata_amostras.tsv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2" name="Google Shape;3052;p59"/>
          <p:cNvSpPr txBox="1"/>
          <p:nvPr/>
        </p:nvSpPr>
        <p:spPr>
          <a:xfrm>
            <a:off x="6538900" y="5592421"/>
            <a:ext cx="15558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para auditoria.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3" name="Google Shape;3053;p59"/>
          <p:cNvSpPr txBox="1"/>
          <p:nvPr/>
        </p:nvSpPr>
        <p:spPr>
          <a:xfrm>
            <a:off x="11167914" y="4980980"/>
            <a:ext cx="1555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4" name="Google Shape;3054;p59"/>
          <p:cNvSpPr/>
          <p:nvPr/>
        </p:nvSpPr>
        <p:spPr>
          <a:xfrm>
            <a:off x="6307919" y="3627889"/>
            <a:ext cx="81000" cy="81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5" name="Google Shape;3055;p59"/>
          <p:cNvSpPr/>
          <p:nvPr/>
        </p:nvSpPr>
        <p:spPr>
          <a:xfrm>
            <a:off x="6307919" y="4318452"/>
            <a:ext cx="81000" cy="81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6" name="Google Shape;3056;p59"/>
          <p:cNvSpPr/>
          <p:nvPr/>
        </p:nvSpPr>
        <p:spPr>
          <a:xfrm>
            <a:off x="6307919" y="4689927"/>
            <a:ext cx="81000" cy="81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7" name="Google Shape;3057;p59"/>
          <p:cNvSpPr/>
          <p:nvPr/>
        </p:nvSpPr>
        <p:spPr>
          <a:xfrm>
            <a:off x="6307919" y="5380489"/>
            <a:ext cx="81000" cy="81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1" name="Shape 3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2" name="Google Shape;3062;p62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63" name="Google Shape;3063;p62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4" name="Google Shape;3064;p62"/>
          <p:cNvSpPr/>
          <p:nvPr/>
        </p:nvSpPr>
        <p:spPr>
          <a:xfrm>
            <a:off x="400050" y="783580"/>
            <a:ext cx="11391900" cy="871538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5" name="Google Shape;3065;p62"/>
          <p:cNvSpPr/>
          <p:nvPr/>
        </p:nvSpPr>
        <p:spPr>
          <a:xfrm>
            <a:off x="404812" y="788343"/>
            <a:ext cx="1428601" cy="226219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66" name="Google Shape;3066;p62"/>
          <p:cNvCxnSpPr/>
          <p:nvPr/>
        </p:nvCxnSpPr>
        <p:spPr>
          <a:xfrm>
            <a:off x="404812" y="793105"/>
            <a:ext cx="1428602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67" name="Google Shape;3067;p62"/>
          <p:cNvCxnSpPr/>
          <p:nvPr/>
        </p:nvCxnSpPr>
        <p:spPr>
          <a:xfrm>
            <a:off x="409575" y="788343"/>
            <a:ext cx="0" cy="22621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8" name="Google Shape;3068;p62"/>
          <p:cNvSpPr/>
          <p:nvPr/>
        </p:nvSpPr>
        <p:spPr>
          <a:xfrm>
            <a:off x="1833414" y="788343"/>
            <a:ext cx="560487" cy="226219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69" name="Google Shape;3069;p62"/>
          <p:cNvCxnSpPr/>
          <p:nvPr/>
        </p:nvCxnSpPr>
        <p:spPr>
          <a:xfrm>
            <a:off x="1833414" y="793105"/>
            <a:ext cx="560486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70" name="Google Shape;3070;p62"/>
          <p:cNvCxnSpPr/>
          <p:nvPr/>
        </p:nvCxnSpPr>
        <p:spPr>
          <a:xfrm>
            <a:off x="1838176" y="788343"/>
            <a:ext cx="0" cy="22621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1" name="Google Shape;3071;p62"/>
          <p:cNvSpPr/>
          <p:nvPr/>
        </p:nvSpPr>
        <p:spPr>
          <a:xfrm>
            <a:off x="2393900" y="788343"/>
            <a:ext cx="1690688" cy="226219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72" name="Google Shape;3072;p62"/>
          <p:cNvCxnSpPr/>
          <p:nvPr/>
        </p:nvCxnSpPr>
        <p:spPr>
          <a:xfrm>
            <a:off x="2393900" y="793105"/>
            <a:ext cx="1690688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73" name="Google Shape;3073;p62"/>
          <p:cNvCxnSpPr/>
          <p:nvPr/>
        </p:nvCxnSpPr>
        <p:spPr>
          <a:xfrm>
            <a:off x="2398663" y="788343"/>
            <a:ext cx="0" cy="22621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4" name="Google Shape;3074;p62"/>
          <p:cNvSpPr/>
          <p:nvPr/>
        </p:nvSpPr>
        <p:spPr>
          <a:xfrm>
            <a:off x="4084588" y="788343"/>
            <a:ext cx="1619994" cy="226219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75" name="Google Shape;3075;p62"/>
          <p:cNvCxnSpPr/>
          <p:nvPr/>
        </p:nvCxnSpPr>
        <p:spPr>
          <a:xfrm>
            <a:off x="4084588" y="793105"/>
            <a:ext cx="1619994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76" name="Google Shape;3076;p62"/>
          <p:cNvCxnSpPr/>
          <p:nvPr/>
        </p:nvCxnSpPr>
        <p:spPr>
          <a:xfrm>
            <a:off x="4089350" y="788343"/>
            <a:ext cx="0" cy="22621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7" name="Google Shape;3077;p62"/>
          <p:cNvSpPr/>
          <p:nvPr/>
        </p:nvSpPr>
        <p:spPr>
          <a:xfrm>
            <a:off x="5704582" y="788343"/>
            <a:ext cx="1894136" cy="226219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78" name="Google Shape;3078;p62"/>
          <p:cNvCxnSpPr/>
          <p:nvPr/>
        </p:nvCxnSpPr>
        <p:spPr>
          <a:xfrm>
            <a:off x="5704582" y="793105"/>
            <a:ext cx="1894136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79" name="Google Shape;3079;p62"/>
          <p:cNvCxnSpPr/>
          <p:nvPr/>
        </p:nvCxnSpPr>
        <p:spPr>
          <a:xfrm>
            <a:off x="5709345" y="788343"/>
            <a:ext cx="0" cy="22621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0" name="Google Shape;3080;p62"/>
          <p:cNvSpPr/>
          <p:nvPr/>
        </p:nvSpPr>
        <p:spPr>
          <a:xfrm>
            <a:off x="7598718" y="788343"/>
            <a:ext cx="1805434" cy="226219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1" name="Google Shape;3081;p62"/>
          <p:cNvCxnSpPr/>
          <p:nvPr/>
        </p:nvCxnSpPr>
        <p:spPr>
          <a:xfrm>
            <a:off x="7598718" y="793105"/>
            <a:ext cx="1805434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2" name="Google Shape;3082;p62"/>
          <p:cNvCxnSpPr/>
          <p:nvPr/>
        </p:nvCxnSpPr>
        <p:spPr>
          <a:xfrm>
            <a:off x="7603480" y="788343"/>
            <a:ext cx="0" cy="22621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3" name="Google Shape;3083;p62"/>
          <p:cNvSpPr/>
          <p:nvPr/>
        </p:nvSpPr>
        <p:spPr>
          <a:xfrm>
            <a:off x="9404152" y="788343"/>
            <a:ext cx="1515814" cy="226219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4" name="Google Shape;3084;p62"/>
          <p:cNvCxnSpPr/>
          <p:nvPr/>
        </p:nvCxnSpPr>
        <p:spPr>
          <a:xfrm>
            <a:off x="9404152" y="793105"/>
            <a:ext cx="1515814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5" name="Google Shape;3085;p62"/>
          <p:cNvCxnSpPr/>
          <p:nvPr/>
        </p:nvCxnSpPr>
        <p:spPr>
          <a:xfrm>
            <a:off x="9408914" y="788343"/>
            <a:ext cx="0" cy="22621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6" name="Google Shape;3086;p62"/>
          <p:cNvSpPr/>
          <p:nvPr/>
        </p:nvSpPr>
        <p:spPr>
          <a:xfrm>
            <a:off x="10919966" y="788343"/>
            <a:ext cx="867221" cy="226219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7" name="Google Shape;3087;p62"/>
          <p:cNvCxnSpPr/>
          <p:nvPr/>
        </p:nvCxnSpPr>
        <p:spPr>
          <a:xfrm>
            <a:off x="10919966" y="793105"/>
            <a:ext cx="867222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8" name="Google Shape;3088;p62"/>
          <p:cNvCxnSpPr/>
          <p:nvPr/>
        </p:nvCxnSpPr>
        <p:spPr>
          <a:xfrm>
            <a:off x="10924729" y="788343"/>
            <a:ext cx="0" cy="22621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9" name="Google Shape;3089;p62"/>
          <p:cNvSpPr/>
          <p:nvPr/>
        </p:nvSpPr>
        <p:spPr>
          <a:xfrm>
            <a:off x="404812" y="1014561"/>
            <a:ext cx="1428601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0" name="Google Shape;3090;p62"/>
          <p:cNvCxnSpPr/>
          <p:nvPr/>
        </p:nvCxnSpPr>
        <p:spPr>
          <a:xfrm>
            <a:off x="404812" y="1019324"/>
            <a:ext cx="142860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1" name="Google Shape;3091;p62"/>
          <p:cNvCxnSpPr/>
          <p:nvPr/>
        </p:nvCxnSpPr>
        <p:spPr>
          <a:xfrm>
            <a:off x="409575" y="1014561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2" name="Google Shape;3092;p62"/>
          <p:cNvSpPr/>
          <p:nvPr/>
        </p:nvSpPr>
        <p:spPr>
          <a:xfrm>
            <a:off x="1833414" y="1014561"/>
            <a:ext cx="560487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3" name="Google Shape;3093;p62"/>
          <p:cNvCxnSpPr/>
          <p:nvPr/>
        </p:nvCxnSpPr>
        <p:spPr>
          <a:xfrm>
            <a:off x="1833414" y="1019324"/>
            <a:ext cx="56048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4" name="Google Shape;3094;p62"/>
          <p:cNvCxnSpPr/>
          <p:nvPr/>
        </p:nvCxnSpPr>
        <p:spPr>
          <a:xfrm>
            <a:off x="1838176" y="1014561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5" name="Google Shape;3095;p62"/>
          <p:cNvSpPr/>
          <p:nvPr/>
        </p:nvSpPr>
        <p:spPr>
          <a:xfrm>
            <a:off x="2393900" y="1014561"/>
            <a:ext cx="1690688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6" name="Google Shape;3096;p62"/>
          <p:cNvCxnSpPr/>
          <p:nvPr/>
        </p:nvCxnSpPr>
        <p:spPr>
          <a:xfrm>
            <a:off x="2393900" y="1019324"/>
            <a:ext cx="169068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7" name="Google Shape;3097;p62"/>
          <p:cNvCxnSpPr/>
          <p:nvPr/>
        </p:nvCxnSpPr>
        <p:spPr>
          <a:xfrm>
            <a:off x="2398663" y="1014561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8" name="Google Shape;3098;p62"/>
          <p:cNvSpPr/>
          <p:nvPr/>
        </p:nvSpPr>
        <p:spPr>
          <a:xfrm>
            <a:off x="4084588" y="1014561"/>
            <a:ext cx="1619994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9" name="Google Shape;3099;p62"/>
          <p:cNvCxnSpPr/>
          <p:nvPr/>
        </p:nvCxnSpPr>
        <p:spPr>
          <a:xfrm>
            <a:off x="4084588" y="1019324"/>
            <a:ext cx="161999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0" name="Google Shape;3100;p62"/>
          <p:cNvCxnSpPr/>
          <p:nvPr/>
        </p:nvCxnSpPr>
        <p:spPr>
          <a:xfrm>
            <a:off x="4089350" y="1014561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1" name="Google Shape;3101;p62"/>
          <p:cNvSpPr/>
          <p:nvPr/>
        </p:nvSpPr>
        <p:spPr>
          <a:xfrm>
            <a:off x="5704582" y="1014561"/>
            <a:ext cx="1894136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2" name="Google Shape;3102;p62"/>
          <p:cNvCxnSpPr/>
          <p:nvPr/>
        </p:nvCxnSpPr>
        <p:spPr>
          <a:xfrm>
            <a:off x="5704582" y="1019324"/>
            <a:ext cx="189413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3" name="Google Shape;3103;p62"/>
          <p:cNvCxnSpPr/>
          <p:nvPr/>
        </p:nvCxnSpPr>
        <p:spPr>
          <a:xfrm>
            <a:off x="5709345" y="1014561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4" name="Google Shape;3104;p62"/>
          <p:cNvSpPr/>
          <p:nvPr/>
        </p:nvSpPr>
        <p:spPr>
          <a:xfrm>
            <a:off x="7598718" y="1014561"/>
            <a:ext cx="1805434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5" name="Google Shape;3105;p62"/>
          <p:cNvCxnSpPr/>
          <p:nvPr/>
        </p:nvCxnSpPr>
        <p:spPr>
          <a:xfrm>
            <a:off x="7598718" y="1019324"/>
            <a:ext cx="180543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6" name="Google Shape;3106;p62"/>
          <p:cNvCxnSpPr/>
          <p:nvPr/>
        </p:nvCxnSpPr>
        <p:spPr>
          <a:xfrm>
            <a:off x="7603480" y="1014561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7" name="Google Shape;3107;p62"/>
          <p:cNvSpPr/>
          <p:nvPr/>
        </p:nvSpPr>
        <p:spPr>
          <a:xfrm>
            <a:off x="9404152" y="1014561"/>
            <a:ext cx="1515814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8" name="Google Shape;3108;p62"/>
          <p:cNvCxnSpPr/>
          <p:nvPr/>
        </p:nvCxnSpPr>
        <p:spPr>
          <a:xfrm>
            <a:off x="9404152" y="1019324"/>
            <a:ext cx="151581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9" name="Google Shape;3109;p62"/>
          <p:cNvCxnSpPr/>
          <p:nvPr/>
        </p:nvCxnSpPr>
        <p:spPr>
          <a:xfrm>
            <a:off x="9408914" y="1014561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0" name="Google Shape;3110;p62"/>
          <p:cNvSpPr/>
          <p:nvPr/>
        </p:nvSpPr>
        <p:spPr>
          <a:xfrm>
            <a:off x="10919966" y="1014561"/>
            <a:ext cx="867221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11" name="Google Shape;3111;p62"/>
          <p:cNvCxnSpPr/>
          <p:nvPr/>
        </p:nvCxnSpPr>
        <p:spPr>
          <a:xfrm>
            <a:off x="10919966" y="1019324"/>
            <a:ext cx="8672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2" name="Google Shape;3112;p62"/>
          <p:cNvCxnSpPr/>
          <p:nvPr/>
        </p:nvCxnSpPr>
        <p:spPr>
          <a:xfrm>
            <a:off x="10924729" y="1014561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3" name="Google Shape;3113;p62"/>
          <p:cNvSpPr/>
          <p:nvPr/>
        </p:nvSpPr>
        <p:spPr>
          <a:xfrm>
            <a:off x="404812" y="1226493"/>
            <a:ext cx="1428601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14" name="Google Shape;3114;p62"/>
          <p:cNvCxnSpPr/>
          <p:nvPr/>
        </p:nvCxnSpPr>
        <p:spPr>
          <a:xfrm>
            <a:off x="404812" y="1231255"/>
            <a:ext cx="142860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5" name="Google Shape;3115;p62"/>
          <p:cNvCxnSpPr/>
          <p:nvPr/>
        </p:nvCxnSpPr>
        <p:spPr>
          <a:xfrm>
            <a:off x="409575" y="1226493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6" name="Google Shape;3116;p62"/>
          <p:cNvSpPr/>
          <p:nvPr/>
        </p:nvSpPr>
        <p:spPr>
          <a:xfrm>
            <a:off x="1833414" y="1226493"/>
            <a:ext cx="560487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17" name="Google Shape;3117;p62"/>
          <p:cNvCxnSpPr/>
          <p:nvPr/>
        </p:nvCxnSpPr>
        <p:spPr>
          <a:xfrm>
            <a:off x="1833414" y="1231255"/>
            <a:ext cx="56048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8" name="Google Shape;3118;p62"/>
          <p:cNvCxnSpPr/>
          <p:nvPr/>
        </p:nvCxnSpPr>
        <p:spPr>
          <a:xfrm>
            <a:off x="1838176" y="1226493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9" name="Google Shape;3119;p62"/>
          <p:cNvSpPr/>
          <p:nvPr/>
        </p:nvSpPr>
        <p:spPr>
          <a:xfrm>
            <a:off x="2393900" y="1226493"/>
            <a:ext cx="1690688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20" name="Google Shape;3120;p62"/>
          <p:cNvCxnSpPr/>
          <p:nvPr/>
        </p:nvCxnSpPr>
        <p:spPr>
          <a:xfrm>
            <a:off x="2393900" y="1231255"/>
            <a:ext cx="169068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1" name="Google Shape;3121;p62"/>
          <p:cNvCxnSpPr/>
          <p:nvPr/>
        </p:nvCxnSpPr>
        <p:spPr>
          <a:xfrm>
            <a:off x="2398663" y="1226493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2" name="Google Shape;3122;p62"/>
          <p:cNvSpPr/>
          <p:nvPr/>
        </p:nvSpPr>
        <p:spPr>
          <a:xfrm>
            <a:off x="4084588" y="1226493"/>
            <a:ext cx="1619994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23" name="Google Shape;3123;p62"/>
          <p:cNvCxnSpPr/>
          <p:nvPr/>
        </p:nvCxnSpPr>
        <p:spPr>
          <a:xfrm>
            <a:off x="4084588" y="1231255"/>
            <a:ext cx="161999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4" name="Google Shape;3124;p62"/>
          <p:cNvCxnSpPr/>
          <p:nvPr/>
        </p:nvCxnSpPr>
        <p:spPr>
          <a:xfrm>
            <a:off x="4089350" y="1226493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5" name="Google Shape;3125;p62"/>
          <p:cNvSpPr/>
          <p:nvPr/>
        </p:nvSpPr>
        <p:spPr>
          <a:xfrm>
            <a:off x="5704582" y="1226493"/>
            <a:ext cx="1894136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26" name="Google Shape;3126;p62"/>
          <p:cNvCxnSpPr/>
          <p:nvPr/>
        </p:nvCxnSpPr>
        <p:spPr>
          <a:xfrm>
            <a:off x="5704582" y="1231255"/>
            <a:ext cx="189413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7" name="Google Shape;3127;p62"/>
          <p:cNvCxnSpPr/>
          <p:nvPr/>
        </p:nvCxnSpPr>
        <p:spPr>
          <a:xfrm>
            <a:off x="5709345" y="1226493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8" name="Google Shape;3128;p62"/>
          <p:cNvSpPr/>
          <p:nvPr/>
        </p:nvSpPr>
        <p:spPr>
          <a:xfrm>
            <a:off x="7598718" y="1226493"/>
            <a:ext cx="1805434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29" name="Google Shape;3129;p62"/>
          <p:cNvCxnSpPr/>
          <p:nvPr/>
        </p:nvCxnSpPr>
        <p:spPr>
          <a:xfrm>
            <a:off x="7598718" y="1231255"/>
            <a:ext cx="180543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0" name="Google Shape;3130;p62"/>
          <p:cNvCxnSpPr/>
          <p:nvPr/>
        </p:nvCxnSpPr>
        <p:spPr>
          <a:xfrm>
            <a:off x="7603480" y="1226493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1" name="Google Shape;3131;p62"/>
          <p:cNvSpPr/>
          <p:nvPr/>
        </p:nvSpPr>
        <p:spPr>
          <a:xfrm>
            <a:off x="9404152" y="1226493"/>
            <a:ext cx="1515814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32" name="Google Shape;3132;p62"/>
          <p:cNvCxnSpPr/>
          <p:nvPr/>
        </p:nvCxnSpPr>
        <p:spPr>
          <a:xfrm>
            <a:off x="9404152" y="1231255"/>
            <a:ext cx="151581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3" name="Google Shape;3133;p62"/>
          <p:cNvCxnSpPr/>
          <p:nvPr/>
        </p:nvCxnSpPr>
        <p:spPr>
          <a:xfrm>
            <a:off x="9408914" y="1226493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4" name="Google Shape;3134;p62"/>
          <p:cNvSpPr/>
          <p:nvPr/>
        </p:nvSpPr>
        <p:spPr>
          <a:xfrm>
            <a:off x="10919966" y="1226493"/>
            <a:ext cx="867221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35" name="Google Shape;3135;p62"/>
          <p:cNvCxnSpPr/>
          <p:nvPr/>
        </p:nvCxnSpPr>
        <p:spPr>
          <a:xfrm>
            <a:off x="10919966" y="1231255"/>
            <a:ext cx="8672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6" name="Google Shape;3136;p62"/>
          <p:cNvCxnSpPr/>
          <p:nvPr/>
        </p:nvCxnSpPr>
        <p:spPr>
          <a:xfrm>
            <a:off x="10924729" y="1226493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7" name="Google Shape;3137;p62"/>
          <p:cNvSpPr/>
          <p:nvPr/>
        </p:nvSpPr>
        <p:spPr>
          <a:xfrm>
            <a:off x="404812" y="1438424"/>
            <a:ext cx="1428601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38" name="Google Shape;3138;p62"/>
          <p:cNvCxnSpPr/>
          <p:nvPr/>
        </p:nvCxnSpPr>
        <p:spPr>
          <a:xfrm>
            <a:off x="404812" y="1443186"/>
            <a:ext cx="142860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9" name="Google Shape;3139;p62"/>
          <p:cNvCxnSpPr/>
          <p:nvPr/>
        </p:nvCxnSpPr>
        <p:spPr>
          <a:xfrm>
            <a:off x="409575" y="1438424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0" name="Google Shape;3140;p62"/>
          <p:cNvSpPr/>
          <p:nvPr/>
        </p:nvSpPr>
        <p:spPr>
          <a:xfrm>
            <a:off x="1833414" y="1438424"/>
            <a:ext cx="560487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1" name="Google Shape;3141;p62"/>
          <p:cNvCxnSpPr/>
          <p:nvPr/>
        </p:nvCxnSpPr>
        <p:spPr>
          <a:xfrm>
            <a:off x="1833414" y="1443186"/>
            <a:ext cx="56048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2" name="Google Shape;3142;p62"/>
          <p:cNvCxnSpPr/>
          <p:nvPr/>
        </p:nvCxnSpPr>
        <p:spPr>
          <a:xfrm>
            <a:off x="1838176" y="1438424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3" name="Google Shape;3143;p62"/>
          <p:cNvSpPr/>
          <p:nvPr/>
        </p:nvSpPr>
        <p:spPr>
          <a:xfrm>
            <a:off x="2393900" y="1438424"/>
            <a:ext cx="1690688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4" name="Google Shape;3144;p62"/>
          <p:cNvCxnSpPr/>
          <p:nvPr/>
        </p:nvCxnSpPr>
        <p:spPr>
          <a:xfrm>
            <a:off x="2393900" y="1443186"/>
            <a:ext cx="169068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5" name="Google Shape;3145;p62"/>
          <p:cNvCxnSpPr/>
          <p:nvPr/>
        </p:nvCxnSpPr>
        <p:spPr>
          <a:xfrm>
            <a:off x="2398663" y="1438424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6" name="Google Shape;3146;p62"/>
          <p:cNvSpPr/>
          <p:nvPr/>
        </p:nvSpPr>
        <p:spPr>
          <a:xfrm>
            <a:off x="4084588" y="1438424"/>
            <a:ext cx="1619994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7" name="Google Shape;3147;p62"/>
          <p:cNvCxnSpPr/>
          <p:nvPr/>
        </p:nvCxnSpPr>
        <p:spPr>
          <a:xfrm>
            <a:off x="4084588" y="1443186"/>
            <a:ext cx="161999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8" name="Google Shape;3148;p62"/>
          <p:cNvCxnSpPr/>
          <p:nvPr/>
        </p:nvCxnSpPr>
        <p:spPr>
          <a:xfrm>
            <a:off x="4089350" y="1438424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9" name="Google Shape;3149;p62"/>
          <p:cNvSpPr/>
          <p:nvPr/>
        </p:nvSpPr>
        <p:spPr>
          <a:xfrm>
            <a:off x="5704582" y="1438424"/>
            <a:ext cx="1894136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0" name="Google Shape;3150;p62"/>
          <p:cNvCxnSpPr/>
          <p:nvPr/>
        </p:nvCxnSpPr>
        <p:spPr>
          <a:xfrm>
            <a:off x="5704582" y="1443186"/>
            <a:ext cx="189413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1" name="Google Shape;3151;p62"/>
          <p:cNvCxnSpPr/>
          <p:nvPr/>
        </p:nvCxnSpPr>
        <p:spPr>
          <a:xfrm>
            <a:off x="5709345" y="1438424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2" name="Google Shape;3152;p62"/>
          <p:cNvSpPr/>
          <p:nvPr/>
        </p:nvSpPr>
        <p:spPr>
          <a:xfrm>
            <a:off x="7598718" y="1438424"/>
            <a:ext cx="1805434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3" name="Google Shape;3153;p62"/>
          <p:cNvCxnSpPr/>
          <p:nvPr/>
        </p:nvCxnSpPr>
        <p:spPr>
          <a:xfrm>
            <a:off x="7598718" y="1443186"/>
            <a:ext cx="180543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4" name="Google Shape;3154;p62"/>
          <p:cNvCxnSpPr/>
          <p:nvPr/>
        </p:nvCxnSpPr>
        <p:spPr>
          <a:xfrm>
            <a:off x="7603480" y="1438424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5" name="Google Shape;3155;p62"/>
          <p:cNvSpPr/>
          <p:nvPr/>
        </p:nvSpPr>
        <p:spPr>
          <a:xfrm>
            <a:off x="9404152" y="1438424"/>
            <a:ext cx="1515814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6" name="Google Shape;3156;p62"/>
          <p:cNvCxnSpPr/>
          <p:nvPr/>
        </p:nvCxnSpPr>
        <p:spPr>
          <a:xfrm>
            <a:off x="9404152" y="1443186"/>
            <a:ext cx="151581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7" name="Google Shape;3157;p62"/>
          <p:cNvCxnSpPr/>
          <p:nvPr/>
        </p:nvCxnSpPr>
        <p:spPr>
          <a:xfrm>
            <a:off x="9408914" y="1438424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8" name="Google Shape;3158;p62"/>
          <p:cNvSpPr/>
          <p:nvPr/>
        </p:nvSpPr>
        <p:spPr>
          <a:xfrm>
            <a:off x="10919966" y="1438424"/>
            <a:ext cx="867221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9" name="Google Shape;3159;p62"/>
          <p:cNvCxnSpPr/>
          <p:nvPr/>
        </p:nvCxnSpPr>
        <p:spPr>
          <a:xfrm>
            <a:off x="10919966" y="1443186"/>
            <a:ext cx="8672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0" name="Google Shape;3160;p62"/>
          <p:cNvCxnSpPr/>
          <p:nvPr/>
        </p:nvCxnSpPr>
        <p:spPr>
          <a:xfrm>
            <a:off x="10924729" y="1438424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61" name="Google Shape;3161;p62"/>
          <p:cNvSpPr/>
          <p:nvPr/>
        </p:nvSpPr>
        <p:spPr>
          <a:xfrm>
            <a:off x="6942088" y="2373064"/>
            <a:ext cx="4170462" cy="2352675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2" name="Google Shape;3162;p62"/>
          <p:cNvSpPr/>
          <p:nvPr/>
        </p:nvSpPr>
        <p:spPr>
          <a:xfrm>
            <a:off x="6946850" y="2377827"/>
            <a:ext cx="933004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63" name="Google Shape;3163;p62"/>
          <p:cNvCxnSpPr/>
          <p:nvPr/>
        </p:nvCxnSpPr>
        <p:spPr>
          <a:xfrm>
            <a:off x="6946850" y="2382589"/>
            <a:ext cx="93300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164" name="Google Shape;3164;p62"/>
          <p:cNvCxnSpPr/>
          <p:nvPr/>
        </p:nvCxnSpPr>
        <p:spPr>
          <a:xfrm>
            <a:off x="6951613" y="2377827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165" name="Google Shape;3165;p62"/>
          <p:cNvSpPr/>
          <p:nvPr/>
        </p:nvSpPr>
        <p:spPr>
          <a:xfrm>
            <a:off x="7879854" y="2377827"/>
            <a:ext cx="963364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66" name="Google Shape;3166;p62"/>
          <p:cNvCxnSpPr/>
          <p:nvPr/>
        </p:nvCxnSpPr>
        <p:spPr>
          <a:xfrm>
            <a:off x="7879854" y="2382589"/>
            <a:ext cx="96336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167" name="Google Shape;3167;p62"/>
          <p:cNvCxnSpPr/>
          <p:nvPr/>
        </p:nvCxnSpPr>
        <p:spPr>
          <a:xfrm>
            <a:off x="7884616" y="2377827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168" name="Google Shape;3168;p62"/>
          <p:cNvSpPr/>
          <p:nvPr/>
        </p:nvSpPr>
        <p:spPr>
          <a:xfrm>
            <a:off x="8843218" y="2377827"/>
            <a:ext cx="2264569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69" name="Google Shape;3169;p62"/>
          <p:cNvCxnSpPr/>
          <p:nvPr/>
        </p:nvCxnSpPr>
        <p:spPr>
          <a:xfrm>
            <a:off x="8843218" y="2382589"/>
            <a:ext cx="2264569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170" name="Google Shape;3170;p62"/>
          <p:cNvCxnSpPr/>
          <p:nvPr/>
        </p:nvCxnSpPr>
        <p:spPr>
          <a:xfrm>
            <a:off x="8847981" y="2377827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171" name="Google Shape;3171;p62"/>
          <p:cNvSpPr/>
          <p:nvPr/>
        </p:nvSpPr>
        <p:spPr>
          <a:xfrm>
            <a:off x="6946850" y="2670721"/>
            <a:ext cx="933004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72" name="Google Shape;3172;p62"/>
          <p:cNvCxnSpPr/>
          <p:nvPr/>
        </p:nvCxnSpPr>
        <p:spPr>
          <a:xfrm>
            <a:off x="6946850" y="2675483"/>
            <a:ext cx="93300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173" name="Google Shape;3173;p62"/>
          <p:cNvCxnSpPr/>
          <p:nvPr/>
        </p:nvCxnSpPr>
        <p:spPr>
          <a:xfrm>
            <a:off x="6951613" y="2670721"/>
            <a:ext cx="0" cy="29289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174" name="Google Shape;3174;p62"/>
          <p:cNvSpPr/>
          <p:nvPr/>
        </p:nvSpPr>
        <p:spPr>
          <a:xfrm>
            <a:off x="7879854" y="2670721"/>
            <a:ext cx="963364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75" name="Google Shape;3175;p62"/>
          <p:cNvCxnSpPr/>
          <p:nvPr/>
        </p:nvCxnSpPr>
        <p:spPr>
          <a:xfrm>
            <a:off x="7879854" y="2675483"/>
            <a:ext cx="96336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176" name="Google Shape;3176;p62"/>
          <p:cNvCxnSpPr/>
          <p:nvPr/>
        </p:nvCxnSpPr>
        <p:spPr>
          <a:xfrm>
            <a:off x="7884616" y="2670721"/>
            <a:ext cx="0" cy="29289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177" name="Google Shape;3177;p62"/>
          <p:cNvSpPr/>
          <p:nvPr/>
        </p:nvSpPr>
        <p:spPr>
          <a:xfrm>
            <a:off x="8843218" y="2670721"/>
            <a:ext cx="2264569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78" name="Google Shape;3178;p62"/>
          <p:cNvCxnSpPr/>
          <p:nvPr/>
        </p:nvCxnSpPr>
        <p:spPr>
          <a:xfrm>
            <a:off x="8843218" y="2675483"/>
            <a:ext cx="2264569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179" name="Google Shape;3179;p62"/>
          <p:cNvCxnSpPr/>
          <p:nvPr/>
        </p:nvCxnSpPr>
        <p:spPr>
          <a:xfrm>
            <a:off x="8847981" y="2670721"/>
            <a:ext cx="0" cy="29289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180" name="Google Shape;3180;p62"/>
          <p:cNvSpPr/>
          <p:nvPr/>
        </p:nvSpPr>
        <p:spPr>
          <a:xfrm>
            <a:off x="6946850" y="2963614"/>
            <a:ext cx="933004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81" name="Google Shape;3181;p62"/>
          <p:cNvCxnSpPr/>
          <p:nvPr/>
        </p:nvCxnSpPr>
        <p:spPr>
          <a:xfrm>
            <a:off x="6946850" y="2968377"/>
            <a:ext cx="93300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182" name="Google Shape;3182;p62"/>
          <p:cNvCxnSpPr/>
          <p:nvPr/>
        </p:nvCxnSpPr>
        <p:spPr>
          <a:xfrm>
            <a:off x="6951613" y="2963614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183" name="Google Shape;3183;p62"/>
          <p:cNvSpPr/>
          <p:nvPr/>
        </p:nvSpPr>
        <p:spPr>
          <a:xfrm>
            <a:off x="7879854" y="2963614"/>
            <a:ext cx="963364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84" name="Google Shape;3184;p62"/>
          <p:cNvCxnSpPr/>
          <p:nvPr/>
        </p:nvCxnSpPr>
        <p:spPr>
          <a:xfrm>
            <a:off x="7879854" y="2968377"/>
            <a:ext cx="96336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185" name="Google Shape;3185;p62"/>
          <p:cNvCxnSpPr/>
          <p:nvPr/>
        </p:nvCxnSpPr>
        <p:spPr>
          <a:xfrm>
            <a:off x="7884616" y="2963614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186" name="Google Shape;3186;p62"/>
          <p:cNvSpPr/>
          <p:nvPr/>
        </p:nvSpPr>
        <p:spPr>
          <a:xfrm>
            <a:off x="8843218" y="2963614"/>
            <a:ext cx="2264569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87" name="Google Shape;3187;p62"/>
          <p:cNvCxnSpPr/>
          <p:nvPr/>
        </p:nvCxnSpPr>
        <p:spPr>
          <a:xfrm>
            <a:off x="8843218" y="2968377"/>
            <a:ext cx="2264569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188" name="Google Shape;3188;p62"/>
          <p:cNvCxnSpPr/>
          <p:nvPr/>
        </p:nvCxnSpPr>
        <p:spPr>
          <a:xfrm>
            <a:off x="8847981" y="2963614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189" name="Google Shape;3189;p62"/>
          <p:cNvSpPr/>
          <p:nvPr/>
        </p:nvSpPr>
        <p:spPr>
          <a:xfrm>
            <a:off x="6946850" y="3256508"/>
            <a:ext cx="933004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90" name="Google Shape;3190;p62"/>
          <p:cNvCxnSpPr/>
          <p:nvPr/>
        </p:nvCxnSpPr>
        <p:spPr>
          <a:xfrm>
            <a:off x="6946850" y="3261271"/>
            <a:ext cx="93300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191" name="Google Shape;3191;p62"/>
          <p:cNvCxnSpPr/>
          <p:nvPr/>
        </p:nvCxnSpPr>
        <p:spPr>
          <a:xfrm>
            <a:off x="6951613" y="3256508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192" name="Google Shape;3192;p62"/>
          <p:cNvSpPr/>
          <p:nvPr/>
        </p:nvSpPr>
        <p:spPr>
          <a:xfrm>
            <a:off x="7879854" y="3256508"/>
            <a:ext cx="963364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93" name="Google Shape;3193;p62"/>
          <p:cNvCxnSpPr/>
          <p:nvPr/>
        </p:nvCxnSpPr>
        <p:spPr>
          <a:xfrm>
            <a:off x="7879854" y="3261271"/>
            <a:ext cx="96336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194" name="Google Shape;3194;p62"/>
          <p:cNvCxnSpPr/>
          <p:nvPr/>
        </p:nvCxnSpPr>
        <p:spPr>
          <a:xfrm>
            <a:off x="7884616" y="3256508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195" name="Google Shape;3195;p62"/>
          <p:cNvSpPr/>
          <p:nvPr/>
        </p:nvSpPr>
        <p:spPr>
          <a:xfrm>
            <a:off x="8843218" y="3256508"/>
            <a:ext cx="2264569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96" name="Google Shape;3196;p62"/>
          <p:cNvCxnSpPr/>
          <p:nvPr/>
        </p:nvCxnSpPr>
        <p:spPr>
          <a:xfrm>
            <a:off x="8843218" y="3261271"/>
            <a:ext cx="2264569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197" name="Google Shape;3197;p62"/>
          <p:cNvCxnSpPr/>
          <p:nvPr/>
        </p:nvCxnSpPr>
        <p:spPr>
          <a:xfrm>
            <a:off x="8847981" y="3256508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198" name="Google Shape;3198;p62"/>
          <p:cNvSpPr/>
          <p:nvPr/>
        </p:nvSpPr>
        <p:spPr>
          <a:xfrm>
            <a:off x="6946850" y="3549402"/>
            <a:ext cx="933004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99" name="Google Shape;3199;p62"/>
          <p:cNvCxnSpPr/>
          <p:nvPr/>
        </p:nvCxnSpPr>
        <p:spPr>
          <a:xfrm>
            <a:off x="6946850" y="3554164"/>
            <a:ext cx="93300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00" name="Google Shape;3200;p62"/>
          <p:cNvCxnSpPr/>
          <p:nvPr/>
        </p:nvCxnSpPr>
        <p:spPr>
          <a:xfrm>
            <a:off x="6951613" y="3549402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201" name="Google Shape;3201;p62"/>
          <p:cNvSpPr/>
          <p:nvPr/>
        </p:nvSpPr>
        <p:spPr>
          <a:xfrm>
            <a:off x="7879854" y="3549402"/>
            <a:ext cx="963364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2" name="Google Shape;3202;p62"/>
          <p:cNvCxnSpPr/>
          <p:nvPr/>
        </p:nvCxnSpPr>
        <p:spPr>
          <a:xfrm>
            <a:off x="7879854" y="3554164"/>
            <a:ext cx="96336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03" name="Google Shape;3203;p62"/>
          <p:cNvCxnSpPr/>
          <p:nvPr/>
        </p:nvCxnSpPr>
        <p:spPr>
          <a:xfrm>
            <a:off x="7884616" y="3549402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204" name="Google Shape;3204;p62"/>
          <p:cNvSpPr/>
          <p:nvPr/>
        </p:nvSpPr>
        <p:spPr>
          <a:xfrm>
            <a:off x="8843218" y="3549402"/>
            <a:ext cx="2264569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5" name="Google Shape;3205;p62"/>
          <p:cNvCxnSpPr/>
          <p:nvPr/>
        </p:nvCxnSpPr>
        <p:spPr>
          <a:xfrm>
            <a:off x="8843218" y="3554164"/>
            <a:ext cx="2264569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06" name="Google Shape;3206;p62"/>
          <p:cNvCxnSpPr/>
          <p:nvPr/>
        </p:nvCxnSpPr>
        <p:spPr>
          <a:xfrm>
            <a:off x="8847981" y="3549402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207" name="Google Shape;3207;p62"/>
          <p:cNvSpPr/>
          <p:nvPr/>
        </p:nvSpPr>
        <p:spPr>
          <a:xfrm>
            <a:off x="6946850" y="3842296"/>
            <a:ext cx="933004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8" name="Google Shape;3208;p62"/>
          <p:cNvCxnSpPr/>
          <p:nvPr/>
        </p:nvCxnSpPr>
        <p:spPr>
          <a:xfrm>
            <a:off x="6946850" y="3847058"/>
            <a:ext cx="93300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09" name="Google Shape;3209;p62"/>
          <p:cNvCxnSpPr/>
          <p:nvPr/>
        </p:nvCxnSpPr>
        <p:spPr>
          <a:xfrm>
            <a:off x="6951613" y="3842296"/>
            <a:ext cx="0" cy="29289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210" name="Google Shape;3210;p62"/>
          <p:cNvSpPr/>
          <p:nvPr/>
        </p:nvSpPr>
        <p:spPr>
          <a:xfrm>
            <a:off x="7879854" y="3842296"/>
            <a:ext cx="963364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11" name="Google Shape;3211;p62"/>
          <p:cNvCxnSpPr/>
          <p:nvPr/>
        </p:nvCxnSpPr>
        <p:spPr>
          <a:xfrm>
            <a:off x="7879854" y="3847058"/>
            <a:ext cx="96336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12" name="Google Shape;3212;p62"/>
          <p:cNvCxnSpPr/>
          <p:nvPr/>
        </p:nvCxnSpPr>
        <p:spPr>
          <a:xfrm>
            <a:off x="7884616" y="3842296"/>
            <a:ext cx="0" cy="29289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213" name="Google Shape;3213;p62"/>
          <p:cNvSpPr/>
          <p:nvPr/>
        </p:nvSpPr>
        <p:spPr>
          <a:xfrm>
            <a:off x="8843218" y="3842296"/>
            <a:ext cx="2264569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14" name="Google Shape;3214;p62"/>
          <p:cNvCxnSpPr/>
          <p:nvPr/>
        </p:nvCxnSpPr>
        <p:spPr>
          <a:xfrm>
            <a:off x="8843218" y="3847058"/>
            <a:ext cx="2264569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15" name="Google Shape;3215;p62"/>
          <p:cNvCxnSpPr/>
          <p:nvPr/>
        </p:nvCxnSpPr>
        <p:spPr>
          <a:xfrm>
            <a:off x="8847981" y="3842296"/>
            <a:ext cx="0" cy="29289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216" name="Google Shape;3216;p62"/>
          <p:cNvSpPr/>
          <p:nvPr/>
        </p:nvSpPr>
        <p:spPr>
          <a:xfrm>
            <a:off x="6946850" y="4135189"/>
            <a:ext cx="933004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17" name="Google Shape;3217;p62"/>
          <p:cNvCxnSpPr/>
          <p:nvPr/>
        </p:nvCxnSpPr>
        <p:spPr>
          <a:xfrm>
            <a:off x="6946850" y="4139952"/>
            <a:ext cx="93300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18" name="Google Shape;3218;p62"/>
          <p:cNvCxnSpPr/>
          <p:nvPr/>
        </p:nvCxnSpPr>
        <p:spPr>
          <a:xfrm>
            <a:off x="6951613" y="4135189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219" name="Google Shape;3219;p62"/>
          <p:cNvSpPr/>
          <p:nvPr/>
        </p:nvSpPr>
        <p:spPr>
          <a:xfrm>
            <a:off x="7879854" y="4135189"/>
            <a:ext cx="963364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20" name="Google Shape;3220;p62"/>
          <p:cNvCxnSpPr/>
          <p:nvPr/>
        </p:nvCxnSpPr>
        <p:spPr>
          <a:xfrm>
            <a:off x="7879854" y="4139952"/>
            <a:ext cx="96336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21" name="Google Shape;3221;p62"/>
          <p:cNvCxnSpPr/>
          <p:nvPr/>
        </p:nvCxnSpPr>
        <p:spPr>
          <a:xfrm>
            <a:off x="7884616" y="4135189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222" name="Google Shape;3222;p62"/>
          <p:cNvSpPr/>
          <p:nvPr/>
        </p:nvSpPr>
        <p:spPr>
          <a:xfrm>
            <a:off x="8843218" y="4135189"/>
            <a:ext cx="2264569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23" name="Google Shape;3223;p62"/>
          <p:cNvCxnSpPr/>
          <p:nvPr/>
        </p:nvCxnSpPr>
        <p:spPr>
          <a:xfrm>
            <a:off x="8843218" y="4139952"/>
            <a:ext cx="2264569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24" name="Google Shape;3224;p62"/>
          <p:cNvCxnSpPr/>
          <p:nvPr/>
        </p:nvCxnSpPr>
        <p:spPr>
          <a:xfrm>
            <a:off x="8847981" y="4135189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225" name="Google Shape;3225;p62"/>
          <p:cNvSpPr/>
          <p:nvPr/>
        </p:nvSpPr>
        <p:spPr>
          <a:xfrm>
            <a:off x="6946850" y="4428083"/>
            <a:ext cx="933004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26" name="Google Shape;3226;p62"/>
          <p:cNvCxnSpPr/>
          <p:nvPr/>
        </p:nvCxnSpPr>
        <p:spPr>
          <a:xfrm>
            <a:off x="6946850" y="4432846"/>
            <a:ext cx="93300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27" name="Google Shape;3227;p62"/>
          <p:cNvCxnSpPr/>
          <p:nvPr/>
        </p:nvCxnSpPr>
        <p:spPr>
          <a:xfrm>
            <a:off x="6951613" y="4428083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228" name="Google Shape;3228;p62"/>
          <p:cNvSpPr/>
          <p:nvPr/>
        </p:nvSpPr>
        <p:spPr>
          <a:xfrm>
            <a:off x="7879854" y="4428083"/>
            <a:ext cx="963364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29" name="Google Shape;3229;p62"/>
          <p:cNvCxnSpPr/>
          <p:nvPr/>
        </p:nvCxnSpPr>
        <p:spPr>
          <a:xfrm>
            <a:off x="7879854" y="4432846"/>
            <a:ext cx="96336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30" name="Google Shape;3230;p62"/>
          <p:cNvCxnSpPr/>
          <p:nvPr/>
        </p:nvCxnSpPr>
        <p:spPr>
          <a:xfrm>
            <a:off x="7884616" y="4428083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231" name="Google Shape;3231;p62"/>
          <p:cNvSpPr/>
          <p:nvPr/>
        </p:nvSpPr>
        <p:spPr>
          <a:xfrm>
            <a:off x="8843218" y="4428083"/>
            <a:ext cx="2264569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32" name="Google Shape;3232;p62"/>
          <p:cNvCxnSpPr/>
          <p:nvPr/>
        </p:nvCxnSpPr>
        <p:spPr>
          <a:xfrm>
            <a:off x="8843218" y="4432846"/>
            <a:ext cx="2264569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33" name="Google Shape;3233;p62"/>
          <p:cNvCxnSpPr/>
          <p:nvPr/>
        </p:nvCxnSpPr>
        <p:spPr>
          <a:xfrm>
            <a:off x="8847981" y="4428083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234" name="Google Shape;3234;p62"/>
          <p:cNvSpPr/>
          <p:nvPr/>
        </p:nvSpPr>
        <p:spPr>
          <a:xfrm>
            <a:off x="6262688" y="4865043"/>
            <a:ext cx="5529262" cy="1765102"/>
          </a:xfrm>
          <a:prstGeom prst="roundRect">
            <a:avLst>
              <a:gd fmla="val 2698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35" name="Google Shape;3235;p62"/>
          <p:cNvCxnSpPr/>
          <p:nvPr/>
        </p:nvCxnSpPr>
        <p:spPr>
          <a:xfrm>
            <a:off x="6286500" y="4865043"/>
            <a:ext cx="0" cy="1765101"/>
          </a:xfrm>
          <a:prstGeom prst="straightConnector1">
            <a:avLst/>
          </a:prstGeom>
          <a:noFill/>
          <a:ln cap="flat" cmpd="sng" w="47625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12f06afacc56bb3f312205480feaa52d.png" id="3236" name="Google Shape;323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199" y="2721769"/>
            <a:ext cx="5528965" cy="2653903"/>
          </a:xfrm>
          <a:prstGeom prst="rect">
            <a:avLst/>
          </a:prstGeom>
          <a:noFill/>
          <a:ln>
            <a:noFill/>
          </a:ln>
        </p:spPr>
      </p:pic>
      <p:sp>
        <p:nvSpPr>
          <p:cNvPr id="3237" name="Google Shape;3237;p62"/>
          <p:cNvSpPr txBox="1"/>
          <p:nvPr/>
        </p:nvSpPr>
        <p:spPr>
          <a:xfrm>
            <a:off x="400050" y="161925"/>
            <a:ext cx="4511576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Histologia: composição clínica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8" name="Google Shape;3238;p62"/>
          <p:cNvSpPr txBox="1"/>
          <p:nvPr/>
        </p:nvSpPr>
        <p:spPr>
          <a:xfrm>
            <a:off x="438150" y="821680"/>
            <a:ext cx="135731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Subtipo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9" name="Google Shape;3239;p62"/>
          <p:cNvSpPr txBox="1"/>
          <p:nvPr/>
        </p:nvSpPr>
        <p:spPr>
          <a:xfrm>
            <a:off x="1871662" y="821680"/>
            <a:ext cx="483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0" name="Google Shape;3240;p62"/>
          <p:cNvSpPr txBox="1"/>
          <p:nvPr/>
        </p:nvSpPr>
        <p:spPr>
          <a:xfrm>
            <a:off x="2431732" y="821680"/>
            <a:ext cx="16144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Idade mediana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1" name="Google Shape;3241;p62"/>
          <p:cNvSpPr txBox="1"/>
          <p:nvPr/>
        </p:nvSpPr>
        <p:spPr>
          <a:xfrm>
            <a:off x="4122420" y="821680"/>
            <a:ext cx="15440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Masculino (%)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2" name="Google Shape;3242;p62"/>
          <p:cNvSpPr txBox="1"/>
          <p:nvPr/>
        </p:nvSpPr>
        <p:spPr>
          <a:xfrm>
            <a:off x="5742628" y="821675"/>
            <a:ext cx="1028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 III–IV (%)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3" name="Google Shape;3243;p62"/>
          <p:cNvSpPr txBox="1"/>
          <p:nvPr/>
        </p:nvSpPr>
        <p:spPr>
          <a:xfrm>
            <a:off x="7918132" y="821680"/>
            <a:ext cx="88677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Grau G3–G4 (%)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4" name="Google Shape;3244;p62"/>
          <p:cNvSpPr txBox="1"/>
          <p:nvPr/>
        </p:nvSpPr>
        <p:spPr>
          <a:xfrm>
            <a:off x="9442132" y="821680"/>
            <a:ext cx="144018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AFP mediana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5" name="Google Shape;3245;p62"/>
          <p:cNvSpPr txBox="1"/>
          <p:nvPr/>
        </p:nvSpPr>
        <p:spPr>
          <a:xfrm>
            <a:off x="11146155" y="821680"/>
            <a:ext cx="60293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Óbitos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6" name="Google Shape;3246;p62"/>
          <p:cNvSpPr txBox="1"/>
          <p:nvPr/>
        </p:nvSpPr>
        <p:spPr>
          <a:xfrm>
            <a:off x="438150" y="1040755"/>
            <a:ext cx="135731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HCC clássico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7" name="Google Shape;3247;p62"/>
          <p:cNvSpPr txBox="1"/>
          <p:nvPr/>
        </p:nvSpPr>
        <p:spPr>
          <a:xfrm>
            <a:off x="1871662" y="1040755"/>
            <a:ext cx="483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8" name="Google Shape;3248;p62"/>
          <p:cNvSpPr txBox="1"/>
          <p:nvPr/>
        </p:nvSpPr>
        <p:spPr>
          <a:xfrm>
            <a:off x="2431732" y="1040755"/>
            <a:ext cx="16144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9" name="Google Shape;3249;p62"/>
          <p:cNvSpPr txBox="1"/>
          <p:nvPr/>
        </p:nvSpPr>
        <p:spPr>
          <a:xfrm>
            <a:off x="4122420" y="1040755"/>
            <a:ext cx="15440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67.7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0" name="Google Shape;3250;p62"/>
          <p:cNvSpPr txBox="1"/>
          <p:nvPr/>
        </p:nvSpPr>
        <p:spPr>
          <a:xfrm>
            <a:off x="5742622" y="1040755"/>
            <a:ext cx="50577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1" name="Google Shape;3251;p62"/>
          <p:cNvSpPr txBox="1"/>
          <p:nvPr/>
        </p:nvSpPr>
        <p:spPr>
          <a:xfrm>
            <a:off x="7637154" y="1040750"/>
            <a:ext cx="224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36.7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2" name="Google Shape;3252;p62"/>
          <p:cNvSpPr txBox="1"/>
          <p:nvPr/>
        </p:nvSpPr>
        <p:spPr>
          <a:xfrm>
            <a:off x="9442132" y="1040755"/>
            <a:ext cx="144018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3" name="Google Shape;3253;p62"/>
          <p:cNvSpPr txBox="1"/>
          <p:nvPr/>
        </p:nvSpPr>
        <p:spPr>
          <a:xfrm>
            <a:off x="11146155" y="1040755"/>
            <a:ext cx="60293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4" name="Google Shape;3254;p62"/>
          <p:cNvSpPr txBox="1"/>
          <p:nvPr/>
        </p:nvSpPr>
        <p:spPr>
          <a:xfrm>
            <a:off x="438150" y="1252686"/>
            <a:ext cx="135731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5" name="Google Shape;3255;p62"/>
          <p:cNvSpPr txBox="1"/>
          <p:nvPr/>
        </p:nvSpPr>
        <p:spPr>
          <a:xfrm>
            <a:off x="1871662" y="1252686"/>
            <a:ext cx="483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6" name="Google Shape;3256;p62"/>
          <p:cNvSpPr txBox="1"/>
          <p:nvPr/>
        </p:nvSpPr>
        <p:spPr>
          <a:xfrm>
            <a:off x="2431732" y="1252686"/>
            <a:ext cx="16144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7" name="Google Shape;3257;p62"/>
          <p:cNvSpPr txBox="1"/>
          <p:nvPr/>
        </p:nvSpPr>
        <p:spPr>
          <a:xfrm>
            <a:off x="4122420" y="1252686"/>
            <a:ext cx="15440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57.1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8" name="Google Shape;3258;p62"/>
          <p:cNvSpPr txBox="1"/>
          <p:nvPr/>
        </p:nvSpPr>
        <p:spPr>
          <a:xfrm>
            <a:off x="5742622" y="1252686"/>
            <a:ext cx="50577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9" name="Google Shape;3259;p62"/>
          <p:cNvSpPr txBox="1"/>
          <p:nvPr/>
        </p:nvSpPr>
        <p:spPr>
          <a:xfrm>
            <a:off x="7637150" y="1252675"/>
            <a:ext cx="204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0" name="Google Shape;3260;p62"/>
          <p:cNvSpPr txBox="1"/>
          <p:nvPr/>
        </p:nvSpPr>
        <p:spPr>
          <a:xfrm>
            <a:off x="9442132" y="1252686"/>
            <a:ext cx="144018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1" name="Google Shape;3261;p62"/>
          <p:cNvSpPr txBox="1"/>
          <p:nvPr/>
        </p:nvSpPr>
        <p:spPr>
          <a:xfrm>
            <a:off x="11146155" y="1252686"/>
            <a:ext cx="60293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2" name="Google Shape;3262;p62"/>
          <p:cNvSpPr txBox="1"/>
          <p:nvPr/>
        </p:nvSpPr>
        <p:spPr>
          <a:xfrm>
            <a:off x="438150" y="1464618"/>
            <a:ext cx="135731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Fibrolamelar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3" name="Google Shape;3263;p62"/>
          <p:cNvSpPr txBox="1"/>
          <p:nvPr/>
        </p:nvSpPr>
        <p:spPr>
          <a:xfrm>
            <a:off x="1871662" y="1464618"/>
            <a:ext cx="483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4" name="Google Shape;3264;p62"/>
          <p:cNvSpPr txBox="1"/>
          <p:nvPr/>
        </p:nvSpPr>
        <p:spPr>
          <a:xfrm>
            <a:off x="2431732" y="1464618"/>
            <a:ext cx="16144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5" name="Google Shape;3265;p62"/>
          <p:cNvSpPr txBox="1"/>
          <p:nvPr/>
        </p:nvSpPr>
        <p:spPr>
          <a:xfrm>
            <a:off x="4122420" y="1464618"/>
            <a:ext cx="15440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66.7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6" name="Google Shape;3266;p62"/>
          <p:cNvSpPr txBox="1"/>
          <p:nvPr/>
        </p:nvSpPr>
        <p:spPr>
          <a:xfrm>
            <a:off x="5742622" y="1464618"/>
            <a:ext cx="50577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33.3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7" name="Google Shape;3267;p62"/>
          <p:cNvSpPr txBox="1"/>
          <p:nvPr/>
        </p:nvSpPr>
        <p:spPr>
          <a:xfrm>
            <a:off x="7637150" y="1464625"/>
            <a:ext cx="224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33.3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8" name="Google Shape;3268;p62"/>
          <p:cNvSpPr txBox="1"/>
          <p:nvPr/>
        </p:nvSpPr>
        <p:spPr>
          <a:xfrm>
            <a:off x="9442132" y="1464618"/>
            <a:ext cx="144018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9" name="Google Shape;3269;p62"/>
          <p:cNvSpPr txBox="1"/>
          <p:nvPr/>
        </p:nvSpPr>
        <p:spPr>
          <a:xfrm>
            <a:off x="11146155" y="1464618"/>
            <a:ext cx="60293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0" name="Google Shape;3270;p62"/>
          <p:cNvSpPr txBox="1"/>
          <p:nvPr/>
        </p:nvSpPr>
        <p:spPr>
          <a:xfrm>
            <a:off x="1562844" y="5411093"/>
            <a:ext cx="3241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30. Idade e log2(AFP + 1) por subtipo histológico.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1" name="Google Shape;3271;p62"/>
          <p:cNvSpPr txBox="1"/>
          <p:nvPr/>
        </p:nvSpPr>
        <p:spPr>
          <a:xfrm>
            <a:off x="6937248" y="1967859"/>
            <a:ext cx="41703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7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Testes de marcadores (Kruskal-Wallis, BH)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2" name="Google Shape;3272;p62"/>
          <p:cNvSpPr txBox="1"/>
          <p:nvPr/>
        </p:nvSpPr>
        <p:spPr>
          <a:xfrm>
            <a:off x="6984682" y="2406402"/>
            <a:ext cx="5762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1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3" name="Google Shape;3273;p62"/>
          <p:cNvSpPr txBox="1"/>
          <p:nvPr/>
        </p:nvSpPr>
        <p:spPr>
          <a:xfrm>
            <a:off x="7918132" y="2406402"/>
            <a:ext cx="886777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1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 BH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4" name="Google Shape;3274;p62"/>
          <p:cNvSpPr txBox="1"/>
          <p:nvPr/>
        </p:nvSpPr>
        <p:spPr>
          <a:xfrm>
            <a:off x="8881096" y="2406400"/>
            <a:ext cx="6630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1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Direção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5" name="Google Shape;3275;p62"/>
          <p:cNvSpPr txBox="1"/>
          <p:nvPr/>
        </p:nvSpPr>
        <p:spPr>
          <a:xfrm>
            <a:off x="6984682" y="2699296"/>
            <a:ext cx="5762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KRT19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6" name="Google Shape;3276;p62"/>
          <p:cNvSpPr txBox="1"/>
          <p:nvPr/>
        </p:nvSpPr>
        <p:spPr>
          <a:xfrm>
            <a:off x="7918132" y="2699296"/>
            <a:ext cx="886777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1" i="0" lang="en-US" sz="131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0,0018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7" name="Google Shape;3277;p62"/>
          <p:cNvSpPr txBox="1"/>
          <p:nvPr/>
        </p:nvSpPr>
        <p:spPr>
          <a:xfrm>
            <a:off x="9442132" y="2699296"/>
            <a:ext cx="144018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muito alto no misto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8" name="Google Shape;3278;p62"/>
          <p:cNvSpPr txBox="1"/>
          <p:nvPr/>
        </p:nvSpPr>
        <p:spPr>
          <a:xfrm>
            <a:off x="6984682" y="2992189"/>
            <a:ext cx="5762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EPCAM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9" name="Google Shape;3279;p62"/>
          <p:cNvSpPr txBox="1"/>
          <p:nvPr/>
        </p:nvSpPr>
        <p:spPr>
          <a:xfrm>
            <a:off x="7918132" y="2992189"/>
            <a:ext cx="886777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1" i="0" lang="en-US" sz="131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0,0106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0" name="Google Shape;3280;p62"/>
          <p:cNvSpPr txBox="1"/>
          <p:nvPr/>
        </p:nvSpPr>
        <p:spPr>
          <a:xfrm>
            <a:off x="9442132" y="2992189"/>
            <a:ext cx="144018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muito alto no misto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1" name="Google Shape;3281;p62"/>
          <p:cNvSpPr txBox="1"/>
          <p:nvPr/>
        </p:nvSpPr>
        <p:spPr>
          <a:xfrm>
            <a:off x="6984682" y="3285083"/>
            <a:ext cx="5762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2" name="Google Shape;3282;p62"/>
          <p:cNvSpPr txBox="1"/>
          <p:nvPr/>
        </p:nvSpPr>
        <p:spPr>
          <a:xfrm>
            <a:off x="7918132" y="3285083"/>
            <a:ext cx="886777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1" i="0" lang="en-US" sz="131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0,00074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3" name="Google Shape;3283;p62"/>
          <p:cNvSpPr txBox="1"/>
          <p:nvPr/>
        </p:nvSpPr>
        <p:spPr>
          <a:xfrm>
            <a:off x="8891046" y="3285075"/>
            <a:ext cx="19914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alto no misto/fibrolamelar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4" name="Google Shape;3284;p62"/>
          <p:cNvSpPr txBox="1"/>
          <p:nvPr/>
        </p:nvSpPr>
        <p:spPr>
          <a:xfrm>
            <a:off x="6984682" y="3577977"/>
            <a:ext cx="5762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COL1A1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5" name="Google Shape;3285;p62"/>
          <p:cNvSpPr txBox="1"/>
          <p:nvPr/>
        </p:nvSpPr>
        <p:spPr>
          <a:xfrm>
            <a:off x="7918132" y="3577977"/>
            <a:ext cx="886777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1" i="0" lang="en-US" sz="131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0,0017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6" name="Google Shape;3286;p62"/>
          <p:cNvSpPr txBox="1"/>
          <p:nvPr/>
        </p:nvSpPr>
        <p:spPr>
          <a:xfrm>
            <a:off x="8890895" y="3577975"/>
            <a:ext cx="19914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alto no misto/fibrolamelar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7" name="Google Shape;3287;p62"/>
          <p:cNvSpPr txBox="1"/>
          <p:nvPr/>
        </p:nvSpPr>
        <p:spPr>
          <a:xfrm>
            <a:off x="6984682" y="3870871"/>
            <a:ext cx="5762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BIRC5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8" name="Google Shape;3288;p62"/>
          <p:cNvSpPr txBox="1"/>
          <p:nvPr/>
        </p:nvSpPr>
        <p:spPr>
          <a:xfrm>
            <a:off x="7918132" y="3870871"/>
            <a:ext cx="886777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0,0598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9" name="Google Shape;3289;p62"/>
          <p:cNvSpPr txBox="1"/>
          <p:nvPr/>
        </p:nvSpPr>
        <p:spPr>
          <a:xfrm>
            <a:off x="8890896" y="3870875"/>
            <a:ext cx="19914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sem diferença após BH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0" name="Google Shape;3290;p62"/>
          <p:cNvSpPr txBox="1"/>
          <p:nvPr/>
        </p:nvSpPr>
        <p:spPr>
          <a:xfrm>
            <a:off x="6984682" y="4163764"/>
            <a:ext cx="5762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GPC3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1" name="Google Shape;3291;p62"/>
          <p:cNvSpPr txBox="1"/>
          <p:nvPr/>
        </p:nvSpPr>
        <p:spPr>
          <a:xfrm>
            <a:off x="7918132" y="4163764"/>
            <a:ext cx="886777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0,334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2" name="Google Shape;3292;p62"/>
          <p:cNvSpPr txBox="1"/>
          <p:nvPr/>
        </p:nvSpPr>
        <p:spPr>
          <a:xfrm>
            <a:off x="9442132" y="4163764"/>
            <a:ext cx="144018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sem diferença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3" name="Google Shape;3293;p62"/>
          <p:cNvSpPr txBox="1"/>
          <p:nvPr/>
        </p:nvSpPr>
        <p:spPr>
          <a:xfrm>
            <a:off x="6984682" y="4456658"/>
            <a:ext cx="5762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4" name="Google Shape;3294;p62"/>
          <p:cNvSpPr txBox="1"/>
          <p:nvPr/>
        </p:nvSpPr>
        <p:spPr>
          <a:xfrm>
            <a:off x="7918132" y="4456658"/>
            <a:ext cx="886777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0,152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5" name="Google Shape;3295;p62"/>
          <p:cNvSpPr txBox="1"/>
          <p:nvPr/>
        </p:nvSpPr>
        <p:spPr>
          <a:xfrm>
            <a:off x="9442132" y="4456658"/>
            <a:ext cx="144018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sem diferença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6" name="Google Shape;3296;p62"/>
          <p:cNvSpPr txBox="1"/>
          <p:nvPr/>
        </p:nvSpPr>
        <p:spPr>
          <a:xfrm>
            <a:off x="6481762" y="5173414"/>
            <a:ext cx="331112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achado clínico mais evidente é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7" name="Google Shape;3297;p62"/>
          <p:cNvSpPr txBox="1"/>
          <p:nvPr/>
        </p:nvSpPr>
        <p:spPr>
          <a:xfrm>
            <a:off x="9813578" y="5173414"/>
            <a:ext cx="125536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i="0" lang="en-US" sz="16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idade muito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8" name="Google Shape;3298;p62"/>
          <p:cNvSpPr txBox="1"/>
          <p:nvPr/>
        </p:nvSpPr>
        <p:spPr>
          <a:xfrm>
            <a:off x="6481762" y="5460504"/>
            <a:ext cx="69636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i="0" lang="en-US" sz="16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menor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9" name="Google Shape;3299;p62"/>
          <p:cNvSpPr txBox="1"/>
          <p:nvPr/>
        </p:nvSpPr>
        <p:spPr>
          <a:xfrm>
            <a:off x="7198668" y="5460504"/>
            <a:ext cx="424740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carcinoma fibrolamelar (mediana 25 anos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0" name="Google Shape;3300;p62"/>
          <p:cNvSpPr txBox="1"/>
          <p:nvPr/>
        </p:nvSpPr>
        <p:spPr>
          <a:xfrm>
            <a:off x="6481762" y="5747593"/>
            <a:ext cx="4371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vs. 61–62) e a AFP baixa. n = 3 limita qualquer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1" name="Google Shape;3301;p62"/>
          <p:cNvSpPr txBox="1"/>
          <p:nvPr/>
        </p:nvSpPr>
        <p:spPr>
          <a:xfrm>
            <a:off x="6481762" y="6034683"/>
            <a:ext cx="102825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5" name="Shape 3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6" name="Google Shape;3306;p63"/>
          <p:cNvSpPr/>
          <p:nvPr/>
        </p:nvSpPr>
        <p:spPr>
          <a:xfrm>
            <a:off x="400050" y="190500"/>
            <a:ext cx="11391900" cy="42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07" name="Google Shape;3307;p63"/>
          <p:cNvCxnSpPr/>
          <p:nvPr/>
        </p:nvCxnSpPr>
        <p:spPr>
          <a:xfrm>
            <a:off x="400050" y="597247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8" name="Google Shape;3308;p63"/>
          <p:cNvSpPr/>
          <p:nvPr/>
        </p:nvSpPr>
        <p:spPr>
          <a:xfrm>
            <a:off x="400050" y="715575"/>
            <a:ext cx="11391900" cy="1079700"/>
          </a:xfrm>
          <a:prstGeom prst="rect">
            <a:avLst/>
          </a:prstGeom>
          <a:noFill/>
          <a:ln cap="flat" cmpd="sng" w="107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9" name="Google Shape;3309;p63"/>
          <p:cNvSpPr/>
          <p:nvPr/>
        </p:nvSpPr>
        <p:spPr>
          <a:xfrm>
            <a:off x="404812" y="720932"/>
            <a:ext cx="1055100" cy="2250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10" name="Google Shape;3310;p63"/>
          <p:cNvCxnSpPr/>
          <p:nvPr/>
        </p:nvCxnSpPr>
        <p:spPr>
          <a:xfrm>
            <a:off x="404812" y="725091"/>
            <a:ext cx="1055043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11" name="Google Shape;3311;p63"/>
          <p:cNvCxnSpPr/>
          <p:nvPr/>
        </p:nvCxnSpPr>
        <p:spPr>
          <a:xfrm>
            <a:off x="409575" y="720932"/>
            <a:ext cx="0" cy="225000"/>
          </a:xfrm>
          <a:prstGeom prst="straightConnector1">
            <a:avLst/>
          </a:prstGeom>
          <a:noFill/>
          <a:ln cap="flat" cmpd="sng" w="107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2" name="Google Shape;3312;p63"/>
          <p:cNvSpPr/>
          <p:nvPr/>
        </p:nvSpPr>
        <p:spPr>
          <a:xfrm>
            <a:off x="1459847" y="720932"/>
            <a:ext cx="491400" cy="2250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13" name="Google Shape;3313;p63"/>
          <p:cNvCxnSpPr/>
          <p:nvPr/>
        </p:nvCxnSpPr>
        <p:spPr>
          <a:xfrm>
            <a:off x="1459855" y="725091"/>
            <a:ext cx="491282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14" name="Google Shape;3314;p63"/>
          <p:cNvCxnSpPr/>
          <p:nvPr/>
        </p:nvCxnSpPr>
        <p:spPr>
          <a:xfrm>
            <a:off x="1464610" y="720932"/>
            <a:ext cx="0" cy="225000"/>
          </a:xfrm>
          <a:prstGeom prst="straightConnector1">
            <a:avLst/>
          </a:prstGeom>
          <a:noFill/>
          <a:ln cap="flat" cmpd="sng" w="107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5" name="Google Shape;3315;p63"/>
          <p:cNvSpPr/>
          <p:nvPr/>
        </p:nvSpPr>
        <p:spPr>
          <a:xfrm>
            <a:off x="1951126" y="720932"/>
            <a:ext cx="1478400" cy="2250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16" name="Google Shape;3316;p63"/>
          <p:cNvCxnSpPr/>
          <p:nvPr/>
        </p:nvCxnSpPr>
        <p:spPr>
          <a:xfrm>
            <a:off x="1951137" y="725091"/>
            <a:ext cx="1478309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17" name="Google Shape;3317;p63"/>
          <p:cNvCxnSpPr/>
          <p:nvPr/>
        </p:nvCxnSpPr>
        <p:spPr>
          <a:xfrm>
            <a:off x="1955887" y="720932"/>
            <a:ext cx="0" cy="225000"/>
          </a:xfrm>
          <a:prstGeom prst="straightConnector1">
            <a:avLst/>
          </a:prstGeom>
          <a:noFill/>
          <a:ln cap="flat" cmpd="sng" w="107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8" name="Google Shape;3318;p63"/>
          <p:cNvSpPr/>
          <p:nvPr/>
        </p:nvSpPr>
        <p:spPr>
          <a:xfrm>
            <a:off x="3429424" y="720932"/>
            <a:ext cx="1416900" cy="2250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19" name="Google Shape;3319;p63"/>
          <p:cNvCxnSpPr/>
          <p:nvPr/>
        </p:nvCxnSpPr>
        <p:spPr>
          <a:xfrm>
            <a:off x="3429446" y="725091"/>
            <a:ext cx="1416844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20" name="Google Shape;3320;p63"/>
          <p:cNvCxnSpPr/>
          <p:nvPr/>
        </p:nvCxnSpPr>
        <p:spPr>
          <a:xfrm>
            <a:off x="3434187" y="720932"/>
            <a:ext cx="0" cy="225000"/>
          </a:xfrm>
          <a:prstGeom prst="straightConnector1">
            <a:avLst/>
          </a:prstGeom>
          <a:noFill/>
          <a:ln cap="flat" cmpd="sng" w="107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21" name="Google Shape;3321;p63"/>
          <p:cNvSpPr/>
          <p:nvPr/>
        </p:nvSpPr>
        <p:spPr>
          <a:xfrm>
            <a:off x="4846257" y="720932"/>
            <a:ext cx="1656300" cy="2250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22" name="Google Shape;3322;p63"/>
          <p:cNvCxnSpPr/>
          <p:nvPr/>
        </p:nvCxnSpPr>
        <p:spPr>
          <a:xfrm>
            <a:off x="4846290" y="725091"/>
            <a:ext cx="1656160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23" name="Google Shape;3323;p63"/>
          <p:cNvCxnSpPr/>
          <p:nvPr/>
        </p:nvCxnSpPr>
        <p:spPr>
          <a:xfrm>
            <a:off x="4851020" y="720932"/>
            <a:ext cx="0" cy="225000"/>
          </a:xfrm>
          <a:prstGeom prst="straightConnector1">
            <a:avLst/>
          </a:prstGeom>
          <a:noFill/>
          <a:ln cap="flat" cmpd="sng" w="107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24" name="Google Shape;3324;p63"/>
          <p:cNvSpPr/>
          <p:nvPr/>
        </p:nvSpPr>
        <p:spPr>
          <a:xfrm>
            <a:off x="6502405" y="720932"/>
            <a:ext cx="1578900" cy="2250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25" name="Google Shape;3325;p63"/>
          <p:cNvCxnSpPr/>
          <p:nvPr/>
        </p:nvCxnSpPr>
        <p:spPr>
          <a:xfrm>
            <a:off x="6502450" y="725091"/>
            <a:ext cx="1578768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26" name="Google Shape;3326;p63"/>
          <p:cNvCxnSpPr/>
          <p:nvPr/>
        </p:nvCxnSpPr>
        <p:spPr>
          <a:xfrm>
            <a:off x="6507167" y="720932"/>
            <a:ext cx="0" cy="225000"/>
          </a:xfrm>
          <a:prstGeom prst="straightConnector1">
            <a:avLst/>
          </a:prstGeom>
          <a:noFill/>
          <a:ln cap="flat" cmpd="sng" w="107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27" name="Google Shape;3327;p63"/>
          <p:cNvSpPr/>
          <p:nvPr/>
        </p:nvSpPr>
        <p:spPr>
          <a:xfrm>
            <a:off x="8081161" y="720932"/>
            <a:ext cx="1325700" cy="2250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28" name="Google Shape;3328;p63"/>
          <p:cNvCxnSpPr/>
          <p:nvPr/>
        </p:nvCxnSpPr>
        <p:spPr>
          <a:xfrm>
            <a:off x="8081218" y="725091"/>
            <a:ext cx="1325612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29" name="Google Shape;3329;p63"/>
          <p:cNvCxnSpPr/>
          <p:nvPr/>
        </p:nvCxnSpPr>
        <p:spPr>
          <a:xfrm>
            <a:off x="8085924" y="720932"/>
            <a:ext cx="0" cy="225000"/>
          </a:xfrm>
          <a:prstGeom prst="straightConnector1">
            <a:avLst/>
          </a:prstGeom>
          <a:noFill/>
          <a:ln cap="flat" cmpd="sng" w="107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30" name="Google Shape;3330;p63"/>
          <p:cNvSpPr/>
          <p:nvPr/>
        </p:nvSpPr>
        <p:spPr>
          <a:xfrm>
            <a:off x="9406763" y="720932"/>
            <a:ext cx="1620900" cy="2250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31" name="Google Shape;3331;p63"/>
          <p:cNvCxnSpPr/>
          <p:nvPr/>
        </p:nvCxnSpPr>
        <p:spPr>
          <a:xfrm>
            <a:off x="9406830" y="725091"/>
            <a:ext cx="1620739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32" name="Google Shape;3332;p63"/>
          <p:cNvCxnSpPr/>
          <p:nvPr/>
        </p:nvCxnSpPr>
        <p:spPr>
          <a:xfrm>
            <a:off x="9411526" y="720932"/>
            <a:ext cx="0" cy="225000"/>
          </a:xfrm>
          <a:prstGeom prst="straightConnector1">
            <a:avLst/>
          </a:prstGeom>
          <a:noFill/>
          <a:ln cap="flat" cmpd="sng" w="107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33" name="Google Shape;3333;p63"/>
          <p:cNvSpPr/>
          <p:nvPr/>
        </p:nvSpPr>
        <p:spPr>
          <a:xfrm>
            <a:off x="11027490" y="720932"/>
            <a:ext cx="759900" cy="2250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34" name="Google Shape;3334;p63"/>
          <p:cNvCxnSpPr/>
          <p:nvPr/>
        </p:nvCxnSpPr>
        <p:spPr>
          <a:xfrm>
            <a:off x="11027569" y="725091"/>
            <a:ext cx="759619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35" name="Google Shape;3335;p63"/>
          <p:cNvCxnSpPr/>
          <p:nvPr/>
        </p:nvCxnSpPr>
        <p:spPr>
          <a:xfrm>
            <a:off x="11032252" y="720932"/>
            <a:ext cx="0" cy="225000"/>
          </a:xfrm>
          <a:prstGeom prst="straightConnector1">
            <a:avLst/>
          </a:prstGeom>
          <a:noFill/>
          <a:ln cap="flat" cmpd="sng" w="107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36" name="Google Shape;3336;p63"/>
          <p:cNvSpPr/>
          <p:nvPr/>
        </p:nvSpPr>
        <p:spPr>
          <a:xfrm>
            <a:off x="404812" y="945968"/>
            <a:ext cx="10551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37" name="Google Shape;3337;p63"/>
          <p:cNvCxnSpPr/>
          <p:nvPr/>
        </p:nvCxnSpPr>
        <p:spPr>
          <a:xfrm>
            <a:off x="404812" y="951326"/>
            <a:ext cx="10551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38" name="Google Shape;3338;p63"/>
          <p:cNvCxnSpPr/>
          <p:nvPr/>
        </p:nvCxnSpPr>
        <p:spPr>
          <a:xfrm>
            <a:off x="409575" y="945968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39" name="Google Shape;3339;p63"/>
          <p:cNvSpPr/>
          <p:nvPr/>
        </p:nvSpPr>
        <p:spPr>
          <a:xfrm>
            <a:off x="1459847" y="945968"/>
            <a:ext cx="4914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0" name="Google Shape;3340;p63"/>
          <p:cNvCxnSpPr/>
          <p:nvPr/>
        </p:nvCxnSpPr>
        <p:spPr>
          <a:xfrm>
            <a:off x="1459847" y="951326"/>
            <a:ext cx="4914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1" name="Google Shape;3341;p63"/>
          <p:cNvCxnSpPr/>
          <p:nvPr/>
        </p:nvCxnSpPr>
        <p:spPr>
          <a:xfrm>
            <a:off x="1464610" y="945968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2" name="Google Shape;3342;p63"/>
          <p:cNvSpPr/>
          <p:nvPr/>
        </p:nvSpPr>
        <p:spPr>
          <a:xfrm>
            <a:off x="1951126" y="945968"/>
            <a:ext cx="14784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3" name="Google Shape;3343;p63"/>
          <p:cNvCxnSpPr/>
          <p:nvPr/>
        </p:nvCxnSpPr>
        <p:spPr>
          <a:xfrm>
            <a:off x="1951126" y="951326"/>
            <a:ext cx="14784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4" name="Google Shape;3344;p63"/>
          <p:cNvCxnSpPr/>
          <p:nvPr/>
        </p:nvCxnSpPr>
        <p:spPr>
          <a:xfrm>
            <a:off x="1955887" y="945968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5" name="Google Shape;3345;p63"/>
          <p:cNvSpPr/>
          <p:nvPr/>
        </p:nvSpPr>
        <p:spPr>
          <a:xfrm>
            <a:off x="3429424" y="945968"/>
            <a:ext cx="14169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6" name="Google Shape;3346;p63"/>
          <p:cNvCxnSpPr/>
          <p:nvPr/>
        </p:nvCxnSpPr>
        <p:spPr>
          <a:xfrm>
            <a:off x="3429424" y="951326"/>
            <a:ext cx="14169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7" name="Google Shape;3347;p63"/>
          <p:cNvCxnSpPr/>
          <p:nvPr/>
        </p:nvCxnSpPr>
        <p:spPr>
          <a:xfrm>
            <a:off x="3434187" y="945968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8" name="Google Shape;3348;p63"/>
          <p:cNvSpPr/>
          <p:nvPr/>
        </p:nvSpPr>
        <p:spPr>
          <a:xfrm>
            <a:off x="4846257" y="945968"/>
            <a:ext cx="16563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9" name="Google Shape;3349;p63"/>
          <p:cNvCxnSpPr/>
          <p:nvPr/>
        </p:nvCxnSpPr>
        <p:spPr>
          <a:xfrm>
            <a:off x="4846257" y="951326"/>
            <a:ext cx="16563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0" name="Google Shape;3350;p63"/>
          <p:cNvCxnSpPr/>
          <p:nvPr/>
        </p:nvCxnSpPr>
        <p:spPr>
          <a:xfrm>
            <a:off x="4851020" y="945968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51" name="Google Shape;3351;p63"/>
          <p:cNvSpPr/>
          <p:nvPr/>
        </p:nvSpPr>
        <p:spPr>
          <a:xfrm>
            <a:off x="6502405" y="945968"/>
            <a:ext cx="15789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52" name="Google Shape;3352;p63"/>
          <p:cNvCxnSpPr/>
          <p:nvPr/>
        </p:nvCxnSpPr>
        <p:spPr>
          <a:xfrm>
            <a:off x="6502405" y="951326"/>
            <a:ext cx="15789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3" name="Google Shape;3353;p63"/>
          <p:cNvCxnSpPr/>
          <p:nvPr/>
        </p:nvCxnSpPr>
        <p:spPr>
          <a:xfrm>
            <a:off x="6507167" y="945968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54" name="Google Shape;3354;p63"/>
          <p:cNvSpPr/>
          <p:nvPr/>
        </p:nvSpPr>
        <p:spPr>
          <a:xfrm>
            <a:off x="8081161" y="945968"/>
            <a:ext cx="13257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55" name="Google Shape;3355;p63"/>
          <p:cNvCxnSpPr/>
          <p:nvPr/>
        </p:nvCxnSpPr>
        <p:spPr>
          <a:xfrm>
            <a:off x="8081161" y="951326"/>
            <a:ext cx="13257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6" name="Google Shape;3356;p63"/>
          <p:cNvCxnSpPr/>
          <p:nvPr/>
        </p:nvCxnSpPr>
        <p:spPr>
          <a:xfrm>
            <a:off x="8085924" y="945968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57" name="Google Shape;3357;p63"/>
          <p:cNvSpPr/>
          <p:nvPr/>
        </p:nvSpPr>
        <p:spPr>
          <a:xfrm>
            <a:off x="9406763" y="945968"/>
            <a:ext cx="16209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58" name="Google Shape;3358;p63"/>
          <p:cNvCxnSpPr/>
          <p:nvPr/>
        </p:nvCxnSpPr>
        <p:spPr>
          <a:xfrm>
            <a:off x="9406763" y="951326"/>
            <a:ext cx="16209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9" name="Google Shape;3359;p63"/>
          <p:cNvCxnSpPr/>
          <p:nvPr/>
        </p:nvCxnSpPr>
        <p:spPr>
          <a:xfrm>
            <a:off x="9411526" y="945968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0" name="Google Shape;3360;p63"/>
          <p:cNvSpPr/>
          <p:nvPr/>
        </p:nvSpPr>
        <p:spPr>
          <a:xfrm>
            <a:off x="11027490" y="945968"/>
            <a:ext cx="7599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1" name="Google Shape;3361;p63"/>
          <p:cNvCxnSpPr/>
          <p:nvPr/>
        </p:nvCxnSpPr>
        <p:spPr>
          <a:xfrm>
            <a:off x="11027490" y="951326"/>
            <a:ext cx="7599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2" name="Google Shape;3362;p63"/>
          <p:cNvCxnSpPr/>
          <p:nvPr/>
        </p:nvCxnSpPr>
        <p:spPr>
          <a:xfrm>
            <a:off x="11032252" y="945968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3" name="Google Shape;3363;p63"/>
          <p:cNvSpPr/>
          <p:nvPr/>
        </p:nvSpPr>
        <p:spPr>
          <a:xfrm>
            <a:off x="404812" y="1156939"/>
            <a:ext cx="1055100" cy="210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4" name="Google Shape;3364;p63"/>
          <p:cNvCxnSpPr/>
          <p:nvPr/>
        </p:nvCxnSpPr>
        <p:spPr>
          <a:xfrm>
            <a:off x="404812" y="1162297"/>
            <a:ext cx="10551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5" name="Google Shape;3365;p63"/>
          <p:cNvCxnSpPr/>
          <p:nvPr/>
        </p:nvCxnSpPr>
        <p:spPr>
          <a:xfrm>
            <a:off x="409575" y="1156939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6" name="Google Shape;3366;p63"/>
          <p:cNvSpPr/>
          <p:nvPr/>
        </p:nvSpPr>
        <p:spPr>
          <a:xfrm>
            <a:off x="1459847" y="1156939"/>
            <a:ext cx="491400" cy="210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7" name="Google Shape;3367;p63"/>
          <p:cNvCxnSpPr/>
          <p:nvPr/>
        </p:nvCxnSpPr>
        <p:spPr>
          <a:xfrm>
            <a:off x="1459847" y="1162297"/>
            <a:ext cx="4914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8" name="Google Shape;3368;p63"/>
          <p:cNvCxnSpPr/>
          <p:nvPr/>
        </p:nvCxnSpPr>
        <p:spPr>
          <a:xfrm>
            <a:off x="1464610" y="1156939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9" name="Google Shape;3369;p63"/>
          <p:cNvSpPr/>
          <p:nvPr/>
        </p:nvSpPr>
        <p:spPr>
          <a:xfrm>
            <a:off x="1951126" y="1156939"/>
            <a:ext cx="1478400" cy="210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70" name="Google Shape;3370;p63"/>
          <p:cNvCxnSpPr/>
          <p:nvPr/>
        </p:nvCxnSpPr>
        <p:spPr>
          <a:xfrm>
            <a:off x="1951126" y="1162297"/>
            <a:ext cx="14784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1" name="Google Shape;3371;p63"/>
          <p:cNvCxnSpPr/>
          <p:nvPr/>
        </p:nvCxnSpPr>
        <p:spPr>
          <a:xfrm>
            <a:off x="1955887" y="1156939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2" name="Google Shape;3372;p63"/>
          <p:cNvSpPr/>
          <p:nvPr/>
        </p:nvSpPr>
        <p:spPr>
          <a:xfrm>
            <a:off x="3429424" y="1156939"/>
            <a:ext cx="1416900" cy="210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73" name="Google Shape;3373;p63"/>
          <p:cNvCxnSpPr/>
          <p:nvPr/>
        </p:nvCxnSpPr>
        <p:spPr>
          <a:xfrm>
            <a:off x="3429424" y="1162297"/>
            <a:ext cx="14169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4" name="Google Shape;3374;p63"/>
          <p:cNvCxnSpPr/>
          <p:nvPr/>
        </p:nvCxnSpPr>
        <p:spPr>
          <a:xfrm>
            <a:off x="3434187" y="1156939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5" name="Google Shape;3375;p63"/>
          <p:cNvSpPr/>
          <p:nvPr/>
        </p:nvSpPr>
        <p:spPr>
          <a:xfrm>
            <a:off x="4846257" y="1156939"/>
            <a:ext cx="1656300" cy="210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76" name="Google Shape;3376;p63"/>
          <p:cNvCxnSpPr/>
          <p:nvPr/>
        </p:nvCxnSpPr>
        <p:spPr>
          <a:xfrm>
            <a:off x="4846257" y="1162297"/>
            <a:ext cx="16563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7" name="Google Shape;3377;p63"/>
          <p:cNvCxnSpPr/>
          <p:nvPr/>
        </p:nvCxnSpPr>
        <p:spPr>
          <a:xfrm>
            <a:off x="4851020" y="1156939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8" name="Google Shape;3378;p63"/>
          <p:cNvSpPr/>
          <p:nvPr/>
        </p:nvSpPr>
        <p:spPr>
          <a:xfrm>
            <a:off x="6502405" y="1156939"/>
            <a:ext cx="1578900" cy="210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79" name="Google Shape;3379;p63"/>
          <p:cNvCxnSpPr/>
          <p:nvPr/>
        </p:nvCxnSpPr>
        <p:spPr>
          <a:xfrm>
            <a:off x="6502405" y="1162297"/>
            <a:ext cx="15789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0" name="Google Shape;3380;p63"/>
          <p:cNvCxnSpPr/>
          <p:nvPr/>
        </p:nvCxnSpPr>
        <p:spPr>
          <a:xfrm>
            <a:off x="6507167" y="1156939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1" name="Google Shape;3381;p63"/>
          <p:cNvSpPr/>
          <p:nvPr/>
        </p:nvSpPr>
        <p:spPr>
          <a:xfrm>
            <a:off x="8081161" y="1156939"/>
            <a:ext cx="1325700" cy="210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82" name="Google Shape;3382;p63"/>
          <p:cNvCxnSpPr/>
          <p:nvPr/>
        </p:nvCxnSpPr>
        <p:spPr>
          <a:xfrm>
            <a:off x="8081161" y="1162297"/>
            <a:ext cx="13257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3" name="Google Shape;3383;p63"/>
          <p:cNvCxnSpPr/>
          <p:nvPr/>
        </p:nvCxnSpPr>
        <p:spPr>
          <a:xfrm>
            <a:off x="8085924" y="1156939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4" name="Google Shape;3384;p63"/>
          <p:cNvSpPr/>
          <p:nvPr/>
        </p:nvSpPr>
        <p:spPr>
          <a:xfrm>
            <a:off x="9406763" y="1156939"/>
            <a:ext cx="1620900" cy="210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85" name="Google Shape;3385;p63"/>
          <p:cNvCxnSpPr/>
          <p:nvPr/>
        </p:nvCxnSpPr>
        <p:spPr>
          <a:xfrm>
            <a:off x="9406763" y="1162297"/>
            <a:ext cx="16209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6" name="Google Shape;3386;p63"/>
          <p:cNvCxnSpPr/>
          <p:nvPr/>
        </p:nvCxnSpPr>
        <p:spPr>
          <a:xfrm>
            <a:off x="9411526" y="1156939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7" name="Google Shape;3387;p63"/>
          <p:cNvSpPr/>
          <p:nvPr/>
        </p:nvSpPr>
        <p:spPr>
          <a:xfrm>
            <a:off x="11027490" y="1156939"/>
            <a:ext cx="759900" cy="210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88" name="Google Shape;3388;p63"/>
          <p:cNvCxnSpPr/>
          <p:nvPr/>
        </p:nvCxnSpPr>
        <p:spPr>
          <a:xfrm>
            <a:off x="11027490" y="1162297"/>
            <a:ext cx="7599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9" name="Google Shape;3389;p63"/>
          <p:cNvCxnSpPr/>
          <p:nvPr/>
        </p:nvCxnSpPr>
        <p:spPr>
          <a:xfrm>
            <a:off x="11032252" y="1156939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0" name="Google Shape;3390;p63"/>
          <p:cNvSpPr/>
          <p:nvPr/>
        </p:nvSpPr>
        <p:spPr>
          <a:xfrm>
            <a:off x="404812" y="1367910"/>
            <a:ext cx="10551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91" name="Google Shape;3391;p63"/>
          <p:cNvCxnSpPr/>
          <p:nvPr/>
        </p:nvCxnSpPr>
        <p:spPr>
          <a:xfrm>
            <a:off x="404812" y="1373267"/>
            <a:ext cx="10551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2" name="Google Shape;3392;p63"/>
          <p:cNvCxnSpPr/>
          <p:nvPr/>
        </p:nvCxnSpPr>
        <p:spPr>
          <a:xfrm>
            <a:off x="409575" y="1367910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3" name="Google Shape;3393;p63"/>
          <p:cNvSpPr/>
          <p:nvPr/>
        </p:nvSpPr>
        <p:spPr>
          <a:xfrm>
            <a:off x="1459847" y="1367910"/>
            <a:ext cx="4914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94" name="Google Shape;3394;p63"/>
          <p:cNvCxnSpPr/>
          <p:nvPr/>
        </p:nvCxnSpPr>
        <p:spPr>
          <a:xfrm>
            <a:off x="1459847" y="1373267"/>
            <a:ext cx="4914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5" name="Google Shape;3395;p63"/>
          <p:cNvCxnSpPr/>
          <p:nvPr/>
        </p:nvCxnSpPr>
        <p:spPr>
          <a:xfrm>
            <a:off x="1464610" y="1367910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6" name="Google Shape;3396;p63"/>
          <p:cNvSpPr/>
          <p:nvPr/>
        </p:nvSpPr>
        <p:spPr>
          <a:xfrm>
            <a:off x="1951126" y="1367910"/>
            <a:ext cx="14784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97" name="Google Shape;3397;p63"/>
          <p:cNvCxnSpPr/>
          <p:nvPr/>
        </p:nvCxnSpPr>
        <p:spPr>
          <a:xfrm>
            <a:off x="1951126" y="1373267"/>
            <a:ext cx="14784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8" name="Google Shape;3398;p63"/>
          <p:cNvCxnSpPr/>
          <p:nvPr/>
        </p:nvCxnSpPr>
        <p:spPr>
          <a:xfrm>
            <a:off x="1955887" y="1367910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9" name="Google Shape;3399;p63"/>
          <p:cNvSpPr/>
          <p:nvPr/>
        </p:nvSpPr>
        <p:spPr>
          <a:xfrm>
            <a:off x="3429424" y="1367910"/>
            <a:ext cx="14169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00" name="Google Shape;3400;p63"/>
          <p:cNvCxnSpPr/>
          <p:nvPr/>
        </p:nvCxnSpPr>
        <p:spPr>
          <a:xfrm>
            <a:off x="3429424" y="1373267"/>
            <a:ext cx="14169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01" name="Google Shape;3401;p63"/>
          <p:cNvCxnSpPr/>
          <p:nvPr/>
        </p:nvCxnSpPr>
        <p:spPr>
          <a:xfrm>
            <a:off x="3434187" y="1367910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2" name="Google Shape;3402;p63"/>
          <p:cNvSpPr/>
          <p:nvPr/>
        </p:nvSpPr>
        <p:spPr>
          <a:xfrm>
            <a:off x="4846257" y="1367910"/>
            <a:ext cx="16563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03" name="Google Shape;3403;p63"/>
          <p:cNvCxnSpPr/>
          <p:nvPr/>
        </p:nvCxnSpPr>
        <p:spPr>
          <a:xfrm>
            <a:off x="4846257" y="1373267"/>
            <a:ext cx="16563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04" name="Google Shape;3404;p63"/>
          <p:cNvCxnSpPr/>
          <p:nvPr/>
        </p:nvCxnSpPr>
        <p:spPr>
          <a:xfrm>
            <a:off x="4851020" y="1367910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5" name="Google Shape;3405;p63"/>
          <p:cNvSpPr/>
          <p:nvPr/>
        </p:nvSpPr>
        <p:spPr>
          <a:xfrm>
            <a:off x="6502405" y="1367910"/>
            <a:ext cx="15789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06" name="Google Shape;3406;p63"/>
          <p:cNvCxnSpPr/>
          <p:nvPr/>
        </p:nvCxnSpPr>
        <p:spPr>
          <a:xfrm>
            <a:off x="6502405" y="1373267"/>
            <a:ext cx="15789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07" name="Google Shape;3407;p63"/>
          <p:cNvCxnSpPr/>
          <p:nvPr/>
        </p:nvCxnSpPr>
        <p:spPr>
          <a:xfrm>
            <a:off x="6507167" y="1367910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8" name="Google Shape;3408;p63"/>
          <p:cNvSpPr/>
          <p:nvPr/>
        </p:nvSpPr>
        <p:spPr>
          <a:xfrm>
            <a:off x="8081161" y="1367910"/>
            <a:ext cx="13257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09" name="Google Shape;3409;p63"/>
          <p:cNvCxnSpPr/>
          <p:nvPr/>
        </p:nvCxnSpPr>
        <p:spPr>
          <a:xfrm>
            <a:off x="8081161" y="1373267"/>
            <a:ext cx="13257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0" name="Google Shape;3410;p63"/>
          <p:cNvCxnSpPr/>
          <p:nvPr/>
        </p:nvCxnSpPr>
        <p:spPr>
          <a:xfrm>
            <a:off x="8085924" y="1367910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1" name="Google Shape;3411;p63"/>
          <p:cNvSpPr/>
          <p:nvPr/>
        </p:nvSpPr>
        <p:spPr>
          <a:xfrm>
            <a:off x="9406763" y="1367910"/>
            <a:ext cx="16209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2" name="Google Shape;3412;p63"/>
          <p:cNvCxnSpPr/>
          <p:nvPr/>
        </p:nvCxnSpPr>
        <p:spPr>
          <a:xfrm>
            <a:off x="9406763" y="1373267"/>
            <a:ext cx="16209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3" name="Google Shape;3413;p63"/>
          <p:cNvCxnSpPr/>
          <p:nvPr/>
        </p:nvCxnSpPr>
        <p:spPr>
          <a:xfrm>
            <a:off x="9411526" y="1367910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4" name="Google Shape;3414;p63"/>
          <p:cNvSpPr/>
          <p:nvPr/>
        </p:nvSpPr>
        <p:spPr>
          <a:xfrm>
            <a:off x="11027490" y="1367910"/>
            <a:ext cx="7599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5" name="Google Shape;3415;p63"/>
          <p:cNvCxnSpPr/>
          <p:nvPr/>
        </p:nvCxnSpPr>
        <p:spPr>
          <a:xfrm>
            <a:off x="11027490" y="1373267"/>
            <a:ext cx="7599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6" name="Google Shape;3416;p63"/>
          <p:cNvCxnSpPr/>
          <p:nvPr/>
        </p:nvCxnSpPr>
        <p:spPr>
          <a:xfrm>
            <a:off x="11032252" y="1367910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7" name="Google Shape;3417;p63"/>
          <p:cNvSpPr/>
          <p:nvPr/>
        </p:nvSpPr>
        <p:spPr>
          <a:xfrm>
            <a:off x="404812" y="1578880"/>
            <a:ext cx="1055100" cy="210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8" name="Google Shape;3418;p63"/>
          <p:cNvCxnSpPr/>
          <p:nvPr/>
        </p:nvCxnSpPr>
        <p:spPr>
          <a:xfrm>
            <a:off x="404812" y="1584239"/>
            <a:ext cx="10551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9" name="Google Shape;3419;p63"/>
          <p:cNvCxnSpPr/>
          <p:nvPr/>
        </p:nvCxnSpPr>
        <p:spPr>
          <a:xfrm>
            <a:off x="409575" y="1578880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20" name="Google Shape;3420;p63"/>
          <p:cNvSpPr/>
          <p:nvPr/>
        </p:nvSpPr>
        <p:spPr>
          <a:xfrm>
            <a:off x="1459847" y="1578880"/>
            <a:ext cx="491400" cy="210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21" name="Google Shape;3421;p63"/>
          <p:cNvCxnSpPr/>
          <p:nvPr/>
        </p:nvCxnSpPr>
        <p:spPr>
          <a:xfrm>
            <a:off x="1459847" y="1584239"/>
            <a:ext cx="4914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2" name="Google Shape;3422;p63"/>
          <p:cNvCxnSpPr/>
          <p:nvPr/>
        </p:nvCxnSpPr>
        <p:spPr>
          <a:xfrm>
            <a:off x="1464610" y="1578880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23" name="Google Shape;3423;p63"/>
          <p:cNvSpPr/>
          <p:nvPr/>
        </p:nvSpPr>
        <p:spPr>
          <a:xfrm>
            <a:off x="1951126" y="1578880"/>
            <a:ext cx="1478400" cy="210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24" name="Google Shape;3424;p63"/>
          <p:cNvCxnSpPr/>
          <p:nvPr/>
        </p:nvCxnSpPr>
        <p:spPr>
          <a:xfrm>
            <a:off x="1951126" y="1584239"/>
            <a:ext cx="14784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5" name="Google Shape;3425;p63"/>
          <p:cNvCxnSpPr/>
          <p:nvPr/>
        </p:nvCxnSpPr>
        <p:spPr>
          <a:xfrm>
            <a:off x="1955887" y="1578880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26" name="Google Shape;3426;p63"/>
          <p:cNvSpPr/>
          <p:nvPr/>
        </p:nvSpPr>
        <p:spPr>
          <a:xfrm>
            <a:off x="3429424" y="1578880"/>
            <a:ext cx="1416900" cy="210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27" name="Google Shape;3427;p63"/>
          <p:cNvCxnSpPr/>
          <p:nvPr/>
        </p:nvCxnSpPr>
        <p:spPr>
          <a:xfrm>
            <a:off x="3429424" y="1584239"/>
            <a:ext cx="14169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8" name="Google Shape;3428;p63"/>
          <p:cNvCxnSpPr/>
          <p:nvPr/>
        </p:nvCxnSpPr>
        <p:spPr>
          <a:xfrm>
            <a:off x="3434187" y="1578880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29" name="Google Shape;3429;p63"/>
          <p:cNvSpPr/>
          <p:nvPr/>
        </p:nvSpPr>
        <p:spPr>
          <a:xfrm>
            <a:off x="4846257" y="1578880"/>
            <a:ext cx="1656300" cy="210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30" name="Google Shape;3430;p63"/>
          <p:cNvCxnSpPr/>
          <p:nvPr/>
        </p:nvCxnSpPr>
        <p:spPr>
          <a:xfrm>
            <a:off x="4846257" y="1584239"/>
            <a:ext cx="16563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31" name="Google Shape;3431;p63"/>
          <p:cNvCxnSpPr/>
          <p:nvPr/>
        </p:nvCxnSpPr>
        <p:spPr>
          <a:xfrm>
            <a:off x="4851020" y="1578880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2" name="Google Shape;3432;p63"/>
          <p:cNvSpPr/>
          <p:nvPr/>
        </p:nvSpPr>
        <p:spPr>
          <a:xfrm>
            <a:off x="6502405" y="1578880"/>
            <a:ext cx="1578900" cy="210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33" name="Google Shape;3433;p63"/>
          <p:cNvCxnSpPr/>
          <p:nvPr/>
        </p:nvCxnSpPr>
        <p:spPr>
          <a:xfrm>
            <a:off x="6502405" y="1584239"/>
            <a:ext cx="15789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34" name="Google Shape;3434;p63"/>
          <p:cNvCxnSpPr/>
          <p:nvPr/>
        </p:nvCxnSpPr>
        <p:spPr>
          <a:xfrm>
            <a:off x="6507167" y="1578880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5" name="Google Shape;3435;p63"/>
          <p:cNvSpPr/>
          <p:nvPr/>
        </p:nvSpPr>
        <p:spPr>
          <a:xfrm>
            <a:off x="8081161" y="1578880"/>
            <a:ext cx="1325700" cy="210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36" name="Google Shape;3436;p63"/>
          <p:cNvCxnSpPr/>
          <p:nvPr/>
        </p:nvCxnSpPr>
        <p:spPr>
          <a:xfrm>
            <a:off x="8081161" y="1584239"/>
            <a:ext cx="13257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37" name="Google Shape;3437;p63"/>
          <p:cNvCxnSpPr/>
          <p:nvPr/>
        </p:nvCxnSpPr>
        <p:spPr>
          <a:xfrm>
            <a:off x="8085924" y="1578880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8" name="Google Shape;3438;p63"/>
          <p:cNvSpPr/>
          <p:nvPr/>
        </p:nvSpPr>
        <p:spPr>
          <a:xfrm>
            <a:off x="9406763" y="1578880"/>
            <a:ext cx="1620900" cy="210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39" name="Google Shape;3439;p63"/>
          <p:cNvCxnSpPr/>
          <p:nvPr/>
        </p:nvCxnSpPr>
        <p:spPr>
          <a:xfrm>
            <a:off x="9406763" y="1584239"/>
            <a:ext cx="16209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40" name="Google Shape;3440;p63"/>
          <p:cNvCxnSpPr/>
          <p:nvPr/>
        </p:nvCxnSpPr>
        <p:spPr>
          <a:xfrm>
            <a:off x="9411526" y="1578880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1" name="Google Shape;3441;p63"/>
          <p:cNvSpPr/>
          <p:nvPr/>
        </p:nvSpPr>
        <p:spPr>
          <a:xfrm>
            <a:off x="11027490" y="1578880"/>
            <a:ext cx="759900" cy="210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42" name="Google Shape;3442;p63"/>
          <p:cNvCxnSpPr/>
          <p:nvPr/>
        </p:nvCxnSpPr>
        <p:spPr>
          <a:xfrm>
            <a:off x="11027490" y="1584239"/>
            <a:ext cx="7599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43" name="Google Shape;3443;p63"/>
          <p:cNvCxnSpPr/>
          <p:nvPr/>
        </p:nvCxnSpPr>
        <p:spPr>
          <a:xfrm>
            <a:off x="11032252" y="1578880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4" name="Google Shape;3444;p63"/>
          <p:cNvSpPr/>
          <p:nvPr/>
        </p:nvSpPr>
        <p:spPr>
          <a:xfrm>
            <a:off x="6242596" y="3867448"/>
            <a:ext cx="5549354" cy="1314004"/>
          </a:xfrm>
          <a:prstGeom prst="roundRect">
            <a:avLst>
              <a:gd fmla="val 3624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45" name="Google Shape;3445;p63"/>
          <p:cNvCxnSpPr/>
          <p:nvPr/>
        </p:nvCxnSpPr>
        <p:spPr>
          <a:xfrm>
            <a:off x="6266408" y="3867448"/>
            <a:ext cx="0" cy="1314003"/>
          </a:xfrm>
          <a:prstGeom prst="straightConnector1">
            <a:avLst/>
          </a:prstGeom>
          <a:noFill/>
          <a:ln cap="flat" cmpd="sng" w="4762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6" name="Google Shape;3446;p63"/>
          <p:cNvSpPr/>
          <p:nvPr/>
        </p:nvSpPr>
        <p:spPr>
          <a:xfrm>
            <a:off x="6242596" y="5256758"/>
            <a:ext cx="5549354" cy="1290340"/>
          </a:xfrm>
          <a:prstGeom prst="roundRect">
            <a:avLst>
              <a:gd fmla="val 369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3e5129d6af9ed60b63a46765fc2b81a6.png" id="3447" name="Google Shape;3447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50" y="2240012"/>
            <a:ext cx="5549057" cy="3567261"/>
          </a:xfrm>
          <a:prstGeom prst="rect">
            <a:avLst/>
          </a:prstGeom>
          <a:noFill/>
          <a:ln>
            <a:noFill/>
          </a:ln>
        </p:spPr>
      </p:pic>
      <p:sp>
        <p:nvSpPr>
          <p:cNvPr id="3448" name="Google Shape;3448;p63"/>
          <p:cNvSpPr txBox="1"/>
          <p:nvPr/>
        </p:nvSpPr>
        <p:spPr>
          <a:xfrm>
            <a:off x="400050" y="161925"/>
            <a:ext cx="4343846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3"/>
              <a:buFont typeface="Arial"/>
              <a:buNone/>
            </a:pPr>
            <a:r>
              <a:rPr b="0" i="0" lang="en-US" sz="2343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Grupos virais: composição clínica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9" name="Google Shape;3449;p63"/>
          <p:cNvSpPr txBox="1"/>
          <p:nvPr/>
        </p:nvSpPr>
        <p:spPr>
          <a:xfrm>
            <a:off x="438150" y="742532"/>
            <a:ext cx="9840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Grupo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0" name="Google Shape;3450;p63"/>
          <p:cNvSpPr txBox="1"/>
          <p:nvPr/>
        </p:nvSpPr>
        <p:spPr>
          <a:xfrm>
            <a:off x="1498274" y="742532"/>
            <a:ext cx="4146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1" name="Google Shape;3451;p63"/>
          <p:cNvSpPr txBox="1"/>
          <p:nvPr/>
        </p:nvSpPr>
        <p:spPr>
          <a:xfrm>
            <a:off x="1988808" y="742532"/>
            <a:ext cx="14019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Idade mediana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2" name="Google Shape;3452;p63"/>
          <p:cNvSpPr txBox="1"/>
          <p:nvPr/>
        </p:nvSpPr>
        <p:spPr>
          <a:xfrm>
            <a:off x="3467077" y="742532"/>
            <a:ext cx="13410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Masculino (%)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3" name="Google Shape;3453;p63"/>
          <p:cNvSpPr txBox="1"/>
          <p:nvPr/>
        </p:nvSpPr>
        <p:spPr>
          <a:xfrm>
            <a:off x="4884387" y="742532"/>
            <a:ext cx="13440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 III–IV (%)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4" name="Google Shape;3454;p63"/>
          <p:cNvSpPr txBox="1"/>
          <p:nvPr/>
        </p:nvSpPr>
        <p:spPr>
          <a:xfrm>
            <a:off x="6540772" y="742532"/>
            <a:ext cx="15021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Grau G3–G4 (%)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5" name="Google Shape;3455;p63"/>
          <p:cNvSpPr txBox="1"/>
          <p:nvPr/>
        </p:nvSpPr>
        <p:spPr>
          <a:xfrm>
            <a:off x="8119053" y="742532"/>
            <a:ext cx="12498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AFP mediana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6" name="Google Shape;3456;p63"/>
          <p:cNvSpPr txBox="1"/>
          <p:nvPr/>
        </p:nvSpPr>
        <p:spPr>
          <a:xfrm>
            <a:off x="9444923" y="742532"/>
            <a:ext cx="15447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Fibrose mediana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7" name="Google Shape;3457;p63"/>
          <p:cNvSpPr txBox="1"/>
          <p:nvPr/>
        </p:nvSpPr>
        <p:spPr>
          <a:xfrm>
            <a:off x="11066066" y="742532"/>
            <a:ext cx="6828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Óbitos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8" name="Google Shape;3458;p63"/>
          <p:cNvSpPr txBox="1"/>
          <p:nvPr/>
        </p:nvSpPr>
        <p:spPr>
          <a:xfrm>
            <a:off x="438150" y="960535"/>
            <a:ext cx="9840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Unknown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9" name="Google Shape;3459;p63"/>
          <p:cNvSpPr txBox="1"/>
          <p:nvPr/>
        </p:nvSpPr>
        <p:spPr>
          <a:xfrm>
            <a:off x="1498274" y="960535"/>
            <a:ext cx="4146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206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0" name="Google Shape;3460;p63"/>
          <p:cNvSpPr txBox="1"/>
          <p:nvPr/>
        </p:nvSpPr>
        <p:spPr>
          <a:xfrm>
            <a:off x="1988808" y="960535"/>
            <a:ext cx="14019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61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1" name="Google Shape;3461;p63"/>
          <p:cNvSpPr txBox="1"/>
          <p:nvPr/>
        </p:nvSpPr>
        <p:spPr>
          <a:xfrm>
            <a:off x="3467077" y="960535"/>
            <a:ext cx="13410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66.0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2" name="Google Shape;3462;p63"/>
          <p:cNvSpPr txBox="1"/>
          <p:nvPr/>
        </p:nvSpPr>
        <p:spPr>
          <a:xfrm>
            <a:off x="4884387" y="960535"/>
            <a:ext cx="13440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17.5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3" name="Google Shape;3463;p63"/>
          <p:cNvSpPr txBox="1"/>
          <p:nvPr/>
        </p:nvSpPr>
        <p:spPr>
          <a:xfrm>
            <a:off x="6540772" y="960535"/>
            <a:ext cx="15021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41.9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4" name="Google Shape;3464;p63"/>
          <p:cNvSpPr txBox="1"/>
          <p:nvPr/>
        </p:nvSpPr>
        <p:spPr>
          <a:xfrm>
            <a:off x="8119053" y="960535"/>
            <a:ext cx="12498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24.5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5" name="Google Shape;3465;p63"/>
          <p:cNvSpPr txBox="1"/>
          <p:nvPr/>
        </p:nvSpPr>
        <p:spPr>
          <a:xfrm>
            <a:off x="9444923" y="960535"/>
            <a:ext cx="15447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3.0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6" name="Google Shape;3466;p63"/>
          <p:cNvSpPr txBox="1"/>
          <p:nvPr/>
        </p:nvSpPr>
        <p:spPr>
          <a:xfrm>
            <a:off x="11066066" y="960535"/>
            <a:ext cx="6828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58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7" name="Google Shape;3467;p63"/>
          <p:cNvSpPr txBox="1"/>
          <p:nvPr/>
        </p:nvSpPr>
        <p:spPr>
          <a:xfrm>
            <a:off x="438150" y="1171506"/>
            <a:ext cx="9840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HBV+HCV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8" name="Google Shape;3468;p63"/>
          <p:cNvSpPr txBox="1"/>
          <p:nvPr/>
        </p:nvSpPr>
        <p:spPr>
          <a:xfrm>
            <a:off x="1498274" y="1171506"/>
            <a:ext cx="4146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85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9" name="Google Shape;3469;p63"/>
          <p:cNvSpPr txBox="1"/>
          <p:nvPr/>
        </p:nvSpPr>
        <p:spPr>
          <a:xfrm>
            <a:off x="1988808" y="1171506"/>
            <a:ext cx="14019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59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0" name="Google Shape;3470;p63"/>
          <p:cNvSpPr txBox="1"/>
          <p:nvPr/>
        </p:nvSpPr>
        <p:spPr>
          <a:xfrm>
            <a:off x="3467077" y="1171506"/>
            <a:ext cx="13410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71.8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1" name="Google Shape;3471;p63"/>
          <p:cNvSpPr txBox="1"/>
          <p:nvPr/>
        </p:nvSpPr>
        <p:spPr>
          <a:xfrm>
            <a:off x="4884387" y="1171506"/>
            <a:ext cx="13440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45.8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2" name="Google Shape;3472;p63"/>
          <p:cNvSpPr txBox="1"/>
          <p:nvPr/>
        </p:nvSpPr>
        <p:spPr>
          <a:xfrm>
            <a:off x="6540772" y="1171506"/>
            <a:ext cx="15021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23.8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3" name="Google Shape;3473;p63"/>
          <p:cNvSpPr txBox="1"/>
          <p:nvPr/>
        </p:nvSpPr>
        <p:spPr>
          <a:xfrm>
            <a:off x="8119053" y="1171506"/>
            <a:ext cx="12498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7.0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4" name="Google Shape;3474;p63"/>
          <p:cNvSpPr txBox="1"/>
          <p:nvPr/>
        </p:nvSpPr>
        <p:spPr>
          <a:xfrm>
            <a:off x="9444923" y="1171506"/>
            <a:ext cx="15447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1.0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5" name="Google Shape;3475;p63"/>
          <p:cNvSpPr txBox="1"/>
          <p:nvPr/>
        </p:nvSpPr>
        <p:spPr>
          <a:xfrm>
            <a:off x="11066066" y="1171506"/>
            <a:ext cx="6828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42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6" name="Google Shape;3476;p63"/>
          <p:cNvSpPr txBox="1"/>
          <p:nvPr/>
        </p:nvSpPr>
        <p:spPr>
          <a:xfrm>
            <a:off x="438150" y="1382477"/>
            <a:ext cx="9840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HBV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7" name="Google Shape;3477;p63"/>
          <p:cNvSpPr txBox="1"/>
          <p:nvPr/>
        </p:nvSpPr>
        <p:spPr>
          <a:xfrm>
            <a:off x="1498274" y="1382477"/>
            <a:ext cx="4146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59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8" name="Google Shape;3478;p63"/>
          <p:cNvSpPr txBox="1"/>
          <p:nvPr/>
        </p:nvSpPr>
        <p:spPr>
          <a:xfrm>
            <a:off x="1988808" y="1382477"/>
            <a:ext cx="14019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64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9" name="Google Shape;3479;p63"/>
          <p:cNvSpPr txBox="1"/>
          <p:nvPr/>
        </p:nvSpPr>
        <p:spPr>
          <a:xfrm>
            <a:off x="3467077" y="1382477"/>
            <a:ext cx="13410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61.0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0" name="Google Shape;3480;p63"/>
          <p:cNvSpPr txBox="1"/>
          <p:nvPr/>
        </p:nvSpPr>
        <p:spPr>
          <a:xfrm>
            <a:off x="4884387" y="1382477"/>
            <a:ext cx="13440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30.4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1" name="Google Shape;3481;p63"/>
          <p:cNvSpPr txBox="1"/>
          <p:nvPr/>
        </p:nvSpPr>
        <p:spPr>
          <a:xfrm>
            <a:off x="6540772" y="1382477"/>
            <a:ext cx="15021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42.4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2" name="Google Shape;3482;p63"/>
          <p:cNvSpPr txBox="1"/>
          <p:nvPr/>
        </p:nvSpPr>
        <p:spPr>
          <a:xfrm>
            <a:off x="8119053" y="1382477"/>
            <a:ext cx="12498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11.0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3" name="Google Shape;3483;p63"/>
          <p:cNvSpPr txBox="1"/>
          <p:nvPr/>
        </p:nvSpPr>
        <p:spPr>
          <a:xfrm>
            <a:off x="9444923" y="1382477"/>
            <a:ext cx="15447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4" name="Google Shape;3484;p63"/>
          <p:cNvSpPr txBox="1"/>
          <p:nvPr/>
        </p:nvSpPr>
        <p:spPr>
          <a:xfrm>
            <a:off x="11066066" y="1382477"/>
            <a:ext cx="6828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5" name="Google Shape;3485;p63"/>
          <p:cNvSpPr txBox="1"/>
          <p:nvPr/>
        </p:nvSpPr>
        <p:spPr>
          <a:xfrm>
            <a:off x="438150" y="1593447"/>
            <a:ext cx="9840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HCV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6" name="Google Shape;3486;p63"/>
          <p:cNvSpPr txBox="1"/>
          <p:nvPr/>
        </p:nvSpPr>
        <p:spPr>
          <a:xfrm>
            <a:off x="1498274" y="1593447"/>
            <a:ext cx="4146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7" name="Google Shape;3487;p63"/>
          <p:cNvSpPr txBox="1"/>
          <p:nvPr/>
        </p:nvSpPr>
        <p:spPr>
          <a:xfrm>
            <a:off x="1988808" y="1593447"/>
            <a:ext cx="14019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64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8" name="Google Shape;3488;p63"/>
          <p:cNvSpPr txBox="1"/>
          <p:nvPr/>
        </p:nvSpPr>
        <p:spPr>
          <a:xfrm>
            <a:off x="3467077" y="1593447"/>
            <a:ext cx="13410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84.2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9" name="Google Shape;3489;p63"/>
          <p:cNvSpPr txBox="1"/>
          <p:nvPr/>
        </p:nvSpPr>
        <p:spPr>
          <a:xfrm>
            <a:off x="4884387" y="1593447"/>
            <a:ext cx="13440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11.8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0" name="Google Shape;3490;p63"/>
          <p:cNvSpPr txBox="1"/>
          <p:nvPr/>
        </p:nvSpPr>
        <p:spPr>
          <a:xfrm>
            <a:off x="6540772" y="1593447"/>
            <a:ext cx="15021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11.1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1" name="Google Shape;3491;p63"/>
          <p:cNvSpPr txBox="1"/>
          <p:nvPr/>
        </p:nvSpPr>
        <p:spPr>
          <a:xfrm>
            <a:off x="8119053" y="1593447"/>
            <a:ext cx="12498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11.0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2" name="Google Shape;3492;p63"/>
          <p:cNvSpPr txBox="1"/>
          <p:nvPr/>
        </p:nvSpPr>
        <p:spPr>
          <a:xfrm>
            <a:off x="9444923" y="1593447"/>
            <a:ext cx="15447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1.0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3" name="Google Shape;3493;p63"/>
          <p:cNvSpPr txBox="1"/>
          <p:nvPr/>
        </p:nvSpPr>
        <p:spPr>
          <a:xfrm>
            <a:off x="11066066" y="1593447"/>
            <a:ext cx="6828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4" name="Google Shape;3494;p63"/>
          <p:cNvSpPr txBox="1"/>
          <p:nvPr/>
        </p:nvSpPr>
        <p:spPr>
          <a:xfrm>
            <a:off x="965448" y="5837337"/>
            <a:ext cx="2037011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Arial"/>
              <a:buNone/>
            </a:pPr>
            <a:r>
              <a:rPr b="0" i="0" lang="en-US" sz="891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31. log2(AFP + 1) por grupo viral.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5" name="Google Shape;3495;p63"/>
          <p:cNvSpPr txBox="1"/>
          <p:nvPr/>
        </p:nvSpPr>
        <p:spPr>
          <a:xfrm>
            <a:off x="2995315" y="5856387"/>
            <a:ext cx="502295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Arial"/>
              <a:buNone/>
            </a:pPr>
            <a:r>
              <a:rPr b="0" i="0" lang="en-US" sz="891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Unknown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6" name="Google Shape;3496;p63"/>
          <p:cNvSpPr txBox="1"/>
          <p:nvPr/>
        </p:nvSpPr>
        <p:spPr>
          <a:xfrm>
            <a:off x="3490466" y="5837337"/>
            <a:ext cx="1931343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Arial"/>
              <a:buNone/>
            </a:pPr>
            <a:r>
              <a:rPr b="0" i="0" lang="en-US" sz="891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 mostrado, mas não entra nos testes.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7" name="Google Shape;3497;p63"/>
          <p:cNvSpPr txBox="1"/>
          <p:nvPr/>
        </p:nvSpPr>
        <p:spPr>
          <a:xfrm>
            <a:off x="6242596" y="1862286"/>
            <a:ext cx="150733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Testes após BH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8" name="Google Shape;3498;p63"/>
          <p:cNvSpPr txBox="1"/>
          <p:nvPr/>
        </p:nvSpPr>
        <p:spPr>
          <a:xfrm>
            <a:off x="6472982" y="2314724"/>
            <a:ext cx="405259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Entre HBV, HCV e HBV+HCV: diferenças 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9" name="Google Shape;3499;p63"/>
          <p:cNvSpPr txBox="1"/>
          <p:nvPr/>
        </p:nvSpPr>
        <p:spPr>
          <a:xfrm>
            <a:off x="10544919" y="2314724"/>
            <a:ext cx="72419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fibrose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0" name="Google Shape;3500;p63"/>
          <p:cNvSpPr txBox="1"/>
          <p:nvPr/>
        </p:nvSpPr>
        <p:spPr>
          <a:xfrm>
            <a:off x="11288316" y="2314724"/>
            <a:ext cx="425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(p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1" name="Google Shape;3501;p63"/>
          <p:cNvSpPr txBox="1"/>
          <p:nvPr/>
        </p:nvSpPr>
        <p:spPr>
          <a:xfrm>
            <a:off x="6472975" y="2603218"/>
            <a:ext cx="7572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0,0389)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2" name="Google Shape;3502;p63"/>
          <p:cNvSpPr txBox="1"/>
          <p:nvPr/>
        </p:nvSpPr>
        <p:spPr>
          <a:xfrm>
            <a:off x="7249418" y="2576661"/>
            <a:ext cx="75545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3" name="Google Shape;3503;p63"/>
          <p:cNvSpPr txBox="1"/>
          <p:nvPr/>
        </p:nvSpPr>
        <p:spPr>
          <a:xfrm>
            <a:off x="8024068" y="2576661"/>
            <a:ext cx="132323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(p = 0,0346) 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4" name="Google Shape;3504;p63"/>
          <p:cNvSpPr txBox="1"/>
          <p:nvPr/>
        </p:nvSpPr>
        <p:spPr>
          <a:xfrm>
            <a:off x="9366647" y="2576661"/>
            <a:ext cx="49083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5" name="Google Shape;3505;p63"/>
          <p:cNvSpPr txBox="1"/>
          <p:nvPr/>
        </p:nvSpPr>
        <p:spPr>
          <a:xfrm>
            <a:off x="9876681" y="2576661"/>
            <a:ext cx="12017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(p = 0,0346).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6" name="Google Shape;3506;p63"/>
          <p:cNvSpPr txBox="1"/>
          <p:nvPr/>
        </p:nvSpPr>
        <p:spPr>
          <a:xfrm>
            <a:off x="6472982" y="2884587"/>
            <a:ext cx="140166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Conhecido vs.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7" name="Google Shape;3507;p63"/>
          <p:cNvSpPr txBox="1"/>
          <p:nvPr/>
        </p:nvSpPr>
        <p:spPr>
          <a:xfrm>
            <a:off x="7894439" y="2922687"/>
            <a:ext cx="89758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Unknown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8" name="Google Shape;3508;p63"/>
          <p:cNvSpPr txBox="1"/>
          <p:nvPr/>
        </p:nvSpPr>
        <p:spPr>
          <a:xfrm>
            <a:off x="8753921" y="2884587"/>
            <a:ext cx="9495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9" name="Google Shape;3509;p63"/>
          <p:cNvSpPr txBox="1"/>
          <p:nvPr/>
        </p:nvSpPr>
        <p:spPr>
          <a:xfrm>
            <a:off x="8868221" y="2922687"/>
            <a:ext cx="89758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Unknown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0" name="Google Shape;3510;p63"/>
          <p:cNvSpPr txBox="1"/>
          <p:nvPr/>
        </p:nvSpPr>
        <p:spPr>
          <a:xfrm>
            <a:off x="9785003" y="2884587"/>
            <a:ext cx="203701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tem menos III–IV (p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1" name="Google Shape;3511;p63"/>
          <p:cNvSpPr txBox="1"/>
          <p:nvPr/>
        </p:nvSpPr>
        <p:spPr>
          <a:xfrm>
            <a:off x="6472982" y="3156049"/>
            <a:ext cx="509885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0,00071), mais G3–G4 (p = 0,0346) e maior fibrose (p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2" name="Google Shape;3512;p63"/>
          <p:cNvSpPr txBox="1"/>
          <p:nvPr/>
        </p:nvSpPr>
        <p:spPr>
          <a:xfrm>
            <a:off x="6472982" y="3417987"/>
            <a:ext cx="75708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0,0023)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3" name="Google Shape;3513;p63"/>
          <p:cNvSpPr txBox="1"/>
          <p:nvPr/>
        </p:nvSpPr>
        <p:spPr>
          <a:xfrm>
            <a:off x="6440984" y="4180582"/>
            <a:ext cx="8112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Unknown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4" name="Google Shape;3514;p63"/>
          <p:cNvSpPr txBox="1"/>
          <p:nvPr/>
        </p:nvSpPr>
        <p:spPr>
          <a:xfrm>
            <a:off x="7265789" y="4152007"/>
            <a:ext cx="209401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1" i="0" lang="en-US" sz="148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é missing aleatório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5" name="Google Shape;3515;p63"/>
          <p:cNvSpPr txBox="1"/>
          <p:nvPr/>
        </p:nvSpPr>
        <p:spPr>
          <a:xfrm>
            <a:off x="9373195" y="4152007"/>
            <a:ext cx="13692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6" name="Google Shape;3516;p63"/>
          <p:cNvSpPr txBox="1"/>
          <p:nvPr/>
        </p:nvSpPr>
        <p:spPr>
          <a:xfrm>
            <a:off x="9523661" y="4152007"/>
            <a:ext cx="1153864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1" i="0" lang="en-US" sz="148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deve ser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7" name="Google Shape;3517;p63"/>
          <p:cNvSpPr txBox="1"/>
          <p:nvPr/>
        </p:nvSpPr>
        <p:spPr>
          <a:xfrm>
            <a:off x="6440984" y="4406652"/>
            <a:ext cx="3065264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1" i="0" lang="en-US" sz="148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interpretado como “sem infecção”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8" name="Google Shape;3518;p63"/>
          <p:cNvSpPr txBox="1"/>
          <p:nvPr/>
        </p:nvSpPr>
        <p:spPr>
          <a:xfrm>
            <a:off x="9468148" y="4406652"/>
            <a:ext cx="1853208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Análises restritas aos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9" name="Google Shape;3519;p63"/>
          <p:cNvSpPr txBox="1"/>
          <p:nvPr/>
        </p:nvSpPr>
        <p:spPr>
          <a:xfrm>
            <a:off x="6440984" y="4642247"/>
            <a:ext cx="342245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casos conhecidos podem ser enviesadas.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0" name="Google Shape;3520;p63"/>
          <p:cNvSpPr txBox="1"/>
          <p:nvPr/>
        </p:nvSpPr>
        <p:spPr>
          <a:xfrm>
            <a:off x="6350050" y="5510510"/>
            <a:ext cx="351086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HBV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1" name="Google Shape;3521;p63"/>
          <p:cNvSpPr txBox="1"/>
          <p:nvPr/>
        </p:nvSpPr>
        <p:spPr>
          <a:xfrm>
            <a:off x="6704261" y="5510510"/>
            <a:ext cx="144973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vírus da hepatite B;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2" name="Google Shape;3522;p63"/>
          <p:cNvSpPr txBox="1"/>
          <p:nvPr/>
        </p:nvSpPr>
        <p:spPr>
          <a:xfrm>
            <a:off x="8157270" y="5510510"/>
            <a:ext cx="34855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HCV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3" name="Google Shape;3523;p63"/>
          <p:cNvSpPr txBox="1"/>
          <p:nvPr/>
        </p:nvSpPr>
        <p:spPr>
          <a:xfrm>
            <a:off x="8508950" y="5510510"/>
            <a:ext cx="318804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vírus da hepatite C. No painel, “HBV” e “HCV”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4" name="Google Shape;3524;p63"/>
          <p:cNvSpPr txBox="1"/>
          <p:nvPr/>
        </p:nvSpPr>
        <p:spPr>
          <a:xfrm>
            <a:off x="6350050" y="5699075"/>
            <a:ext cx="26729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5" name="Google Shape;3525;p63"/>
          <p:cNvSpPr txBox="1"/>
          <p:nvPr/>
        </p:nvSpPr>
        <p:spPr>
          <a:xfrm>
            <a:off x="6588663" y="5699075"/>
            <a:ext cx="1402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1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grupos sorológicos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6" name="Google Shape;3526;p63"/>
          <p:cNvSpPr txBox="1"/>
          <p:nvPr/>
        </p:nvSpPr>
        <p:spPr>
          <a:xfrm>
            <a:off x="7861995" y="5699075"/>
            <a:ext cx="137576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derivados da coluna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7" name="Google Shape;3527;p63"/>
          <p:cNvSpPr txBox="1"/>
          <p:nvPr/>
        </p:nvSpPr>
        <p:spPr>
          <a:xfrm>
            <a:off x="9241036" y="5718125"/>
            <a:ext cx="2159794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viral_hepatitis_serology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8" name="Google Shape;3528;p63"/>
          <p:cNvSpPr txBox="1"/>
          <p:nvPr/>
        </p:nvSpPr>
        <p:spPr>
          <a:xfrm>
            <a:off x="11362730" y="5699075"/>
            <a:ext cx="70842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9" name="Google Shape;3529;p63"/>
          <p:cNvSpPr txBox="1"/>
          <p:nvPr/>
        </p:nvSpPr>
        <p:spPr>
          <a:xfrm>
            <a:off x="6350050" y="5897166"/>
            <a:ext cx="496133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um diagnóstico de infecção ativa. O próximo slide detalha o que cada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0" name="Google Shape;3530;p63"/>
          <p:cNvSpPr txBox="1"/>
          <p:nvPr/>
        </p:nvSpPr>
        <p:spPr>
          <a:xfrm>
            <a:off x="6350050" y="6085731"/>
            <a:ext cx="1289149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marcador significa.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1" name="Google Shape;3531;p63"/>
          <p:cNvSpPr/>
          <p:nvPr/>
        </p:nvSpPr>
        <p:spPr>
          <a:xfrm>
            <a:off x="6269718" y="2431500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2" name="Google Shape;3532;p63"/>
          <p:cNvSpPr/>
          <p:nvPr/>
        </p:nvSpPr>
        <p:spPr>
          <a:xfrm>
            <a:off x="6269718" y="3001363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3" name="Google Shape;3533;p63"/>
          <p:cNvSpPr/>
          <p:nvPr/>
        </p:nvSpPr>
        <p:spPr>
          <a:xfrm>
            <a:off x="400050" y="6575673"/>
            <a:ext cx="11391900" cy="2667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7150" spcFirstLastPara="1" rIns="57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Refs.: WHO, 2020 (HBV/HCV).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7" name="Shape 3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8" name="Google Shape;3538;p66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39" name="Google Shape;3539;p66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40" name="Google Shape;3540;p66"/>
          <p:cNvSpPr/>
          <p:nvPr/>
        </p:nvSpPr>
        <p:spPr>
          <a:xfrm>
            <a:off x="7705130" y="820192"/>
            <a:ext cx="4086820" cy="1769269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1" name="Google Shape;3541;p66"/>
          <p:cNvSpPr/>
          <p:nvPr/>
        </p:nvSpPr>
        <p:spPr>
          <a:xfrm>
            <a:off x="7709892" y="824954"/>
            <a:ext cx="258366" cy="32355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42" name="Google Shape;3542;p66"/>
          <p:cNvCxnSpPr/>
          <p:nvPr/>
        </p:nvCxnSpPr>
        <p:spPr>
          <a:xfrm>
            <a:off x="7709892" y="829717"/>
            <a:ext cx="258366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43" name="Google Shape;3543;p66"/>
          <p:cNvCxnSpPr/>
          <p:nvPr/>
        </p:nvCxnSpPr>
        <p:spPr>
          <a:xfrm>
            <a:off x="7714655" y="824954"/>
            <a:ext cx="0" cy="323553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44" name="Google Shape;3544;p66"/>
          <p:cNvSpPr/>
          <p:nvPr/>
        </p:nvSpPr>
        <p:spPr>
          <a:xfrm>
            <a:off x="7968258" y="824954"/>
            <a:ext cx="254794" cy="32355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45" name="Google Shape;3545;p66"/>
          <p:cNvCxnSpPr/>
          <p:nvPr/>
        </p:nvCxnSpPr>
        <p:spPr>
          <a:xfrm>
            <a:off x="7968258" y="829717"/>
            <a:ext cx="254794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46" name="Google Shape;3546;p66"/>
          <p:cNvCxnSpPr/>
          <p:nvPr/>
        </p:nvCxnSpPr>
        <p:spPr>
          <a:xfrm>
            <a:off x="7973020" y="824954"/>
            <a:ext cx="0" cy="323553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47" name="Google Shape;3547;p66"/>
          <p:cNvSpPr/>
          <p:nvPr/>
        </p:nvSpPr>
        <p:spPr>
          <a:xfrm>
            <a:off x="8223052" y="824954"/>
            <a:ext cx="561380" cy="32355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48" name="Google Shape;3548;p66"/>
          <p:cNvCxnSpPr/>
          <p:nvPr/>
        </p:nvCxnSpPr>
        <p:spPr>
          <a:xfrm>
            <a:off x="8223052" y="829717"/>
            <a:ext cx="561379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49" name="Google Shape;3549;p66"/>
          <p:cNvCxnSpPr/>
          <p:nvPr/>
        </p:nvCxnSpPr>
        <p:spPr>
          <a:xfrm>
            <a:off x="8227814" y="824954"/>
            <a:ext cx="0" cy="323553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50" name="Google Shape;3550;p66"/>
          <p:cNvSpPr/>
          <p:nvPr/>
        </p:nvSpPr>
        <p:spPr>
          <a:xfrm>
            <a:off x="8784431" y="824954"/>
            <a:ext cx="735360" cy="32355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51" name="Google Shape;3551;p66"/>
          <p:cNvCxnSpPr/>
          <p:nvPr/>
        </p:nvCxnSpPr>
        <p:spPr>
          <a:xfrm>
            <a:off x="8784431" y="829717"/>
            <a:ext cx="735360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52" name="Google Shape;3552;p66"/>
          <p:cNvCxnSpPr/>
          <p:nvPr/>
        </p:nvCxnSpPr>
        <p:spPr>
          <a:xfrm>
            <a:off x="8789194" y="824954"/>
            <a:ext cx="0" cy="323553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53" name="Google Shape;3553;p66"/>
          <p:cNvSpPr/>
          <p:nvPr/>
        </p:nvSpPr>
        <p:spPr>
          <a:xfrm>
            <a:off x="9519791" y="824954"/>
            <a:ext cx="820787" cy="32355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54" name="Google Shape;3554;p66"/>
          <p:cNvCxnSpPr/>
          <p:nvPr/>
        </p:nvCxnSpPr>
        <p:spPr>
          <a:xfrm>
            <a:off x="9519791" y="829717"/>
            <a:ext cx="820787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55" name="Google Shape;3555;p66"/>
          <p:cNvCxnSpPr/>
          <p:nvPr/>
        </p:nvCxnSpPr>
        <p:spPr>
          <a:xfrm>
            <a:off x="9524554" y="824954"/>
            <a:ext cx="0" cy="323553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56" name="Google Shape;3556;p66"/>
          <p:cNvSpPr/>
          <p:nvPr/>
        </p:nvSpPr>
        <p:spPr>
          <a:xfrm>
            <a:off x="10340578" y="824954"/>
            <a:ext cx="783431" cy="32355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57" name="Google Shape;3557;p66"/>
          <p:cNvCxnSpPr/>
          <p:nvPr/>
        </p:nvCxnSpPr>
        <p:spPr>
          <a:xfrm>
            <a:off x="10340578" y="829717"/>
            <a:ext cx="783431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58" name="Google Shape;3558;p66"/>
          <p:cNvCxnSpPr/>
          <p:nvPr/>
        </p:nvCxnSpPr>
        <p:spPr>
          <a:xfrm>
            <a:off x="10345341" y="824954"/>
            <a:ext cx="0" cy="323553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59" name="Google Shape;3559;p66"/>
          <p:cNvSpPr/>
          <p:nvPr/>
        </p:nvSpPr>
        <p:spPr>
          <a:xfrm>
            <a:off x="11124009" y="824954"/>
            <a:ext cx="663178" cy="32355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60" name="Google Shape;3560;p66"/>
          <p:cNvCxnSpPr/>
          <p:nvPr/>
        </p:nvCxnSpPr>
        <p:spPr>
          <a:xfrm>
            <a:off x="11124009" y="829717"/>
            <a:ext cx="663179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1" name="Google Shape;3561;p66"/>
          <p:cNvCxnSpPr/>
          <p:nvPr/>
        </p:nvCxnSpPr>
        <p:spPr>
          <a:xfrm>
            <a:off x="11128772" y="824954"/>
            <a:ext cx="0" cy="323553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2" name="Google Shape;3562;p66"/>
          <p:cNvSpPr/>
          <p:nvPr/>
        </p:nvSpPr>
        <p:spPr>
          <a:xfrm>
            <a:off x="7709892" y="1148507"/>
            <a:ext cx="258366" cy="31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63" name="Google Shape;3563;p66"/>
          <p:cNvCxnSpPr/>
          <p:nvPr/>
        </p:nvCxnSpPr>
        <p:spPr>
          <a:xfrm>
            <a:off x="7709892" y="1153269"/>
            <a:ext cx="25836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4" name="Google Shape;3564;p66"/>
          <p:cNvCxnSpPr/>
          <p:nvPr/>
        </p:nvCxnSpPr>
        <p:spPr>
          <a:xfrm>
            <a:off x="7714655" y="1148507"/>
            <a:ext cx="0" cy="31105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5" name="Google Shape;3565;p66"/>
          <p:cNvSpPr/>
          <p:nvPr/>
        </p:nvSpPr>
        <p:spPr>
          <a:xfrm>
            <a:off x="7968258" y="1148507"/>
            <a:ext cx="254794" cy="31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66" name="Google Shape;3566;p66"/>
          <p:cNvCxnSpPr/>
          <p:nvPr/>
        </p:nvCxnSpPr>
        <p:spPr>
          <a:xfrm>
            <a:off x="7968258" y="1153269"/>
            <a:ext cx="25479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7" name="Google Shape;3567;p66"/>
          <p:cNvCxnSpPr/>
          <p:nvPr/>
        </p:nvCxnSpPr>
        <p:spPr>
          <a:xfrm>
            <a:off x="7973020" y="1148507"/>
            <a:ext cx="0" cy="31105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8" name="Google Shape;3568;p66"/>
          <p:cNvSpPr/>
          <p:nvPr/>
        </p:nvSpPr>
        <p:spPr>
          <a:xfrm>
            <a:off x="8223052" y="1148507"/>
            <a:ext cx="561380" cy="31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69" name="Google Shape;3569;p66"/>
          <p:cNvCxnSpPr/>
          <p:nvPr/>
        </p:nvCxnSpPr>
        <p:spPr>
          <a:xfrm>
            <a:off x="8223052" y="1153269"/>
            <a:ext cx="56137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0" name="Google Shape;3570;p66"/>
          <p:cNvCxnSpPr/>
          <p:nvPr/>
        </p:nvCxnSpPr>
        <p:spPr>
          <a:xfrm>
            <a:off x="8227814" y="1148507"/>
            <a:ext cx="0" cy="31105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71" name="Google Shape;3571;p66"/>
          <p:cNvSpPr/>
          <p:nvPr/>
        </p:nvSpPr>
        <p:spPr>
          <a:xfrm>
            <a:off x="8784431" y="1148507"/>
            <a:ext cx="735360" cy="31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72" name="Google Shape;3572;p66"/>
          <p:cNvCxnSpPr/>
          <p:nvPr/>
        </p:nvCxnSpPr>
        <p:spPr>
          <a:xfrm>
            <a:off x="8784431" y="1153269"/>
            <a:ext cx="73536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3" name="Google Shape;3573;p66"/>
          <p:cNvCxnSpPr/>
          <p:nvPr/>
        </p:nvCxnSpPr>
        <p:spPr>
          <a:xfrm>
            <a:off x="8789194" y="1148507"/>
            <a:ext cx="0" cy="31105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74" name="Google Shape;3574;p66"/>
          <p:cNvSpPr/>
          <p:nvPr/>
        </p:nvSpPr>
        <p:spPr>
          <a:xfrm>
            <a:off x="9519791" y="1148507"/>
            <a:ext cx="820787" cy="31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75" name="Google Shape;3575;p66"/>
          <p:cNvCxnSpPr/>
          <p:nvPr/>
        </p:nvCxnSpPr>
        <p:spPr>
          <a:xfrm>
            <a:off x="9519791" y="1153269"/>
            <a:ext cx="82078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6" name="Google Shape;3576;p66"/>
          <p:cNvCxnSpPr/>
          <p:nvPr/>
        </p:nvCxnSpPr>
        <p:spPr>
          <a:xfrm>
            <a:off x="9524554" y="1148507"/>
            <a:ext cx="0" cy="31105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77" name="Google Shape;3577;p66"/>
          <p:cNvSpPr/>
          <p:nvPr/>
        </p:nvSpPr>
        <p:spPr>
          <a:xfrm>
            <a:off x="10340578" y="1148507"/>
            <a:ext cx="783431" cy="31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78" name="Google Shape;3578;p66"/>
          <p:cNvCxnSpPr/>
          <p:nvPr/>
        </p:nvCxnSpPr>
        <p:spPr>
          <a:xfrm>
            <a:off x="10340578" y="1153269"/>
            <a:ext cx="78343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9" name="Google Shape;3579;p66"/>
          <p:cNvCxnSpPr/>
          <p:nvPr/>
        </p:nvCxnSpPr>
        <p:spPr>
          <a:xfrm>
            <a:off x="10345341" y="1148507"/>
            <a:ext cx="0" cy="31105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0" name="Google Shape;3580;p66"/>
          <p:cNvSpPr/>
          <p:nvPr/>
        </p:nvSpPr>
        <p:spPr>
          <a:xfrm>
            <a:off x="11124009" y="1148507"/>
            <a:ext cx="663178" cy="31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1" name="Google Shape;3581;p66"/>
          <p:cNvCxnSpPr/>
          <p:nvPr/>
        </p:nvCxnSpPr>
        <p:spPr>
          <a:xfrm>
            <a:off x="11124009" y="1153269"/>
            <a:ext cx="66317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2" name="Google Shape;3582;p66"/>
          <p:cNvCxnSpPr/>
          <p:nvPr/>
        </p:nvCxnSpPr>
        <p:spPr>
          <a:xfrm>
            <a:off x="11128772" y="1148507"/>
            <a:ext cx="0" cy="31105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3" name="Google Shape;3583;p66"/>
          <p:cNvSpPr/>
          <p:nvPr/>
        </p:nvSpPr>
        <p:spPr>
          <a:xfrm>
            <a:off x="7709892" y="1459557"/>
            <a:ext cx="258366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4" name="Google Shape;3584;p66"/>
          <p:cNvCxnSpPr/>
          <p:nvPr/>
        </p:nvCxnSpPr>
        <p:spPr>
          <a:xfrm>
            <a:off x="7709892" y="1464320"/>
            <a:ext cx="25836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5" name="Google Shape;3585;p66"/>
          <p:cNvCxnSpPr/>
          <p:nvPr/>
        </p:nvCxnSpPr>
        <p:spPr>
          <a:xfrm>
            <a:off x="7714655" y="1459557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6" name="Google Shape;3586;p66"/>
          <p:cNvSpPr/>
          <p:nvPr/>
        </p:nvSpPr>
        <p:spPr>
          <a:xfrm>
            <a:off x="7968258" y="1459557"/>
            <a:ext cx="254794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7" name="Google Shape;3587;p66"/>
          <p:cNvCxnSpPr/>
          <p:nvPr/>
        </p:nvCxnSpPr>
        <p:spPr>
          <a:xfrm>
            <a:off x="7968258" y="1464320"/>
            <a:ext cx="25479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8" name="Google Shape;3588;p66"/>
          <p:cNvCxnSpPr/>
          <p:nvPr/>
        </p:nvCxnSpPr>
        <p:spPr>
          <a:xfrm>
            <a:off x="7973020" y="1459557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9" name="Google Shape;3589;p66"/>
          <p:cNvSpPr/>
          <p:nvPr/>
        </p:nvSpPr>
        <p:spPr>
          <a:xfrm>
            <a:off x="8223052" y="1459557"/>
            <a:ext cx="561380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90" name="Google Shape;3590;p66"/>
          <p:cNvCxnSpPr/>
          <p:nvPr/>
        </p:nvCxnSpPr>
        <p:spPr>
          <a:xfrm>
            <a:off x="8223052" y="1464320"/>
            <a:ext cx="56137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91" name="Google Shape;3591;p66"/>
          <p:cNvCxnSpPr/>
          <p:nvPr/>
        </p:nvCxnSpPr>
        <p:spPr>
          <a:xfrm>
            <a:off x="8227814" y="1459557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2" name="Google Shape;3592;p66"/>
          <p:cNvSpPr/>
          <p:nvPr/>
        </p:nvSpPr>
        <p:spPr>
          <a:xfrm>
            <a:off x="8784431" y="1459557"/>
            <a:ext cx="735360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93" name="Google Shape;3593;p66"/>
          <p:cNvCxnSpPr/>
          <p:nvPr/>
        </p:nvCxnSpPr>
        <p:spPr>
          <a:xfrm>
            <a:off x="8784431" y="1464320"/>
            <a:ext cx="73536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94" name="Google Shape;3594;p66"/>
          <p:cNvCxnSpPr/>
          <p:nvPr/>
        </p:nvCxnSpPr>
        <p:spPr>
          <a:xfrm>
            <a:off x="8789194" y="1459557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5" name="Google Shape;3595;p66"/>
          <p:cNvSpPr/>
          <p:nvPr/>
        </p:nvSpPr>
        <p:spPr>
          <a:xfrm>
            <a:off x="9519791" y="1459557"/>
            <a:ext cx="820787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96" name="Google Shape;3596;p66"/>
          <p:cNvCxnSpPr/>
          <p:nvPr/>
        </p:nvCxnSpPr>
        <p:spPr>
          <a:xfrm>
            <a:off x="9519791" y="1464320"/>
            <a:ext cx="82078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97" name="Google Shape;3597;p66"/>
          <p:cNvCxnSpPr/>
          <p:nvPr/>
        </p:nvCxnSpPr>
        <p:spPr>
          <a:xfrm>
            <a:off x="9524554" y="1459557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8" name="Google Shape;3598;p66"/>
          <p:cNvSpPr/>
          <p:nvPr/>
        </p:nvSpPr>
        <p:spPr>
          <a:xfrm>
            <a:off x="10340578" y="1459557"/>
            <a:ext cx="783431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99" name="Google Shape;3599;p66"/>
          <p:cNvCxnSpPr/>
          <p:nvPr/>
        </p:nvCxnSpPr>
        <p:spPr>
          <a:xfrm>
            <a:off x="10340578" y="1464320"/>
            <a:ext cx="78343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0" name="Google Shape;3600;p66"/>
          <p:cNvCxnSpPr/>
          <p:nvPr/>
        </p:nvCxnSpPr>
        <p:spPr>
          <a:xfrm>
            <a:off x="10345341" y="1459557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01" name="Google Shape;3601;p66"/>
          <p:cNvSpPr/>
          <p:nvPr/>
        </p:nvSpPr>
        <p:spPr>
          <a:xfrm>
            <a:off x="11124009" y="1459557"/>
            <a:ext cx="663178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02" name="Google Shape;3602;p66"/>
          <p:cNvCxnSpPr/>
          <p:nvPr/>
        </p:nvCxnSpPr>
        <p:spPr>
          <a:xfrm>
            <a:off x="11124009" y="1464320"/>
            <a:ext cx="66317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3" name="Google Shape;3603;p66"/>
          <p:cNvCxnSpPr/>
          <p:nvPr/>
        </p:nvCxnSpPr>
        <p:spPr>
          <a:xfrm>
            <a:off x="11128772" y="1459557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04" name="Google Shape;3604;p66"/>
          <p:cNvSpPr/>
          <p:nvPr/>
        </p:nvSpPr>
        <p:spPr>
          <a:xfrm>
            <a:off x="7709892" y="1647081"/>
            <a:ext cx="258366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05" name="Google Shape;3605;p66"/>
          <p:cNvCxnSpPr/>
          <p:nvPr/>
        </p:nvCxnSpPr>
        <p:spPr>
          <a:xfrm>
            <a:off x="7709892" y="1651843"/>
            <a:ext cx="25836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6" name="Google Shape;3606;p66"/>
          <p:cNvCxnSpPr/>
          <p:nvPr/>
        </p:nvCxnSpPr>
        <p:spPr>
          <a:xfrm>
            <a:off x="7714655" y="1647081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07" name="Google Shape;3607;p66"/>
          <p:cNvSpPr/>
          <p:nvPr/>
        </p:nvSpPr>
        <p:spPr>
          <a:xfrm>
            <a:off x="7968258" y="1647081"/>
            <a:ext cx="254794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08" name="Google Shape;3608;p66"/>
          <p:cNvCxnSpPr/>
          <p:nvPr/>
        </p:nvCxnSpPr>
        <p:spPr>
          <a:xfrm>
            <a:off x="7968258" y="1651843"/>
            <a:ext cx="25479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9" name="Google Shape;3609;p66"/>
          <p:cNvCxnSpPr/>
          <p:nvPr/>
        </p:nvCxnSpPr>
        <p:spPr>
          <a:xfrm>
            <a:off x="7973020" y="1647081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0" name="Google Shape;3610;p66"/>
          <p:cNvSpPr/>
          <p:nvPr/>
        </p:nvSpPr>
        <p:spPr>
          <a:xfrm>
            <a:off x="8223052" y="1647081"/>
            <a:ext cx="561380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11" name="Google Shape;3611;p66"/>
          <p:cNvCxnSpPr/>
          <p:nvPr/>
        </p:nvCxnSpPr>
        <p:spPr>
          <a:xfrm>
            <a:off x="8223052" y="1651843"/>
            <a:ext cx="56137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2" name="Google Shape;3612;p66"/>
          <p:cNvCxnSpPr/>
          <p:nvPr/>
        </p:nvCxnSpPr>
        <p:spPr>
          <a:xfrm>
            <a:off x="8227814" y="1647081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3" name="Google Shape;3613;p66"/>
          <p:cNvSpPr/>
          <p:nvPr/>
        </p:nvSpPr>
        <p:spPr>
          <a:xfrm>
            <a:off x="8784431" y="1647081"/>
            <a:ext cx="735360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14" name="Google Shape;3614;p66"/>
          <p:cNvCxnSpPr/>
          <p:nvPr/>
        </p:nvCxnSpPr>
        <p:spPr>
          <a:xfrm>
            <a:off x="8784431" y="1651843"/>
            <a:ext cx="73536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5" name="Google Shape;3615;p66"/>
          <p:cNvCxnSpPr/>
          <p:nvPr/>
        </p:nvCxnSpPr>
        <p:spPr>
          <a:xfrm>
            <a:off x="8789194" y="1647081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6" name="Google Shape;3616;p66"/>
          <p:cNvSpPr/>
          <p:nvPr/>
        </p:nvSpPr>
        <p:spPr>
          <a:xfrm>
            <a:off x="9519791" y="1647081"/>
            <a:ext cx="820787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17" name="Google Shape;3617;p66"/>
          <p:cNvCxnSpPr/>
          <p:nvPr/>
        </p:nvCxnSpPr>
        <p:spPr>
          <a:xfrm>
            <a:off x="9519791" y="1651843"/>
            <a:ext cx="82078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8" name="Google Shape;3618;p66"/>
          <p:cNvCxnSpPr/>
          <p:nvPr/>
        </p:nvCxnSpPr>
        <p:spPr>
          <a:xfrm>
            <a:off x="9524554" y="1647081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9" name="Google Shape;3619;p66"/>
          <p:cNvSpPr/>
          <p:nvPr/>
        </p:nvSpPr>
        <p:spPr>
          <a:xfrm>
            <a:off x="10340578" y="1647081"/>
            <a:ext cx="783431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20" name="Google Shape;3620;p66"/>
          <p:cNvCxnSpPr/>
          <p:nvPr/>
        </p:nvCxnSpPr>
        <p:spPr>
          <a:xfrm>
            <a:off x="10340578" y="1651843"/>
            <a:ext cx="78343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21" name="Google Shape;3621;p66"/>
          <p:cNvCxnSpPr/>
          <p:nvPr/>
        </p:nvCxnSpPr>
        <p:spPr>
          <a:xfrm>
            <a:off x="10345341" y="1647081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2" name="Google Shape;3622;p66"/>
          <p:cNvSpPr/>
          <p:nvPr/>
        </p:nvSpPr>
        <p:spPr>
          <a:xfrm>
            <a:off x="11124009" y="1647081"/>
            <a:ext cx="663178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23" name="Google Shape;3623;p66"/>
          <p:cNvCxnSpPr/>
          <p:nvPr/>
        </p:nvCxnSpPr>
        <p:spPr>
          <a:xfrm>
            <a:off x="11124009" y="1651843"/>
            <a:ext cx="66317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24" name="Google Shape;3624;p66"/>
          <p:cNvCxnSpPr/>
          <p:nvPr/>
        </p:nvCxnSpPr>
        <p:spPr>
          <a:xfrm>
            <a:off x="11128772" y="1647081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5" name="Google Shape;3625;p66"/>
          <p:cNvSpPr/>
          <p:nvPr/>
        </p:nvSpPr>
        <p:spPr>
          <a:xfrm>
            <a:off x="7709892" y="1834604"/>
            <a:ext cx="258366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26" name="Google Shape;3626;p66"/>
          <p:cNvCxnSpPr/>
          <p:nvPr/>
        </p:nvCxnSpPr>
        <p:spPr>
          <a:xfrm>
            <a:off x="7709892" y="1839367"/>
            <a:ext cx="25836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27" name="Google Shape;3627;p66"/>
          <p:cNvCxnSpPr/>
          <p:nvPr/>
        </p:nvCxnSpPr>
        <p:spPr>
          <a:xfrm>
            <a:off x="7714655" y="1834604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8" name="Google Shape;3628;p66"/>
          <p:cNvSpPr/>
          <p:nvPr/>
        </p:nvSpPr>
        <p:spPr>
          <a:xfrm>
            <a:off x="7968258" y="1834604"/>
            <a:ext cx="254794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29" name="Google Shape;3629;p66"/>
          <p:cNvCxnSpPr/>
          <p:nvPr/>
        </p:nvCxnSpPr>
        <p:spPr>
          <a:xfrm>
            <a:off x="7968258" y="1839367"/>
            <a:ext cx="25479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30" name="Google Shape;3630;p66"/>
          <p:cNvCxnSpPr/>
          <p:nvPr/>
        </p:nvCxnSpPr>
        <p:spPr>
          <a:xfrm>
            <a:off x="7973020" y="1834604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31" name="Google Shape;3631;p66"/>
          <p:cNvSpPr/>
          <p:nvPr/>
        </p:nvSpPr>
        <p:spPr>
          <a:xfrm>
            <a:off x="8223052" y="1834604"/>
            <a:ext cx="561380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32" name="Google Shape;3632;p66"/>
          <p:cNvCxnSpPr/>
          <p:nvPr/>
        </p:nvCxnSpPr>
        <p:spPr>
          <a:xfrm>
            <a:off x="8223052" y="1839367"/>
            <a:ext cx="56137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33" name="Google Shape;3633;p66"/>
          <p:cNvCxnSpPr/>
          <p:nvPr/>
        </p:nvCxnSpPr>
        <p:spPr>
          <a:xfrm>
            <a:off x="8227814" y="1834604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34" name="Google Shape;3634;p66"/>
          <p:cNvSpPr/>
          <p:nvPr/>
        </p:nvSpPr>
        <p:spPr>
          <a:xfrm>
            <a:off x="8784431" y="1834604"/>
            <a:ext cx="735360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35" name="Google Shape;3635;p66"/>
          <p:cNvCxnSpPr/>
          <p:nvPr/>
        </p:nvCxnSpPr>
        <p:spPr>
          <a:xfrm>
            <a:off x="8784431" y="1839367"/>
            <a:ext cx="73536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36" name="Google Shape;3636;p66"/>
          <p:cNvCxnSpPr/>
          <p:nvPr/>
        </p:nvCxnSpPr>
        <p:spPr>
          <a:xfrm>
            <a:off x="8789194" y="1834604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37" name="Google Shape;3637;p66"/>
          <p:cNvSpPr/>
          <p:nvPr/>
        </p:nvSpPr>
        <p:spPr>
          <a:xfrm>
            <a:off x="9519791" y="1834604"/>
            <a:ext cx="820787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38" name="Google Shape;3638;p66"/>
          <p:cNvCxnSpPr/>
          <p:nvPr/>
        </p:nvCxnSpPr>
        <p:spPr>
          <a:xfrm>
            <a:off x="9519791" y="1839367"/>
            <a:ext cx="82078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39" name="Google Shape;3639;p66"/>
          <p:cNvCxnSpPr/>
          <p:nvPr/>
        </p:nvCxnSpPr>
        <p:spPr>
          <a:xfrm>
            <a:off x="9524554" y="1834604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0" name="Google Shape;3640;p66"/>
          <p:cNvSpPr/>
          <p:nvPr/>
        </p:nvSpPr>
        <p:spPr>
          <a:xfrm>
            <a:off x="10340578" y="1834604"/>
            <a:ext cx="783431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41" name="Google Shape;3641;p66"/>
          <p:cNvCxnSpPr/>
          <p:nvPr/>
        </p:nvCxnSpPr>
        <p:spPr>
          <a:xfrm>
            <a:off x="10340578" y="1839367"/>
            <a:ext cx="78343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42" name="Google Shape;3642;p66"/>
          <p:cNvCxnSpPr/>
          <p:nvPr/>
        </p:nvCxnSpPr>
        <p:spPr>
          <a:xfrm>
            <a:off x="10345341" y="1834604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3" name="Google Shape;3643;p66"/>
          <p:cNvSpPr/>
          <p:nvPr/>
        </p:nvSpPr>
        <p:spPr>
          <a:xfrm>
            <a:off x="11124009" y="1834604"/>
            <a:ext cx="663178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44" name="Google Shape;3644;p66"/>
          <p:cNvCxnSpPr/>
          <p:nvPr/>
        </p:nvCxnSpPr>
        <p:spPr>
          <a:xfrm>
            <a:off x="11124009" y="1839367"/>
            <a:ext cx="66317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45" name="Google Shape;3645;p66"/>
          <p:cNvCxnSpPr/>
          <p:nvPr/>
        </p:nvCxnSpPr>
        <p:spPr>
          <a:xfrm>
            <a:off x="11128772" y="1834604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6" name="Google Shape;3646;p66"/>
          <p:cNvSpPr/>
          <p:nvPr/>
        </p:nvSpPr>
        <p:spPr>
          <a:xfrm>
            <a:off x="7709892" y="2022128"/>
            <a:ext cx="258366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47" name="Google Shape;3647;p66"/>
          <p:cNvCxnSpPr/>
          <p:nvPr/>
        </p:nvCxnSpPr>
        <p:spPr>
          <a:xfrm>
            <a:off x="7709892" y="2026890"/>
            <a:ext cx="25836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48" name="Google Shape;3648;p66"/>
          <p:cNvCxnSpPr/>
          <p:nvPr/>
        </p:nvCxnSpPr>
        <p:spPr>
          <a:xfrm>
            <a:off x="7714655" y="2022128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9" name="Google Shape;3649;p66"/>
          <p:cNvSpPr/>
          <p:nvPr/>
        </p:nvSpPr>
        <p:spPr>
          <a:xfrm>
            <a:off x="7968258" y="2022128"/>
            <a:ext cx="254794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50" name="Google Shape;3650;p66"/>
          <p:cNvCxnSpPr/>
          <p:nvPr/>
        </p:nvCxnSpPr>
        <p:spPr>
          <a:xfrm>
            <a:off x="7968258" y="2026890"/>
            <a:ext cx="25479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51" name="Google Shape;3651;p66"/>
          <p:cNvCxnSpPr/>
          <p:nvPr/>
        </p:nvCxnSpPr>
        <p:spPr>
          <a:xfrm>
            <a:off x="7973020" y="2022128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52" name="Google Shape;3652;p66"/>
          <p:cNvSpPr/>
          <p:nvPr/>
        </p:nvSpPr>
        <p:spPr>
          <a:xfrm>
            <a:off x="8223052" y="2022128"/>
            <a:ext cx="561380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53" name="Google Shape;3653;p66"/>
          <p:cNvCxnSpPr/>
          <p:nvPr/>
        </p:nvCxnSpPr>
        <p:spPr>
          <a:xfrm>
            <a:off x="8223052" y="2026890"/>
            <a:ext cx="56137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54" name="Google Shape;3654;p66"/>
          <p:cNvCxnSpPr/>
          <p:nvPr/>
        </p:nvCxnSpPr>
        <p:spPr>
          <a:xfrm>
            <a:off x="8227814" y="2022128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55" name="Google Shape;3655;p66"/>
          <p:cNvSpPr/>
          <p:nvPr/>
        </p:nvSpPr>
        <p:spPr>
          <a:xfrm>
            <a:off x="8784431" y="2022128"/>
            <a:ext cx="735360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56" name="Google Shape;3656;p66"/>
          <p:cNvCxnSpPr/>
          <p:nvPr/>
        </p:nvCxnSpPr>
        <p:spPr>
          <a:xfrm>
            <a:off x="8784431" y="2026890"/>
            <a:ext cx="73536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57" name="Google Shape;3657;p66"/>
          <p:cNvCxnSpPr/>
          <p:nvPr/>
        </p:nvCxnSpPr>
        <p:spPr>
          <a:xfrm>
            <a:off x="8789194" y="2022128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58" name="Google Shape;3658;p66"/>
          <p:cNvSpPr/>
          <p:nvPr/>
        </p:nvSpPr>
        <p:spPr>
          <a:xfrm>
            <a:off x="9519791" y="2022128"/>
            <a:ext cx="820787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59" name="Google Shape;3659;p66"/>
          <p:cNvCxnSpPr/>
          <p:nvPr/>
        </p:nvCxnSpPr>
        <p:spPr>
          <a:xfrm>
            <a:off x="9519791" y="2026890"/>
            <a:ext cx="82078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60" name="Google Shape;3660;p66"/>
          <p:cNvCxnSpPr/>
          <p:nvPr/>
        </p:nvCxnSpPr>
        <p:spPr>
          <a:xfrm>
            <a:off x="9524554" y="2022128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61" name="Google Shape;3661;p66"/>
          <p:cNvSpPr/>
          <p:nvPr/>
        </p:nvSpPr>
        <p:spPr>
          <a:xfrm>
            <a:off x="10340578" y="2022128"/>
            <a:ext cx="783431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62" name="Google Shape;3662;p66"/>
          <p:cNvCxnSpPr/>
          <p:nvPr/>
        </p:nvCxnSpPr>
        <p:spPr>
          <a:xfrm>
            <a:off x="10340578" y="2026890"/>
            <a:ext cx="78343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63" name="Google Shape;3663;p66"/>
          <p:cNvCxnSpPr/>
          <p:nvPr/>
        </p:nvCxnSpPr>
        <p:spPr>
          <a:xfrm>
            <a:off x="10345341" y="2022128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64" name="Google Shape;3664;p66"/>
          <p:cNvSpPr/>
          <p:nvPr/>
        </p:nvSpPr>
        <p:spPr>
          <a:xfrm>
            <a:off x="11124009" y="2022128"/>
            <a:ext cx="663178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65" name="Google Shape;3665;p66"/>
          <p:cNvCxnSpPr/>
          <p:nvPr/>
        </p:nvCxnSpPr>
        <p:spPr>
          <a:xfrm>
            <a:off x="11124009" y="2026890"/>
            <a:ext cx="66317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66" name="Google Shape;3666;p66"/>
          <p:cNvCxnSpPr/>
          <p:nvPr/>
        </p:nvCxnSpPr>
        <p:spPr>
          <a:xfrm>
            <a:off x="11128772" y="2022128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67" name="Google Shape;3667;p66"/>
          <p:cNvSpPr/>
          <p:nvPr/>
        </p:nvSpPr>
        <p:spPr>
          <a:xfrm>
            <a:off x="7709892" y="2209651"/>
            <a:ext cx="258366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68" name="Google Shape;3668;p66"/>
          <p:cNvCxnSpPr/>
          <p:nvPr/>
        </p:nvCxnSpPr>
        <p:spPr>
          <a:xfrm>
            <a:off x="7709892" y="2214414"/>
            <a:ext cx="25836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69" name="Google Shape;3669;p66"/>
          <p:cNvCxnSpPr/>
          <p:nvPr/>
        </p:nvCxnSpPr>
        <p:spPr>
          <a:xfrm>
            <a:off x="7714655" y="2209651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70" name="Google Shape;3670;p66"/>
          <p:cNvSpPr/>
          <p:nvPr/>
        </p:nvSpPr>
        <p:spPr>
          <a:xfrm>
            <a:off x="7968258" y="2209651"/>
            <a:ext cx="254794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71" name="Google Shape;3671;p66"/>
          <p:cNvCxnSpPr/>
          <p:nvPr/>
        </p:nvCxnSpPr>
        <p:spPr>
          <a:xfrm>
            <a:off x="7968258" y="2214414"/>
            <a:ext cx="25479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72" name="Google Shape;3672;p66"/>
          <p:cNvCxnSpPr/>
          <p:nvPr/>
        </p:nvCxnSpPr>
        <p:spPr>
          <a:xfrm>
            <a:off x="7973020" y="2209651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73" name="Google Shape;3673;p66"/>
          <p:cNvSpPr/>
          <p:nvPr/>
        </p:nvSpPr>
        <p:spPr>
          <a:xfrm>
            <a:off x="8223052" y="2209651"/>
            <a:ext cx="561380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74" name="Google Shape;3674;p66"/>
          <p:cNvCxnSpPr/>
          <p:nvPr/>
        </p:nvCxnSpPr>
        <p:spPr>
          <a:xfrm>
            <a:off x="8223052" y="2214414"/>
            <a:ext cx="56137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75" name="Google Shape;3675;p66"/>
          <p:cNvCxnSpPr/>
          <p:nvPr/>
        </p:nvCxnSpPr>
        <p:spPr>
          <a:xfrm>
            <a:off x="8227814" y="2209651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76" name="Google Shape;3676;p66"/>
          <p:cNvSpPr/>
          <p:nvPr/>
        </p:nvSpPr>
        <p:spPr>
          <a:xfrm>
            <a:off x="8784431" y="2209651"/>
            <a:ext cx="735360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77" name="Google Shape;3677;p66"/>
          <p:cNvCxnSpPr/>
          <p:nvPr/>
        </p:nvCxnSpPr>
        <p:spPr>
          <a:xfrm>
            <a:off x="8784431" y="2214414"/>
            <a:ext cx="73536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78" name="Google Shape;3678;p66"/>
          <p:cNvCxnSpPr/>
          <p:nvPr/>
        </p:nvCxnSpPr>
        <p:spPr>
          <a:xfrm>
            <a:off x="8789194" y="2209651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79" name="Google Shape;3679;p66"/>
          <p:cNvSpPr/>
          <p:nvPr/>
        </p:nvSpPr>
        <p:spPr>
          <a:xfrm>
            <a:off x="9519791" y="2209651"/>
            <a:ext cx="820787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80" name="Google Shape;3680;p66"/>
          <p:cNvCxnSpPr/>
          <p:nvPr/>
        </p:nvCxnSpPr>
        <p:spPr>
          <a:xfrm>
            <a:off x="9519791" y="2214414"/>
            <a:ext cx="82078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1" name="Google Shape;3681;p66"/>
          <p:cNvCxnSpPr/>
          <p:nvPr/>
        </p:nvCxnSpPr>
        <p:spPr>
          <a:xfrm>
            <a:off x="9524554" y="2209651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82" name="Google Shape;3682;p66"/>
          <p:cNvSpPr/>
          <p:nvPr/>
        </p:nvSpPr>
        <p:spPr>
          <a:xfrm>
            <a:off x="10340578" y="2209651"/>
            <a:ext cx="783431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83" name="Google Shape;3683;p66"/>
          <p:cNvCxnSpPr/>
          <p:nvPr/>
        </p:nvCxnSpPr>
        <p:spPr>
          <a:xfrm>
            <a:off x="10340578" y="2214414"/>
            <a:ext cx="78343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4" name="Google Shape;3684;p66"/>
          <p:cNvCxnSpPr/>
          <p:nvPr/>
        </p:nvCxnSpPr>
        <p:spPr>
          <a:xfrm>
            <a:off x="10345341" y="2209651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85" name="Google Shape;3685;p66"/>
          <p:cNvSpPr/>
          <p:nvPr/>
        </p:nvSpPr>
        <p:spPr>
          <a:xfrm>
            <a:off x="11124009" y="2209651"/>
            <a:ext cx="663178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86" name="Google Shape;3686;p66"/>
          <p:cNvCxnSpPr/>
          <p:nvPr/>
        </p:nvCxnSpPr>
        <p:spPr>
          <a:xfrm>
            <a:off x="11124009" y="2214414"/>
            <a:ext cx="66317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7" name="Google Shape;3687;p66"/>
          <p:cNvCxnSpPr/>
          <p:nvPr/>
        </p:nvCxnSpPr>
        <p:spPr>
          <a:xfrm>
            <a:off x="11128772" y="2209651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88" name="Google Shape;3688;p66"/>
          <p:cNvSpPr/>
          <p:nvPr/>
        </p:nvSpPr>
        <p:spPr>
          <a:xfrm>
            <a:off x="7709892" y="2397175"/>
            <a:ext cx="258366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89" name="Google Shape;3689;p66"/>
          <p:cNvCxnSpPr/>
          <p:nvPr/>
        </p:nvCxnSpPr>
        <p:spPr>
          <a:xfrm>
            <a:off x="7709892" y="2401937"/>
            <a:ext cx="25836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90" name="Google Shape;3690;p66"/>
          <p:cNvCxnSpPr/>
          <p:nvPr/>
        </p:nvCxnSpPr>
        <p:spPr>
          <a:xfrm>
            <a:off x="7714655" y="2397175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91" name="Google Shape;3691;p66"/>
          <p:cNvSpPr/>
          <p:nvPr/>
        </p:nvSpPr>
        <p:spPr>
          <a:xfrm>
            <a:off x="7968258" y="2397175"/>
            <a:ext cx="254794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92" name="Google Shape;3692;p66"/>
          <p:cNvCxnSpPr/>
          <p:nvPr/>
        </p:nvCxnSpPr>
        <p:spPr>
          <a:xfrm>
            <a:off x="7968258" y="2401937"/>
            <a:ext cx="25479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93" name="Google Shape;3693;p66"/>
          <p:cNvCxnSpPr/>
          <p:nvPr/>
        </p:nvCxnSpPr>
        <p:spPr>
          <a:xfrm>
            <a:off x="7973020" y="2397175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94" name="Google Shape;3694;p66"/>
          <p:cNvSpPr/>
          <p:nvPr/>
        </p:nvSpPr>
        <p:spPr>
          <a:xfrm>
            <a:off x="8223052" y="2397175"/>
            <a:ext cx="561380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95" name="Google Shape;3695;p66"/>
          <p:cNvCxnSpPr/>
          <p:nvPr/>
        </p:nvCxnSpPr>
        <p:spPr>
          <a:xfrm>
            <a:off x="8223052" y="2401937"/>
            <a:ext cx="56137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96" name="Google Shape;3696;p66"/>
          <p:cNvCxnSpPr/>
          <p:nvPr/>
        </p:nvCxnSpPr>
        <p:spPr>
          <a:xfrm>
            <a:off x="8227814" y="2397175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97" name="Google Shape;3697;p66"/>
          <p:cNvSpPr/>
          <p:nvPr/>
        </p:nvSpPr>
        <p:spPr>
          <a:xfrm>
            <a:off x="8784431" y="2397175"/>
            <a:ext cx="735360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98" name="Google Shape;3698;p66"/>
          <p:cNvCxnSpPr/>
          <p:nvPr/>
        </p:nvCxnSpPr>
        <p:spPr>
          <a:xfrm>
            <a:off x="8784431" y="2401937"/>
            <a:ext cx="73536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99" name="Google Shape;3699;p66"/>
          <p:cNvCxnSpPr/>
          <p:nvPr/>
        </p:nvCxnSpPr>
        <p:spPr>
          <a:xfrm>
            <a:off x="8789194" y="2397175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0" name="Google Shape;3700;p66"/>
          <p:cNvSpPr/>
          <p:nvPr/>
        </p:nvSpPr>
        <p:spPr>
          <a:xfrm>
            <a:off x="9519791" y="2397175"/>
            <a:ext cx="820787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01" name="Google Shape;3701;p66"/>
          <p:cNvCxnSpPr/>
          <p:nvPr/>
        </p:nvCxnSpPr>
        <p:spPr>
          <a:xfrm>
            <a:off x="9519791" y="2401937"/>
            <a:ext cx="82078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02" name="Google Shape;3702;p66"/>
          <p:cNvCxnSpPr/>
          <p:nvPr/>
        </p:nvCxnSpPr>
        <p:spPr>
          <a:xfrm>
            <a:off x="9524554" y="2397175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3" name="Google Shape;3703;p66"/>
          <p:cNvSpPr/>
          <p:nvPr/>
        </p:nvSpPr>
        <p:spPr>
          <a:xfrm>
            <a:off x="10340578" y="2397175"/>
            <a:ext cx="783431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04" name="Google Shape;3704;p66"/>
          <p:cNvCxnSpPr/>
          <p:nvPr/>
        </p:nvCxnSpPr>
        <p:spPr>
          <a:xfrm>
            <a:off x="10340578" y="2401937"/>
            <a:ext cx="78343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05" name="Google Shape;3705;p66"/>
          <p:cNvCxnSpPr/>
          <p:nvPr/>
        </p:nvCxnSpPr>
        <p:spPr>
          <a:xfrm>
            <a:off x="10345341" y="2397175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6" name="Google Shape;3706;p66"/>
          <p:cNvSpPr/>
          <p:nvPr/>
        </p:nvSpPr>
        <p:spPr>
          <a:xfrm>
            <a:off x="11124009" y="2397175"/>
            <a:ext cx="663178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07" name="Google Shape;3707;p66"/>
          <p:cNvCxnSpPr/>
          <p:nvPr/>
        </p:nvCxnSpPr>
        <p:spPr>
          <a:xfrm>
            <a:off x="11124009" y="2401937"/>
            <a:ext cx="66317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08" name="Google Shape;3708;p66"/>
          <p:cNvCxnSpPr/>
          <p:nvPr/>
        </p:nvCxnSpPr>
        <p:spPr>
          <a:xfrm>
            <a:off x="11128772" y="2397175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9" name="Google Shape;3709;p66"/>
          <p:cNvSpPr/>
          <p:nvPr/>
        </p:nvSpPr>
        <p:spPr>
          <a:xfrm>
            <a:off x="7705130" y="2728764"/>
            <a:ext cx="4086820" cy="1774627"/>
          </a:xfrm>
          <a:prstGeom prst="roundRect">
            <a:avLst>
              <a:gd fmla="val 2683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10" name="Google Shape;3710;p66"/>
          <p:cNvCxnSpPr/>
          <p:nvPr/>
        </p:nvCxnSpPr>
        <p:spPr>
          <a:xfrm>
            <a:off x="7728942" y="2728764"/>
            <a:ext cx="0" cy="1774626"/>
          </a:xfrm>
          <a:prstGeom prst="straightConnector1">
            <a:avLst/>
          </a:prstGeom>
          <a:noFill/>
          <a:ln cap="flat" cmpd="sng" w="47625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11" name="Google Shape;3711;p66"/>
          <p:cNvSpPr/>
          <p:nvPr/>
        </p:nvSpPr>
        <p:spPr>
          <a:xfrm>
            <a:off x="7705130" y="4589115"/>
            <a:ext cx="4086820" cy="1692027"/>
          </a:xfrm>
          <a:prstGeom prst="roundRect">
            <a:avLst>
              <a:gd fmla="val 2814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625ac9639ef6799ba606de6f6d7c5c09.png" id="3712" name="Google Shape;3712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50" y="1492895"/>
            <a:ext cx="6971556" cy="3873103"/>
          </a:xfrm>
          <a:prstGeom prst="rect">
            <a:avLst/>
          </a:prstGeom>
          <a:noFill/>
          <a:ln>
            <a:noFill/>
          </a:ln>
        </p:spPr>
      </p:pic>
      <p:sp>
        <p:nvSpPr>
          <p:cNvPr id="3713" name="Google Shape;3713;p66"/>
          <p:cNvSpPr txBox="1"/>
          <p:nvPr/>
        </p:nvSpPr>
        <p:spPr>
          <a:xfrm>
            <a:off x="400050" y="161925"/>
            <a:ext cx="4831110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Centros TCGA (TSS): distribuição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4" name="Google Shape;3714;p66"/>
          <p:cNvSpPr txBox="1"/>
          <p:nvPr/>
        </p:nvSpPr>
        <p:spPr>
          <a:xfrm>
            <a:off x="1916162" y="5401419"/>
            <a:ext cx="397743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33. Número de tumores por TSS (top 14 + agregado “Outros”).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5" name="Google Shape;3715;p66"/>
          <p:cNvSpPr txBox="1"/>
          <p:nvPr/>
        </p:nvSpPr>
        <p:spPr>
          <a:xfrm>
            <a:off x="7758559" y="967680"/>
            <a:ext cx="952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6" name="Google Shape;3716;p66"/>
          <p:cNvSpPr txBox="1"/>
          <p:nvPr/>
        </p:nvSpPr>
        <p:spPr>
          <a:xfrm>
            <a:off x="8006715" y="844153"/>
            <a:ext cx="1781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7" name="Google Shape;3717;p66"/>
          <p:cNvSpPr txBox="1"/>
          <p:nvPr/>
        </p:nvSpPr>
        <p:spPr>
          <a:xfrm>
            <a:off x="8271718" y="844153"/>
            <a:ext cx="126206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8" name="Google Shape;3718;p66"/>
          <p:cNvSpPr txBox="1"/>
          <p:nvPr/>
        </p:nvSpPr>
        <p:spPr>
          <a:xfrm>
            <a:off x="8271718" y="967680"/>
            <a:ext cx="43130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tumores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9" name="Google Shape;3719;p66"/>
          <p:cNvSpPr txBox="1"/>
          <p:nvPr/>
        </p:nvSpPr>
        <p:spPr>
          <a:xfrm>
            <a:off x="8833098" y="844153"/>
            <a:ext cx="30539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0" name="Google Shape;3720;p66"/>
          <p:cNvSpPr txBox="1"/>
          <p:nvPr/>
        </p:nvSpPr>
        <p:spPr>
          <a:xfrm>
            <a:off x="8833098" y="967680"/>
            <a:ext cx="4476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1" name="Google Shape;3721;p66"/>
          <p:cNvSpPr txBox="1"/>
          <p:nvPr/>
        </p:nvSpPr>
        <p:spPr>
          <a:xfrm>
            <a:off x="9568458" y="844153"/>
            <a:ext cx="65380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 III–IV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2" name="Google Shape;3722;p66"/>
          <p:cNvSpPr txBox="1"/>
          <p:nvPr/>
        </p:nvSpPr>
        <p:spPr>
          <a:xfrm>
            <a:off x="9568458" y="967680"/>
            <a:ext cx="195858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3" name="Google Shape;3723;p66"/>
          <p:cNvSpPr txBox="1"/>
          <p:nvPr/>
        </p:nvSpPr>
        <p:spPr>
          <a:xfrm>
            <a:off x="10389245" y="844153"/>
            <a:ext cx="61168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Grau G3–G4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4" name="Google Shape;3724;p66"/>
          <p:cNvSpPr txBox="1"/>
          <p:nvPr/>
        </p:nvSpPr>
        <p:spPr>
          <a:xfrm>
            <a:off x="10389245" y="967680"/>
            <a:ext cx="195858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5" name="Google Shape;3725;p66"/>
          <p:cNvSpPr txBox="1"/>
          <p:nvPr/>
        </p:nvSpPr>
        <p:spPr>
          <a:xfrm>
            <a:off x="11172676" y="844153"/>
            <a:ext cx="22234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6" name="Google Shape;3726;p66"/>
          <p:cNvSpPr txBox="1"/>
          <p:nvPr/>
        </p:nvSpPr>
        <p:spPr>
          <a:xfrm>
            <a:off x="11172676" y="967680"/>
            <a:ext cx="4476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7" name="Google Shape;3727;p66"/>
          <p:cNvSpPr txBox="1"/>
          <p:nvPr/>
        </p:nvSpPr>
        <p:spPr>
          <a:xfrm>
            <a:off x="7747635" y="1223218"/>
            <a:ext cx="1828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8" name="Google Shape;3728;p66"/>
          <p:cNvSpPr txBox="1"/>
          <p:nvPr/>
        </p:nvSpPr>
        <p:spPr>
          <a:xfrm>
            <a:off x="8117830" y="1284982"/>
            <a:ext cx="9465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9" name="Google Shape;3729;p66"/>
          <p:cNvSpPr txBox="1"/>
          <p:nvPr/>
        </p:nvSpPr>
        <p:spPr>
          <a:xfrm>
            <a:off x="8261032" y="1223218"/>
            <a:ext cx="48482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39.0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0" name="Google Shape;3730;p66"/>
          <p:cNvSpPr txBox="1"/>
          <p:nvPr/>
        </p:nvSpPr>
        <p:spPr>
          <a:xfrm>
            <a:off x="8822055" y="1223218"/>
            <a:ext cx="66008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1" name="Google Shape;3731;p66"/>
          <p:cNvSpPr txBox="1"/>
          <p:nvPr/>
        </p:nvSpPr>
        <p:spPr>
          <a:xfrm>
            <a:off x="9558337" y="1223218"/>
            <a:ext cx="74390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17.4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2" name="Google Shape;3732;p66"/>
          <p:cNvSpPr txBox="1"/>
          <p:nvPr/>
        </p:nvSpPr>
        <p:spPr>
          <a:xfrm>
            <a:off x="10378440" y="1223218"/>
            <a:ext cx="70770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53.5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3" name="Google Shape;3733;p66"/>
          <p:cNvSpPr txBox="1"/>
          <p:nvPr/>
        </p:nvSpPr>
        <p:spPr>
          <a:xfrm>
            <a:off x="11162347" y="1223218"/>
            <a:ext cx="58673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4" name="Google Shape;3734;p66"/>
          <p:cNvSpPr txBox="1"/>
          <p:nvPr/>
        </p:nvSpPr>
        <p:spPr>
          <a:xfrm>
            <a:off x="7747635" y="1472505"/>
            <a:ext cx="1828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5" name="Google Shape;3735;p66"/>
          <p:cNvSpPr txBox="1"/>
          <p:nvPr/>
        </p:nvSpPr>
        <p:spPr>
          <a:xfrm>
            <a:off x="8006715" y="1472505"/>
            <a:ext cx="1781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6" name="Google Shape;3736;p66"/>
          <p:cNvSpPr txBox="1"/>
          <p:nvPr/>
        </p:nvSpPr>
        <p:spPr>
          <a:xfrm>
            <a:off x="8261032" y="1472505"/>
            <a:ext cx="48482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7" name="Google Shape;3737;p66"/>
          <p:cNvSpPr txBox="1"/>
          <p:nvPr/>
        </p:nvSpPr>
        <p:spPr>
          <a:xfrm>
            <a:off x="8822055" y="1472505"/>
            <a:ext cx="66008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8" name="Google Shape;3738;p66"/>
          <p:cNvSpPr txBox="1"/>
          <p:nvPr/>
        </p:nvSpPr>
        <p:spPr>
          <a:xfrm>
            <a:off x="9558337" y="1472505"/>
            <a:ext cx="74390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81.2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9" name="Google Shape;3739;p66"/>
          <p:cNvSpPr txBox="1"/>
          <p:nvPr/>
        </p:nvSpPr>
        <p:spPr>
          <a:xfrm>
            <a:off x="10378440" y="1472505"/>
            <a:ext cx="70770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21.9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0" name="Google Shape;3740;p66"/>
          <p:cNvSpPr txBox="1"/>
          <p:nvPr/>
        </p:nvSpPr>
        <p:spPr>
          <a:xfrm>
            <a:off x="11162347" y="1472505"/>
            <a:ext cx="58673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1" name="Google Shape;3741;p66"/>
          <p:cNvSpPr txBox="1"/>
          <p:nvPr/>
        </p:nvSpPr>
        <p:spPr>
          <a:xfrm>
            <a:off x="7747635" y="1660029"/>
            <a:ext cx="1828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2" name="Google Shape;3742;p66"/>
          <p:cNvSpPr txBox="1"/>
          <p:nvPr/>
        </p:nvSpPr>
        <p:spPr>
          <a:xfrm>
            <a:off x="8006715" y="1660029"/>
            <a:ext cx="1781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3" name="Google Shape;3743;p66"/>
          <p:cNvSpPr txBox="1"/>
          <p:nvPr/>
        </p:nvSpPr>
        <p:spPr>
          <a:xfrm>
            <a:off x="8261032" y="1660029"/>
            <a:ext cx="48482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4" name="Google Shape;3744;p66"/>
          <p:cNvSpPr txBox="1"/>
          <p:nvPr/>
        </p:nvSpPr>
        <p:spPr>
          <a:xfrm>
            <a:off x="8822055" y="1660029"/>
            <a:ext cx="66008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5" name="Google Shape;3745;p66"/>
          <p:cNvSpPr txBox="1"/>
          <p:nvPr/>
        </p:nvSpPr>
        <p:spPr>
          <a:xfrm>
            <a:off x="9558337" y="1660029"/>
            <a:ext cx="74390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18.8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6" name="Google Shape;3746;p66"/>
          <p:cNvSpPr txBox="1"/>
          <p:nvPr/>
        </p:nvSpPr>
        <p:spPr>
          <a:xfrm>
            <a:off x="10378440" y="1660029"/>
            <a:ext cx="70770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21.9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7" name="Google Shape;3747;p66"/>
          <p:cNvSpPr txBox="1"/>
          <p:nvPr/>
        </p:nvSpPr>
        <p:spPr>
          <a:xfrm>
            <a:off x="11162347" y="1660029"/>
            <a:ext cx="58673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8" name="Google Shape;3748;p66"/>
          <p:cNvSpPr txBox="1"/>
          <p:nvPr/>
        </p:nvSpPr>
        <p:spPr>
          <a:xfrm>
            <a:off x="7747635" y="1847552"/>
            <a:ext cx="1828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9" name="Google Shape;3749;p66"/>
          <p:cNvSpPr txBox="1"/>
          <p:nvPr/>
        </p:nvSpPr>
        <p:spPr>
          <a:xfrm>
            <a:off x="8006715" y="1847552"/>
            <a:ext cx="1781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0" name="Google Shape;3750;p66"/>
          <p:cNvSpPr txBox="1"/>
          <p:nvPr/>
        </p:nvSpPr>
        <p:spPr>
          <a:xfrm>
            <a:off x="8261032" y="1847552"/>
            <a:ext cx="48482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1" name="Google Shape;3751;p66"/>
          <p:cNvSpPr txBox="1"/>
          <p:nvPr/>
        </p:nvSpPr>
        <p:spPr>
          <a:xfrm>
            <a:off x="8822055" y="1847552"/>
            <a:ext cx="66008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2" name="Google Shape;3752;p66"/>
          <p:cNvSpPr txBox="1"/>
          <p:nvPr/>
        </p:nvSpPr>
        <p:spPr>
          <a:xfrm>
            <a:off x="9558337" y="1847552"/>
            <a:ext cx="74390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3" name="Google Shape;3753;p66"/>
          <p:cNvSpPr txBox="1"/>
          <p:nvPr/>
        </p:nvSpPr>
        <p:spPr>
          <a:xfrm>
            <a:off x="10378440" y="1847552"/>
            <a:ext cx="70770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45.0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4" name="Google Shape;3754;p66"/>
          <p:cNvSpPr txBox="1"/>
          <p:nvPr/>
        </p:nvSpPr>
        <p:spPr>
          <a:xfrm>
            <a:off x="11162347" y="1847552"/>
            <a:ext cx="58673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248.5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5" name="Google Shape;3755;p66"/>
          <p:cNvSpPr txBox="1"/>
          <p:nvPr/>
        </p:nvSpPr>
        <p:spPr>
          <a:xfrm>
            <a:off x="7747635" y="2035076"/>
            <a:ext cx="1828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6" name="Google Shape;3756;p66"/>
          <p:cNvSpPr txBox="1"/>
          <p:nvPr/>
        </p:nvSpPr>
        <p:spPr>
          <a:xfrm>
            <a:off x="8006715" y="2035076"/>
            <a:ext cx="1781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7" name="Google Shape;3757;p66"/>
          <p:cNvSpPr txBox="1"/>
          <p:nvPr/>
        </p:nvSpPr>
        <p:spPr>
          <a:xfrm>
            <a:off x="8261032" y="2035076"/>
            <a:ext cx="48482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8" name="Google Shape;3758;p66"/>
          <p:cNvSpPr txBox="1"/>
          <p:nvPr/>
        </p:nvSpPr>
        <p:spPr>
          <a:xfrm>
            <a:off x="8822055" y="2035076"/>
            <a:ext cx="66008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9" name="Google Shape;3759;p66"/>
          <p:cNvSpPr txBox="1"/>
          <p:nvPr/>
        </p:nvSpPr>
        <p:spPr>
          <a:xfrm>
            <a:off x="9558337" y="2035076"/>
            <a:ext cx="74390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0" name="Google Shape;3760;p66"/>
          <p:cNvSpPr txBox="1"/>
          <p:nvPr/>
        </p:nvSpPr>
        <p:spPr>
          <a:xfrm>
            <a:off x="10378440" y="2035076"/>
            <a:ext cx="70770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1" name="Google Shape;3761;p66"/>
          <p:cNvSpPr txBox="1"/>
          <p:nvPr/>
        </p:nvSpPr>
        <p:spPr>
          <a:xfrm>
            <a:off x="11162347" y="2035076"/>
            <a:ext cx="58673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2" name="Google Shape;3762;p66"/>
          <p:cNvSpPr txBox="1"/>
          <p:nvPr/>
        </p:nvSpPr>
        <p:spPr>
          <a:xfrm>
            <a:off x="7747635" y="2222599"/>
            <a:ext cx="1828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3" name="Google Shape;3763;p66"/>
          <p:cNvSpPr txBox="1"/>
          <p:nvPr/>
        </p:nvSpPr>
        <p:spPr>
          <a:xfrm>
            <a:off x="8006715" y="2222599"/>
            <a:ext cx="1781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4" name="Google Shape;3764;p66"/>
          <p:cNvSpPr txBox="1"/>
          <p:nvPr/>
        </p:nvSpPr>
        <p:spPr>
          <a:xfrm>
            <a:off x="8261032" y="2222599"/>
            <a:ext cx="48482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5" name="Google Shape;3765;p66"/>
          <p:cNvSpPr txBox="1"/>
          <p:nvPr/>
        </p:nvSpPr>
        <p:spPr>
          <a:xfrm>
            <a:off x="8822055" y="2222599"/>
            <a:ext cx="66008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6" name="Google Shape;3766;p66"/>
          <p:cNvSpPr txBox="1"/>
          <p:nvPr/>
        </p:nvSpPr>
        <p:spPr>
          <a:xfrm>
            <a:off x="9558337" y="2222599"/>
            <a:ext cx="74390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46.7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7" name="Google Shape;3767;p66"/>
          <p:cNvSpPr txBox="1"/>
          <p:nvPr/>
        </p:nvSpPr>
        <p:spPr>
          <a:xfrm>
            <a:off x="10378440" y="2222599"/>
            <a:ext cx="70770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53.3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8" name="Google Shape;3768;p66"/>
          <p:cNvSpPr txBox="1"/>
          <p:nvPr/>
        </p:nvSpPr>
        <p:spPr>
          <a:xfrm>
            <a:off x="11162347" y="2222599"/>
            <a:ext cx="58673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145.5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9" name="Google Shape;3769;p66"/>
          <p:cNvSpPr txBox="1"/>
          <p:nvPr/>
        </p:nvSpPr>
        <p:spPr>
          <a:xfrm>
            <a:off x="7747635" y="2410123"/>
            <a:ext cx="1828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0" name="Google Shape;3770;p66"/>
          <p:cNvSpPr txBox="1"/>
          <p:nvPr/>
        </p:nvSpPr>
        <p:spPr>
          <a:xfrm>
            <a:off x="8006715" y="2410123"/>
            <a:ext cx="1781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1" name="Google Shape;3771;p66"/>
          <p:cNvSpPr txBox="1"/>
          <p:nvPr/>
        </p:nvSpPr>
        <p:spPr>
          <a:xfrm>
            <a:off x="8261032" y="2410123"/>
            <a:ext cx="48482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2" name="Google Shape;3772;p66"/>
          <p:cNvSpPr txBox="1"/>
          <p:nvPr/>
        </p:nvSpPr>
        <p:spPr>
          <a:xfrm>
            <a:off x="8822055" y="2410123"/>
            <a:ext cx="66008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3" name="Google Shape;3773;p66"/>
          <p:cNvSpPr txBox="1"/>
          <p:nvPr/>
        </p:nvSpPr>
        <p:spPr>
          <a:xfrm>
            <a:off x="9558337" y="2410123"/>
            <a:ext cx="74390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4" name="Google Shape;3774;p66"/>
          <p:cNvSpPr txBox="1"/>
          <p:nvPr/>
        </p:nvSpPr>
        <p:spPr>
          <a:xfrm>
            <a:off x="10378440" y="2410123"/>
            <a:ext cx="70770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5" name="Google Shape;3775;p66"/>
          <p:cNvSpPr txBox="1"/>
          <p:nvPr/>
        </p:nvSpPr>
        <p:spPr>
          <a:xfrm>
            <a:off x="11162347" y="2410123"/>
            <a:ext cx="58673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67.0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6" name="Google Shape;3776;p66"/>
          <p:cNvSpPr txBox="1"/>
          <p:nvPr/>
        </p:nvSpPr>
        <p:spPr>
          <a:xfrm>
            <a:off x="7924205" y="3037136"/>
            <a:ext cx="267250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Distribuição muito desigual: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7" name="Google Shape;3777;p66"/>
          <p:cNvSpPr txBox="1"/>
          <p:nvPr/>
        </p:nvSpPr>
        <p:spPr>
          <a:xfrm>
            <a:off x="10617250" y="3065711"/>
            <a:ext cx="28932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DD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8" name="Google Shape;3778;p66"/>
          <p:cNvSpPr txBox="1"/>
          <p:nvPr/>
        </p:nvSpPr>
        <p:spPr>
          <a:xfrm>
            <a:off x="10927110" y="3037136"/>
            <a:ext cx="18484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9" name="Google Shape;3779;p66"/>
          <p:cNvSpPr txBox="1"/>
          <p:nvPr/>
        </p:nvSpPr>
        <p:spPr>
          <a:xfrm>
            <a:off x="7924205" y="3333750"/>
            <a:ext cx="335503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39,0% dos tumores; muitos centros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0" name="Google Shape;3780;p66"/>
          <p:cNvSpPr txBox="1"/>
          <p:nvPr/>
        </p:nvSpPr>
        <p:spPr>
          <a:xfrm>
            <a:off x="7924205" y="3620839"/>
            <a:ext cx="360327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têm n = 1–3. Sete centros com n ≥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1" name="Google Shape;3781;p66"/>
          <p:cNvSpPr txBox="1"/>
          <p:nvPr/>
        </p:nvSpPr>
        <p:spPr>
          <a:xfrm>
            <a:off x="7924205" y="3907929"/>
            <a:ext cx="194875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entraram nos testes.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2" name="Google Shape;3782;p66"/>
          <p:cNvSpPr txBox="1"/>
          <p:nvPr/>
        </p:nvSpPr>
        <p:spPr>
          <a:xfrm>
            <a:off x="7825978" y="4861024"/>
            <a:ext cx="33084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3" name="Google Shape;3783;p66"/>
          <p:cNvSpPr txBox="1"/>
          <p:nvPr/>
        </p:nvSpPr>
        <p:spPr>
          <a:xfrm>
            <a:off x="8165604" y="4861024"/>
            <a:ext cx="1555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4" name="Google Shape;3784;p66"/>
          <p:cNvSpPr txBox="1"/>
          <p:nvPr/>
        </p:nvSpPr>
        <p:spPr>
          <a:xfrm>
            <a:off x="8330059" y="4861024"/>
            <a:ext cx="133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Tissue Source Site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5" name="Google Shape;3785;p66"/>
          <p:cNvSpPr txBox="1"/>
          <p:nvPr/>
        </p:nvSpPr>
        <p:spPr>
          <a:xfrm>
            <a:off x="9631859" y="4861024"/>
            <a:ext cx="188386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código do centro TCGA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6" name="Google Shape;3786;p66"/>
          <p:cNvSpPr txBox="1"/>
          <p:nvPr/>
        </p:nvSpPr>
        <p:spPr>
          <a:xfrm>
            <a:off x="7825978" y="5090666"/>
            <a:ext cx="33647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 coletou a amostra. Diferenças entre TSS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7" name="Google Shape;3787;p66"/>
          <p:cNvSpPr txBox="1"/>
          <p:nvPr/>
        </p:nvSpPr>
        <p:spPr>
          <a:xfrm>
            <a:off x="7825978" y="5320308"/>
            <a:ext cx="359524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podem ser biológicas (população, etiologia) 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8" name="Google Shape;3788;p66"/>
          <p:cNvSpPr txBox="1"/>
          <p:nvPr/>
        </p:nvSpPr>
        <p:spPr>
          <a:xfrm>
            <a:off x="7825978" y="5549950"/>
            <a:ext cx="374302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técnicas (lote, processamento); este desenho não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9" name="Google Shape;3789;p66"/>
          <p:cNvSpPr txBox="1"/>
          <p:nvPr/>
        </p:nvSpPr>
        <p:spPr>
          <a:xfrm>
            <a:off x="7825978" y="5779591"/>
            <a:ext cx="118452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separa as duas.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0" name="Google Shape;3790;p66"/>
          <p:cNvSpPr/>
          <p:nvPr/>
        </p:nvSpPr>
        <p:spPr>
          <a:xfrm>
            <a:off x="400050" y="714375"/>
            <a:ext cx="7048500" cy="609600"/>
          </a:xfrm>
          <a:prstGeom prst="roundRect">
            <a:avLst>
              <a:gd fmla="val 10000" name="adj"/>
            </a:avLst>
          </a:prstGeom>
          <a:solidFill>
            <a:srgbClr val="ECFDF5"/>
          </a:solidFill>
          <a:ln cap="flat" cmpd="sng" w="1905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85725" spcFirstLastPara="1" rIns="85725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TSS = Tissue Source Site:</a:t>
            </a:r>
            <a:r>
              <a:rPr b="0" i="0" lang="en-US" sz="12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centro/instituição do TCGA que coletou a amostra (ex.: DD). Não é tipo de tecido nem gene.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4" name="Shape 3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5" name="Google Shape;3795;p75"/>
          <p:cNvSpPr/>
          <p:nvPr/>
        </p:nvSpPr>
        <p:spPr>
          <a:xfrm>
            <a:off x="400050" y="190500"/>
            <a:ext cx="11391900" cy="42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96" name="Google Shape;3796;p75"/>
          <p:cNvCxnSpPr/>
          <p:nvPr/>
        </p:nvCxnSpPr>
        <p:spPr>
          <a:xfrm>
            <a:off x="400050" y="597247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97" name="Google Shape;3797;p75"/>
          <p:cNvSpPr txBox="1"/>
          <p:nvPr/>
        </p:nvSpPr>
        <p:spPr>
          <a:xfrm>
            <a:off x="400050" y="161925"/>
            <a:ext cx="2284214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3"/>
              <a:buFont typeface="Arial"/>
              <a:buNone/>
            </a:pPr>
            <a:r>
              <a:rPr b="0" i="0" lang="en-US" sz="2343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Limitações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8" name="Google Shape;3798;p75"/>
          <p:cNvSpPr txBox="1"/>
          <p:nvPr/>
        </p:nvSpPr>
        <p:spPr>
          <a:xfrm>
            <a:off x="400050" y="2152948"/>
            <a:ext cx="89267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Desenho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9" name="Google Shape;3799;p75"/>
          <p:cNvSpPr txBox="1"/>
          <p:nvPr/>
        </p:nvSpPr>
        <p:spPr>
          <a:xfrm>
            <a:off x="630436" y="2605385"/>
            <a:ext cx="299739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Confundimento TCGA × GTEx: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0" name="Google Shape;3800;p75"/>
          <p:cNvSpPr txBox="1"/>
          <p:nvPr/>
        </p:nvSpPr>
        <p:spPr>
          <a:xfrm>
            <a:off x="3647033" y="2605385"/>
            <a:ext cx="211112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estudo e condição são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1" name="Google Shape;3801;p75"/>
          <p:cNvSpPr txBox="1"/>
          <p:nvPr/>
        </p:nvSpPr>
        <p:spPr>
          <a:xfrm>
            <a:off x="630436" y="2867323"/>
            <a:ext cx="518814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perfeitamente confundidos; o logFC combina biologia 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2" name="Google Shape;3802;p75"/>
          <p:cNvSpPr txBox="1"/>
          <p:nvPr/>
        </p:nvSpPr>
        <p:spPr>
          <a:xfrm>
            <a:off x="630436" y="3129260"/>
            <a:ext cx="43770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3" name="Google Shape;3803;p75"/>
          <p:cNvSpPr txBox="1"/>
          <p:nvPr/>
        </p:nvSpPr>
        <p:spPr>
          <a:xfrm>
            <a:off x="630436" y="3437186"/>
            <a:ext cx="201915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Composição celular: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4" name="Google Shape;3804;p75"/>
          <p:cNvSpPr txBox="1"/>
          <p:nvPr/>
        </p:nvSpPr>
        <p:spPr>
          <a:xfrm>
            <a:off x="2668786" y="3437186"/>
            <a:ext cx="261208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bulk mede a média de tipos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5" name="Google Shape;3805;p75"/>
          <p:cNvSpPr txBox="1"/>
          <p:nvPr/>
        </p:nvSpPr>
        <p:spPr>
          <a:xfrm>
            <a:off x="630436" y="3699123"/>
            <a:ext cx="344358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celulares; não foi feita deconvolução.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6" name="Google Shape;3806;p75"/>
          <p:cNvSpPr txBox="1"/>
          <p:nvPr/>
        </p:nvSpPr>
        <p:spPr>
          <a:xfrm>
            <a:off x="630436" y="4007048"/>
            <a:ext cx="54694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TPM: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7" name="Google Shape;3807;p75"/>
          <p:cNvSpPr txBox="1"/>
          <p:nvPr/>
        </p:nvSpPr>
        <p:spPr>
          <a:xfrm>
            <a:off x="1196578" y="4007048"/>
            <a:ext cx="289470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escala relativa; para contagens,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8" name="Google Shape;3808;p75"/>
          <p:cNvSpPr txBox="1"/>
          <p:nvPr/>
        </p:nvSpPr>
        <p:spPr>
          <a:xfrm>
            <a:off x="4110633" y="4045148"/>
            <a:ext cx="529233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voom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9" name="Google Shape;3809;p75"/>
          <p:cNvSpPr txBox="1"/>
          <p:nvPr/>
        </p:nvSpPr>
        <p:spPr>
          <a:xfrm>
            <a:off x="4601766" y="4007048"/>
            <a:ext cx="92377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/binomial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0" name="Google Shape;3810;p75"/>
          <p:cNvSpPr txBox="1"/>
          <p:nvPr/>
        </p:nvSpPr>
        <p:spPr>
          <a:xfrm>
            <a:off x="630436" y="4278511"/>
            <a:ext cx="311824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negativo seriam mais adequados.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1" name="Google Shape;3811;p75"/>
          <p:cNvSpPr txBox="1"/>
          <p:nvPr/>
        </p:nvSpPr>
        <p:spPr>
          <a:xfrm>
            <a:off x="630436" y="4586436"/>
            <a:ext cx="217795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Subgrupos pequenos: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2" name="Google Shape;3812;p75"/>
          <p:cNvSpPr txBox="1"/>
          <p:nvPr/>
        </p:nvSpPr>
        <p:spPr>
          <a:xfrm>
            <a:off x="2827586" y="4586436"/>
            <a:ext cx="302820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 IV (n = 5) e grau G4 (n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3" name="Google Shape;3813;p75"/>
          <p:cNvSpPr txBox="1"/>
          <p:nvPr/>
        </p:nvSpPr>
        <p:spPr>
          <a:xfrm>
            <a:off x="630436" y="4848374"/>
            <a:ext cx="221441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11) têm poder limitado.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4" name="Google Shape;3814;p75"/>
          <p:cNvSpPr txBox="1"/>
          <p:nvPr/>
        </p:nvSpPr>
        <p:spPr>
          <a:xfrm>
            <a:off x="6242596" y="887016"/>
            <a:ext cx="186005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Dados e inferência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5" name="Google Shape;3815;p75"/>
          <p:cNvSpPr txBox="1"/>
          <p:nvPr/>
        </p:nvSpPr>
        <p:spPr>
          <a:xfrm>
            <a:off x="6472982" y="1339453"/>
            <a:ext cx="151224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Idade no GTEx: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6" name="Google Shape;3816;p75"/>
          <p:cNvSpPr txBox="1"/>
          <p:nvPr/>
        </p:nvSpPr>
        <p:spPr>
          <a:xfrm>
            <a:off x="8004423" y="1339453"/>
            <a:ext cx="344656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faixa convertida para o ponto médio.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7" name="Google Shape;3817;p75"/>
          <p:cNvSpPr txBox="1"/>
          <p:nvPr/>
        </p:nvSpPr>
        <p:spPr>
          <a:xfrm>
            <a:off x="6472982" y="1647379"/>
            <a:ext cx="286166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Sem validação experimental: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8" name="Google Shape;3818;p75"/>
          <p:cNvSpPr txBox="1"/>
          <p:nvPr/>
        </p:nvSpPr>
        <p:spPr>
          <a:xfrm>
            <a:off x="9353848" y="1647379"/>
            <a:ext cx="230266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houve qPCR, IHC 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9" name="Google Shape;3819;p75"/>
          <p:cNvSpPr txBox="1"/>
          <p:nvPr/>
        </p:nvSpPr>
        <p:spPr>
          <a:xfrm>
            <a:off x="6472982" y="1909316"/>
            <a:ext cx="202272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coorte independente.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0" name="Google Shape;3820;p75"/>
          <p:cNvSpPr txBox="1"/>
          <p:nvPr/>
        </p:nvSpPr>
        <p:spPr>
          <a:xfrm>
            <a:off x="6472982" y="2217241"/>
            <a:ext cx="363572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ComBat não resolve confundimento: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1" name="Google Shape;3821;p75"/>
          <p:cNvSpPr txBox="1"/>
          <p:nvPr/>
        </p:nvSpPr>
        <p:spPr>
          <a:xfrm>
            <a:off x="10127903" y="2217241"/>
            <a:ext cx="152266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demonstração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2" name="Google Shape;3822;p75"/>
          <p:cNvSpPr txBox="1"/>
          <p:nvPr/>
        </p:nvSpPr>
        <p:spPr>
          <a:xfrm>
            <a:off x="6472982" y="2479179"/>
            <a:ext cx="210204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mostra sobrecorreção.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3" name="Google Shape;3823;p75"/>
          <p:cNvSpPr txBox="1"/>
          <p:nvPr/>
        </p:nvSpPr>
        <p:spPr>
          <a:xfrm>
            <a:off x="6472982" y="2787104"/>
            <a:ext cx="19725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1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Missingness </a:t>
            </a: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clínico: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4" name="Google Shape;3824;p75"/>
          <p:cNvSpPr txBox="1"/>
          <p:nvPr/>
        </p:nvSpPr>
        <p:spPr>
          <a:xfrm>
            <a:off x="8464748" y="2787104"/>
            <a:ext cx="323597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invasão vascular (70,7%), sorologia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5" name="Google Shape;3825;p75"/>
          <p:cNvSpPr txBox="1"/>
          <p:nvPr/>
        </p:nvSpPr>
        <p:spPr>
          <a:xfrm>
            <a:off x="6472982" y="3049042"/>
            <a:ext cx="509200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viral (55,8%), fibrose (43,1%), Child-Pugh (35,8%) e AFP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6" name="Google Shape;3826;p75"/>
          <p:cNvSpPr txBox="1"/>
          <p:nvPr/>
        </p:nvSpPr>
        <p:spPr>
          <a:xfrm>
            <a:off x="6472982" y="3310979"/>
            <a:ext cx="76587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(25,2%).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7" name="Google Shape;3827;p75"/>
          <p:cNvSpPr txBox="1"/>
          <p:nvPr/>
        </p:nvSpPr>
        <p:spPr>
          <a:xfrm>
            <a:off x="6472982" y="3618905"/>
            <a:ext cx="222810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Dados observacionais: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8" name="Google Shape;3828;p75"/>
          <p:cNvSpPr txBox="1"/>
          <p:nvPr/>
        </p:nvSpPr>
        <p:spPr>
          <a:xfrm>
            <a:off x="8720286" y="3618905"/>
            <a:ext cx="242039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associações não implicam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9" name="Google Shape;3829;p75"/>
          <p:cNvSpPr txBox="1"/>
          <p:nvPr/>
        </p:nvSpPr>
        <p:spPr>
          <a:xfrm>
            <a:off x="6472982" y="3880842"/>
            <a:ext cx="116562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causalidade.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0" name="Google Shape;3830;p75"/>
          <p:cNvSpPr txBox="1"/>
          <p:nvPr/>
        </p:nvSpPr>
        <p:spPr>
          <a:xfrm>
            <a:off x="6472982" y="4188768"/>
            <a:ext cx="45273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TSS: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1" name="Google Shape;3831;p75"/>
          <p:cNvSpPr txBox="1"/>
          <p:nvPr/>
        </p:nvSpPr>
        <p:spPr>
          <a:xfrm>
            <a:off x="6944916" y="4188768"/>
            <a:ext cx="444847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efeito de centro/lote plausível; não usado como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2" name="Google Shape;3832;p75"/>
          <p:cNvSpPr txBox="1"/>
          <p:nvPr/>
        </p:nvSpPr>
        <p:spPr>
          <a:xfrm>
            <a:off x="6472982" y="4450705"/>
            <a:ext cx="282386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covariável na análise principal.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3" name="Google Shape;3833;p75"/>
          <p:cNvSpPr txBox="1"/>
          <p:nvPr/>
        </p:nvSpPr>
        <p:spPr>
          <a:xfrm>
            <a:off x="6472982" y="4758630"/>
            <a:ext cx="10493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HBV/HCV: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4" name="Google Shape;3834;p75"/>
          <p:cNvSpPr txBox="1"/>
          <p:nvPr/>
        </p:nvSpPr>
        <p:spPr>
          <a:xfrm>
            <a:off x="7541568" y="4758630"/>
            <a:ext cx="419993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os rótulos são sorológicos; “HBV+HCV” pode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5" name="Google Shape;3835;p75"/>
          <p:cNvSpPr txBox="1"/>
          <p:nvPr/>
        </p:nvSpPr>
        <p:spPr>
          <a:xfrm>
            <a:off x="6472982" y="5020568"/>
            <a:ext cx="525765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superestimar coinfecção ativa (73/85 sem RNA/genótipo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6" name="Google Shape;3836;p75"/>
          <p:cNvSpPr txBox="1"/>
          <p:nvPr/>
        </p:nvSpPr>
        <p:spPr>
          <a:xfrm>
            <a:off x="6472982" y="5282505"/>
            <a:ext cx="55542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HCV).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7" name="Google Shape;3837;p75"/>
          <p:cNvSpPr txBox="1"/>
          <p:nvPr/>
        </p:nvSpPr>
        <p:spPr>
          <a:xfrm>
            <a:off x="6472982" y="5590431"/>
            <a:ext cx="51390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BAX: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8" name="Google Shape;3838;p75"/>
          <p:cNvSpPr txBox="1"/>
          <p:nvPr/>
        </p:nvSpPr>
        <p:spPr>
          <a:xfrm>
            <a:off x="7006084" y="5590431"/>
            <a:ext cx="449922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achado de expressão, sem validação funcional;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9" name="Google Shape;3839;p75"/>
          <p:cNvSpPr txBox="1"/>
          <p:nvPr/>
        </p:nvSpPr>
        <p:spPr>
          <a:xfrm>
            <a:off x="6472982" y="5852368"/>
            <a:ext cx="495389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direção pró-apoptótica não prova aumento de morte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0" name="Google Shape;3840;p75"/>
          <p:cNvSpPr txBox="1"/>
          <p:nvPr/>
        </p:nvSpPr>
        <p:spPr>
          <a:xfrm>
            <a:off x="6472982" y="6114306"/>
            <a:ext cx="68952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celular.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1" name="Google Shape;3841;p75"/>
          <p:cNvSpPr txBox="1"/>
          <p:nvPr/>
        </p:nvSpPr>
        <p:spPr>
          <a:xfrm>
            <a:off x="273439" y="2605385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2" name="Google Shape;3842;p75"/>
          <p:cNvSpPr txBox="1"/>
          <p:nvPr/>
        </p:nvSpPr>
        <p:spPr>
          <a:xfrm>
            <a:off x="273439" y="3437186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3" name="Google Shape;3843;p75"/>
          <p:cNvSpPr txBox="1"/>
          <p:nvPr/>
        </p:nvSpPr>
        <p:spPr>
          <a:xfrm>
            <a:off x="273439" y="4007048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4" name="Google Shape;3844;p75"/>
          <p:cNvSpPr txBox="1"/>
          <p:nvPr/>
        </p:nvSpPr>
        <p:spPr>
          <a:xfrm>
            <a:off x="273439" y="4586436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5" name="Google Shape;3845;p75"/>
          <p:cNvSpPr txBox="1"/>
          <p:nvPr/>
        </p:nvSpPr>
        <p:spPr>
          <a:xfrm>
            <a:off x="6115985" y="1339453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6" name="Google Shape;3846;p75"/>
          <p:cNvSpPr txBox="1"/>
          <p:nvPr/>
        </p:nvSpPr>
        <p:spPr>
          <a:xfrm>
            <a:off x="6115985" y="1647379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7" name="Google Shape;3847;p75"/>
          <p:cNvSpPr txBox="1"/>
          <p:nvPr/>
        </p:nvSpPr>
        <p:spPr>
          <a:xfrm>
            <a:off x="6115985" y="2217241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8" name="Google Shape;3848;p75"/>
          <p:cNvSpPr txBox="1"/>
          <p:nvPr/>
        </p:nvSpPr>
        <p:spPr>
          <a:xfrm>
            <a:off x="6115985" y="2787104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9" name="Google Shape;3849;p75"/>
          <p:cNvSpPr txBox="1"/>
          <p:nvPr/>
        </p:nvSpPr>
        <p:spPr>
          <a:xfrm>
            <a:off x="6115985" y="3618905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0" name="Google Shape;3850;p75"/>
          <p:cNvSpPr txBox="1"/>
          <p:nvPr/>
        </p:nvSpPr>
        <p:spPr>
          <a:xfrm>
            <a:off x="6115985" y="4188768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1" name="Google Shape;3851;p75"/>
          <p:cNvSpPr txBox="1"/>
          <p:nvPr/>
        </p:nvSpPr>
        <p:spPr>
          <a:xfrm>
            <a:off x="6115985" y="475863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2" name="Google Shape;3852;p75"/>
          <p:cNvSpPr txBox="1"/>
          <p:nvPr/>
        </p:nvSpPr>
        <p:spPr>
          <a:xfrm>
            <a:off x="6115985" y="5590431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6" name="Shape 3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7" name="Google Shape;3857;p76"/>
          <p:cNvSpPr/>
          <p:nvPr/>
        </p:nvSpPr>
        <p:spPr>
          <a:xfrm>
            <a:off x="400050" y="190500"/>
            <a:ext cx="11391900" cy="42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58" name="Google Shape;3858;p76"/>
          <p:cNvCxnSpPr/>
          <p:nvPr/>
        </p:nvCxnSpPr>
        <p:spPr>
          <a:xfrm>
            <a:off x="400050" y="597247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59" name="Google Shape;3859;p76"/>
          <p:cNvSpPr txBox="1"/>
          <p:nvPr/>
        </p:nvSpPr>
        <p:spPr>
          <a:xfrm>
            <a:off x="400050" y="161925"/>
            <a:ext cx="1513284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3"/>
              <a:buFont typeface="Arial"/>
              <a:buNone/>
            </a:pPr>
            <a:r>
              <a:rPr b="0" i="0" lang="en-US" sz="2343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0" name="Google Shape;3860;p76"/>
          <p:cNvSpPr txBox="1"/>
          <p:nvPr/>
        </p:nvSpPr>
        <p:spPr>
          <a:xfrm>
            <a:off x="630436" y="1740247"/>
            <a:ext cx="135240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529 amostras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1" name="Google Shape;3861;p76"/>
          <p:cNvSpPr txBox="1"/>
          <p:nvPr/>
        </p:nvSpPr>
        <p:spPr>
          <a:xfrm>
            <a:off x="2002036" y="1740247"/>
            <a:ext cx="14778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2" name="Google Shape;3862;p76"/>
          <p:cNvSpPr txBox="1"/>
          <p:nvPr/>
        </p:nvSpPr>
        <p:spPr>
          <a:xfrm>
            <a:off x="2169170" y="1740247"/>
            <a:ext cx="133082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12.401 genes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3" name="Google Shape;3863;p76"/>
          <p:cNvSpPr txBox="1"/>
          <p:nvPr/>
        </p:nvSpPr>
        <p:spPr>
          <a:xfrm>
            <a:off x="3519190" y="1740247"/>
            <a:ext cx="104760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analisados.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4" name="Google Shape;3864;p76"/>
          <p:cNvSpPr txBox="1"/>
          <p:nvPr/>
        </p:nvSpPr>
        <p:spPr>
          <a:xfrm>
            <a:off x="630436" y="2048173"/>
            <a:ext cx="193059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Tumor vs. adjacente: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5" name="Google Shape;3865;p76"/>
          <p:cNvSpPr txBox="1"/>
          <p:nvPr/>
        </p:nvSpPr>
        <p:spPr>
          <a:xfrm>
            <a:off x="2580233" y="2048173"/>
            <a:ext cx="114210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4.130 DEGs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6" name="Google Shape;3866;p76"/>
          <p:cNvSpPr txBox="1"/>
          <p:nvPr/>
        </p:nvSpPr>
        <p:spPr>
          <a:xfrm>
            <a:off x="3741539" y="2048173"/>
            <a:ext cx="207019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(3.322 up / 808 down)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7" name="Google Shape;3867;p76"/>
          <p:cNvSpPr txBox="1"/>
          <p:nvPr/>
        </p:nvSpPr>
        <p:spPr>
          <a:xfrm>
            <a:off x="630436" y="2310110"/>
            <a:ext cx="510435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sinal robusto também na análise pareada (Jaccard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8" name="Google Shape;3868;p76"/>
          <p:cNvSpPr txBox="1"/>
          <p:nvPr/>
        </p:nvSpPr>
        <p:spPr>
          <a:xfrm>
            <a:off x="630436" y="2572048"/>
            <a:ext cx="64412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0,764).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9" name="Google Shape;3869;p76"/>
          <p:cNvSpPr txBox="1"/>
          <p:nvPr/>
        </p:nvSpPr>
        <p:spPr>
          <a:xfrm>
            <a:off x="630436" y="2879973"/>
            <a:ext cx="148828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Tumor vs. GTEx: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0" name="Google Shape;3870;p76"/>
          <p:cNvSpPr txBox="1"/>
          <p:nvPr/>
        </p:nvSpPr>
        <p:spPr>
          <a:xfrm>
            <a:off x="2138065" y="2879973"/>
            <a:ext cx="114210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3.388 DEGs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1" name="Google Shape;3871;p76"/>
          <p:cNvSpPr txBox="1"/>
          <p:nvPr/>
        </p:nvSpPr>
        <p:spPr>
          <a:xfrm>
            <a:off x="3242072" y="2879973"/>
            <a:ext cx="51702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2" name="Google Shape;3872;p76"/>
          <p:cNvSpPr txBox="1"/>
          <p:nvPr/>
        </p:nvSpPr>
        <p:spPr>
          <a:xfrm>
            <a:off x="3778448" y="2879973"/>
            <a:ext cx="165303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confundido 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3" name="Google Shape;3873;p76"/>
          <p:cNvSpPr txBox="1"/>
          <p:nvPr/>
        </p:nvSpPr>
        <p:spPr>
          <a:xfrm>
            <a:off x="630436" y="3141911"/>
            <a:ext cx="118452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estudo/lote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4" name="Google Shape;3874;p76"/>
          <p:cNvSpPr txBox="1"/>
          <p:nvPr/>
        </p:nvSpPr>
        <p:spPr>
          <a:xfrm>
            <a:off x="1776859" y="3141911"/>
            <a:ext cx="8364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5" name="Google Shape;3875;p76"/>
          <p:cNvSpPr txBox="1"/>
          <p:nvPr/>
        </p:nvSpPr>
        <p:spPr>
          <a:xfrm>
            <a:off x="630436" y="3449836"/>
            <a:ext cx="474940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Biologia consistente: perda de identidade hepática,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6" name="Google Shape;3876;p76"/>
          <p:cNvSpPr txBox="1"/>
          <p:nvPr/>
        </p:nvSpPr>
        <p:spPr>
          <a:xfrm>
            <a:off x="630436" y="3711773"/>
            <a:ext cx="532655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proliferação, remodelamento vascular/matricial, hipóxia 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7" name="Google Shape;3877;p76"/>
          <p:cNvSpPr txBox="1"/>
          <p:nvPr/>
        </p:nvSpPr>
        <p:spPr>
          <a:xfrm>
            <a:off x="630436" y="3973711"/>
            <a:ext cx="457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8" name="Google Shape;3878;p76"/>
          <p:cNvSpPr txBox="1"/>
          <p:nvPr/>
        </p:nvSpPr>
        <p:spPr>
          <a:xfrm>
            <a:off x="1106835" y="3973711"/>
            <a:ext cx="360164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(apoptose/estresse) elevado no tumor.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9" name="Google Shape;3879;p76"/>
          <p:cNvSpPr txBox="1"/>
          <p:nvPr/>
        </p:nvSpPr>
        <p:spPr>
          <a:xfrm>
            <a:off x="630436" y="4281636"/>
            <a:ext cx="75351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0" name="Google Shape;3880;p76"/>
          <p:cNvSpPr txBox="1"/>
          <p:nvPr/>
        </p:nvSpPr>
        <p:spPr>
          <a:xfrm>
            <a:off x="1403152" y="4281636"/>
            <a:ext cx="43396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 o fator prognóstico dominante (log-rank p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1" name="Google Shape;3881;p76"/>
          <p:cNvSpPr txBox="1"/>
          <p:nvPr/>
        </p:nvSpPr>
        <p:spPr>
          <a:xfrm>
            <a:off x="630436" y="4543574"/>
            <a:ext cx="259422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5,18 × 10⁻⁷; Cox HR = 2,61).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2" name="Google Shape;3882;p76"/>
          <p:cNvSpPr txBox="1"/>
          <p:nvPr/>
        </p:nvSpPr>
        <p:spPr>
          <a:xfrm>
            <a:off x="630436" y="4851499"/>
            <a:ext cx="81766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ComBat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3" name="Google Shape;3883;p76"/>
          <p:cNvSpPr txBox="1"/>
          <p:nvPr/>
        </p:nvSpPr>
        <p:spPr>
          <a:xfrm>
            <a:off x="1467296" y="4851499"/>
            <a:ext cx="360089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é identificável neste desenho; sem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4" name="Google Shape;3884;p76"/>
          <p:cNvSpPr txBox="1"/>
          <p:nvPr/>
        </p:nvSpPr>
        <p:spPr>
          <a:xfrm>
            <a:off x="630436" y="5113437"/>
            <a:ext cx="428223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covariável, reduz 3.388 DEGs a 1 e apaga BAX.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5" name="Google Shape;3885;p76"/>
          <p:cNvSpPr txBox="1"/>
          <p:nvPr/>
        </p:nvSpPr>
        <p:spPr>
          <a:xfrm>
            <a:off x="6472982" y="1339453"/>
            <a:ext cx="136624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comparação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6" name="Google Shape;3886;p76"/>
          <p:cNvSpPr txBox="1"/>
          <p:nvPr/>
        </p:nvSpPr>
        <p:spPr>
          <a:xfrm>
            <a:off x="7858571" y="1339453"/>
            <a:ext cx="2571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tumor vs. adjacente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7" name="Google Shape;3887;p76"/>
          <p:cNvSpPr txBox="1"/>
          <p:nvPr/>
        </p:nvSpPr>
        <p:spPr>
          <a:xfrm>
            <a:off x="10449520" y="1339453"/>
            <a:ext cx="1365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 a mais limpa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8" name="Google Shape;3888;p76"/>
          <p:cNvSpPr txBox="1"/>
          <p:nvPr/>
        </p:nvSpPr>
        <p:spPr>
          <a:xfrm>
            <a:off x="6472982" y="1601391"/>
            <a:ext cx="463674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para identificar genes associados à transformação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9" name="Google Shape;3889;p76"/>
          <p:cNvSpPr txBox="1"/>
          <p:nvPr/>
        </p:nvSpPr>
        <p:spPr>
          <a:xfrm>
            <a:off x="6472982" y="1863328"/>
            <a:ext cx="8207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maligna.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0" name="Google Shape;3890;p76"/>
          <p:cNvSpPr txBox="1"/>
          <p:nvPr/>
        </p:nvSpPr>
        <p:spPr>
          <a:xfrm>
            <a:off x="6472982" y="2171254"/>
            <a:ext cx="136624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comparação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1" name="Google Shape;3891;p76"/>
          <p:cNvSpPr txBox="1"/>
          <p:nvPr/>
        </p:nvSpPr>
        <p:spPr>
          <a:xfrm>
            <a:off x="7858571" y="2171254"/>
            <a:ext cx="144735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vs. GTEx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2" name="Google Shape;3892;p76"/>
          <p:cNvSpPr txBox="1"/>
          <p:nvPr/>
        </p:nvSpPr>
        <p:spPr>
          <a:xfrm>
            <a:off x="9325124" y="2171254"/>
            <a:ext cx="164231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 biologicamente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3" name="Google Shape;3893;p76"/>
          <p:cNvSpPr txBox="1"/>
          <p:nvPr/>
        </p:nvSpPr>
        <p:spPr>
          <a:xfrm>
            <a:off x="6472982" y="2433191"/>
            <a:ext cx="466293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informativa, mas seus efeitos absolutos devem ser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4" name="Google Shape;3894;p76"/>
          <p:cNvSpPr txBox="1"/>
          <p:nvPr/>
        </p:nvSpPr>
        <p:spPr>
          <a:xfrm>
            <a:off x="6472982" y="2695129"/>
            <a:ext cx="24995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interpretados com cautela.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5" name="Google Shape;3895;p76"/>
          <p:cNvSpPr txBox="1"/>
          <p:nvPr/>
        </p:nvSpPr>
        <p:spPr>
          <a:xfrm>
            <a:off x="6472982" y="3003054"/>
            <a:ext cx="51003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6" name="Google Shape;3896;p76"/>
          <p:cNvSpPr txBox="1"/>
          <p:nvPr/>
        </p:nvSpPr>
        <p:spPr>
          <a:xfrm>
            <a:off x="7002214" y="3003054"/>
            <a:ext cx="286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tem assinatura de ciclo celular;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7" name="Google Shape;3897;p76"/>
          <p:cNvSpPr txBox="1"/>
          <p:nvPr/>
        </p:nvSpPr>
        <p:spPr>
          <a:xfrm>
            <a:off x="9882188" y="3003054"/>
            <a:ext cx="174709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 avançado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8" name="Google Shape;3898;p76"/>
          <p:cNvSpPr txBox="1"/>
          <p:nvPr/>
        </p:nvSpPr>
        <p:spPr>
          <a:xfrm>
            <a:off x="6472982" y="3264991"/>
            <a:ext cx="393516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perde genes metabólicos e ganha hipóxia.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9" name="Google Shape;3899;p76"/>
          <p:cNvSpPr txBox="1"/>
          <p:nvPr/>
        </p:nvSpPr>
        <p:spPr>
          <a:xfrm>
            <a:off x="6472982" y="3572917"/>
            <a:ext cx="507801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Os grupos alternativos (recidivas, histologia, vírus, TSS)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0" name="Google Shape;3900;p76"/>
          <p:cNvSpPr txBox="1"/>
          <p:nvPr/>
        </p:nvSpPr>
        <p:spPr>
          <a:xfrm>
            <a:off x="6472982" y="3834854"/>
            <a:ext cx="499214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documentam heterogeneidade e justificam cautela 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1" name="Google Shape;3901;p76"/>
          <p:cNvSpPr txBox="1"/>
          <p:nvPr/>
        </p:nvSpPr>
        <p:spPr>
          <a:xfrm>
            <a:off x="6472982" y="4096792"/>
            <a:ext cx="339000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substituem o desenho principal.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2" name="Google Shape;3902;p76"/>
          <p:cNvSpPr txBox="1"/>
          <p:nvPr/>
        </p:nvSpPr>
        <p:spPr>
          <a:xfrm>
            <a:off x="273439" y="1740247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3" name="Google Shape;3903;p76"/>
          <p:cNvSpPr txBox="1"/>
          <p:nvPr/>
        </p:nvSpPr>
        <p:spPr>
          <a:xfrm>
            <a:off x="273439" y="2048173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4" name="Google Shape;3904;p76"/>
          <p:cNvSpPr txBox="1"/>
          <p:nvPr/>
        </p:nvSpPr>
        <p:spPr>
          <a:xfrm>
            <a:off x="273439" y="2879973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5" name="Google Shape;3905;p76"/>
          <p:cNvSpPr txBox="1"/>
          <p:nvPr/>
        </p:nvSpPr>
        <p:spPr>
          <a:xfrm>
            <a:off x="273439" y="3449836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6" name="Google Shape;3906;p76"/>
          <p:cNvSpPr txBox="1"/>
          <p:nvPr/>
        </p:nvSpPr>
        <p:spPr>
          <a:xfrm>
            <a:off x="273439" y="4281636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7" name="Google Shape;3907;p76"/>
          <p:cNvSpPr txBox="1"/>
          <p:nvPr/>
        </p:nvSpPr>
        <p:spPr>
          <a:xfrm>
            <a:off x="273439" y="4851499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8" name="Google Shape;3908;p76"/>
          <p:cNvSpPr/>
          <p:nvPr/>
        </p:nvSpPr>
        <p:spPr>
          <a:xfrm>
            <a:off x="6269718" y="1456230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9" name="Google Shape;3909;p76"/>
          <p:cNvSpPr/>
          <p:nvPr/>
        </p:nvSpPr>
        <p:spPr>
          <a:xfrm>
            <a:off x="6269718" y="2288030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0" name="Google Shape;3910;p76"/>
          <p:cNvSpPr/>
          <p:nvPr/>
        </p:nvSpPr>
        <p:spPr>
          <a:xfrm>
            <a:off x="6269718" y="3119830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1" name="Google Shape;3911;p76"/>
          <p:cNvSpPr/>
          <p:nvPr/>
        </p:nvSpPr>
        <p:spPr>
          <a:xfrm>
            <a:off x="6269718" y="3689693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5" name="Shape 3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6" name="Google Shape;3916;p77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17" name="Google Shape;3917;p77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18" name="Google Shape;3918;p77"/>
          <p:cNvSpPr txBox="1"/>
          <p:nvPr/>
        </p:nvSpPr>
        <p:spPr>
          <a:xfrm>
            <a:off x="400050" y="161925"/>
            <a:ext cx="5375523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Referências — métodos e estatística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9" name="Google Shape;3919;p77"/>
          <p:cNvSpPr txBox="1"/>
          <p:nvPr/>
        </p:nvSpPr>
        <p:spPr>
          <a:xfrm>
            <a:off x="400050" y="759025"/>
            <a:ext cx="11391900" cy="55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BENJAMINI, Y. Discovering the false discovery rate. Journal of the Royal Statistical Society: Series B (Statistical Methodology), v. 72, n. 4, p. 405-416, 2010.</a:t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JOHNSON, W. E.; LI, C.; RABINOVIC, A. Adjusting batch effects in microarray expression data using empirical Bayes methods. Biostatistics, v. 8, n. 1, p. 118-127, 2007.</a:t>
            </a:r>
            <a:r>
              <a:rPr lang="en-US" sz="1100">
                <a:solidFill>
                  <a:schemeClr val="dk1"/>
                </a:solidFill>
                <a:uFill>
                  <a:noFill/>
                </a:uFill>
                <a:latin typeface="Quattrocento Sans"/>
                <a:ea typeface="Quattrocento Sans"/>
                <a:cs typeface="Quattrocento Sans"/>
                <a:sym typeface="Quattrocento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https://doi.org/10.1093/biostatistics/kxj037</a:t>
            </a: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LEEK, J. T. et al. The sva package for removing batch effects and other unwanted variation in high-throughput experiments. Bioinformatics, v. 28, n. 6, p. 882-883, 2012.</a:t>
            </a:r>
            <a:r>
              <a:rPr lang="en-US" sz="1100">
                <a:solidFill>
                  <a:schemeClr val="dk1"/>
                </a:solidFill>
                <a:uFill>
                  <a:noFill/>
                </a:uFill>
                <a:latin typeface="Quattrocento Sans"/>
                <a:ea typeface="Quattrocento Sans"/>
                <a:cs typeface="Quattrocento Sans"/>
                <a:sym typeface="Quattrocento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https://doi.org/10.1093/bioinformatics/bts034</a:t>
            </a: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MCINNES, L.; HEALY, J.; MELVILLE, J. UMAP: Uniform Manifold Approximation and Projection. arXiv, 2018. arXiv:1802.03426.</a:t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 CORE TEAM. R: A language and environment for statistical computing. Vienna: R Foundation for Statistical Computing, 2024.</a:t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RITCHIE, M. E. et al. limma powers differential expression analyses for RNA-sequencing and microarray studies. Nucleic Acids Research, v. 43, n. 7, e47, 2015.</a:t>
            </a:r>
            <a:r>
              <a:rPr lang="en-US" sz="1100">
                <a:solidFill>
                  <a:schemeClr val="dk1"/>
                </a:solidFill>
                <a:uFill>
                  <a:noFill/>
                </a:uFill>
                <a:latin typeface="Quattrocento Sans"/>
                <a:ea typeface="Quattrocento Sans"/>
                <a:cs typeface="Quattrocento Sans"/>
                <a:sym typeface="Quattrocento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https://doi.org/10.1093/nar/gkv007</a:t>
            </a: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ZHANG, Y.; PARMIGIANI, G.; JOHNSON, W. E. ComBat-seq: batch effect adjustment for RNA-seq count data. NAR Genomics and Bioinformatics, v. 2, n. 3, lqaa078, 2020.</a:t>
            </a:r>
            <a:r>
              <a:rPr lang="en-US" sz="1100">
                <a:solidFill>
                  <a:schemeClr val="dk1"/>
                </a:solidFill>
                <a:uFill>
                  <a:noFill/>
                </a:uFill>
                <a:latin typeface="Quattrocento Sans"/>
                <a:ea typeface="Quattrocento Sans"/>
                <a:cs typeface="Quattrocento Sans"/>
                <a:sym typeface="Quattrocento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https://doi.org/10.1093/nargab/lqaa078</a:t>
            </a: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CZABOTAR, P. E. et al. Control of apoptosis by the BCL-2 protein family: implications for physiology and therapy. Nature Reviews Molecular Cell Biology, v. 15, n. 1, p. 49-63, 2014.</a:t>
            </a:r>
            <a:r>
              <a:rPr lang="en-US" sz="1100">
                <a:solidFill>
                  <a:schemeClr val="dk1"/>
                </a:solidFill>
                <a:uFill>
                  <a:noFill/>
                </a:uFill>
                <a:latin typeface="Quattrocento Sans"/>
                <a:ea typeface="Quattrocento Sans"/>
                <a:cs typeface="Quattrocento Sans"/>
                <a:sym typeface="Quattrocento Sa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https://doi.org/10.1038/nrm3722</a:t>
            </a: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GTEx CONSORTIUM. The GTEx Consortium atlas of genetic regulatory effects across human tissues. Science, v. 369, n. 6509, p. 1318-1330, 2020.</a:t>
            </a:r>
            <a:r>
              <a:rPr lang="en-US" sz="1100">
                <a:solidFill>
                  <a:schemeClr val="dk1"/>
                </a:solidFill>
                <a:uFill>
                  <a:noFill/>
                </a:uFill>
                <a:latin typeface="Quattrocento Sans"/>
                <a:ea typeface="Quattrocento Sans"/>
                <a:cs typeface="Quattrocento Sans"/>
                <a:sym typeface="Quattrocento San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https://doi.org/10.1126/science.aaz1776</a:t>
            </a: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KORSUNSKY, I. et al. Fast, sensitive and accurate integration of single-cell data with Harmony. Nature Methods, v. 16, p. 1289-1296, 2019.</a:t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NEWMAN, A. M. et al. Determining cell type abundance and expression from bulk tissues with digital cytometry. Nature Biotechnology, v. 37, p. 773-782, 2019.</a:t>
            </a:r>
            <a:r>
              <a:rPr lang="en-US" sz="1100">
                <a:solidFill>
                  <a:schemeClr val="dk1"/>
                </a:solidFill>
                <a:uFill>
                  <a:noFill/>
                </a:uFill>
                <a:latin typeface="Quattrocento Sans"/>
                <a:ea typeface="Quattrocento Sans"/>
                <a:cs typeface="Quattrocento Sans"/>
                <a:sym typeface="Quattrocento Sans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https://doi.org/10.1038/s41587-019-0114-2</a:t>
            </a: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CANCER GENOME ATLAS RESEARCH NETWORK. Comprehensive and integrative genomic characterization of hepatocellular carcinoma. Cell, v. 169, n. 7, p. 1327-1341.e23, 2017.</a:t>
            </a:r>
            <a:r>
              <a:rPr lang="en-US" sz="1100">
                <a:solidFill>
                  <a:schemeClr val="dk1"/>
                </a:solidFill>
                <a:uFill>
                  <a:noFill/>
                </a:uFill>
                <a:latin typeface="Quattrocento Sans"/>
                <a:ea typeface="Quattrocento Sans"/>
                <a:cs typeface="Quattrocento Sans"/>
                <a:sym typeface="Quattrocento Sans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https://doi.org/10.1016/j.cell.2017.05.046</a:t>
            </a: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GOLDMAN, M. J. et al. Visualizing and interpreting cancer genomics data via the Xena platform. Nature Biotechnology, v. 38, p. 675-678, 2020.</a:t>
            </a:r>
            <a:r>
              <a:rPr lang="en-US" sz="1100">
                <a:solidFill>
                  <a:schemeClr val="dk1"/>
                </a:solidFill>
                <a:uFill>
                  <a:noFill/>
                </a:uFill>
                <a:latin typeface="Quattrocento Sans"/>
                <a:ea typeface="Quattrocento Sans"/>
                <a:cs typeface="Quattrocento Sans"/>
                <a:sym typeface="Quattrocento Sans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https://doi.org/10.1038/s41587-020-0546-8</a:t>
            </a: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sz="1875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